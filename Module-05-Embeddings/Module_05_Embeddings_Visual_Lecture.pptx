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83dc53e8f64ea5" /><Relationship Type="http://schemas.openxmlformats.org/officeDocument/2006/relationships/extended-properties" Target="/docProps/app.xml" Id="R4724406649c84fb8" /><Relationship Type="http://schemas.openxmlformats.org/officeDocument/2006/relationships/officeDocument" Target="/ppt/presentation.xml" Id="Re139710f57264e0d" /></Relationships>
</file>

<file path=ppt/presentation.xml><?xml version="1.0" encoding="utf-8"?>
<p:presentation xmlns:p="http://schemas.openxmlformats.org/presentationml/2006/main">
  <p:sldMasterIdLst>
    <p:sldMasterId xmlns:r="http://schemas.openxmlformats.org/officeDocument/2006/relationships" id="2147483648" r:id="R7022c1605c46434a"/>
  </p:sldMasterIdLst>
  <p:notesMasterIdLst>
    <p:notesMasterId xmlns:r="http://schemas.openxmlformats.org/officeDocument/2006/relationships" r:id="Rd6c94cf3456c4ca9"/>
  </p:notesMasterIdLst>
  <p:sldIdLst>
    <p:sldId xmlns:r="http://schemas.openxmlformats.org/officeDocument/2006/relationships" id="256" r:id="Rc09d4d0983c54918"/>
    <p:sldId xmlns:r="http://schemas.openxmlformats.org/officeDocument/2006/relationships" id="257" r:id="Rfce7585d3d024038"/>
    <p:sldId xmlns:r="http://schemas.openxmlformats.org/officeDocument/2006/relationships" id="258" r:id="R548306e17108444d"/>
    <p:sldId xmlns:r="http://schemas.openxmlformats.org/officeDocument/2006/relationships" id="259" r:id="Ra77a337279b84a45"/>
    <p:sldId xmlns:r="http://schemas.openxmlformats.org/officeDocument/2006/relationships" id="260" r:id="Rb5e51cd39ebc470e"/>
    <p:sldId xmlns:r="http://schemas.openxmlformats.org/officeDocument/2006/relationships" id="261" r:id="Rd0a14d849b7645f0"/>
    <p:sldId xmlns:r="http://schemas.openxmlformats.org/officeDocument/2006/relationships" id="262" r:id="R94aeca2906844e69"/>
    <p:sldId xmlns:r="http://schemas.openxmlformats.org/officeDocument/2006/relationships" id="263" r:id="Rac0250dbba8d456d"/>
    <p:sldId xmlns:r="http://schemas.openxmlformats.org/officeDocument/2006/relationships" id="264" r:id="R94fbe94134a842d6"/>
    <p:sldId xmlns:r="http://schemas.openxmlformats.org/officeDocument/2006/relationships" id="265" r:id="R9d016143c0c648a4"/>
    <p:sldId xmlns:r="http://schemas.openxmlformats.org/officeDocument/2006/relationships" id="266" r:id="R0cffdb2d5c564449"/>
    <p:sldId xmlns:r="http://schemas.openxmlformats.org/officeDocument/2006/relationships" id="267" r:id="R4268f7b012914aa8"/>
    <p:sldId xmlns:r="http://schemas.openxmlformats.org/officeDocument/2006/relationships" id="268" r:id="R885e9a0523f24aaf"/>
    <p:sldId xmlns:r="http://schemas.openxmlformats.org/officeDocument/2006/relationships" id="269" r:id="R1de04ec28dc04bd0"/>
    <p:sldId xmlns:r="http://schemas.openxmlformats.org/officeDocument/2006/relationships" id="270" r:id="Rafd3b3f287fb4f4b"/>
    <p:sldId xmlns:r="http://schemas.openxmlformats.org/officeDocument/2006/relationships" id="271" r:id="Re904ae835ebc4f21"/>
    <p:sldId xmlns:r="http://schemas.openxmlformats.org/officeDocument/2006/relationships" id="272" r:id="R8343aeeb641b44ee"/>
    <p:sldId xmlns:r="http://schemas.openxmlformats.org/officeDocument/2006/relationships" id="273" r:id="R2e9aaf3ded65438d"/>
    <p:sldId xmlns:r="http://schemas.openxmlformats.org/officeDocument/2006/relationships" id="274" r:id="R04411e494d164bbb"/>
    <p:sldId xmlns:r="http://schemas.openxmlformats.org/officeDocument/2006/relationships" id="275" r:id="R4d906ab2c86a41dd"/>
    <p:sldId xmlns:r="http://schemas.openxmlformats.org/officeDocument/2006/relationships" id="276" r:id="R8ccb84f134694f81"/>
    <p:sldId xmlns:r="http://schemas.openxmlformats.org/officeDocument/2006/relationships" id="277" r:id="Rb6ce2eab03be40d5"/>
    <p:sldId xmlns:r="http://schemas.openxmlformats.org/officeDocument/2006/relationships" id="278" r:id="R86304af9de0a41ab"/>
    <p:sldId xmlns:r="http://schemas.openxmlformats.org/officeDocument/2006/relationships" id="279" r:id="Raae8c667fd704e1e"/>
    <p:sldId xmlns:r="http://schemas.openxmlformats.org/officeDocument/2006/relationships" id="280" r:id="R413d2c4f8f3349d0"/>
    <p:sldId xmlns:r="http://schemas.openxmlformats.org/officeDocument/2006/relationships" id="281" r:id="R133d6b5d34104a5d"/>
    <p:sldId xmlns:r="http://schemas.openxmlformats.org/officeDocument/2006/relationships" id="282" r:id="R5adaafe081ef4fbe"/>
    <p:sldId xmlns:r="http://schemas.openxmlformats.org/officeDocument/2006/relationships" id="283" r:id="Rb17aaceeed4b49c5"/>
    <p:sldId xmlns:r="http://schemas.openxmlformats.org/officeDocument/2006/relationships" id="284" r:id="R9319e3d688b24da2"/>
    <p:sldId xmlns:r="http://schemas.openxmlformats.org/officeDocument/2006/relationships" id="285" r:id="R79930a242b834c51"/>
    <p:sldId xmlns:r="http://schemas.openxmlformats.org/officeDocument/2006/relationships" id="286" r:id="Rf190c427ca9344e1"/>
    <p:sldId xmlns:r="http://schemas.openxmlformats.org/officeDocument/2006/relationships" id="287" r:id="R3e8669d5e7964908"/>
    <p:sldId xmlns:r="http://schemas.openxmlformats.org/officeDocument/2006/relationships" id="288" r:id="R262c3c06190e4f90"/>
    <p:sldId xmlns:r="http://schemas.openxmlformats.org/officeDocument/2006/relationships" id="289" r:id="Red8590c5ad6047e8"/>
    <p:sldId xmlns:r="http://schemas.openxmlformats.org/officeDocument/2006/relationships" id="290" r:id="R724dced9c0ad4fe2"/>
    <p:sldId xmlns:r="http://schemas.openxmlformats.org/officeDocument/2006/relationships" id="291" r:id="R6681bc7df8524870"/>
    <p:sldId xmlns:r="http://schemas.openxmlformats.org/officeDocument/2006/relationships" id="292" r:id="R155f39104eb848ca"/>
    <p:sldId xmlns:r="http://schemas.openxmlformats.org/officeDocument/2006/relationships" id="293" r:id="Rf6052df74cb143e0"/>
    <p:sldId xmlns:r="http://schemas.openxmlformats.org/officeDocument/2006/relationships" id="294" r:id="R96bf3c3b120148b7"/>
    <p:sldId xmlns:r="http://schemas.openxmlformats.org/officeDocument/2006/relationships" id="295" r:id="R5817722de10d45c9"/>
    <p:sldId xmlns:r="http://schemas.openxmlformats.org/officeDocument/2006/relationships" id="296" r:id="R586f513ba8d048f0"/>
    <p:sldId xmlns:r="http://schemas.openxmlformats.org/officeDocument/2006/relationships" id="297" r:id="R1fea3127c8e244ce"/>
    <p:sldId xmlns:r="http://schemas.openxmlformats.org/officeDocument/2006/relationships" id="298" r:id="Rf81c7004f4e14659"/>
    <p:sldId xmlns:r="http://schemas.openxmlformats.org/officeDocument/2006/relationships" id="299" r:id="R579d276534b84df5"/>
    <p:sldId xmlns:r="http://schemas.openxmlformats.org/officeDocument/2006/relationships" id="300" r:id="R8450eb598fe84b07"/>
    <p:sldId xmlns:r="http://schemas.openxmlformats.org/officeDocument/2006/relationships" id="301" r:id="Rd133800caf314acd"/>
    <p:sldId xmlns:r="http://schemas.openxmlformats.org/officeDocument/2006/relationships" id="302" r:id="Rd728d562f96843f2"/>
    <p:sldId xmlns:r="http://schemas.openxmlformats.org/officeDocument/2006/relationships" id="303" r:id="R1b614e299614447b"/>
    <p:sldId xmlns:r="http://schemas.openxmlformats.org/officeDocument/2006/relationships" id="304" r:id="R30f72511d7964264"/>
    <p:sldId xmlns:r="http://schemas.openxmlformats.org/officeDocument/2006/relationships" id="305" r:id="R2ea4fa22c9dd4c98"/>
    <p:sldId xmlns:r="http://schemas.openxmlformats.org/officeDocument/2006/relationships" id="306" r:id="R5603e2c5c8d64b75"/>
    <p:sldId xmlns:r="http://schemas.openxmlformats.org/officeDocument/2006/relationships" id="307" r:id="R80d05acac12e4836"/>
    <p:sldId xmlns:r="http://schemas.openxmlformats.org/officeDocument/2006/relationships" id="308" r:id="R8393c3c4f84d4ec0"/>
    <p:sldId xmlns:r="http://schemas.openxmlformats.org/officeDocument/2006/relationships" id="309" r:id="Rd9ed47480fec41e3"/>
    <p:sldId xmlns:r="http://schemas.openxmlformats.org/officeDocument/2006/relationships" id="310" r:id="R352edda81a8d4fb2"/>
    <p:sldId xmlns:r="http://schemas.openxmlformats.org/officeDocument/2006/relationships" id="311" r:id="R0c2abb8fe0654e19"/>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fae0f10bc104676" /><Relationship Type="http://schemas.openxmlformats.org/officeDocument/2006/relationships/slideMaster" Target="/ppt/slideMasters/slideMaster1.xml" Id="R7022c1605c46434a" /><Relationship Type="http://schemas.openxmlformats.org/officeDocument/2006/relationships/notesMaster" Target="/ppt/notesMasters/notesMaster1.xml" Id="Rd6c94cf3456c4ca9" /><Relationship Type="http://schemas.openxmlformats.org/officeDocument/2006/relationships/presProps" Target="/ppt/presProps.xml" Id="Rd8b5fe9a638d4c78" /><Relationship Type="http://schemas.openxmlformats.org/officeDocument/2006/relationships/viewProps" Target="/ppt/viewProps.xml" Id="R38eab7e5c05c405d" /><Relationship Type="http://schemas.openxmlformats.org/officeDocument/2006/relationships/tableStyles" Target="/ppt/tableStyles.xml" Id="R576d383b42c446dc" /><Relationship Type="http://schemas.openxmlformats.org/officeDocument/2006/relationships/slide" Target="/ppt/slides/slide1.xml" Id="Rc09d4d0983c54918" /><Relationship Type="http://schemas.openxmlformats.org/officeDocument/2006/relationships/slide" Target="/ppt/slides/slide2.xml" Id="Rfce7585d3d024038" /><Relationship Type="http://schemas.openxmlformats.org/officeDocument/2006/relationships/slide" Target="/ppt/slides/slide3.xml" Id="R548306e17108444d" /><Relationship Type="http://schemas.openxmlformats.org/officeDocument/2006/relationships/slide" Target="/ppt/slides/slide4.xml" Id="Ra77a337279b84a45" /><Relationship Type="http://schemas.openxmlformats.org/officeDocument/2006/relationships/slide" Target="/ppt/slides/slide5.xml" Id="Rb5e51cd39ebc470e" /><Relationship Type="http://schemas.openxmlformats.org/officeDocument/2006/relationships/slide" Target="/ppt/slides/slide6.xml" Id="Rd0a14d849b7645f0" /><Relationship Type="http://schemas.openxmlformats.org/officeDocument/2006/relationships/slide" Target="/ppt/slides/slide7.xml" Id="R94aeca2906844e69" /><Relationship Type="http://schemas.openxmlformats.org/officeDocument/2006/relationships/slide" Target="/ppt/slides/slide8.xml" Id="Rac0250dbba8d456d" /><Relationship Type="http://schemas.openxmlformats.org/officeDocument/2006/relationships/slide" Target="/ppt/slides/slide9.xml" Id="R94fbe94134a842d6" /><Relationship Type="http://schemas.openxmlformats.org/officeDocument/2006/relationships/slide" Target="/ppt/slides/slide10.xml" Id="R9d016143c0c648a4" /><Relationship Type="http://schemas.openxmlformats.org/officeDocument/2006/relationships/slide" Target="/ppt/slides/slide11.xml" Id="R0cffdb2d5c564449" /><Relationship Type="http://schemas.openxmlformats.org/officeDocument/2006/relationships/slide" Target="/ppt/slides/slide12.xml" Id="R4268f7b012914aa8" /><Relationship Type="http://schemas.openxmlformats.org/officeDocument/2006/relationships/slide" Target="/ppt/slides/slide13.xml" Id="R885e9a0523f24aaf" /><Relationship Type="http://schemas.openxmlformats.org/officeDocument/2006/relationships/slide" Target="/ppt/slides/slide14.xml" Id="R1de04ec28dc04bd0" /><Relationship Type="http://schemas.openxmlformats.org/officeDocument/2006/relationships/slide" Target="/ppt/slides/slide15.xml" Id="Rafd3b3f287fb4f4b" /><Relationship Type="http://schemas.openxmlformats.org/officeDocument/2006/relationships/slide" Target="/ppt/slides/slide16.xml" Id="Re904ae835ebc4f21" /><Relationship Type="http://schemas.openxmlformats.org/officeDocument/2006/relationships/slide" Target="/ppt/slides/slide17.xml" Id="R8343aeeb641b44ee" /><Relationship Type="http://schemas.openxmlformats.org/officeDocument/2006/relationships/slide" Target="/ppt/slides/slide18.xml" Id="R2e9aaf3ded65438d" /><Relationship Type="http://schemas.openxmlformats.org/officeDocument/2006/relationships/slide" Target="/ppt/slides/slide19.xml" Id="R04411e494d164bbb" /><Relationship Type="http://schemas.openxmlformats.org/officeDocument/2006/relationships/slide" Target="/ppt/slides/slide20.xml" Id="R4d906ab2c86a41dd" /><Relationship Type="http://schemas.openxmlformats.org/officeDocument/2006/relationships/slide" Target="/ppt/slides/slide21.xml" Id="R8ccb84f134694f81" /><Relationship Type="http://schemas.openxmlformats.org/officeDocument/2006/relationships/slide" Target="/ppt/slides/slide22.xml" Id="Rb6ce2eab03be40d5" /><Relationship Type="http://schemas.openxmlformats.org/officeDocument/2006/relationships/slide" Target="/ppt/slides/slide23.xml" Id="R86304af9de0a41ab" /><Relationship Type="http://schemas.openxmlformats.org/officeDocument/2006/relationships/slide" Target="/ppt/slides/slide24.xml" Id="Raae8c667fd704e1e" /><Relationship Type="http://schemas.openxmlformats.org/officeDocument/2006/relationships/slide" Target="/ppt/slides/slide25.xml" Id="R413d2c4f8f3349d0" /><Relationship Type="http://schemas.openxmlformats.org/officeDocument/2006/relationships/slide" Target="/ppt/slides/slide26.xml" Id="R133d6b5d34104a5d" /><Relationship Type="http://schemas.openxmlformats.org/officeDocument/2006/relationships/slide" Target="/ppt/slides/slide27.xml" Id="R5adaafe081ef4fbe" /><Relationship Type="http://schemas.openxmlformats.org/officeDocument/2006/relationships/slide" Target="/ppt/slides/slide28.xml" Id="Rb17aaceeed4b49c5" /><Relationship Type="http://schemas.openxmlformats.org/officeDocument/2006/relationships/slide" Target="/ppt/slides/slide29.xml" Id="R9319e3d688b24da2" /><Relationship Type="http://schemas.openxmlformats.org/officeDocument/2006/relationships/slide" Target="/ppt/slides/slide30.xml" Id="R79930a242b834c51" /><Relationship Type="http://schemas.openxmlformats.org/officeDocument/2006/relationships/slide" Target="/ppt/slides/slide31.xml" Id="Rf190c427ca9344e1" /><Relationship Type="http://schemas.openxmlformats.org/officeDocument/2006/relationships/slide" Target="/ppt/slides/slide32.xml" Id="R3e8669d5e7964908" /><Relationship Type="http://schemas.openxmlformats.org/officeDocument/2006/relationships/slide" Target="/ppt/slides/slide33.xml" Id="R262c3c06190e4f90" /><Relationship Type="http://schemas.openxmlformats.org/officeDocument/2006/relationships/slide" Target="/ppt/slides/slide34.xml" Id="Red8590c5ad6047e8" /><Relationship Type="http://schemas.openxmlformats.org/officeDocument/2006/relationships/slide" Target="/ppt/slides/slide35.xml" Id="R724dced9c0ad4fe2" /><Relationship Type="http://schemas.openxmlformats.org/officeDocument/2006/relationships/slide" Target="/ppt/slides/slide36.xml" Id="R6681bc7df8524870" /><Relationship Type="http://schemas.openxmlformats.org/officeDocument/2006/relationships/slide" Target="/ppt/slides/slide37.xml" Id="R155f39104eb848ca" /><Relationship Type="http://schemas.openxmlformats.org/officeDocument/2006/relationships/slide" Target="/ppt/slides/slide38.xml" Id="Rf6052df74cb143e0" /><Relationship Type="http://schemas.openxmlformats.org/officeDocument/2006/relationships/slide" Target="/ppt/slides/slide39.xml" Id="R96bf3c3b120148b7" /><Relationship Type="http://schemas.openxmlformats.org/officeDocument/2006/relationships/slide" Target="/ppt/slides/slide40.xml" Id="R5817722de10d45c9" /><Relationship Type="http://schemas.openxmlformats.org/officeDocument/2006/relationships/slide" Target="/ppt/slides/slide41.xml" Id="R586f513ba8d048f0" /><Relationship Type="http://schemas.openxmlformats.org/officeDocument/2006/relationships/slide" Target="/ppt/slides/slide42.xml" Id="R1fea3127c8e244ce" /><Relationship Type="http://schemas.openxmlformats.org/officeDocument/2006/relationships/slide" Target="/ppt/slides/slide43.xml" Id="Rf81c7004f4e14659" /><Relationship Type="http://schemas.openxmlformats.org/officeDocument/2006/relationships/slide" Target="/ppt/slides/slide44.xml" Id="R579d276534b84df5" /><Relationship Type="http://schemas.openxmlformats.org/officeDocument/2006/relationships/slide" Target="/ppt/slides/slide45.xml" Id="R8450eb598fe84b07" /><Relationship Type="http://schemas.openxmlformats.org/officeDocument/2006/relationships/slide" Target="/ppt/slides/slide46.xml" Id="Rd133800caf314acd" /><Relationship Type="http://schemas.openxmlformats.org/officeDocument/2006/relationships/slide" Target="/ppt/slides/slide47.xml" Id="Rd728d562f96843f2" /><Relationship Type="http://schemas.openxmlformats.org/officeDocument/2006/relationships/slide" Target="/ppt/slides/slide48.xml" Id="R1b614e299614447b" /><Relationship Type="http://schemas.openxmlformats.org/officeDocument/2006/relationships/slide" Target="/ppt/slides/slide49.xml" Id="R30f72511d7964264" /><Relationship Type="http://schemas.openxmlformats.org/officeDocument/2006/relationships/slide" Target="/ppt/slides/slide50.xml" Id="R2ea4fa22c9dd4c98" /><Relationship Type="http://schemas.openxmlformats.org/officeDocument/2006/relationships/slide" Target="/ppt/slides/slide51.xml" Id="R5603e2c5c8d64b75" /><Relationship Type="http://schemas.openxmlformats.org/officeDocument/2006/relationships/slide" Target="/ppt/slides/slide52.xml" Id="R80d05acac12e4836" /><Relationship Type="http://schemas.openxmlformats.org/officeDocument/2006/relationships/slide" Target="/ppt/slides/slide53.xml" Id="R8393c3c4f84d4ec0" /><Relationship Type="http://schemas.openxmlformats.org/officeDocument/2006/relationships/slide" Target="/ppt/slides/slide54.xml" Id="Rd9ed47480fec41e3" /><Relationship Type="http://schemas.openxmlformats.org/officeDocument/2006/relationships/slide" Target="/ppt/slides/slide55.xml" Id="R352edda81a8d4fb2" /><Relationship Type="http://schemas.openxmlformats.org/officeDocument/2006/relationships/slide" Target="/ppt/slides/slide56.xml" Id="R0c2abb8fe0654e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89f68bf0ac45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383d70b0b74ee9" /><Relationship Type="http://schemas.openxmlformats.org/officeDocument/2006/relationships/notesMaster" Target="/ppt/notesMasters/notesMaster1.xml" Id="Rf917b50b3aa546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1a718b14f14ab8" /><Relationship Type="http://schemas.openxmlformats.org/officeDocument/2006/relationships/notesMaster" Target="/ppt/notesMasters/notesMaster1.xml" Id="Re87f65f7627f4e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d0b30abf5a4919" /><Relationship Type="http://schemas.openxmlformats.org/officeDocument/2006/relationships/notesMaster" Target="/ppt/notesMasters/notesMaster1.xml" Id="Rf58db887d54842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e73dff0c414c06" /><Relationship Type="http://schemas.openxmlformats.org/officeDocument/2006/relationships/notesMaster" Target="/ppt/notesMasters/notesMaster1.xml" Id="R10cbe85c39834c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4542f5ee264f48" /><Relationship Type="http://schemas.openxmlformats.org/officeDocument/2006/relationships/notesMaster" Target="/ppt/notesMasters/notesMaster1.xml" Id="Rcbd7a2171aea47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6f603878824d85" /><Relationship Type="http://schemas.openxmlformats.org/officeDocument/2006/relationships/notesMaster" Target="/ppt/notesMasters/notesMaster1.xml" Id="Re382c9e2866d48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2031c60394825" /><Relationship Type="http://schemas.openxmlformats.org/officeDocument/2006/relationships/notesMaster" Target="/ppt/notesMasters/notesMaster1.xml" Id="R70dd784e74cf41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fbb8c935e84cfd" /><Relationship Type="http://schemas.openxmlformats.org/officeDocument/2006/relationships/notesMaster" Target="/ppt/notesMasters/notesMaster1.xml" Id="Rdbf0d36b63d44b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b6e53a8a1f4ebb" /><Relationship Type="http://schemas.openxmlformats.org/officeDocument/2006/relationships/notesMaster" Target="/ppt/notesMasters/notesMaster1.xml" Id="R2ec74833e0c24b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28182941c84977" /><Relationship Type="http://schemas.openxmlformats.org/officeDocument/2006/relationships/notesMaster" Target="/ppt/notesMasters/notesMaster1.xml" Id="Rf7c90baa4d854f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0932779cbe4c1f" /><Relationship Type="http://schemas.openxmlformats.org/officeDocument/2006/relationships/notesMaster" Target="/ppt/notesMasters/notesMaster1.xml" Id="R11ff75f116074f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176038d7ad4d4f" /><Relationship Type="http://schemas.openxmlformats.org/officeDocument/2006/relationships/notesMaster" Target="/ppt/notesMasters/notesMaster1.xml" Id="R88a4dc58396144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eca20adfc042fe" /><Relationship Type="http://schemas.openxmlformats.org/officeDocument/2006/relationships/notesMaster" Target="/ppt/notesMasters/notesMaster1.xml" Id="R9bb03defb2ae44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48f856a1fe4232" /><Relationship Type="http://schemas.openxmlformats.org/officeDocument/2006/relationships/notesMaster" Target="/ppt/notesMasters/notesMaster1.xml" Id="Rd09ce6761c9f44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18cbd55eed48b7" /><Relationship Type="http://schemas.openxmlformats.org/officeDocument/2006/relationships/notesMaster" Target="/ppt/notesMasters/notesMaster1.xml" Id="Rf03b5870d28f40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ecdd65e3ac497c" /><Relationship Type="http://schemas.openxmlformats.org/officeDocument/2006/relationships/notesMaster" Target="/ppt/notesMasters/notesMaster1.xml" Id="R0adc8617acc243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c8127555d645f7" /><Relationship Type="http://schemas.openxmlformats.org/officeDocument/2006/relationships/notesMaster" Target="/ppt/notesMasters/notesMaster1.xml" Id="R1b17069dcf0d4b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1c95d60e274048" /><Relationship Type="http://schemas.openxmlformats.org/officeDocument/2006/relationships/notesMaster" Target="/ppt/notesMasters/notesMaster1.xml" Id="R59922691726c4f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5d69145fac41ec" /><Relationship Type="http://schemas.openxmlformats.org/officeDocument/2006/relationships/notesMaster" Target="/ppt/notesMasters/notesMaster1.xml" Id="R56fc747b395d4d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086e646c344fe0" /><Relationship Type="http://schemas.openxmlformats.org/officeDocument/2006/relationships/notesMaster" Target="/ppt/notesMasters/notesMaster1.xml" Id="R7261cfa73b8046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99f4602ef434bb9" /><Relationship Type="http://schemas.openxmlformats.org/officeDocument/2006/relationships/notesMaster" Target="/ppt/notesMasters/notesMaster1.xml" Id="R4ec148a9408044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ed3e75e24140fb" /><Relationship Type="http://schemas.openxmlformats.org/officeDocument/2006/relationships/notesMaster" Target="/ppt/notesMasters/notesMaster1.xml" Id="Rd7cf69b0e01c48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b835fc106c41d1" /><Relationship Type="http://schemas.openxmlformats.org/officeDocument/2006/relationships/notesMaster" Target="/ppt/notesMasters/notesMaster1.xml" Id="Rd93e5f5f2908486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bace93e77f4737" /><Relationship Type="http://schemas.openxmlformats.org/officeDocument/2006/relationships/notesMaster" Target="/ppt/notesMasters/notesMaster1.xml" Id="Rbf413874ffcb460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4c2f49ba324021" /><Relationship Type="http://schemas.openxmlformats.org/officeDocument/2006/relationships/notesMaster" Target="/ppt/notesMasters/notesMaster1.xml" Id="R8dc05fec6ae742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c08a117fe3a4334" /><Relationship Type="http://schemas.openxmlformats.org/officeDocument/2006/relationships/notesMaster" Target="/ppt/notesMasters/notesMaster1.xml" Id="Rb2b894066fb748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cb20ce460874e6b" /><Relationship Type="http://schemas.openxmlformats.org/officeDocument/2006/relationships/notesMaster" Target="/ppt/notesMasters/notesMaster1.xml" Id="R9cd36494be804e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105107dfcb4458" /><Relationship Type="http://schemas.openxmlformats.org/officeDocument/2006/relationships/notesMaster" Target="/ppt/notesMasters/notesMaster1.xml" Id="Rdf5c1c6315644c2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b1216c7db7484d" /><Relationship Type="http://schemas.openxmlformats.org/officeDocument/2006/relationships/notesMaster" Target="/ppt/notesMasters/notesMaster1.xml" Id="R10153ca03910429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dba98f50924d8c" /><Relationship Type="http://schemas.openxmlformats.org/officeDocument/2006/relationships/notesMaster" Target="/ppt/notesMasters/notesMaster1.xml" Id="Re8bf2df7bc3846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066878c10a4926" /><Relationship Type="http://schemas.openxmlformats.org/officeDocument/2006/relationships/notesMaster" Target="/ppt/notesMasters/notesMaster1.xml" Id="R4d6510dd655b4e1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36c8d91027f449d" /><Relationship Type="http://schemas.openxmlformats.org/officeDocument/2006/relationships/notesMaster" Target="/ppt/notesMasters/notesMaster1.xml" Id="Rb7d5e16fe7b742a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05acf9f67b5498d" /><Relationship Type="http://schemas.openxmlformats.org/officeDocument/2006/relationships/notesMaster" Target="/ppt/notesMasters/notesMaster1.xml" Id="R02931d916dc84f2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e1cb7cb96e741b1" /><Relationship Type="http://schemas.openxmlformats.org/officeDocument/2006/relationships/notesMaster" Target="/ppt/notesMasters/notesMaster1.xml" Id="Re2f7c6cd7ae64d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12204deb4904971" /><Relationship Type="http://schemas.openxmlformats.org/officeDocument/2006/relationships/notesMaster" Target="/ppt/notesMasters/notesMaster1.xml" Id="R06d75db70b3e44f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f9a77394d7b4ff0" /><Relationship Type="http://schemas.openxmlformats.org/officeDocument/2006/relationships/notesMaster" Target="/ppt/notesMasters/notesMaster1.xml" Id="R04bc2d5c5d1d4c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e770b46536a4018" /><Relationship Type="http://schemas.openxmlformats.org/officeDocument/2006/relationships/notesMaster" Target="/ppt/notesMasters/notesMaster1.xml" Id="Rb25b80126bc94fb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056843b69cf47c1" /><Relationship Type="http://schemas.openxmlformats.org/officeDocument/2006/relationships/notesMaster" Target="/ppt/notesMasters/notesMaster1.xml" Id="R5733c53ebcb34ee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c39ff58ff094a3f" /><Relationship Type="http://schemas.openxmlformats.org/officeDocument/2006/relationships/notesMaster" Target="/ppt/notesMasters/notesMaster1.xml" Id="R0f4577d9336642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e695f46dde442d" /><Relationship Type="http://schemas.openxmlformats.org/officeDocument/2006/relationships/notesMaster" Target="/ppt/notesMasters/notesMaster1.xml" Id="R6fafccc7d6484ef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1386877e56240da" /><Relationship Type="http://schemas.openxmlformats.org/officeDocument/2006/relationships/notesMaster" Target="/ppt/notesMasters/notesMaster1.xml" Id="Raba397b5a1f3469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3227c27c9c4292" /><Relationship Type="http://schemas.openxmlformats.org/officeDocument/2006/relationships/notesMaster" Target="/ppt/notesMasters/notesMaster1.xml" Id="Rba4e914bc1be49a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b6ff52a75074e24" /><Relationship Type="http://schemas.openxmlformats.org/officeDocument/2006/relationships/notesMaster" Target="/ppt/notesMasters/notesMaster1.xml" Id="R366a7c1be993444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867f752d5484f0c" /><Relationship Type="http://schemas.openxmlformats.org/officeDocument/2006/relationships/notesMaster" Target="/ppt/notesMasters/notesMaster1.xml" Id="Rd8a5be5fa64e47c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bc8ea07c67d4c03" /><Relationship Type="http://schemas.openxmlformats.org/officeDocument/2006/relationships/notesMaster" Target="/ppt/notesMasters/notesMaster1.xml" Id="R3b2520edda76470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e391127d69b4930" /><Relationship Type="http://schemas.openxmlformats.org/officeDocument/2006/relationships/notesMaster" Target="/ppt/notesMasters/notesMaster1.xml" Id="R6a93855642e84b8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b952a4ea58c45e5" /><Relationship Type="http://schemas.openxmlformats.org/officeDocument/2006/relationships/notesMaster" Target="/ppt/notesMasters/notesMaster1.xml" Id="Rf7f31ac243444e0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8a99492b6394fbc" /><Relationship Type="http://schemas.openxmlformats.org/officeDocument/2006/relationships/notesMaster" Target="/ppt/notesMasters/notesMaster1.xml" Id="R281aff6ba1a64ab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64c9da71d1743d0" /><Relationship Type="http://schemas.openxmlformats.org/officeDocument/2006/relationships/notesMaster" Target="/ppt/notesMasters/notesMaster1.xml" Id="R609c17b1a30647e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4178fc662b14a69" /><Relationship Type="http://schemas.openxmlformats.org/officeDocument/2006/relationships/notesMaster" Target="/ppt/notesMasters/notesMaster1.xml" Id="Rbd2bbe8461bc494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5c1391fc2b54a1d" /><Relationship Type="http://schemas.openxmlformats.org/officeDocument/2006/relationships/notesMaster" Target="/ppt/notesMasters/notesMaster1.xml" Id="R29433624e52b4b1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a20f28635344abd" /><Relationship Type="http://schemas.openxmlformats.org/officeDocument/2006/relationships/notesMaster" Target="/ppt/notesMasters/notesMaster1.xml" Id="R4bc3454e7c28495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19d1c05a53648a2" /><Relationship Type="http://schemas.openxmlformats.org/officeDocument/2006/relationships/notesMaster" Target="/ppt/notesMasters/notesMaster1.xml" Id="Recd51871efbf444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1569b7d83ef47fb" /><Relationship Type="http://schemas.openxmlformats.org/officeDocument/2006/relationships/notesMaster" Target="/ppt/notesMasters/notesMaster1.xml" Id="Rb675e4c56eff475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6ebf4ca0be74817" /><Relationship Type="http://schemas.openxmlformats.org/officeDocument/2006/relationships/notesMaster" Target="/ppt/notesMasters/notesMaster1.xml" Id="Rb455fe0db083483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6234da142bd4d5e" /><Relationship Type="http://schemas.openxmlformats.org/officeDocument/2006/relationships/notesMaster" Target="/ppt/notesMasters/notesMaster1.xml" Id="R51312fcd810c4d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previous lesson, not unfamiliar jargon. Students know ordinary Python and the parcel lookup tool. Say: Aaj hum apne parcel assistant mein aik nayi ability add karein ge. This is Module 5 addressing a limitation of the particular Module 4 classroom app, not a limitation of all tool-based assistants.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user question → model requests tool → Python looks up saved data → model explains result. The simplified diagram focuses on the tool job. We are not rebuilding that flow today. Ask: who actually read the dictionary? Python, not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records and the function come from Module_04_Parcel_Tools_VSCode.ipynb. Demonstrate PK101 and an unknown PK999. The old lookup remains useful and correct. An ID identifies one record exactly.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introducing any new term. Ask: does giving PK101 to our old function answer a payment-policy question? No. The function only returns saved parcel status. An LLM might guess from its training, but that is not verified company policy. Our Module 4 app has no company-policy search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context explicit. We are adding an information-search ability. We are not claiming embeddings give the model all knowledge, change live statuses, or remove all mistakes. Roman Urdu: Pehle ID se record milta tha. Ab sawal ke meaning se relevant information dhoondein 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both aloud. Explain kitten is a young cat; resting and sleeping are related but not exactly identical. Ask students: are the words identical? No. Are the ideas related? Yes. We will use these same sentences throughout the simple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students choose before explaining. B is the intended related sentence. C discusses an aircraft and flying. No API or mathematics is needed to understand this distinction. Do not change to an unrelated example midway through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computers cannot process text at all. Python stores strings, but a plain string comparison does not measure semantic relationships. We need a learned numerical representation that makes comparison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gentle beginner definition: ordered numerical coordinates, represented in Python by a list here. Do not introduce dot products, matrices or dimensions yet. These particular numbers are invented for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vector is called a text embedding. The example numbers are made up, not model measurements. Roman Urdu: Model text ko numbers ki list mein badalta hai. Is list ko embedding kehte hain. The learned pattern across coordinates captures useful relationships; coordinates are not individual word meanings.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ask beginners to invent real embeddings. The model has been trained to produce useful representations. Its relationships can be imperfect. No need to explain model training internals today. One coordinate usually does not have an understandable label such as cat.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displayed values are illustrative only. Do not interpret coordinate-by-coordinate closeness as the definition of cosine. Explain that an embedding model learns useful relationships and cosine compares direction. Later students inspect real API vectors. These vectors are not actual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arrows are an illustrative two-dimensional drawing, not a projection of measured API embeddings. Real embeddings contain many more coordinates. Use one arrow for cat, one similarly directed arrow for kitten, and a differently directed airplane arrow. Do not label learned coordinates as universal semantic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same model and comparison task, scores help rank relationships. Similarity is not an answer, a probability, or proof that a statement is true. Keep the definition short. Roman Urdu: Score batata hai ke model ki representation mein dono texts kitne related 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same-direction versus right-angle arrows. Cosine ranges from -1 to 1 for nonzero vectors. Same direction gives 1; right angle gives 0; opposite direction gives -1. Negative cosine is not linguistic opposite meaning. Teach the intuition and library call; do not begin with the formula.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entire process together. Students should explain it in their own words before coding. Expected: cat compared with itself scores about 1; kitten is expected to outrank airplane. Do not prefill real API scores. Predict, run, observe.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explain each using the cat example. Accept simple English or Roman Urdu. If they cannot connect the three words, repeat the arrows rather than advancing to new concepts. Check that they know the embedding output is numbers, not an answer paragraph.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already know lists. len counts the coordinates; the count is sometimes called the number of dimensions. We do not need to calculate or name real dimensions. Invented coordinates only illustrate a data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from prior API lessons: same idea of authenticated request, different output. We use LangChain so there is no direct SDK code. Only GOOGLE_API_KEY is needed; no Groq chat key today. Access and quota are required. No GPU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Colab notebook uses hidden getpass rather than teaching another secrets API. VS Code uses load_dotenv and hidden-input fallback, following earlier modules. For Windows local setup, create .venv, install requirements and select that kernel. Explain credentials before displaying any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import and model setup line by line. GOOGLE_API_KEY is already loaded by the preceding notebook cell. Creating the client is setup; calling embed_query or embed_documents performs the request. ChatGoogleGenerativeAI or ChatGroq generate answers; this class generates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returns a longer vector. Explain slicing as showing only the first five coordinates. The output numbers are generated by the actual request, not invented. This call uses the same method that we will later use for a search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explicitly creates a SEMANTIC_SIMILARITY client for this symmetric sentence-comparison example. Explain that this setting asks the same model to focus on sentence similarity; memorisation of task names is not required. embed_documents receives a list and gives a vector for each text, preserving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[sentence_vectors[0]] supplies the first vector inside a list; this function expects lists of vectors. Its result has a row of scores; [0] selects that row. i walks through the sentence positions. round displays three decimal places. Do not require matrix terminology. Self-match is about 1; actual other scores come from the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new architecture: replace three cat-example sentences with three delivery policies and replace the first sentence with a customer question. The same convert → compare → choose workflow remains. Students should be able to predict the correct policy before the code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simple list, not nested dictionaries. Each string is one searchable piece of information. These policies are new fictional teaching data, while parcel statuses are reused from Module 4. A question about payment should match item 1 because indexing begins at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phrases have related intent despite different words. Ordinary exact sentence matching may fail. Embeddings help retrieve related information from our stored text. They do not guarantee every wording works. Ask learners to write another payment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base embeddings client for retrieval; its document/query methods use the corresponding retrieval task defaults. The extra similarity client was only for the cat comparison. Prepare the policies once rather than again for every question. Changing a policy means refreshing its vector.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sides must use the same embedding model and output settings. Do not mix a Google embedding vector with a vector from another provider. No new chat model is being called. The query vector represents the question for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library call as the cat example; only variable names change. There are three scores for three policies. Higher is usually more aligned. Scores are not percentages. Ask learners to inspect the payment policy score rather than assuming an expected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loop slowly: assume the first score is largest; visit each score; replace the saved index only when a larger one is found. It is a normal Python comparison, not another model call. Ties keep the first result. We return saved text rather than generate new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name the process after students have experienced it. Roman Urdu: Alfaaz bilkul same hona zaroori nahi. Meaning ke hisaab se saved information dhoondhna semantic search hai. Say closest rather than always correct. The source text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full function in the notebook, not a dense slide. It contains the same embedding, cosine call and highest-score loop. Blank input returns a friendly message without an API call. Rerun the notebook input cell for a new question. Standalone script provides a repeated terminal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lesson implements and tests ordinary retrieval functions. The existing Module 4 LLM/tool-calling flow can later wrap the new function, but this module does not claim automatic model routing has been added. Keep learners focused on the new capability. Similarity is not suitable for guessing an 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unrelated question. Do not introduce arbitrary thresholds in the beginner practical. Warn in simple words that the app always finds a nearest item in a nonempty collection and can be wrong or irrelevant. We have not built a relevance rejection system. Scores are not answer accuracy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Learners rerun the input cell for each question and record actual result text and score. Then add one pickup policy, rebuild parcel_vectors and write a related question. No new concepts needed. Ask for a screenshot plus a three-line explanation, not fabricated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Quick questions: does an embedding return an answer paragraph? No. Does cosine need an LLM to calculate? No. Why keep the original parcel lookup? Exact IDs need exact records. Does best match guarantee relevance? No. These answers are also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uses only LangChain Google embeddings and scikit-learn cosine. No Pydantic, no multi-provider chat pipeline, no top-k ranking or thresholds. Prior Module 4 code was read directly. References: https://ai.google.dev/gemini-api/docs/embeddings ; https://docs.langchain.com/oss/python/integrations/embeddings/google_generative_ai ; https://scikit-learn.org/stable/modules/generated/sklearn.metrics.pairwise.cosine_similarity.html . Google text model gemini-embedding-001 and retrieval defaults were checked earlier in this conversation. API output intentionally unfilled. Live keys not provided during authoring. Prepared by Engr Usman Hasan</a:t>
            </a:r>
          </a:p>
          <a:p xmlns:a="http://schemas.openxmlformats.org/drawingml/2006/main">
            <a:r>
              <a:t>Part D follows this introductory section and integrates the new search function with Groq tool 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complete beginner lesson. Core Python and embeddings are already taught. Now bring back Module 4 tool calling. This project extends the same parcel company instead of switching domains. Fictional classroom records and policies, with no live courier connection. Suggested extra teaching time: 45–60 minutes plus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split the question into two needs. The first needs exact lookup, the second needs meaning search. Do not infer a specific guaranteed arrival time. The answer shown later is an expected teaching example supported by these sources, not a recorded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tool uses the embeddings already prepared and the cosine code already taught. Groq receives tool definitions and selects requests. Python executes them. Two distinct provider roles: Google produces vectors, Groq generates requests and replies.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mixed question, the model may request both tools in one turn or request them across successive turns. Our completed function allows up to four model turns. A tools-bound LLM can request more work before replying. The application remains responsible for execution and matching ToolMessage 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key: https://aistudio.google.com/apikey . Groq key: https://console.groq.com/keys . Both services need authorized access, network and available quota. One key does not authenticate both providers. The ID includes OpenAI because it identifies a Groq-hosted model; use ChatGroq and the Groq key. Sources: https://console.groq.com/docs/models ; https://docs.langchain.com/oss/python/integrations/chat/groq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PARCELS and lookup_parcel already exist in the notebook. Do not replace this with cosine. Exact IDs need exact records. @tool adds a wrapper and description but does not execute the function. Text type hints match the style previously taught; no Pydantic teaching code. Full code and direct tests are in D2–D3.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excerpt; the full working wrapper is in D4. search_parcel_information embeds the question, uses cosine_similarity, and selects the highest score with a normal loop. Stored document vectors are reused. The wrapper returns candidate text, a source label and actual measured score. It warns that a candidate must answer the question. The score is not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direct calls prove the tools work independently of Groq. The second call still uses the Google embedding API for the question vector. Expected: saved Multan status and payment candidate P2. Do not invent or copy a numerical API score before running. Unknown IDs should report not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notebook includes imports, timeout and one retry. bind_tools provides the descriptions and input schema; it does not run either function. The model can request both tools. Model availability source: https://console.groq.com/docs/models . LangChain integration: https://docs.langchain.com/oss/python/integrations/chat/groq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ChatPromptTemplate appears in D7. Additional rules: treat tool output as data, do not invent status, refunds, dates or actions, inspect candidate policy content, and do not interpret cosine as probability. Prompt rules help but do not guarantee model compliance. Formatting a prompt invokes no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printed values come from the actual Groq response. Intended request: search_delivery_policy with a payment question. Ask: has Python run the tool yet? No. A tool request contains name, args and id. The notebook also prints invalid_tool_calls. Students inspect actual routing rather than assume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selection inside execute_support_call. tool_name and inputs come from the call dictionary. The code does not pick tools from user keywords; the LLM has chosen the request. Unknown tool names are refused. Exceptions return an honest failed-result message. We never run model-generated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 the AI request before all its results. For every requested call, append one ToolMessage with that same ID. This matters when two independent calls arrive together. D10 rebuilds messages when rerun so learners avoid duplicate messages. The notebook prints name, inputs and actual returned evidence. Source: https://docs.langchain.com/oss/python/langchain/models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 side is an illustrative supported reply, not captured API output. Final wording varies. Our original unbound llm explains the single-question walkthrough results. get_text handles string or text-block content, reusing the earlier AskBuddy app idea. Inspect the reply for unsupported facts even when a citation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function is in the notebook and standalone script. The model chooses tools automatically, while Python manages execution. It can handle a status request then a policy request on the next turn. No persistent conversation memory in this beginner version; new questions should include IDs. The loop limit returns a clear message rather than claiming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run D13 with their own keys and verify that both sources were used. Groq may request both together or across turns. Trace entries are actual names, inputs and results. Never treat this slide as proof that model routing passed. The test should fail if one part is omitted or an unsupported arrival date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one question at a time and record tool names, evidence and final output. These are expected behaviours, not prerecorded passes. Assignment: add a pickup policy, rebuild vectors and ask a combined PK102 plus pickup question. Business reuse: an online store can pair order lookup with return-policy search; an institute can pair enrollment lookup with course-policy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courier deployment would need authenticated authorized customer records, a real tracking API, approved policies and measured retrieval/routing quality. This classroom project reads sample data only. It does not issue refunds, update a status or submit support tickets. Prompt-only grounding can fail. Keys and quota are required; two API providers have distinct roles. Core source continuity: Module 4 parcel tool and Module 5 beginner search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3aa4cf78884a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a2be1d242245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01099aedaf4d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8a89d726c74d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30be7f846d42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cc0410f37e4a6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6df14fb83b344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c208de3adf346a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a996994e09a4f3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310a8deaf5647b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3c9e697bba641d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0C5F84-BC09-44A2-940F-F7618F83A7F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56F7AEC3-4BEC-4D17-AD5F-4171A76191B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B8B06D68-C175-477A-9604-90786BA75E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9F6A2A7-AF9D-4586-B627-719775563C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D8A1D9-9261-4D83-9BFC-9BBD5CD9C1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020877-EE57-4E34-AE6F-DB57805FFFB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1488B3C-4519-465A-B924-DF2AB4F79B1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019340F-7CE3-4090-BECA-23BC2CA5A1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D3EFD97-316C-4B86-AC97-D926601137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57E3AB5-3454-4864-84FC-A7D22DA864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037718-54AB-4EF7-85B5-84F6F6437B5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24574E8-D2CC-4A8E-BE1E-6758833ED61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EE8B284-E67D-4A6B-9D90-052DEC9723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BE8B027-EC4B-4CBE-BCD8-54231F359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6DB9F8A-EC71-47B5-907E-27B9D73D8B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3B6E60-4D13-4852-97D7-9E5109E255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E83DFBE-9941-43ED-9836-78F1BC7E026D}"/>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35E3B7B-F8FD-4C3A-8659-71713958AF9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29319B6-4659-4A66-93A3-D51B7EDE3F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D39B3B0-50D3-4535-8E0E-39D14E859D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CF5A06C-F785-4196-AA2C-B309928AAA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2E91C0-69E7-4A3F-9F62-B7CFBB1F66E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D87CF47-F35E-42EC-8DC6-2AE867AA27E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74675D5-BE3D-4610-86AA-7E34AFAE44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35E6981-061F-472F-B303-ED7632568D6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7376239-CBF6-4C79-9E33-25A9A20D34B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C94D476-15FB-4DBF-896D-FEE1C29D05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A3DB94B-E5DE-4451-B582-5F9F89E5FF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ED48608-50E2-4159-8072-C02E614117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0F4DF1-7094-44E8-B1DC-41FF1EC352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E2BE515-B167-424D-B6F7-31511D1B7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83133636-226E-4427-95E8-02BF626007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2033BDF-76BC-4EB2-B823-5EF4D67DAF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72648DB-93C5-4306-9A6D-43FA432386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C245DBAF-702F-41AD-8D33-78F41ACAAA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4695806-F20C-4ED4-941E-65983D9157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DD51BE-4698-4EE5-BD4A-82A99243C16C}"/>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A5F7B2A-6121-446D-9A1E-29170806B97A}"/>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F0B29CB-AC16-4FBF-A0E3-2B1AB06838B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FA808DE-5709-40DF-A8CC-4AD96AA213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979CC59-AE65-4DA6-A028-8FB7550219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8716B57-6564-436A-A8CA-891189A5CA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F149AE-BC67-4377-AA54-B6A1AC32A82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1B618EE-63CE-4DCC-9653-1F324A4B6697}"/>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B0F187C-CD20-4FA6-80DC-1BA98D945CB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0A562A7-AF28-41C1-8F90-4DFB44997C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31A7154-F827-43B8-B793-94499B003D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5011F51-0D5D-4773-99B2-D7B336769B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6D7761-C302-4F24-8719-63E50DC521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62C4F47-C13B-49AA-A705-3D3149559A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6F80DF2-4AE5-47F3-9E7B-F2DD950E04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2C7828B-BDE2-4451-882F-CACC58B354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3E11FF-E96D-4894-AC59-3A4ED97C49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C60209-5E24-4BA2-A1B0-1DFB653C042B}"/>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E4A1E63-065C-4AD7-A4FC-6D6FB55830D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C7AB761-4F17-4913-A0E2-A418A5551D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A291CF7-EDA9-4567-909C-E1DD5E3763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0350AC5-DBE7-4ADA-9F46-770B443511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62b751e92643aa" /><Relationship Type="http://schemas.openxmlformats.org/officeDocument/2006/relationships/slideLayout" Target="/ppt/slideLayouts/slideLayout1.xml" Id="R44c4dcb3f7754bea" /><Relationship Type="http://schemas.openxmlformats.org/officeDocument/2006/relationships/slideLayout" Target="/ppt/slideLayouts/slideLayout2.xml" Id="Rd7c7f1f327834b46" /><Relationship Type="http://schemas.openxmlformats.org/officeDocument/2006/relationships/slideLayout" Target="/ppt/slideLayouts/slideLayout3.xml" Id="R43250cb0ee8847bb" /><Relationship Type="http://schemas.openxmlformats.org/officeDocument/2006/relationships/slideLayout" Target="/ppt/slideLayouts/slideLayout4.xml" Id="R187a2aed23484d66" /><Relationship Type="http://schemas.openxmlformats.org/officeDocument/2006/relationships/slideLayout" Target="/ppt/slideLayouts/slideLayout5.xml" Id="R6f0a486723354e92" /><Relationship Type="http://schemas.openxmlformats.org/officeDocument/2006/relationships/slideLayout" Target="/ppt/slideLayouts/slideLayout6.xml" Id="Rf544f3253dfa4849" /><Relationship Type="http://schemas.openxmlformats.org/officeDocument/2006/relationships/slideLayout" Target="/ppt/slideLayouts/slideLayout7.xml" Id="Ra4ce11bc352f4f30" /><Relationship Type="http://schemas.openxmlformats.org/officeDocument/2006/relationships/slideLayout" Target="/ppt/slideLayouts/slideLayout8.xml" Id="R77eea882d6c54952" /><Relationship Type="http://schemas.openxmlformats.org/officeDocument/2006/relationships/slideLayout" Target="/ppt/slideLayouts/slideLayout9.xml" Id="Rf58f027df1104307" /><Relationship Type="http://schemas.openxmlformats.org/officeDocument/2006/relationships/slideLayout" Target="/ppt/slideLayouts/slideLayout10.xml" Id="Rd1f0f6ac5ac34786" /><Relationship Type="http://schemas.openxmlformats.org/officeDocument/2006/relationships/slideLayout" Target="/ppt/slideLayouts/slideLayout11.xml" Id="Rb410018ebe1e42b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273D212-BA43-4856-BC9B-378F5B1877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DDF0757-9454-4F13-B49D-276BCBFE06C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A3152A7-F12E-414C-84B3-6843933A92B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514F714-1BEA-4228-A319-E0144334685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134B35-026F-4776-8A24-F775E03832F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4dcb3f7754bea"/>
    <p:sldLayoutId xmlns:r="http://schemas.openxmlformats.org/officeDocument/2006/relationships" id="2147483650" r:id="Rd7c7f1f327834b46"/>
    <p:sldLayoutId xmlns:r="http://schemas.openxmlformats.org/officeDocument/2006/relationships" id="2147483651" r:id="R43250cb0ee8847bb"/>
    <p:sldLayoutId xmlns:r="http://schemas.openxmlformats.org/officeDocument/2006/relationships" id="2147483652" r:id="R187a2aed23484d66"/>
    <p:sldLayoutId xmlns:r="http://schemas.openxmlformats.org/officeDocument/2006/relationships" id="2147483653" r:id="R6f0a486723354e92"/>
    <p:sldLayoutId xmlns:r="http://schemas.openxmlformats.org/officeDocument/2006/relationships" id="2147483654" r:id="Rf544f3253dfa4849"/>
    <p:sldLayoutId xmlns:r="http://schemas.openxmlformats.org/officeDocument/2006/relationships" id="2147483655" r:id="Ra4ce11bc352f4f30"/>
    <p:sldLayoutId xmlns:r="http://schemas.openxmlformats.org/officeDocument/2006/relationships" id="2147483656" r:id="R77eea882d6c54952"/>
    <p:sldLayoutId xmlns:r="http://schemas.openxmlformats.org/officeDocument/2006/relationships" id="2147483657" r:id="Rf58f027df1104307"/>
    <p:sldLayoutId xmlns:r="http://schemas.openxmlformats.org/officeDocument/2006/relationships" id="2147483658" r:id="Rd1f0f6ac5ac34786"/>
    <p:sldLayoutId xmlns:r="http://schemas.openxmlformats.org/officeDocument/2006/relationships" id="2147483659" r:id="Rb410018ebe1e42b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d1d253f7af54d24" /><Relationship Type="http://schemas.openxmlformats.org/officeDocument/2006/relationships/notesSlide" Target="/ppt/notesSlides/notesSlide1.xml" Id="Rdf3fe1127f3340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dfa5964b27448f6" /><Relationship Type="http://schemas.openxmlformats.org/officeDocument/2006/relationships/notesSlide" Target="/ppt/notesSlides/notesSlide2.xml" Id="Ra4f8334a898146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f5318a280c64577" /><Relationship Type="http://schemas.openxmlformats.org/officeDocument/2006/relationships/notesSlide" Target="/ppt/notesSlides/notesSlide3.xml" Id="Ra0969f1ae2ac49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d880cc84aba47e5" /><Relationship Type="http://schemas.openxmlformats.org/officeDocument/2006/relationships/notesSlide" Target="/ppt/notesSlides/notesSlide4.xml" Id="Rbf5cf7221bf942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bf5725ce28c495d" /><Relationship Type="http://schemas.openxmlformats.org/officeDocument/2006/relationships/notesSlide" Target="/ppt/notesSlides/notesSlide5.xml" Id="R2bdd653b8fc240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03d83fe71dd42e9" /><Relationship Type="http://schemas.openxmlformats.org/officeDocument/2006/relationships/notesSlide" Target="/ppt/notesSlides/notesSlide6.xml" Id="R3d86d0ba04a046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1a1b7bcb262493c" /><Relationship Type="http://schemas.openxmlformats.org/officeDocument/2006/relationships/notesSlide" Target="/ppt/notesSlides/notesSlide7.xml" Id="Rd60026d9e43746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40e111157ef4724" /><Relationship Type="http://schemas.openxmlformats.org/officeDocument/2006/relationships/notesSlide" Target="/ppt/notesSlides/notesSlide8.xml" Id="Rf9ec8dc5d8914c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92a469e9dde4702" /><Relationship Type="http://schemas.openxmlformats.org/officeDocument/2006/relationships/notesSlide" Target="/ppt/notesSlides/notesSlide9.xml" Id="R77d43afc5709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769185797414d4e" /><Relationship Type="http://schemas.openxmlformats.org/officeDocument/2006/relationships/notesSlide" Target="/ppt/notesSlides/notesSlide10.xml" Id="R2aaed8317d944d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1ec33709eab4a6f" /><Relationship Type="http://schemas.openxmlformats.org/officeDocument/2006/relationships/notesSlide" Target="/ppt/notesSlides/notesSlide11.xml" Id="R02fc028c47984a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b12bb89459f94c6e" /><Relationship Type="http://schemas.openxmlformats.org/officeDocument/2006/relationships/notesSlide" Target="/ppt/notesSlides/notesSlide12.xml" Id="Rff7b3f9f272a48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550a10dcb6474f95" /><Relationship Type="http://schemas.openxmlformats.org/officeDocument/2006/relationships/notesSlide" Target="/ppt/notesSlides/notesSlide13.xml" Id="R851d2489955d4c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71299aa2dcb94e56" /><Relationship Type="http://schemas.openxmlformats.org/officeDocument/2006/relationships/notesSlide" Target="/ppt/notesSlides/notesSlide14.xml" Id="R54b6dd2231e24e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44afc730a944749" /><Relationship Type="http://schemas.openxmlformats.org/officeDocument/2006/relationships/notesSlide" Target="/ppt/notesSlides/notesSlide15.xml" Id="Rd3a2d50beee241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8cf62453cbca4e93" /><Relationship Type="http://schemas.openxmlformats.org/officeDocument/2006/relationships/notesSlide" Target="/ppt/notesSlides/notesSlide16.xml" Id="R6a45f8a30b7e45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5e489ed4dea24d80" /><Relationship Type="http://schemas.openxmlformats.org/officeDocument/2006/relationships/notesSlide" Target="/ppt/notesSlides/notesSlide17.xml" Id="Rd988934444f648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25ee6bc0fca244c0" /><Relationship Type="http://schemas.openxmlformats.org/officeDocument/2006/relationships/notesSlide" Target="/ppt/notesSlides/notesSlide18.xml" Id="R23cb0cbaff5f46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b4e2bb72ce8a4ce4" /><Relationship Type="http://schemas.openxmlformats.org/officeDocument/2006/relationships/notesSlide" Target="/ppt/notesSlides/notesSlide19.xml" Id="Rc7e25595935d48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7025a58adba14cc0" /><Relationship Type="http://schemas.openxmlformats.org/officeDocument/2006/relationships/notesSlide" Target="/ppt/notesSlides/notesSlide20.xml" Id="R5249c203fa764c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f25c6263451345a3" /><Relationship Type="http://schemas.openxmlformats.org/officeDocument/2006/relationships/notesSlide" Target="/ppt/notesSlides/notesSlide21.xml" Id="Rc3c32d75070f40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0a00990e1d254748" /><Relationship Type="http://schemas.openxmlformats.org/officeDocument/2006/relationships/notesSlide" Target="/ppt/notesSlides/notesSlide22.xml" Id="Rbb79c6365a4a479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7a3a3283e8f14766" /><Relationship Type="http://schemas.openxmlformats.org/officeDocument/2006/relationships/notesSlide" Target="/ppt/notesSlides/notesSlide23.xml" Id="R66a57e0a1aa94b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972e3d3c74cd4823" /><Relationship Type="http://schemas.openxmlformats.org/officeDocument/2006/relationships/notesSlide" Target="/ppt/notesSlides/notesSlide24.xml" Id="Rfa9bfff005b142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64133d335ef4441d" /><Relationship Type="http://schemas.openxmlformats.org/officeDocument/2006/relationships/notesSlide" Target="/ppt/notesSlides/notesSlide25.xml" Id="R4d310941dd8443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e93284ffb7dd42c0" /><Relationship Type="http://schemas.openxmlformats.org/officeDocument/2006/relationships/notesSlide" Target="/ppt/notesSlides/notesSlide26.xml" Id="R599058c0e81047c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e682b6d48305462c" /><Relationship Type="http://schemas.openxmlformats.org/officeDocument/2006/relationships/notesSlide" Target="/ppt/notesSlides/notesSlide27.xml" Id="R589bb31ade01493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68d1b0cf23d948cb" /><Relationship Type="http://schemas.openxmlformats.org/officeDocument/2006/relationships/notesSlide" Target="/ppt/notesSlides/notesSlide28.xml" Id="R318fdffe98db4e5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fa98cfd91aa24a8f" /><Relationship Type="http://schemas.openxmlformats.org/officeDocument/2006/relationships/notesSlide" Target="/ppt/notesSlides/notesSlide29.xml" Id="R313b4256a7134a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5f06906aa3424015" /><Relationship Type="http://schemas.openxmlformats.org/officeDocument/2006/relationships/notesSlide" Target="/ppt/notesSlides/notesSlide30.xml" Id="R3879f9e6edb244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01b59ef87fb1462a" /><Relationship Type="http://schemas.openxmlformats.org/officeDocument/2006/relationships/notesSlide" Target="/ppt/notesSlides/notesSlide31.xml" Id="R8604a26971b346f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5da5486b3d4644e4" /><Relationship Type="http://schemas.openxmlformats.org/officeDocument/2006/relationships/notesSlide" Target="/ppt/notesSlides/notesSlide32.xml" Id="Rd84c48594e7743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bfb18ee59d1c4c75" /><Relationship Type="http://schemas.openxmlformats.org/officeDocument/2006/relationships/notesSlide" Target="/ppt/notesSlides/notesSlide33.xml" Id="Reb8c8247e997477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053f2b4da5c94fe1" /><Relationship Type="http://schemas.openxmlformats.org/officeDocument/2006/relationships/notesSlide" Target="/ppt/notesSlides/notesSlide34.xml" Id="R3b8200bfa892456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abe3c59134224160" /><Relationship Type="http://schemas.openxmlformats.org/officeDocument/2006/relationships/notesSlide" Target="/ppt/notesSlides/notesSlide35.xml" Id="R7e5927f738024b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547c77e1fccd4f42" /><Relationship Type="http://schemas.openxmlformats.org/officeDocument/2006/relationships/notesSlide" Target="/ppt/notesSlides/notesSlide36.xml" Id="R7f88c423b0c2469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4475fc6cf0874e79" /><Relationship Type="http://schemas.openxmlformats.org/officeDocument/2006/relationships/notesSlide" Target="/ppt/notesSlides/notesSlide37.xml" Id="Re801f3b9764c4bb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720a9436f6194836" /><Relationship Type="http://schemas.openxmlformats.org/officeDocument/2006/relationships/notesSlide" Target="/ppt/notesSlides/notesSlide38.xml" Id="R815440ae557a431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5c28af416a3c423e" /><Relationship Type="http://schemas.openxmlformats.org/officeDocument/2006/relationships/notesSlide" Target="/ppt/notesSlides/notesSlide39.xml" Id="Rd949c5b3aff84c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6d75711ba52b47e9" /><Relationship Type="http://schemas.openxmlformats.org/officeDocument/2006/relationships/notesSlide" Target="/ppt/notesSlides/notesSlide40.xml" Id="R7b6153dc5f19460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9d8bb17c1ac54af9" /><Relationship Type="http://schemas.openxmlformats.org/officeDocument/2006/relationships/notesSlide" Target="/ppt/notesSlides/notesSlide41.xml" Id="Rca599b7ae8fb451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195bfe5924944a65" /><Relationship Type="http://schemas.openxmlformats.org/officeDocument/2006/relationships/notesSlide" Target="/ppt/notesSlides/notesSlide42.xml" Id="R9e114ee3fec748e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9be4a9991df34630" /><Relationship Type="http://schemas.openxmlformats.org/officeDocument/2006/relationships/notesSlide" Target="/ppt/notesSlides/notesSlide43.xml" Id="R91d582e2ae3b4fa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fd7e571dc27d4df5" /><Relationship Type="http://schemas.openxmlformats.org/officeDocument/2006/relationships/notesSlide" Target="/ppt/notesSlides/notesSlide44.xml" Id="R1d4d8955ec9e40b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96280ce257294527" /><Relationship Type="http://schemas.openxmlformats.org/officeDocument/2006/relationships/notesSlide" Target="/ppt/notesSlides/notesSlide45.xml" Id="R6c7889249f53420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aa47c761d4234c57" /><Relationship Type="http://schemas.openxmlformats.org/officeDocument/2006/relationships/notesSlide" Target="/ppt/notesSlides/notesSlide46.xml" Id="R70659fe1c72f4d0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170a7c05833141fb" /><Relationship Type="http://schemas.openxmlformats.org/officeDocument/2006/relationships/notesSlide" Target="/ppt/notesSlides/notesSlide47.xml" Id="R6138636f5426406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df79ef2e66bf45bf" /><Relationship Type="http://schemas.openxmlformats.org/officeDocument/2006/relationships/notesSlide" Target="/ppt/notesSlides/notesSlide48.xml" Id="R4b7f8ac3eb1b4cd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8995ccde53b64a02" /><Relationship Type="http://schemas.openxmlformats.org/officeDocument/2006/relationships/notesSlide" Target="/ppt/notesSlides/notesSlide49.xml" Id="R5a5f3e8c3f54443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f0e77beb5d094b54" /><Relationship Type="http://schemas.openxmlformats.org/officeDocument/2006/relationships/notesSlide" Target="/ppt/notesSlides/notesSlide50.xml" Id="Rff074cf87bf3433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f7a1f05dd8df4cc7" /><Relationship Type="http://schemas.openxmlformats.org/officeDocument/2006/relationships/notesSlide" Target="/ppt/notesSlides/notesSlide51.xml" Id="R8f5ec6512ce54c9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199a603ea11747a7" /><Relationship Type="http://schemas.openxmlformats.org/officeDocument/2006/relationships/notesSlide" Target="/ppt/notesSlides/notesSlide52.xml" Id="Rf320d5037ae4485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691787bf1d4f40f6" /><Relationship Type="http://schemas.openxmlformats.org/officeDocument/2006/relationships/notesSlide" Target="/ppt/notesSlides/notesSlide53.xml" Id="R9c781f0fb6b24f9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0d06894d2f4341c4" /><Relationship Type="http://schemas.openxmlformats.org/officeDocument/2006/relationships/notesSlide" Target="/ppt/notesSlides/notesSlide54.xml" Id="R347b10c748e54c4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055f7818da674662" /><Relationship Type="http://schemas.openxmlformats.org/officeDocument/2006/relationships/notesSlide" Target="/ppt/notesSlides/notesSlide55.xml" Id="R6532e90bb06b48c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6ffa5e3a7e164c0a" /><Relationship Type="http://schemas.openxmlformats.org/officeDocument/2006/relationships/notesSlide" Target="/ppt/notesSlides/notesSlide56.xml" Id="R0c844fae3bc143bc"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0D31FC0-EDF9-419B-B6E5-F37FD82C9D9A}"/>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8C9CCFF-4247-4C6D-8E74-A7E41F9BFE8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FC6A4542-9406-4A6F-BDAE-15E0E1C38D6E}"/>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Module 05 · Search by meaning</a:t>
            </a:r>
          </a:p>
        </p:txBody>
      </p:sp>
      <p:sp>
        <p:nvSpPr>
          <p:cNvPr id="5" name="TextBox 4">
            <a:extLst xmlns:a="http://schemas.openxmlformats.org/drawingml/2006/main">
              <a:ext uri="{FF2B5EF4-FFF2-40B4-BE49-F238E27FC236}">
                <a16:creationId xmlns:a16="http://schemas.microsoft.com/office/drawing/2014/main" id="{37372A4A-20E2-4F34-8C00-11234E3ED5EF}"/>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A small improvement to our Module 4 parcel assistant</a:t>
            </a:r>
          </a:p>
        </p:txBody>
      </p:sp>
      <p:sp>
        <p:nvSpPr>
          <p:cNvPr id="6" name="Rounded Rectangle 5">
            <a:extLst xmlns:a="http://schemas.openxmlformats.org/drawingml/2006/main">
              <a:ext uri="{FF2B5EF4-FFF2-40B4-BE49-F238E27FC236}">
                <a16:creationId xmlns:a16="http://schemas.microsoft.com/office/drawing/2014/main" id="{9171DF4A-1815-4BB9-9247-7A0B753AA0EE}"/>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F30DFC4B-814B-4E6D-B348-57519995C2A5}"/>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83AED8F-FB73-4E57-B3A1-5FD4715C9AA0}"/>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LAST LESSON</a:t>
            </a:r>
          </a:p>
        </p:txBody>
      </p:sp>
      <p:sp>
        <p:nvSpPr>
          <p:cNvPr id="9" name="TextBox 8">
            <a:extLst xmlns:a="http://schemas.openxmlformats.org/drawingml/2006/main">
              <a:ext uri="{FF2B5EF4-FFF2-40B4-BE49-F238E27FC236}">
                <a16:creationId xmlns:a16="http://schemas.microsoft.com/office/drawing/2014/main" id="{F301B0CC-AB9C-4334-94BE-0983DD28BEAA}"/>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a parcel using its ID</a:t>
            </a:r>
          </a:p>
        </p:txBody>
      </p:sp>
      <p:sp>
        <p:nvSpPr>
          <p:cNvPr id="10" name="Rounded Rectangle 9">
            <a:extLst xmlns:a="http://schemas.openxmlformats.org/drawingml/2006/main">
              <a:ext uri="{FF2B5EF4-FFF2-40B4-BE49-F238E27FC236}">
                <a16:creationId xmlns:a16="http://schemas.microsoft.com/office/drawing/2014/main" id="{5D9C19C2-A6B4-4024-95B8-A6171C61CB68}"/>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E125F494-EE6F-43EA-8851-41E4466F44B4}"/>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EA4D5518-A4D2-4AE8-877E-54AE45FD9AF5}"/>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TODAY</a:t>
            </a:r>
          </a:p>
        </p:txBody>
      </p:sp>
      <p:sp>
        <p:nvSpPr>
          <p:cNvPr id="13" name="TextBox 12">
            <a:extLst xmlns:a="http://schemas.openxmlformats.org/drawingml/2006/main">
              <a:ext uri="{FF2B5EF4-FFF2-40B4-BE49-F238E27FC236}">
                <a16:creationId xmlns:a16="http://schemas.microsoft.com/office/drawing/2014/main" id="{F3FC3751-8ED9-4714-BCF2-38D49FB5D3C0}"/>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useful information using a question</a:t>
            </a:r>
          </a:p>
        </p:txBody>
      </p:sp>
      <p:sp>
        <p:nvSpPr>
          <p:cNvPr id="14" name="TextBox 13">
            <a:extLst xmlns:a="http://schemas.openxmlformats.org/drawingml/2006/main">
              <a:ext uri="{FF2B5EF4-FFF2-40B4-BE49-F238E27FC236}">
                <a16:creationId xmlns:a16="http://schemas.microsoft.com/office/drawing/2014/main" id="{FBEB74C7-1DBF-404D-A913-483538FB16AE}"/>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E65BC9C6-3026-4358-A241-CB2DA14C312A}"/>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01</a:t>
            </a:r>
            <a:r>
              <a:t>/56</a:t>
            </a:r>
          </a:p>
        </p:txBody>
      </p:sp>
    </p:spTree>
    <p:extLst>
      <p:ext uri="{BB962C8B-B14F-4D97-AF65-F5344CB8AC3E}">
        <p14:creationId xmlns:p14="http://schemas.microsoft.com/office/powerpoint/2010/main" val="62560839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8078CF7-2A55-4146-975E-FDB7227E1B21}"/>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E366F53-0D8B-4D8A-A1E8-1B15049F3B03}"/>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2C686DD3-DB44-4BB9-9ABA-0FF97ED62154}"/>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Remember what we built?</a:t>
            </a:r>
          </a:p>
        </p:txBody>
      </p:sp>
      <p:sp>
        <p:nvSpPr>
          <p:cNvPr id="5" name="TextBox 4">
            <a:extLst xmlns:a="http://schemas.openxmlformats.org/drawingml/2006/main">
              <a:ext uri="{FF2B5EF4-FFF2-40B4-BE49-F238E27FC236}">
                <a16:creationId xmlns:a16="http://schemas.microsoft.com/office/drawing/2014/main" id="{EE5AD396-2571-44C5-B8C6-BF68F9BD96CD}"/>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Module 4: the model could request our parcel tool</a:t>
            </a:r>
          </a:p>
        </p:txBody>
      </p:sp>
      <p:sp>
        <p:nvSpPr>
          <p:cNvPr id="6" name="Rounded Rectangle 5">
            <a:extLst xmlns:a="http://schemas.openxmlformats.org/drawingml/2006/main">
              <a:ext uri="{FF2B5EF4-FFF2-40B4-BE49-F238E27FC236}">
                <a16:creationId xmlns:a16="http://schemas.microsoft.com/office/drawing/2014/main" id="{C66C07E2-521A-4A2A-A8DF-6B29989390F4}"/>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26D542E1-0E48-4EF3-95D1-56F4CD0389F5}"/>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2A5D07B-42B9-4A25-B9E7-0B5BD3F73A27}"/>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USER</a:t>
            </a:r>
          </a:p>
        </p:txBody>
      </p:sp>
      <p:sp>
        <p:nvSpPr>
          <p:cNvPr id="9" name="TextBox 8">
            <a:extLst xmlns:a="http://schemas.openxmlformats.org/drawingml/2006/main">
              <a:ext uri="{FF2B5EF4-FFF2-40B4-BE49-F238E27FC236}">
                <a16:creationId xmlns:a16="http://schemas.microsoft.com/office/drawing/2014/main" id="{DBD66B26-77D6-4310-AAE7-1F110337FC91}"/>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Where is PK101?</a:t>
            </a:r>
          </a:p>
        </p:txBody>
      </p:sp>
      <p:sp>
        <p:nvSpPr>
          <p:cNvPr id="10" name="Chevron 9">
            <a:extLst xmlns:a="http://schemas.openxmlformats.org/drawingml/2006/main">
              <a:ext uri="{FF2B5EF4-FFF2-40B4-BE49-F238E27FC236}">
                <a16:creationId xmlns:a16="http://schemas.microsoft.com/office/drawing/2014/main" id="{64EF7E96-BC16-472B-B0CF-2220A3902FE3}"/>
              </a:ext>
            </a:extLst>
          </p:cNvPr>
          <p:cNvSpPr>
            <a:spLocks xmlns:a="http://schemas.openxmlformats.org/drawingml/2006/main" noGrp="1"/>
          </p:cNvSpPr>
          <p:nvPr/>
        </p:nvSpPr>
        <p:spPr>
          <a:xfrm xmlns:a="http://schemas.openxmlformats.org/drawingml/2006/main">
            <a:off x="407365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A33179B1-9B56-4330-8AA1-0CD49619F659}"/>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7199BCF6-BD0A-43F9-B140-2AB535474C3A}"/>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3E492D0-B1F5-46AE-BF96-93101B94F78C}"/>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PYTHON TOOL</a:t>
            </a:r>
          </a:p>
        </p:txBody>
      </p:sp>
      <p:sp>
        <p:nvSpPr>
          <p:cNvPr id="14" name="TextBox 13">
            <a:extLst xmlns:a="http://schemas.openxmlformats.org/drawingml/2006/main">
              <a:ext uri="{FF2B5EF4-FFF2-40B4-BE49-F238E27FC236}">
                <a16:creationId xmlns:a16="http://schemas.microsoft.com/office/drawing/2014/main" id="{32B65FE9-7A79-49B4-AF7C-B8CA6542D4B6}"/>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Look up PK101</a:t>
            </a:r>
          </a:p>
        </p:txBody>
      </p:sp>
      <p:sp>
        <p:nvSpPr>
          <p:cNvPr id="15" name="Chevron 14">
            <a:extLst xmlns:a="http://schemas.openxmlformats.org/drawingml/2006/main">
              <a:ext uri="{FF2B5EF4-FFF2-40B4-BE49-F238E27FC236}">
                <a16:creationId xmlns:a16="http://schemas.microsoft.com/office/drawing/2014/main" id="{5CB27D68-B869-4F0E-8C0D-5C5E180C5AA1}"/>
              </a:ext>
            </a:extLst>
          </p:cNvPr>
          <p:cNvSpPr>
            <a:spLocks xmlns:a="http://schemas.openxmlformats.org/drawingml/2006/main" noGrp="1"/>
          </p:cNvSpPr>
          <p:nvPr/>
        </p:nvSpPr>
        <p:spPr>
          <a:xfrm xmlns:a="http://schemas.openxmlformats.org/drawingml/2006/main">
            <a:off x="786841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ounded Rectangle 15">
            <a:extLst xmlns:a="http://schemas.openxmlformats.org/drawingml/2006/main">
              <a:ext uri="{FF2B5EF4-FFF2-40B4-BE49-F238E27FC236}">
                <a16:creationId xmlns:a16="http://schemas.microsoft.com/office/drawing/2014/main" id="{7E7DB22C-55B5-4451-82D8-C77DE9097CD0}"/>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ED2C91F4-5A44-488D-AB99-CD0FE7712575}"/>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239160EB-5D45-4EB1-A92D-DFB5B12E3714}"/>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ANSWER</a:t>
            </a:r>
          </a:p>
        </p:txBody>
      </p:sp>
      <p:sp>
        <p:nvSpPr>
          <p:cNvPr id="19" name="TextBox 18">
            <a:extLst xmlns:a="http://schemas.openxmlformats.org/drawingml/2006/main">
              <a:ext uri="{FF2B5EF4-FFF2-40B4-BE49-F238E27FC236}">
                <a16:creationId xmlns:a16="http://schemas.microsoft.com/office/drawing/2014/main" id="{CA9C7CCD-CE78-43C5-A109-BE5A323A4C9D}"/>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Out for delivery in Multan.</a:t>
            </a:r>
          </a:p>
        </p:txBody>
      </p:sp>
      <p:sp>
        <p:nvSpPr>
          <p:cNvPr id="20" name="TextBox 19">
            <a:extLst xmlns:a="http://schemas.openxmlformats.org/drawingml/2006/main">
              <a:ext uri="{FF2B5EF4-FFF2-40B4-BE49-F238E27FC236}">
                <a16:creationId xmlns:a16="http://schemas.microsoft.com/office/drawing/2014/main" id="{E19D7963-4277-4F56-9BFB-B342CB7D5A16}"/>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21" name="TextBox 20">
            <a:extLst xmlns:a="http://schemas.openxmlformats.org/drawingml/2006/main">
              <a:ext uri="{FF2B5EF4-FFF2-40B4-BE49-F238E27FC236}">
                <a16:creationId xmlns:a16="http://schemas.microsoft.com/office/drawing/2014/main" id="{3E06AEF6-B240-4A13-B918-8FB3E38C67CE}"/>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02</a:t>
            </a:r>
            <a:r>
              <a:t>/56</a:t>
            </a:r>
          </a:p>
        </p:txBody>
      </p:sp>
    </p:spTree>
    <p:extLst>
      <p:ext uri="{BB962C8B-B14F-4D97-AF65-F5344CB8AC3E}">
        <p14:creationId xmlns:p14="http://schemas.microsoft.com/office/powerpoint/2010/main" val="40603225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16E2AD8-8377-4CA4-9A53-249FE2BA89EA}"/>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32DC7FA-9385-49CE-9735-2FF7E137FD42}"/>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CE19D3A4-6789-4083-B919-78731E9C01AA}"/>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Our old Python code still works</a:t>
            </a:r>
          </a:p>
        </p:txBody>
      </p:sp>
      <p:sp>
        <p:nvSpPr>
          <p:cNvPr id="5" name="TextBox 4">
            <a:extLst xmlns:a="http://schemas.openxmlformats.org/drawingml/2006/main">
              <a:ext uri="{FF2B5EF4-FFF2-40B4-BE49-F238E27FC236}">
                <a16:creationId xmlns:a16="http://schemas.microsoft.com/office/drawing/2014/main" id="{22249FD7-8B37-4EAA-AE88-686077E61B83}"/>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A1 · We reuse it exactly</a:t>
            </a:r>
          </a:p>
        </p:txBody>
      </p:sp>
      <p:sp>
        <p:nvSpPr>
          <p:cNvPr id="6" name="Rounded Rectangle 5">
            <a:extLst xmlns:a="http://schemas.openxmlformats.org/drawingml/2006/main">
              <a:ext uri="{FF2B5EF4-FFF2-40B4-BE49-F238E27FC236}">
                <a16:creationId xmlns:a16="http://schemas.microsoft.com/office/drawing/2014/main" id="{01EF5E23-8304-41F2-902E-385CC77E1F05}"/>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A93579E-79A2-4339-A20A-400A53376741}"/>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1700" b="0">
                <a:solidFill>
                  <a:srgbClr val="FFFFFF"/>
                </a:solidFill>
                <a:latin typeface="Consolas"/>
                <a:ea typeface="Consolas"/>
                <a:cs typeface="Consolas"/>
              </a:defRPr>
            </a:pPr>
            <a:r>
              <a:t>PARCELS = {</a:t>
            </a:r>
          </a:p>
          <a:p xmlns:a="http://schemas.openxmlformats.org/drawingml/2006/main">
            <a:pPr>
              <a:spcAft>
                <a:spcPts val="0"/>
              </a:spcAft>
              <a:buNone/>
              <a:defRPr sz="1700" b="0">
                <a:solidFill>
                  <a:srgbClr val="FFFFFF"/>
                </a:solidFill>
                <a:latin typeface="Consolas"/>
                <a:ea typeface="Consolas"/>
                <a:cs typeface="Consolas"/>
              </a:defRPr>
            </a:pPr>
            <a:r>
              <a:t>    "PK101": "Out for delivery in Multan.",</a:t>
            </a:r>
          </a:p>
          <a:p xmlns:a="http://schemas.openxmlformats.org/drawingml/2006/main">
            <a:pPr>
              <a:spcAft>
                <a:spcPts val="0"/>
              </a:spcAft>
              <a:buNone/>
              <a:defRPr sz="1700" b="0">
                <a:solidFill>
                  <a:srgbClr val="FFFFFF"/>
                </a:solidFill>
                <a:latin typeface="Consolas"/>
                <a:ea typeface="Consolas"/>
                <a:cs typeface="Consolas"/>
              </a:defRPr>
            </a:pPr>
            <a:r>
              <a:t>    "PK102": "In transit to Karachi.",</a:t>
            </a:r>
          </a:p>
          <a:p xmlns:a="http://schemas.openxmlformats.org/drawingml/2006/main">
            <a:pPr>
              <a:spcAft>
                <a:spcPts val="0"/>
              </a:spcAft>
              <a:buNone/>
              <a:defRPr sz="1700" b="0">
                <a:solidFill>
                  <a:srgbClr val="FFFFFF"/>
                </a:solidFill>
                <a:latin typeface="Consolas"/>
                <a:ea typeface="Consolas"/>
                <a:cs typeface="Consolas"/>
              </a:defRPr>
            </a:pPr>
            <a:r>
              <a:t>    "PK103": "Delivered in Lahore.",</a:t>
            </a:r>
          </a:p>
          <a:p xmlns:a="http://schemas.openxmlformats.org/drawingml/2006/main">
            <a:pPr>
              <a:spcAft>
                <a:spcPts val="0"/>
              </a:spcAft>
              <a:buNone/>
              <a:defRPr sz="1700" b="0">
                <a:solidFill>
                  <a:srgbClr val="FFFFFF"/>
                </a:solidFill>
                <a:latin typeface="Consolas"/>
                <a:ea typeface="Consolas"/>
                <a:cs typeface="Consolas"/>
              </a:defRPr>
            </a:pPr>
            <a:r>
              <a:t>}</a:t>
            </a:r>
          </a:p>
          <a:p xmlns:a="http://schemas.openxmlformats.org/drawingml/2006/main">
            <a:pPr>
              <a:spcAft>
                <a:spcPts val="0"/>
              </a:spcAft>
              <a:buNone/>
              <a:defRPr sz="1700" b="0">
                <a:solidFill>
                  <a:srgbClr val="FFFFFF"/>
                </a:solidFill>
                <a:latin typeface="Consolas"/>
                <a:ea typeface="Consolas"/>
                <a:cs typeface="Consolas"/>
              </a:defRPr>
            </a:pPr>
          </a:p>
          <a:p xmlns:a="http://schemas.openxmlformats.org/drawingml/2006/main">
            <a:pPr>
              <a:spcAft>
                <a:spcPts val="0"/>
              </a:spcAft>
              <a:buNone/>
              <a:defRPr sz="1700" b="0">
                <a:solidFill>
                  <a:srgbClr val="FFFFFF"/>
                </a:solidFill>
                <a:latin typeface="Consolas"/>
                <a:ea typeface="Consolas"/>
                <a:cs typeface="Consolas"/>
              </a:defRPr>
            </a:pPr>
            <a:r>
              <a:t>def lookup_parcel(tracking_id):</a:t>
            </a:r>
          </a:p>
          <a:p xmlns:a="http://schemas.openxmlformats.org/drawingml/2006/main">
            <a:pPr>
              <a:spcAft>
                <a:spcPts val="0"/>
              </a:spcAft>
              <a:buNone/>
              <a:defRPr sz="1700" b="0">
                <a:solidFill>
                  <a:srgbClr val="FFFFFF"/>
                </a:solidFill>
                <a:latin typeface="Consolas"/>
                <a:ea typeface="Consolas"/>
                <a:cs typeface="Consolas"/>
              </a:defRPr>
            </a:pPr>
            <a:r>
              <a:t>    clean_id = tracking_id.strip().upper()</a:t>
            </a:r>
          </a:p>
          <a:p xmlns:a="http://schemas.openxmlformats.org/drawingml/2006/main">
            <a:pPr>
              <a:spcAft>
                <a:spcPts val="0"/>
              </a:spcAft>
              <a:buNone/>
              <a:defRPr sz="1700" b="0">
                <a:solidFill>
                  <a:srgbClr val="FFFFFF"/>
                </a:solidFill>
                <a:latin typeface="Consolas"/>
                <a:ea typeface="Consolas"/>
                <a:cs typeface="Consolas"/>
              </a:defRPr>
            </a:pPr>
            <a:r>
              <a:t>    return PARCELS.get(clean_id, "Tracking number not found in the classroom data.")</a:t>
            </a:r>
          </a:p>
        </p:txBody>
      </p:sp>
      <p:sp>
        <p:nvSpPr>
          <p:cNvPr id="8" name="TextBox 7">
            <a:extLst xmlns:a="http://schemas.openxmlformats.org/drawingml/2006/main">
              <a:ext uri="{FF2B5EF4-FFF2-40B4-BE49-F238E27FC236}">
                <a16:creationId xmlns:a16="http://schemas.microsoft.com/office/drawing/2014/main" id="{95B03DB3-78BD-4B97-A482-63E24D5D041B}"/>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lookup_parcel("PK101") → saved status</a:t>
            </a:r>
          </a:p>
        </p:txBody>
      </p:sp>
      <p:sp>
        <p:nvSpPr>
          <p:cNvPr id="9" name="TextBox 8">
            <a:extLst xmlns:a="http://schemas.openxmlformats.org/drawingml/2006/main">
              <a:ext uri="{FF2B5EF4-FFF2-40B4-BE49-F238E27FC236}">
                <a16:creationId xmlns:a16="http://schemas.microsoft.com/office/drawing/2014/main" id="{1E9F4C8D-3728-4E17-B4F3-EFE8932174EC}"/>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F110419A-AE93-4824-8B76-4B79C700AD93}"/>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03</a:t>
            </a:r>
            <a:r>
              <a:t>/56</a:t>
            </a:r>
          </a:p>
        </p:txBody>
      </p:sp>
    </p:spTree>
    <p:extLst>
      <p:ext uri="{BB962C8B-B14F-4D97-AF65-F5344CB8AC3E}">
        <p14:creationId xmlns:p14="http://schemas.microsoft.com/office/powerpoint/2010/main" val="1836235167"/>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47AE710-236B-4E3C-9190-12DE2B8FD28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AC04B4-76D6-47B9-A1E9-715A067E1496}"/>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6683DFE1-A38B-4386-B6D2-66EAA3A6A681}"/>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Now the customer asks something new</a:t>
            </a:r>
          </a:p>
        </p:txBody>
      </p:sp>
      <p:sp>
        <p:nvSpPr>
          <p:cNvPr id="5" name="TextBox 4">
            <a:extLst xmlns:a="http://schemas.openxmlformats.org/drawingml/2006/main">
              <a:ext uri="{FF2B5EF4-FFF2-40B4-BE49-F238E27FC236}">
                <a16:creationId xmlns:a16="http://schemas.microsoft.com/office/drawing/2014/main" id="{2B595EB5-EE9F-4944-946E-88685DA619BB}"/>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“Can I pay when my parcel arrives?”</a:t>
            </a:r>
          </a:p>
        </p:txBody>
      </p:sp>
      <p:sp>
        <p:nvSpPr>
          <p:cNvPr id="6" name="Rounded Rectangle 5">
            <a:extLst xmlns:a="http://schemas.openxmlformats.org/drawingml/2006/main">
              <a:ext uri="{FF2B5EF4-FFF2-40B4-BE49-F238E27FC236}">
                <a16:creationId xmlns:a16="http://schemas.microsoft.com/office/drawing/2014/main" id="{C0D10CF5-A05C-4161-A4E1-25091D9C958D}"/>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3C81347-D388-4E5D-AEDE-2B5F2AB6AB20}"/>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AF485E3-3320-4AA8-95C4-5213BD59161C}"/>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CUSTOMER</a:t>
            </a:r>
          </a:p>
        </p:txBody>
      </p:sp>
      <p:sp>
        <p:nvSpPr>
          <p:cNvPr id="9" name="TextBox 8">
            <a:extLst xmlns:a="http://schemas.openxmlformats.org/drawingml/2006/main">
              <a:ext uri="{FF2B5EF4-FFF2-40B4-BE49-F238E27FC236}">
                <a16:creationId xmlns:a16="http://schemas.microsoft.com/office/drawing/2014/main" id="{2CD21955-A005-4FD1-B05B-3D0871DED2A0}"/>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A question about payment</a:t>
            </a:r>
          </a:p>
        </p:txBody>
      </p:sp>
      <p:sp>
        <p:nvSpPr>
          <p:cNvPr id="10" name="Rounded Rectangle 9">
            <a:extLst xmlns:a="http://schemas.openxmlformats.org/drawingml/2006/main">
              <a:ext uri="{FF2B5EF4-FFF2-40B4-BE49-F238E27FC236}">
                <a16:creationId xmlns:a16="http://schemas.microsoft.com/office/drawing/2014/main" id="{34CADE04-967E-4DED-9255-484E49ABD03A}"/>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6EB28825-8E2F-4212-B849-355435F63E60}"/>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E1F49A4C-07E4-4DCD-A49F-7141B6930403}"/>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OUR OLD TOOL</a:t>
            </a:r>
          </a:p>
        </p:txBody>
      </p:sp>
      <p:sp>
        <p:nvSpPr>
          <p:cNvPr id="13" name="TextBox 12">
            <a:extLst xmlns:a="http://schemas.openxmlformats.org/drawingml/2006/main">
              <a:ext uri="{FF2B5EF4-FFF2-40B4-BE49-F238E27FC236}">
                <a16:creationId xmlns:a16="http://schemas.microsoft.com/office/drawing/2014/main" id="{36F19EFC-9E12-4EEF-8275-93A373E5A660}"/>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Needs a tracking ID</a:t>
            </a:r>
          </a:p>
        </p:txBody>
      </p:sp>
      <p:sp>
        <p:nvSpPr>
          <p:cNvPr id="14" name="TextBox 13">
            <a:extLst xmlns:a="http://schemas.openxmlformats.org/drawingml/2006/main">
              <a:ext uri="{FF2B5EF4-FFF2-40B4-BE49-F238E27FC236}">
                <a16:creationId xmlns:a16="http://schemas.microsoft.com/office/drawing/2014/main" id="{7C492ED5-A1DC-4FA3-AA38-BE4373592AFE}"/>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A632984A-8DEE-4862-BCB9-089F017838A7}"/>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04</a:t>
            </a:r>
            <a:r>
              <a:t>/56</a:t>
            </a:r>
          </a:p>
        </p:txBody>
      </p:sp>
    </p:spTree>
    <p:extLst>
      <p:ext uri="{BB962C8B-B14F-4D97-AF65-F5344CB8AC3E}">
        <p14:creationId xmlns:p14="http://schemas.microsoft.com/office/powerpoint/2010/main" val="27016903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6886A0E-7A4E-4EF5-97F2-5352D37F2BDA}"/>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728F656-6FD5-46CF-B93D-60EE4AE1ECB6}"/>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893678EB-E36A-4750-9532-2E95BD3410BC}"/>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This is the limitation we will solve</a:t>
            </a:r>
          </a:p>
        </p:txBody>
      </p:sp>
      <p:sp>
        <p:nvSpPr>
          <p:cNvPr id="5" name="TextBox 4">
            <a:extLst xmlns:a="http://schemas.openxmlformats.org/drawingml/2006/main">
              <a:ext uri="{FF2B5EF4-FFF2-40B4-BE49-F238E27FC236}">
                <a16:creationId xmlns:a16="http://schemas.microsoft.com/office/drawing/2014/main" id="{8467DEB3-768B-4F7B-A618-CE9EC92E21AD}"/>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We have a lookup tool, but no way to search our written policies</a:t>
            </a:r>
          </a:p>
        </p:txBody>
      </p:sp>
      <p:sp>
        <p:nvSpPr>
          <p:cNvPr id="6" name="Rounded Rectangle 5">
            <a:extLst xmlns:a="http://schemas.openxmlformats.org/drawingml/2006/main">
              <a:ext uri="{FF2B5EF4-FFF2-40B4-BE49-F238E27FC236}">
                <a16:creationId xmlns:a16="http://schemas.microsoft.com/office/drawing/2014/main" id="{19C3E25C-0DC3-4DE7-B010-CFD475059D83}"/>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C9004303-AA0A-4050-AFD7-B5FE661DE4A8}"/>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EAFB11C-643B-4773-A914-D440B4F988A8}"/>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MODULE 4</a:t>
            </a:r>
          </a:p>
        </p:txBody>
      </p:sp>
      <p:sp>
        <p:nvSpPr>
          <p:cNvPr id="9" name="TextBox 8">
            <a:extLst xmlns:a="http://schemas.openxmlformats.org/drawingml/2006/main">
              <a:ext uri="{FF2B5EF4-FFF2-40B4-BE49-F238E27FC236}">
                <a16:creationId xmlns:a16="http://schemas.microsoft.com/office/drawing/2014/main" id="{05B89249-5E75-4FF4-8881-BEBD62667E9C}"/>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a status by an exact ID</a:t>
            </a:r>
          </a:p>
        </p:txBody>
      </p:sp>
      <p:sp>
        <p:nvSpPr>
          <p:cNvPr id="10" name="Rounded Rectangle 9">
            <a:extLst xmlns:a="http://schemas.openxmlformats.org/drawingml/2006/main">
              <a:ext uri="{FF2B5EF4-FFF2-40B4-BE49-F238E27FC236}">
                <a16:creationId xmlns:a16="http://schemas.microsoft.com/office/drawing/2014/main" id="{039B6338-F816-4990-9F55-A1FA1A91F999}"/>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4F883F57-5D3C-4362-BBE5-1C89470C5C90}"/>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DDCF8242-1241-411C-9205-7BDDF73CA788}"/>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MODULE 5</a:t>
            </a:r>
          </a:p>
        </p:txBody>
      </p:sp>
      <p:sp>
        <p:nvSpPr>
          <p:cNvPr id="13" name="TextBox 12">
            <a:extLst xmlns:a="http://schemas.openxmlformats.org/drawingml/2006/main">
              <a:ext uri="{FF2B5EF4-FFF2-40B4-BE49-F238E27FC236}">
                <a16:creationId xmlns:a16="http://schemas.microsoft.com/office/drawing/2014/main" id="{4289AE4C-FD64-4BB2-BA68-46C81B05ECFD}"/>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a policy by the meaning of a question</a:t>
            </a:r>
          </a:p>
        </p:txBody>
      </p:sp>
      <p:sp>
        <p:nvSpPr>
          <p:cNvPr id="14" name="TextBox 13">
            <a:extLst xmlns:a="http://schemas.openxmlformats.org/drawingml/2006/main">
              <a:ext uri="{FF2B5EF4-FFF2-40B4-BE49-F238E27FC236}">
                <a16:creationId xmlns:a16="http://schemas.microsoft.com/office/drawing/2014/main" id="{26E71EE2-B172-4B2D-AD2F-4A91B6D7CAE5}"/>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6D5A8194-CF5E-46BA-802D-54273515A62A}"/>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05</a:t>
            </a:r>
            <a:r>
              <a:t>/56</a:t>
            </a:r>
          </a:p>
        </p:txBody>
      </p:sp>
    </p:spTree>
    <p:extLst>
      <p:ext uri="{BB962C8B-B14F-4D97-AF65-F5344CB8AC3E}">
        <p14:creationId xmlns:p14="http://schemas.microsoft.com/office/powerpoint/2010/main" val="196640692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F798A60-9C02-4855-80D0-1825C358275B}"/>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099C55E-8B90-4A78-9579-305A6754C2BB}"/>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460987B7-EBEC-43CE-A50B-F4ECB007E75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Before parcels: one very easy example</a:t>
            </a:r>
          </a:p>
        </p:txBody>
      </p:sp>
      <p:sp>
        <p:nvSpPr>
          <p:cNvPr id="5" name="TextBox 4">
            <a:extLst xmlns:a="http://schemas.openxmlformats.org/drawingml/2006/main">
              <a:ext uri="{FF2B5EF4-FFF2-40B4-BE49-F238E27FC236}">
                <a16:creationId xmlns:a16="http://schemas.microsoft.com/office/drawing/2014/main" id="{35DCB511-432A-4D25-882B-9026EB192653}"/>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You already understand meaning</a:t>
            </a:r>
          </a:p>
        </p:txBody>
      </p:sp>
      <p:sp>
        <p:nvSpPr>
          <p:cNvPr id="6" name="Rounded Rectangle 5">
            <a:extLst xmlns:a="http://schemas.openxmlformats.org/drawingml/2006/main">
              <a:ext uri="{FF2B5EF4-FFF2-40B4-BE49-F238E27FC236}">
                <a16:creationId xmlns:a16="http://schemas.microsoft.com/office/drawing/2014/main" id="{8E41B890-F29D-406C-83BF-DCD69946F7EE}"/>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020750E6-BC6D-47CB-B2EF-35CB4B97E793}"/>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95579A2-7E3F-410D-BEFB-E1FB74D12044}"/>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SENTENCE A</a:t>
            </a:r>
          </a:p>
        </p:txBody>
      </p:sp>
      <p:sp>
        <p:nvSpPr>
          <p:cNvPr id="9" name="TextBox 8">
            <a:extLst xmlns:a="http://schemas.openxmlformats.org/drawingml/2006/main">
              <a:ext uri="{FF2B5EF4-FFF2-40B4-BE49-F238E27FC236}">
                <a16:creationId xmlns:a16="http://schemas.microsoft.com/office/drawing/2014/main" id="{42DD2BA4-0206-4906-975C-83F9CE364787}"/>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A cat is sleeping.</a:t>
            </a:r>
          </a:p>
        </p:txBody>
      </p:sp>
      <p:sp>
        <p:nvSpPr>
          <p:cNvPr id="10" name="Rounded Rectangle 9">
            <a:extLst xmlns:a="http://schemas.openxmlformats.org/drawingml/2006/main">
              <a:ext uri="{FF2B5EF4-FFF2-40B4-BE49-F238E27FC236}">
                <a16:creationId xmlns:a16="http://schemas.microsoft.com/office/drawing/2014/main" id="{9142CAE4-3948-4090-9599-CE5B2220E099}"/>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A5D918CE-BD8D-4D8A-89CD-E81ED5743271}"/>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34ACD79-8938-464D-80CA-FC85B0889896}"/>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SENTENCE B</a:t>
            </a:r>
          </a:p>
        </p:txBody>
      </p:sp>
      <p:sp>
        <p:nvSpPr>
          <p:cNvPr id="13" name="TextBox 12">
            <a:extLst xmlns:a="http://schemas.openxmlformats.org/drawingml/2006/main">
              <a:ext uri="{FF2B5EF4-FFF2-40B4-BE49-F238E27FC236}">
                <a16:creationId xmlns:a16="http://schemas.microsoft.com/office/drawing/2014/main" id="{B1D0CB70-EAA8-4E9E-8FE4-866651322A56}"/>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A kitten is resting.</a:t>
            </a:r>
          </a:p>
        </p:txBody>
      </p:sp>
      <p:sp>
        <p:nvSpPr>
          <p:cNvPr id="14" name="TextBox 13">
            <a:extLst xmlns:a="http://schemas.openxmlformats.org/drawingml/2006/main">
              <a:ext uri="{FF2B5EF4-FFF2-40B4-BE49-F238E27FC236}">
                <a16:creationId xmlns:a16="http://schemas.microsoft.com/office/drawing/2014/main" id="{1C102ECF-BC95-4C6F-B34C-AAECCA10EF1F}"/>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158845F4-11AD-4786-8974-AB7A0F7792F9}"/>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06</a:t>
            </a:r>
            <a:r>
              <a:t>/56</a:t>
            </a:r>
          </a:p>
        </p:txBody>
      </p:sp>
    </p:spTree>
    <p:extLst>
      <p:ext uri="{BB962C8B-B14F-4D97-AF65-F5344CB8AC3E}">
        <p14:creationId xmlns:p14="http://schemas.microsoft.com/office/powerpoint/2010/main" val="139943153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E025CB9-5D37-4BE8-95B0-44B6FB518083}"/>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BC6A098-3403-4005-AB71-302DC3777037}"/>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55FAFD2A-148D-433C-BB94-06B58F1CFC9B}"/>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Add one different sentence</a:t>
            </a:r>
          </a:p>
        </p:txBody>
      </p:sp>
      <p:sp>
        <p:nvSpPr>
          <p:cNvPr id="5" name="TextBox 4">
            <a:extLst xmlns:a="http://schemas.openxmlformats.org/drawingml/2006/main">
              <a:ext uri="{FF2B5EF4-FFF2-40B4-BE49-F238E27FC236}">
                <a16:creationId xmlns:a16="http://schemas.microsoft.com/office/drawing/2014/main" id="{FA83A3B6-D417-449D-AE15-9D4F7E1AD9EA}"/>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Which sentence is more related to the first one?</a:t>
            </a:r>
          </a:p>
        </p:txBody>
      </p:sp>
      <p:sp>
        <p:nvSpPr>
          <p:cNvPr id="6" name="Rounded Rectangle 5">
            <a:extLst xmlns:a="http://schemas.openxmlformats.org/drawingml/2006/main">
              <a:ext uri="{FF2B5EF4-FFF2-40B4-BE49-F238E27FC236}">
                <a16:creationId xmlns:a16="http://schemas.microsoft.com/office/drawing/2014/main" id="{0291D69B-2D21-4FC4-88EC-F750868B7744}"/>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3379F680-04A0-4A68-B838-C35A93EF9D03}"/>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2A93627-9BBD-41BD-A581-A568EAEE99BE}"/>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A</a:t>
            </a:r>
          </a:p>
        </p:txBody>
      </p:sp>
      <p:sp>
        <p:nvSpPr>
          <p:cNvPr id="9" name="TextBox 8">
            <a:extLst xmlns:a="http://schemas.openxmlformats.org/drawingml/2006/main">
              <a:ext uri="{FF2B5EF4-FFF2-40B4-BE49-F238E27FC236}">
                <a16:creationId xmlns:a16="http://schemas.microsoft.com/office/drawing/2014/main" id="{679D8770-242E-4320-B793-B15054A7017E}"/>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cat is sleeping.</a:t>
            </a:r>
          </a:p>
        </p:txBody>
      </p:sp>
      <p:sp>
        <p:nvSpPr>
          <p:cNvPr id="10" name="Rounded Rectangle 9">
            <a:extLst xmlns:a="http://schemas.openxmlformats.org/drawingml/2006/main">
              <a:ext uri="{FF2B5EF4-FFF2-40B4-BE49-F238E27FC236}">
                <a16:creationId xmlns:a16="http://schemas.microsoft.com/office/drawing/2014/main" id="{05B33473-2A17-4A6B-95BF-E8A16F444C08}"/>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F91A93A5-FE99-43E6-B92C-548D5CF2FB23}"/>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7FCCAF3-EF4E-4EDF-80D9-65EF79B529D1}"/>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B</a:t>
            </a:r>
          </a:p>
        </p:txBody>
      </p:sp>
      <p:sp>
        <p:nvSpPr>
          <p:cNvPr id="13" name="TextBox 12">
            <a:extLst xmlns:a="http://schemas.openxmlformats.org/drawingml/2006/main">
              <a:ext uri="{FF2B5EF4-FFF2-40B4-BE49-F238E27FC236}">
                <a16:creationId xmlns:a16="http://schemas.microsoft.com/office/drawing/2014/main" id="{87A15B66-A1FF-490F-8DA1-40F5194A766D}"/>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kitten is resting.</a:t>
            </a:r>
          </a:p>
        </p:txBody>
      </p:sp>
      <p:sp>
        <p:nvSpPr>
          <p:cNvPr id="14" name="Rounded Rectangle 13">
            <a:extLst xmlns:a="http://schemas.openxmlformats.org/drawingml/2006/main">
              <a:ext uri="{FF2B5EF4-FFF2-40B4-BE49-F238E27FC236}">
                <a16:creationId xmlns:a16="http://schemas.microsoft.com/office/drawing/2014/main" id="{79A58839-6E76-41D9-98E9-960747214475}"/>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516A0277-29CA-4E98-8671-ED0D63CDCC88}"/>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7A6DDD50-9AB8-45F3-B22F-3080B36C7CD6}"/>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a:t>
            </a:r>
          </a:p>
        </p:txBody>
      </p:sp>
      <p:sp>
        <p:nvSpPr>
          <p:cNvPr id="17" name="TextBox 16">
            <a:extLst xmlns:a="http://schemas.openxmlformats.org/drawingml/2006/main">
              <a:ext uri="{FF2B5EF4-FFF2-40B4-BE49-F238E27FC236}">
                <a16:creationId xmlns:a16="http://schemas.microsoft.com/office/drawing/2014/main" id="{335D66F6-78FF-4C4F-B4F6-9F3963E5DA91}"/>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An airplane is flying.</a:t>
            </a:r>
          </a:p>
        </p:txBody>
      </p:sp>
      <p:sp>
        <p:nvSpPr>
          <p:cNvPr id="18" name="TextBox 17">
            <a:extLst xmlns:a="http://schemas.openxmlformats.org/drawingml/2006/main">
              <a:ext uri="{FF2B5EF4-FFF2-40B4-BE49-F238E27FC236}">
                <a16:creationId xmlns:a16="http://schemas.microsoft.com/office/drawing/2014/main" id="{3CD0627D-09A8-48E1-A215-BEEF3778CBA0}"/>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9" name="TextBox 18">
            <a:extLst xmlns:a="http://schemas.openxmlformats.org/drawingml/2006/main">
              <a:ext uri="{FF2B5EF4-FFF2-40B4-BE49-F238E27FC236}">
                <a16:creationId xmlns:a16="http://schemas.microsoft.com/office/drawing/2014/main" id="{E907EFE9-D4A7-4345-A922-04E13C50288A}"/>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07</a:t>
            </a:r>
            <a:r>
              <a:t>/56</a:t>
            </a:r>
          </a:p>
        </p:txBody>
      </p:sp>
    </p:spTree>
    <p:extLst>
      <p:ext uri="{BB962C8B-B14F-4D97-AF65-F5344CB8AC3E}">
        <p14:creationId xmlns:p14="http://schemas.microsoft.com/office/powerpoint/2010/main" val="565698063"/>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856115-22F2-4022-B937-445719EDF583}"/>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CC38B4A-6BD5-48D7-8C22-2E1DA66E9735}"/>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765FA48A-7E0D-409F-912B-084D5933594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People compare meaning naturally</a:t>
            </a:r>
          </a:p>
        </p:txBody>
      </p:sp>
      <p:sp>
        <p:nvSpPr>
          <p:cNvPr id="5" name="TextBox 4">
            <a:extLst xmlns:a="http://schemas.openxmlformats.org/drawingml/2006/main">
              <a:ext uri="{FF2B5EF4-FFF2-40B4-BE49-F238E27FC236}">
                <a16:creationId xmlns:a16="http://schemas.microsoft.com/office/drawing/2014/main" id="{6CB7815C-8A46-425A-ADDD-D829EFB68BAF}"/>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How can Python compare these sentences?</a:t>
            </a:r>
          </a:p>
        </p:txBody>
      </p:sp>
      <p:sp>
        <p:nvSpPr>
          <p:cNvPr id="6" name="Rounded Rectangle 5">
            <a:extLst xmlns:a="http://schemas.openxmlformats.org/drawingml/2006/main">
              <a:ext uri="{FF2B5EF4-FFF2-40B4-BE49-F238E27FC236}">
                <a16:creationId xmlns:a16="http://schemas.microsoft.com/office/drawing/2014/main" id="{FAF8CF26-D0B7-4C01-A048-5880E2D87623}"/>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8C87F0CE-C5F7-4C44-9AF1-E68E051F4B49}"/>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1BD8694-B173-44F2-88A8-5351161C0256}"/>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WE SEE</a:t>
            </a:r>
          </a:p>
        </p:txBody>
      </p:sp>
      <p:sp>
        <p:nvSpPr>
          <p:cNvPr id="9" name="TextBox 8">
            <a:extLst xmlns:a="http://schemas.openxmlformats.org/drawingml/2006/main">
              <a:ext uri="{FF2B5EF4-FFF2-40B4-BE49-F238E27FC236}">
                <a16:creationId xmlns:a16="http://schemas.microsoft.com/office/drawing/2014/main" id="{9C64972B-B86D-45D0-B90C-D07C9EB96590}"/>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Two related ideas</a:t>
            </a:r>
          </a:p>
        </p:txBody>
      </p:sp>
      <p:sp>
        <p:nvSpPr>
          <p:cNvPr id="10" name="Rounded Rectangle 9">
            <a:extLst xmlns:a="http://schemas.openxmlformats.org/drawingml/2006/main">
              <a:ext uri="{FF2B5EF4-FFF2-40B4-BE49-F238E27FC236}">
                <a16:creationId xmlns:a16="http://schemas.microsoft.com/office/drawing/2014/main" id="{42F72BFE-7253-4608-B123-317CF7CACC7B}"/>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E62055A3-6076-4825-91B4-10555D2CCE45}"/>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37CB927-7B68-4BC4-9B4B-CF1B02450B44}"/>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PYTHON NEEDS</a:t>
            </a:r>
          </a:p>
        </p:txBody>
      </p:sp>
      <p:sp>
        <p:nvSpPr>
          <p:cNvPr id="13" name="TextBox 12">
            <a:extLst xmlns:a="http://schemas.openxmlformats.org/drawingml/2006/main">
              <a:ext uri="{FF2B5EF4-FFF2-40B4-BE49-F238E27FC236}">
                <a16:creationId xmlns:a16="http://schemas.microsoft.com/office/drawing/2014/main" id="{04727067-8859-4ED2-8E4B-9310EB3F9B43}"/>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A representation it can calculate with</a:t>
            </a:r>
          </a:p>
        </p:txBody>
      </p:sp>
      <p:sp>
        <p:nvSpPr>
          <p:cNvPr id="14" name="TextBox 13">
            <a:extLst xmlns:a="http://schemas.openxmlformats.org/drawingml/2006/main">
              <a:ext uri="{FF2B5EF4-FFF2-40B4-BE49-F238E27FC236}">
                <a16:creationId xmlns:a16="http://schemas.microsoft.com/office/drawing/2014/main" id="{2F2EF0EE-FAC6-465B-9527-071C57445F87}"/>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5986FA20-7077-49C6-910E-C89D43A9A2DD}"/>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08</a:t>
            </a:r>
            <a:r>
              <a:t>/56</a:t>
            </a:r>
          </a:p>
        </p:txBody>
      </p:sp>
    </p:spTree>
    <p:extLst>
      <p:ext uri="{BB962C8B-B14F-4D97-AF65-F5344CB8AC3E}">
        <p14:creationId xmlns:p14="http://schemas.microsoft.com/office/powerpoint/2010/main" val="672321717"/>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16BEAAD-D61C-4FE7-8C86-5070E0741D6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DFEF92-D922-4BDC-A24A-1E28AA6EB94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7AB3BDF4-CDA0-4D31-86AE-9490467932BA}"/>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First new word: vector</a:t>
            </a:r>
          </a:p>
        </p:txBody>
      </p:sp>
      <p:sp>
        <p:nvSpPr>
          <p:cNvPr id="5" name="TextBox 4">
            <a:extLst xmlns:a="http://schemas.openxmlformats.org/drawingml/2006/main">
              <a:ext uri="{FF2B5EF4-FFF2-40B4-BE49-F238E27FC236}">
                <a16:creationId xmlns:a16="http://schemas.microsoft.com/office/drawing/2014/main" id="{1AD5B734-5027-40DE-AC60-5238251C1DCE}"/>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For this lesson, a vector is simply a list of numbers</a:t>
            </a:r>
          </a:p>
        </p:txBody>
      </p:sp>
      <p:sp>
        <p:nvSpPr>
          <p:cNvPr id="6" name="Rounded Rectangle 5">
            <a:extLst xmlns:a="http://schemas.openxmlformats.org/drawingml/2006/main">
              <a:ext uri="{FF2B5EF4-FFF2-40B4-BE49-F238E27FC236}">
                <a16:creationId xmlns:a16="http://schemas.microsoft.com/office/drawing/2014/main" id="{6C5CC15D-908F-45BE-A9AB-2A5368E57FA6}"/>
              </a:ext>
            </a:extLst>
          </p:cNvPr>
          <p:cNvSpPr>
            <a:spLocks xmlns:a="http://schemas.openxmlformats.org/drawingml/2006/main" noGrp="1"/>
          </p:cNvSpPr>
          <p:nvPr/>
        </p:nvSpPr>
        <p:spPr>
          <a:xfrm xmlns:a="http://schemas.openxmlformats.org/drawingml/2006/main">
            <a:off x="914400" y="2606040"/>
            <a:ext cx="10332720" cy="233172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D4193E4-135D-4D88-A00A-0D6BE2243617}"/>
              </a:ext>
            </a:extLst>
          </p:cNvPr>
          <p:cNvSpPr>
            <a:spLocks xmlns:a="http://schemas.openxmlformats.org/drawingml/2006/main" noGrp="1"/>
          </p:cNvSpPr>
          <p:nvPr/>
        </p:nvSpPr>
        <p:spPr>
          <a:xfrm xmlns:a="http://schemas.openxmlformats.org/drawingml/2006/main">
            <a:off x="1371600" y="2971800"/>
            <a:ext cx="9418320" cy="10058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4600" b="1">
                <a:solidFill>
                  <a:srgbClr val="087F8C"/>
                </a:solidFill>
                <a:latin typeface="Consolas"/>
                <a:ea typeface="Consolas"/>
                <a:cs typeface="Consolas"/>
              </a:defRPr>
            </a:pPr>
            <a:r>
              <a:t>[ 0.8,  0.2,  −0.1 ]</a:t>
            </a:r>
          </a:p>
        </p:txBody>
      </p:sp>
      <p:sp>
        <p:nvSpPr>
          <p:cNvPr id="8" name="TextBox 7">
            <a:extLst xmlns:a="http://schemas.openxmlformats.org/drawingml/2006/main">
              <a:ext uri="{FF2B5EF4-FFF2-40B4-BE49-F238E27FC236}">
                <a16:creationId xmlns:a16="http://schemas.microsoft.com/office/drawing/2014/main" id="{41B60912-C645-4FA6-A9E6-CD98EF5DAEF3}"/>
              </a:ext>
            </a:extLst>
          </p:cNvPr>
          <p:cNvSpPr>
            <a:spLocks xmlns:a="http://schemas.openxmlformats.org/drawingml/2006/main" noGrp="1"/>
          </p:cNvSpPr>
          <p:nvPr/>
        </p:nvSpPr>
        <p:spPr>
          <a:xfrm xmlns:a="http://schemas.openxmlformats.org/drawingml/2006/main">
            <a:off x="914400" y="5349240"/>
            <a:ext cx="1033272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Three numbers in a list. That is all we need for now.</a:t>
            </a:r>
          </a:p>
        </p:txBody>
      </p:sp>
      <p:sp>
        <p:nvSpPr>
          <p:cNvPr id="9" name="TextBox 8">
            <a:extLst xmlns:a="http://schemas.openxmlformats.org/drawingml/2006/main">
              <a:ext uri="{FF2B5EF4-FFF2-40B4-BE49-F238E27FC236}">
                <a16:creationId xmlns:a16="http://schemas.microsoft.com/office/drawing/2014/main" id="{EFA45F40-C961-4574-822E-BC9791896497}"/>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F6EA774A-5341-4B8B-9658-78D65BB23227}"/>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09</a:t>
            </a:r>
            <a:r>
              <a:t>/56</a:t>
            </a:r>
          </a:p>
        </p:txBody>
      </p:sp>
    </p:spTree>
    <p:extLst>
      <p:ext uri="{BB962C8B-B14F-4D97-AF65-F5344CB8AC3E}">
        <p14:creationId xmlns:p14="http://schemas.microsoft.com/office/powerpoint/2010/main" val="37133087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8DCFC0D-1C8F-4AEB-B46C-46034086C88E}"/>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A9734C2-C0F8-4FD9-B0C5-AADD31C6CBD5}"/>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476D7102-B61F-40D8-9926-2935F5371B42}"/>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Second new word: embedding</a:t>
            </a:r>
          </a:p>
        </p:txBody>
      </p:sp>
      <p:sp>
        <p:nvSpPr>
          <p:cNvPr id="5" name="TextBox 4">
            <a:extLst xmlns:a="http://schemas.openxmlformats.org/drawingml/2006/main">
              <a:ext uri="{FF2B5EF4-FFF2-40B4-BE49-F238E27FC236}">
                <a16:creationId xmlns:a16="http://schemas.microsoft.com/office/drawing/2014/main" id="{C6C7F8F2-D124-42B7-9C9F-BD8E2BD13574}"/>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Text changed into numbers that help represent its meaning</a:t>
            </a:r>
          </a:p>
        </p:txBody>
      </p:sp>
      <p:sp>
        <p:nvSpPr>
          <p:cNvPr id="6" name="Rounded Rectangle 5">
            <a:extLst xmlns:a="http://schemas.openxmlformats.org/drawingml/2006/main">
              <a:ext uri="{FF2B5EF4-FFF2-40B4-BE49-F238E27FC236}">
                <a16:creationId xmlns:a16="http://schemas.microsoft.com/office/drawing/2014/main" id="{5A92FA31-D521-4C19-8BE0-84BE40594CDD}"/>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484A2000-FD8F-4AAF-9B44-CD60BAA0E91A}"/>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CC86B8A-BE4F-4DDA-A871-756C41A03701}"/>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TEXT</a:t>
            </a:r>
          </a:p>
        </p:txBody>
      </p:sp>
      <p:sp>
        <p:nvSpPr>
          <p:cNvPr id="9" name="TextBox 8">
            <a:extLst xmlns:a="http://schemas.openxmlformats.org/drawingml/2006/main">
              <a:ext uri="{FF2B5EF4-FFF2-40B4-BE49-F238E27FC236}">
                <a16:creationId xmlns:a16="http://schemas.microsoft.com/office/drawing/2014/main" id="{B085D042-7590-44A6-A13B-882B5E08F6DE}"/>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cat is sleeping.</a:t>
            </a:r>
          </a:p>
        </p:txBody>
      </p:sp>
      <p:sp>
        <p:nvSpPr>
          <p:cNvPr id="10" name="Chevron 9">
            <a:extLst xmlns:a="http://schemas.openxmlformats.org/drawingml/2006/main">
              <a:ext uri="{FF2B5EF4-FFF2-40B4-BE49-F238E27FC236}">
                <a16:creationId xmlns:a16="http://schemas.microsoft.com/office/drawing/2014/main" id="{AB842732-E2D8-42AC-8276-653F9BD3A22C}"/>
              </a:ext>
            </a:extLst>
          </p:cNvPr>
          <p:cNvSpPr>
            <a:spLocks xmlns:a="http://schemas.openxmlformats.org/drawingml/2006/main" noGrp="1"/>
          </p:cNvSpPr>
          <p:nvPr/>
        </p:nvSpPr>
        <p:spPr>
          <a:xfrm xmlns:a="http://schemas.openxmlformats.org/drawingml/2006/main">
            <a:off x="407365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CFE8EF7E-E339-4EAE-A4DC-36B498B49F7D}"/>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54A4CB36-D037-4008-A740-2142FE7B5887}"/>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F1FB58E-D749-4708-A29B-8A510F4419E4}"/>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EMBEDDING MODEL</a:t>
            </a:r>
          </a:p>
        </p:txBody>
      </p:sp>
      <p:sp>
        <p:nvSpPr>
          <p:cNvPr id="14" name="TextBox 13">
            <a:extLst xmlns:a="http://schemas.openxmlformats.org/drawingml/2006/main">
              <a:ext uri="{FF2B5EF4-FFF2-40B4-BE49-F238E27FC236}">
                <a16:creationId xmlns:a16="http://schemas.microsoft.com/office/drawing/2014/main" id="{A088B172-46A8-41EB-832F-E15B031953C4}"/>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Converts text</a:t>
            </a:r>
          </a:p>
        </p:txBody>
      </p:sp>
      <p:sp>
        <p:nvSpPr>
          <p:cNvPr id="15" name="Chevron 14">
            <a:extLst xmlns:a="http://schemas.openxmlformats.org/drawingml/2006/main">
              <a:ext uri="{FF2B5EF4-FFF2-40B4-BE49-F238E27FC236}">
                <a16:creationId xmlns:a16="http://schemas.microsoft.com/office/drawing/2014/main" id="{3AB317C6-FDA9-49EE-A18A-D693AAA1E94B}"/>
              </a:ext>
            </a:extLst>
          </p:cNvPr>
          <p:cNvSpPr>
            <a:spLocks xmlns:a="http://schemas.openxmlformats.org/drawingml/2006/main" noGrp="1"/>
          </p:cNvSpPr>
          <p:nvPr/>
        </p:nvSpPr>
        <p:spPr>
          <a:xfrm xmlns:a="http://schemas.openxmlformats.org/drawingml/2006/main">
            <a:off x="786841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ounded Rectangle 15">
            <a:extLst xmlns:a="http://schemas.openxmlformats.org/drawingml/2006/main">
              <a:ext uri="{FF2B5EF4-FFF2-40B4-BE49-F238E27FC236}">
                <a16:creationId xmlns:a16="http://schemas.microsoft.com/office/drawing/2014/main" id="{37EFBCE0-C52F-495C-846D-42ED9CFE410B}"/>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4C2B96DB-49FD-4A02-BFCF-5CE51EF9309B}"/>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6251D3E9-C069-4CB4-8057-4CB84CC87764}"/>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NUMBERS</a:t>
            </a:r>
          </a:p>
        </p:txBody>
      </p:sp>
      <p:sp>
        <p:nvSpPr>
          <p:cNvPr id="19" name="TextBox 18">
            <a:extLst xmlns:a="http://schemas.openxmlformats.org/drawingml/2006/main">
              <a:ext uri="{FF2B5EF4-FFF2-40B4-BE49-F238E27FC236}">
                <a16:creationId xmlns:a16="http://schemas.microsoft.com/office/drawing/2014/main" id="{C7D8C495-BA22-49CD-8D53-EC696FDEE4B7}"/>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[0.8, 0.2, …]</a:t>
            </a:r>
          </a:p>
        </p:txBody>
      </p:sp>
      <p:sp>
        <p:nvSpPr>
          <p:cNvPr id="20" name="TextBox 19">
            <a:extLst xmlns:a="http://schemas.openxmlformats.org/drawingml/2006/main">
              <a:ext uri="{FF2B5EF4-FFF2-40B4-BE49-F238E27FC236}">
                <a16:creationId xmlns:a16="http://schemas.microsoft.com/office/drawing/2014/main" id="{BFA0E1D8-5310-4D5F-9F45-B023CF5A52F5}"/>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21" name="TextBox 20">
            <a:extLst xmlns:a="http://schemas.openxmlformats.org/drawingml/2006/main">
              <a:ext uri="{FF2B5EF4-FFF2-40B4-BE49-F238E27FC236}">
                <a16:creationId xmlns:a16="http://schemas.microsoft.com/office/drawing/2014/main" id="{4DA8B53E-2AD9-4328-847C-8A0B8B466BBD}"/>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10</a:t>
            </a:r>
            <a:r>
              <a:t>/56</a:t>
            </a:r>
          </a:p>
        </p:txBody>
      </p:sp>
    </p:spTree>
    <p:extLst>
      <p:ext uri="{BB962C8B-B14F-4D97-AF65-F5344CB8AC3E}">
        <p14:creationId xmlns:p14="http://schemas.microsoft.com/office/powerpoint/2010/main" val="530945858"/>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C5AEA5-98D6-40D2-9B8D-4C749A915D0F}"/>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F96A721-CC4C-42E2-8351-24EF22AB3EF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A5F70784-E45C-4B21-AD2D-9C322A01EFA3}"/>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Who chooses these numbers?</a:t>
            </a:r>
          </a:p>
        </p:txBody>
      </p:sp>
      <p:sp>
        <p:nvSpPr>
          <p:cNvPr id="5" name="TextBox 4">
            <a:extLst xmlns:a="http://schemas.openxmlformats.org/drawingml/2006/main">
              <a:ext uri="{FF2B5EF4-FFF2-40B4-BE49-F238E27FC236}">
                <a16:creationId xmlns:a16="http://schemas.microsoft.com/office/drawing/2014/main" id="{A82D7D55-EA1A-46EF-A622-C0AB60C88828}"/>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The embedding model does that work</a:t>
            </a:r>
          </a:p>
        </p:txBody>
      </p:sp>
      <p:sp>
        <p:nvSpPr>
          <p:cNvPr id="6" name="Rounded Rectangle 5">
            <a:extLst xmlns:a="http://schemas.openxmlformats.org/drawingml/2006/main">
              <a:ext uri="{FF2B5EF4-FFF2-40B4-BE49-F238E27FC236}">
                <a16:creationId xmlns:a16="http://schemas.microsoft.com/office/drawing/2014/main" id="{55DC181E-9B3B-4D48-A6F6-0ADDA6D434DE}"/>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15CAEEE3-51EC-49EC-96F6-4174CDC750C7}"/>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C48A0B3-5707-4B51-BFBC-F6EEBE26F339}"/>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OUR JOB</a:t>
            </a:r>
          </a:p>
        </p:txBody>
      </p:sp>
      <p:sp>
        <p:nvSpPr>
          <p:cNvPr id="9" name="TextBox 8">
            <a:extLst xmlns:a="http://schemas.openxmlformats.org/drawingml/2006/main">
              <a:ext uri="{FF2B5EF4-FFF2-40B4-BE49-F238E27FC236}">
                <a16:creationId xmlns:a16="http://schemas.microsoft.com/office/drawing/2014/main" id="{A8155E80-4760-4894-AB58-4A0C99098E5D}"/>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Give the model some text</a:t>
            </a:r>
          </a:p>
        </p:txBody>
      </p:sp>
      <p:sp>
        <p:nvSpPr>
          <p:cNvPr id="10" name="Rounded Rectangle 9">
            <a:extLst xmlns:a="http://schemas.openxmlformats.org/drawingml/2006/main">
              <a:ext uri="{FF2B5EF4-FFF2-40B4-BE49-F238E27FC236}">
                <a16:creationId xmlns:a16="http://schemas.microsoft.com/office/drawing/2014/main" id="{A2C3DE5F-F369-4850-9895-346EBE2B20E6}"/>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DAD80214-0566-4095-AC5D-44DA91850937}"/>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ECF9D3E0-127A-4EA5-856B-2B6BABF8E279}"/>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MODEL’S JOB</a:t>
            </a:r>
          </a:p>
        </p:txBody>
      </p:sp>
      <p:sp>
        <p:nvSpPr>
          <p:cNvPr id="13" name="TextBox 12">
            <a:extLst xmlns:a="http://schemas.openxmlformats.org/drawingml/2006/main">
              <a:ext uri="{FF2B5EF4-FFF2-40B4-BE49-F238E27FC236}">
                <a16:creationId xmlns:a16="http://schemas.microsoft.com/office/drawing/2014/main" id="{8BF4E9D5-250A-40F1-9587-4901C1B62A50}"/>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Return its numerical representation</a:t>
            </a:r>
          </a:p>
        </p:txBody>
      </p:sp>
      <p:sp>
        <p:nvSpPr>
          <p:cNvPr id="14" name="TextBox 13">
            <a:extLst xmlns:a="http://schemas.openxmlformats.org/drawingml/2006/main">
              <a:ext uri="{FF2B5EF4-FFF2-40B4-BE49-F238E27FC236}">
                <a16:creationId xmlns:a16="http://schemas.microsoft.com/office/drawing/2014/main" id="{E056F987-8D00-4B17-B855-451E2AFE4DDF}"/>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6BDD2B71-3AA7-48C6-87CF-321AD0AE06BE}"/>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11</a:t>
            </a:r>
            <a:r>
              <a:t>/56</a:t>
            </a:r>
          </a:p>
        </p:txBody>
      </p:sp>
    </p:spTree>
    <p:extLst>
      <p:ext uri="{BB962C8B-B14F-4D97-AF65-F5344CB8AC3E}">
        <p14:creationId xmlns:p14="http://schemas.microsoft.com/office/powerpoint/2010/main" val="1695290072"/>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3047EEF-D30C-4C71-9AB5-0A8C91B2965B}"/>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5BCF79E-10D5-4493-8EEE-93191DB848F3}"/>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7A9DE19F-771B-42AA-A262-E379C2CD7E9B}"/>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How does this help our cat example?</a:t>
            </a:r>
          </a:p>
        </p:txBody>
      </p:sp>
      <p:sp>
        <p:nvSpPr>
          <p:cNvPr id="5" name="TextBox 4">
            <a:extLst xmlns:a="http://schemas.openxmlformats.org/drawingml/2006/main">
              <a:ext uri="{FF2B5EF4-FFF2-40B4-BE49-F238E27FC236}">
                <a16:creationId xmlns:a16="http://schemas.microsoft.com/office/drawing/2014/main" id="{3878DABB-B025-471D-8668-347B6FC8C47A}"/>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r>
              <a:t>Illustrative numbers only — not real API output</a:t>
            </a:r>
          </a:p>
        </p:txBody>
      </p:sp>
      <p:sp>
        <p:nvSpPr>
          <p:cNvPr id="6" name="Rounded Rectangle 5">
            <a:extLst xmlns:a="http://schemas.openxmlformats.org/drawingml/2006/main">
              <a:ext uri="{FF2B5EF4-FFF2-40B4-BE49-F238E27FC236}">
                <a16:creationId xmlns:a16="http://schemas.microsoft.com/office/drawing/2014/main" id="{9C8C9B5E-B109-4088-BB89-6F120F6ABD58}"/>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4FBCEC9E-407D-42CA-ABEB-0178A835F8E6}"/>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CB00F1C-71B8-4E86-8007-8604A19ACE13}"/>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A · CAT</a:t>
            </a:r>
          </a:p>
        </p:txBody>
      </p:sp>
      <p:sp>
        <p:nvSpPr>
          <p:cNvPr id="9" name="TextBox 8">
            <a:extLst xmlns:a="http://schemas.openxmlformats.org/drawingml/2006/main">
              <a:ext uri="{FF2B5EF4-FFF2-40B4-BE49-F238E27FC236}">
                <a16:creationId xmlns:a16="http://schemas.microsoft.com/office/drawing/2014/main" id="{45AF6B2C-9846-493D-955C-369ED2A60D4D}"/>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[0.8, 0.2, …]</a:t>
            </a:r>
          </a:p>
        </p:txBody>
      </p:sp>
      <p:sp>
        <p:nvSpPr>
          <p:cNvPr id="10" name="Rounded Rectangle 9">
            <a:extLst xmlns:a="http://schemas.openxmlformats.org/drawingml/2006/main">
              <a:ext uri="{FF2B5EF4-FFF2-40B4-BE49-F238E27FC236}">
                <a16:creationId xmlns:a16="http://schemas.microsoft.com/office/drawing/2014/main" id="{33FCA3E6-B147-4E33-8C8F-3B2B916C374A}"/>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01DB3CF4-4C89-48A2-9126-BF6899BBED5E}"/>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1C87FAF-0177-4AA5-8DA6-3196C17C9E55}"/>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B · KITTEN</a:t>
            </a:r>
          </a:p>
        </p:txBody>
      </p:sp>
      <p:sp>
        <p:nvSpPr>
          <p:cNvPr id="13" name="TextBox 12">
            <a:extLst xmlns:a="http://schemas.openxmlformats.org/drawingml/2006/main">
              <a:ext uri="{FF2B5EF4-FFF2-40B4-BE49-F238E27FC236}">
                <a16:creationId xmlns:a16="http://schemas.microsoft.com/office/drawing/2014/main" id="{5C0034D8-0171-4B9C-A0CA-D84BAE728B47}"/>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[0.7, 0.3, …]</a:t>
            </a:r>
          </a:p>
        </p:txBody>
      </p:sp>
      <p:sp>
        <p:nvSpPr>
          <p:cNvPr id="14" name="Rounded Rectangle 13">
            <a:extLst xmlns:a="http://schemas.openxmlformats.org/drawingml/2006/main">
              <a:ext uri="{FF2B5EF4-FFF2-40B4-BE49-F238E27FC236}">
                <a16:creationId xmlns:a16="http://schemas.microsoft.com/office/drawing/2014/main" id="{B361E801-35F7-42F5-8C58-45DECBF96883}"/>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2AD70252-B132-404B-99FB-EA9CFE6CFA7C}"/>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7A31244F-A3E1-43EA-9AF9-BC251818B80F}"/>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 · AIRPLANE</a:t>
            </a:r>
          </a:p>
        </p:txBody>
      </p:sp>
      <p:sp>
        <p:nvSpPr>
          <p:cNvPr id="17" name="TextBox 16">
            <a:extLst xmlns:a="http://schemas.openxmlformats.org/drawingml/2006/main">
              <a:ext uri="{FF2B5EF4-FFF2-40B4-BE49-F238E27FC236}">
                <a16:creationId xmlns:a16="http://schemas.microsoft.com/office/drawing/2014/main" id="{2283446D-A202-4EDD-BBC3-06A771577F6F}"/>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[−0.4, 0.9, …]</a:t>
            </a:r>
          </a:p>
        </p:txBody>
      </p:sp>
      <p:sp>
        <p:nvSpPr>
          <p:cNvPr id="18" name="TextBox 17">
            <a:extLst xmlns:a="http://schemas.openxmlformats.org/drawingml/2006/main">
              <a:ext uri="{FF2B5EF4-FFF2-40B4-BE49-F238E27FC236}">
                <a16:creationId xmlns:a16="http://schemas.microsoft.com/office/drawing/2014/main" id="{B958BBF7-4CAD-49D8-9072-9ACF2A854137}"/>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9" name="TextBox 18">
            <a:extLst xmlns:a="http://schemas.openxmlformats.org/drawingml/2006/main">
              <a:ext uri="{FF2B5EF4-FFF2-40B4-BE49-F238E27FC236}">
                <a16:creationId xmlns:a16="http://schemas.microsoft.com/office/drawing/2014/main" id="{6BC632BC-BDAC-4CE5-BA7E-81AA7F48B40F}"/>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12</a:t>
            </a:r>
            <a:r>
              <a:t>/56</a:t>
            </a:r>
          </a:p>
        </p:txBody>
      </p:sp>
    </p:spTree>
    <p:extLst>
      <p:ext uri="{BB962C8B-B14F-4D97-AF65-F5344CB8AC3E}">
        <p14:creationId xmlns:p14="http://schemas.microsoft.com/office/powerpoint/2010/main" val="30322452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0E505F3-61B1-4392-AFFF-FF0EC9BFF0CE}"/>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D577785-BBFD-4B6A-8E54-AB342C7974CC}"/>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3500263E-03F3-4BA2-865A-BAA4A8E61413}"/>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Picture the lists as arrows</a:t>
            </a:r>
          </a:p>
        </p:txBody>
      </p:sp>
      <p:sp>
        <p:nvSpPr>
          <p:cNvPr id="5" name="TextBox 4">
            <a:extLst xmlns:a="http://schemas.openxmlformats.org/drawingml/2006/main">
              <a:ext uri="{FF2B5EF4-FFF2-40B4-BE49-F238E27FC236}">
                <a16:creationId xmlns:a16="http://schemas.microsoft.com/office/drawing/2014/main" id="{D828B93B-06FA-47B2-83EE-EFEAA6FC7371}"/>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Toy drawing: similar directions are easier to match</a:t>
            </a:r>
          </a:p>
        </p:txBody>
      </p:sp>
      <p:sp>
        <p:nvSpPr>
          <p:cNvPr id="6" name="Rounded Rectangle 5">
            <a:extLst xmlns:a="http://schemas.openxmlformats.org/drawingml/2006/main">
              <a:ext uri="{FF2B5EF4-FFF2-40B4-BE49-F238E27FC236}">
                <a16:creationId xmlns:a16="http://schemas.microsoft.com/office/drawing/2014/main" id="{FC85418B-4D6D-43FC-9745-D3AA6508CE20}"/>
              </a:ext>
            </a:extLst>
          </p:cNvPr>
          <p:cNvSpPr>
            <a:spLocks xmlns:a="http://schemas.openxmlformats.org/drawingml/2006/main" noGrp="1"/>
          </p:cNvSpPr>
          <p:nvPr/>
        </p:nvSpPr>
        <p:spPr>
          <a:xfrm xmlns:a="http://schemas.openxmlformats.org/drawingml/2006/main">
            <a:off x="548640" y="2468880"/>
            <a:ext cx="11064240" cy="329184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Connector 6">
            <a:extLst xmlns:a="http://schemas.openxmlformats.org/drawingml/2006/main">
              <a:ext uri="{FF2B5EF4-FFF2-40B4-BE49-F238E27FC236}">
                <a16:creationId xmlns:a16="http://schemas.microsoft.com/office/drawing/2014/main" id="{96442EB0-AD4A-49DE-85DC-283C989ADF5C}"/>
              </a:ext>
            </a:extLst>
          </p:cNvPr>
          <p:cNvSpPr>
            <a:spLocks xmlns:a="http://schemas.openxmlformats.org/drawingml/2006/main" noGrp="1"/>
          </p:cNvSpPr>
          <p:nvPr/>
        </p:nvSpPr>
        <p:spPr>
          <a:xfrm xmlns:a="http://schemas.openxmlformats.org/drawingml/2006/main" flipV="1">
            <a:off x="1097280" y="4480560"/>
            <a:ext cx="4389120" cy="731520"/>
          </a:xfrm>
          <a:prstGeom xmlns:a="http://schemas.openxmlformats.org/drawingml/2006/main" prst="line">
            <a:avLst/>
          </a:prstGeom>
          <a:ln xmlns:a="http://schemas.openxmlformats.org/drawingml/2006/main" w="50800">
            <a:solidFill>
              <a:srgbClr val="087F8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D70BAD1E-2132-4036-B835-25C8E0F8ED87}"/>
              </a:ext>
            </a:extLst>
          </p:cNvPr>
          <p:cNvSpPr>
            <a:spLocks xmlns:a="http://schemas.openxmlformats.org/drawingml/2006/main" noGrp="1"/>
          </p:cNvSpPr>
          <p:nvPr/>
        </p:nvSpPr>
        <p:spPr>
          <a:xfrm xmlns:a="http://schemas.openxmlformats.org/drawingml/2006/main" flipV="1">
            <a:off x="1097280" y="3977639"/>
            <a:ext cx="3931920" cy="1234441"/>
          </a:xfrm>
          <a:prstGeom xmlns:a="http://schemas.openxmlformats.org/drawingml/2006/main" prst="line">
            <a:avLst/>
          </a:prstGeom>
          <a:ln xmlns:a="http://schemas.openxmlformats.org/drawingml/2006/main" w="50800">
            <a:solidFill>
              <a:srgbClr val="496AE8"/>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9412EA62-F593-48A3-9EE0-F0AB277DA008}"/>
              </a:ext>
            </a:extLst>
          </p:cNvPr>
          <p:cNvSpPr>
            <a:spLocks xmlns:a="http://schemas.openxmlformats.org/drawingml/2006/main" noGrp="1"/>
          </p:cNvSpPr>
          <p:nvPr/>
        </p:nvSpPr>
        <p:spPr>
          <a:xfrm xmlns:a="http://schemas.openxmlformats.org/drawingml/2006/main" flipV="1">
            <a:off x="1097280" y="3108960"/>
            <a:ext cx="1371600" cy="2103120"/>
          </a:xfrm>
          <a:prstGeom xmlns:a="http://schemas.openxmlformats.org/drawingml/2006/main" prst="line">
            <a:avLst/>
          </a:prstGeom>
          <a:ln xmlns:a="http://schemas.openxmlformats.org/drawingml/2006/main" w="50800">
            <a:solidFill>
              <a:srgbClr val="D68A26"/>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E823AC7D-248C-4194-8DED-FFCA46600A7C}"/>
              </a:ext>
            </a:extLst>
          </p:cNvPr>
          <p:cNvSpPr>
            <a:spLocks xmlns:a="http://schemas.openxmlformats.org/drawingml/2006/main" noGrp="1"/>
          </p:cNvSpPr>
          <p:nvPr/>
        </p:nvSpPr>
        <p:spPr>
          <a:xfrm xmlns:a="http://schemas.openxmlformats.org/drawingml/2006/main">
            <a:off x="5669280" y="4343400"/>
            <a:ext cx="457200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1">
                <a:solidFill>
                  <a:srgbClr val="087F8C"/>
                </a:solidFill>
                <a:latin typeface="Aptos"/>
                <a:ea typeface="Aptos"/>
                <a:cs typeface="Aptos"/>
              </a:defRPr>
            </a:pPr>
            <a:r>
              <a:t>Cat: sleeping</a:t>
            </a:r>
          </a:p>
        </p:txBody>
      </p:sp>
      <p:sp>
        <p:nvSpPr>
          <p:cNvPr id="11" name="TextBox 10">
            <a:extLst xmlns:a="http://schemas.openxmlformats.org/drawingml/2006/main">
              <a:ext uri="{FF2B5EF4-FFF2-40B4-BE49-F238E27FC236}">
                <a16:creationId xmlns:a16="http://schemas.microsoft.com/office/drawing/2014/main" id="{546E3FC2-C845-43EB-A767-88BEA8DB08DF}"/>
              </a:ext>
            </a:extLst>
          </p:cNvPr>
          <p:cNvSpPr>
            <a:spLocks xmlns:a="http://schemas.openxmlformats.org/drawingml/2006/main" noGrp="1"/>
          </p:cNvSpPr>
          <p:nvPr/>
        </p:nvSpPr>
        <p:spPr>
          <a:xfrm xmlns:a="http://schemas.openxmlformats.org/drawingml/2006/main">
            <a:off x="5212080" y="3749039"/>
            <a:ext cx="548640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1">
                <a:solidFill>
                  <a:srgbClr val="496AE8"/>
                </a:solidFill>
                <a:latin typeface="Aptos"/>
                <a:ea typeface="Aptos"/>
                <a:cs typeface="Aptos"/>
              </a:defRPr>
            </a:pPr>
            <a:r>
              <a:t>Kitten: resting</a:t>
            </a:r>
          </a:p>
        </p:txBody>
      </p:sp>
      <p:sp>
        <p:nvSpPr>
          <p:cNvPr id="12" name="TextBox 11">
            <a:extLst xmlns:a="http://schemas.openxmlformats.org/drawingml/2006/main">
              <a:ext uri="{FF2B5EF4-FFF2-40B4-BE49-F238E27FC236}">
                <a16:creationId xmlns:a16="http://schemas.microsoft.com/office/drawing/2014/main" id="{0DAEB0BC-346E-424B-99DF-B80A741DFFE8}"/>
              </a:ext>
            </a:extLst>
          </p:cNvPr>
          <p:cNvSpPr>
            <a:spLocks xmlns:a="http://schemas.openxmlformats.org/drawingml/2006/main" noGrp="1"/>
          </p:cNvSpPr>
          <p:nvPr/>
        </p:nvSpPr>
        <p:spPr>
          <a:xfrm xmlns:a="http://schemas.openxmlformats.org/drawingml/2006/main">
            <a:off x="2606040" y="2834640"/>
            <a:ext cx="640080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1">
                <a:solidFill>
                  <a:srgbClr val="D68A26"/>
                </a:solidFill>
                <a:latin typeface="Aptos"/>
                <a:ea typeface="Aptos"/>
                <a:cs typeface="Aptos"/>
              </a:defRPr>
            </a:pPr>
            <a:r>
              <a:t>Airplane: flying</a:t>
            </a:r>
          </a:p>
        </p:txBody>
      </p:sp>
      <p:sp>
        <p:nvSpPr>
          <p:cNvPr id="13" name="TextBox 12">
            <a:extLst xmlns:a="http://schemas.openxmlformats.org/drawingml/2006/main">
              <a:ext uri="{FF2B5EF4-FFF2-40B4-BE49-F238E27FC236}">
                <a16:creationId xmlns:a16="http://schemas.microsoft.com/office/drawing/2014/main" id="{1C02D03D-C60E-44E6-B176-E9057ECD2407}"/>
              </a:ext>
            </a:extLst>
          </p:cNvPr>
          <p:cNvSpPr>
            <a:spLocks xmlns:a="http://schemas.openxmlformats.org/drawingml/2006/main" noGrp="1"/>
          </p:cNvSpPr>
          <p:nvPr/>
        </p:nvSpPr>
        <p:spPr>
          <a:xfrm xmlns:a="http://schemas.openxmlformats.org/drawingml/2006/main">
            <a:off x="548640" y="5989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500" b="0">
                <a:solidFill>
                  <a:srgbClr val="63738A"/>
                </a:solidFill>
                <a:latin typeface="Aptos"/>
                <a:ea typeface="Aptos"/>
                <a:cs typeface="Aptos"/>
              </a:defRPr>
            </a:pPr>
            <a:r>
              <a:t>Illustrative arrows, not measured API vectors.</a:t>
            </a:r>
          </a:p>
        </p:txBody>
      </p:sp>
      <p:sp>
        <p:nvSpPr>
          <p:cNvPr id="14" name="TextBox 13">
            <a:extLst xmlns:a="http://schemas.openxmlformats.org/drawingml/2006/main">
              <a:ext uri="{FF2B5EF4-FFF2-40B4-BE49-F238E27FC236}">
                <a16:creationId xmlns:a16="http://schemas.microsoft.com/office/drawing/2014/main" id="{A939B7FE-4601-487B-ABC8-439B30BA48C9}"/>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EDEFE45D-F76C-4D37-81D6-4EDF26BC04F0}"/>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13</a:t>
            </a:r>
            <a:r>
              <a:t>/56</a:t>
            </a:r>
          </a:p>
        </p:txBody>
      </p:sp>
    </p:spTree>
    <p:extLst>
      <p:ext uri="{BB962C8B-B14F-4D97-AF65-F5344CB8AC3E}">
        <p14:creationId xmlns:p14="http://schemas.microsoft.com/office/powerpoint/2010/main" val="460457432"/>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E9B7823-60E9-4DA6-AADF-38D2E366F032}"/>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5BD7808-70AC-4C4C-A073-16F18BD6D7AF}"/>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7293A7C3-458B-45A5-9213-EAAD533616CB}"/>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Third new word: similarity</a:t>
            </a:r>
          </a:p>
        </p:txBody>
      </p:sp>
      <p:sp>
        <p:nvSpPr>
          <p:cNvPr id="5" name="TextBox 4">
            <a:extLst xmlns:a="http://schemas.openxmlformats.org/drawingml/2006/main">
              <a:ext uri="{FF2B5EF4-FFF2-40B4-BE49-F238E27FC236}">
                <a16:creationId xmlns:a16="http://schemas.microsoft.com/office/drawing/2014/main" id="{2275BF3F-65C1-461A-8BE3-95D2195424D1}"/>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A score that helps us compare two vectors</a:t>
            </a:r>
          </a:p>
        </p:txBody>
      </p:sp>
      <p:sp>
        <p:nvSpPr>
          <p:cNvPr id="6" name="Rounded Rectangle 5">
            <a:extLst xmlns:a="http://schemas.openxmlformats.org/drawingml/2006/main">
              <a:ext uri="{FF2B5EF4-FFF2-40B4-BE49-F238E27FC236}">
                <a16:creationId xmlns:a16="http://schemas.microsoft.com/office/drawing/2014/main" id="{2825AB12-0EAA-4663-9A80-19DB245888A1}"/>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CF6A96B0-5AE9-4A9A-B588-603C0B87DBED}"/>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FA14D6D-E8CC-48FC-8706-8CEE952DC93C}"/>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MORE RELATED</a:t>
            </a:r>
          </a:p>
        </p:txBody>
      </p:sp>
      <p:sp>
        <p:nvSpPr>
          <p:cNvPr id="9" name="TextBox 8">
            <a:extLst xmlns:a="http://schemas.openxmlformats.org/drawingml/2006/main">
              <a:ext uri="{FF2B5EF4-FFF2-40B4-BE49-F238E27FC236}">
                <a16:creationId xmlns:a16="http://schemas.microsoft.com/office/drawing/2014/main" id="{5B1FCBE2-E4C9-4A04-9719-9117A27A3EA4}"/>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Usually a higher similarity score</a:t>
            </a:r>
          </a:p>
        </p:txBody>
      </p:sp>
      <p:sp>
        <p:nvSpPr>
          <p:cNvPr id="10" name="Rounded Rectangle 9">
            <a:extLst xmlns:a="http://schemas.openxmlformats.org/drawingml/2006/main">
              <a:ext uri="{FF2B5EF4-FFF2-40B4-BE49-F238E27FC236}">
                <a16:creationId xmlns:a16="http://schemas.microsoft.com/office/drawing/2014/main" id="{2BE82638-E7BB-4B37-A9D5-75575C1164FA}"/>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FFE62D42-2BA1-4FB0-81BC-74EB2A921B89}"/>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7B57BE33-20BA-4FE4-942D-6A423C6BF10B}"/>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LESS RELATED</a:t>
            </a:r>
          </a:p>
        </p:txBody>
      </p:sp>
      <p:sp>
        <p:nvSpPr>
          <p:cNvPr id="13" name="TextBox 12">
            <a:extLst xmlns:a="http://schemas.openxmlformats.org/drawingml/2006/main">
              <a:ext uri="{FF2B5EF4-FFF2-40B4-BE49-F238E27FC236}">
                <a16:creationId xmlns:a16="http://schemas.microsoft.com/office/drawing/2014/main" id="{D4776498-AC5F-4EB8-97AC-53150AB2328D}"/>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Usually a lower similarity score</a:t>
            </a:r>
          </a:p>
        </p:txBody>
      </p:sp>
      <p:sp>
        <p:nvSpPr>
          <p:cNvPr id="14" name="TextBox 13">
            <a:extLst xmlns:a="http://schemas.openxmlformats.org/drawingml/2006/main">
              <a:ext uri="{FF2B5EF4-FFF2-40B4-BE49-F238E27FC236}">
                <a16:creationId xmlns:a16="http://schemas.microsoft.com/office/drawing/2014/main" id="{8E020D80-1C1E-4DF6-B4A4-6CEE4D060DF1}"/>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1FE5D917-24CA-4ED5-9498-BA5770569DCC}"/>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14</a:t>
            </a:r>
            <a:r>
              <a:t>/56</a:t>
            </a:r>
          </a:p>
        </p:txBody>
      </p:sp>
    </p:spTree>
    <p:extLst>
      <p:ext uri="{BB962C8B-B14F-4D97-AF65-F5344CB8AC3E}">
        <p14:creationId xmlns:p14="http://schemas.microsoft.com/office/powerpoint/2010/main" val="1185156254"/>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F060D51-80FE-42E9-9BC7-AF1432C878D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B55D5FC-77C8-4920-84F7-DB0E5F82A9A6}"/>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8C78DA5D-6AE3-48B8-AD9A-25672281E5CF}"/>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Cosine similarity: compare arrow directions</a:t>
            </a:r>
          </a:p>
        </p:txBody>
      </p:sp>
      <p:sp>
        <p:nvSpPr>
          <p:cNvPr id="5" name="TextBox 4">
            <a:extLst xmlns:a="http://schemas.openxmlformats.org/drawingml/2006/main">
              <a:ext uri="{FF2B5EF4-FFF2-40B4-BE49-F238E27FC236}">
                <a16:creationId xmlns:a16="http://schemas.microsoft.com/office/drawing/2014/main" id="{74359622-39F7-40EF-B917-A670A87C5A85}"/>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The name sounds harder than the idea</a:t>
            </a:r>
          </a:p>
        </p:txBody>
      </p:sp>
      <p:sp>
        <p:nvSpPr>
          <p:cNvPr id="6" name="Rounded Rectangle 5">
            <a:extLst xmlns:a="http://schemas.openxmlformats.org/drawingml/2006/main">
              <a:ext uri="{FF2B5EF4-FFF2-40B4-BE49-F238E27FC236}">
                <a16:creationId xmlns:a16="http://schemas.microsoft.com/office/drawing/2014/main" id="{D08588AB-8499-4645-AE15-EC2449E8A97C}"/>
              </a:ext>
            </a:extLst>
          </p:cNvPr>
          <p:cNvSpPr>
            <a:spLocks xmlns:a="http://schemas.openxmlformats.org/drawingml/2006/main" noGrp="1"/>
          </p:cNvSpPr>
          <p:nvPr/>
        </p:nvSpPr>
        <p:spPr>
          <a:xfrm xmlns:a="http://schemas.openxmlformats.org/drawingml/2006/main">
            <a:off x="548640" y="2560320"/>
            <a:ext cx="5394960" cy="306324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22A3D83-7F52-4329-9D5D-570532EA0DA4}"/>
              </a:ext>
            </a:extLst>
          </p:cNvPr>
          <p:cNvSpPr>
            <a:spLocks xmlns:a="http://schemas.openxmlformats.org/drawingml/2006/main" noGrp="1"/>
          </p:cNvSpPr>
          <p:nvPr/>
        </p:nvSpPr>
        <p:spPr>
          <a:xfrm xmlns:a="http://schemas.openxmlformats.org/drawingml/2006/main">
            <a:off x="777240" y="2743200"/>
            <a:ext cx="493776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SIMILAR DIRECTION</a:t>
            </a:r>
          </a:p>
        </p:txBody>
      </p:sp>
      <p:sp>
        <p:nvSpPr>
          <p:cNvPr id="8" name="Connector 7">
            <a:extLst xmlns:a="http://schemas.openxmlformats.org/drawingml/2006/main">
              <a:ext uri="{FF2B5EF4-FFF2-40B4-BE49-F238E27FC236}">
                <a16:creationId xmlns:a16="http://schemas.microsoft.com/office/drawing/2014/main" id="{F5DB2411-1BF6-432E-982A-55FC265BB54B}"/>
              </a:ext>
            </a:extLst>
          </p:cNvPr>
          <p:cNvSpPr>
            <a:spLocks xmlns:a="http://schemas.openxmlformats.org/drawingml/2006/main" noGrp="1"/>
          </p:cNvSpPr>
          <p:nvPr/>
        </p:nvSpPr>
        <p:spPr>
          <a:xfrm xmlns:a="http://schemas.openxmlformats.org/drawingml/2006/main">
            <a:off x="1463040" y="4846320"/>
            <a:ext cx="3017519" cy="0"/>
          </a:xfrm>
          <a:prstGeom xmlns:a="http://schemas.openxmlformats.org/drawingml/2006/main" prst="line">
            <a:avLst/>
          </a:prstGeom>
          <a:ln xmlns:a="http://schemas.openxmlformats.org/drawingml/2006/main" w="50800">
            <a:solidFill>
              <a:srgbClr val="087F8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0858E649-CA8D-4D15-AA1E-BA52366F8468}"/>
              </a:ext>
            </a:extLst>
          </p:cNvPr>
          <p:cNvSpPr>
            <a:spLocks xmlns:a="http://schemas.openxmlformats.org/drawingml/2006/main" noGrp="1"/>
          </p:cNvSpPr>
          <p:nvPr/>
        </p:nvSpPr>
        <p:spPr>
          <a:xfrm xmlns:a="http://schemas.openxmlformats.org/drawingml/2006/main" flipV="1">
            <a:off x="1463040" y="4709160"/>
            <a:ext cx="2926080" cy="137160"/>
          </a:xfrm>
          <a:prstGeom xmlns:a="http://schemas.openxmlformats.org/drawingml/2006/main" prst="line">
            <a:avLst/>
          </a:prstGeom>
          <a:ln xmlns:a="http://schemas.openxmlformats.org/drawingml/2006/main" w="50800">
            <a:solidFill>
              <a:srgbClr val="496AE8"/>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E794FF0A-6A7F-4B40-9EFF-D6A5F84243EC}"/>
              </a:ext>
            </a:extLst>
          </p:cNvPr>
          <p:cNvSpPr>
            <a:spLocks xmlns:a="http://schemas.openxmlformats.org/drawingml/2006/main" noGrp="1"/>
          </p:cNvSpPr>
          <p:nvPr/>
        </p:nvSpPr>
        <p:spPr>
          <a:xfrm xmlns:a="http://schemas.openxmlformats.org/drawingml/2006/main">
            <a:off x="777240" y="5074920"/>
            <a:ext cx="493776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300" b="0">
                <a:solidFill>
                  <a:srgbClr val="172B46"/>
                </a:solidFill>
                <a:latin typeface="Aptos"/>
                <a:ea typeface="Aptos"/>
                <a:cs typeface="Aptos"/>
              </a:defRPr>
            </a:pPr>
            <a:r>
              <a:t>Cosine close to 1</a:t>
            </a:r>
          </a:p>
        </p:txBody>
      </p:sp>
      <p:sp>
        <p:nvSpPr>
          <p:cNvPr id="11" name="Rounded Rectangle 10">
            <a:extLst xmlns:a="http://schemas.openxmlformats.org/drawingml/2006/main">
              <a:ext uri="{FF2B5EF4-FFF2-40B4-BE49-F238E27FC236}">
                <a16:creationId xmlns:a16="http://schemas.microsoft.com/office/drawing/2014/main" id="{D67E0AB8-DD4F-4D39-9411-519F180EB77C}"/>
              </a:ext>
            </a:extLst>
          </p:cNvPr>
          <p:cNvSpPr>
            <a:spLocks xmlns:a="http://schemas.openxmlformats.org/drawingml/2006/main" noGrp="1"/>
          </p:cNvSpPr>
          <p:nvPr/>
        </p:nvSpPr>
        <p:spPr>
          <a:xfrm xmlns:a="http://schemas.openxmlformats.org/drawingml/2006/main">
            <a:off x="6217920" y="2560320"/>
            <a:ext cx="5394960" cy="306324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797F6B8-DB22-4BC0-9100-C12324CDBFB5}"/>
              </a:ext>
            </a:extLst>
          </p:cNvPr>
          <p:cNvSpPr>
            <a:spLocks xmlns:a="http://schemas.openxmlformats.org/drawingml/2006/main" noGrp="1"/>
          </p:cNvSpPr>
          <p:nvPr/>
        </p:nvSpPr>
        <p:spPr>
          <a:xfrm xmlns:a="http://schemas.openxmlformats.org/drawingml/2006/main">
            <a:off x="6446520" y="2743200"/>
            <a:ext cx="493776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RIGHT ANGLE</a:t>
            </a:r>
          </a:p>
        </p:txBody>
      </p:sp>
      <p:sp>
        <p:nvSpPr>
          <p:cNvPr id="13" name="Connector 12">
            <a:extLst xmlns:a="http://schemas.openxmlformats.org/drawingml/2006/main">
              <a:ext uri="{FF2B5EF4-FFF2-40B4-BE49-F238E27FC236}">
                <a16:creationId xmlns:a16="http://schemas.microsoft.com/office/drawing/2014/main" id="{C17C6E43-D346-471E-B7C0-7DB2954ED4F6}"/>
              </a:ext>
            </a:extLst>
          </p:cNvPr>
          <p:cNvSpPr>
            <a:spLocks xmlns:a="http://schemas.openxmlformats.org/drawingml/2006/main" noGrp="1"/>
          </p:cNvSpPr>
          <p:nvPr/>
        </p:nvSpPr>
        <p:spPr>
          <a:xfrm xmlns:a="http://schemas.openxmlformats.org/drawingml/2006/main">
            <a:off x="7132320" y="4846320"/>
            <a:ext cx="3017520" cy="0"/>
          </a:xfrm>
          <a:prstGeom xmlns:a="http://schemas.openxmlformats.org/drawingml/2006/main" prst="line">
            <a:avLst/>
          </a:prstGeom>
          <a:ln xmlns:a="http://schemas.openxmlformats.org/drawingml/2006/main" w="50800">
            <a:solidFill>
              <a:srgbClr val="087F8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9E62662-D3F6-43AD-8082-DFF1675EDDA7}"/>
              </a:ext>
            </a:extLst>
          </p:cNvPr>
          <p:cNvSpPr>
            <a:spLocks xmlns:a="http://schemas.openxmlformats.org/drawingml/2006/main" noGrp="1"/>
          </p:cNvSpPr>
          <p:nvPr/>
        </p:nvSpPr>
        <p:spPr>
          <a:xfrm xmlns:a="http://schemas.openxmlformats.org/drawingml/2006/main" flipV="1">
            <a:off x="7132320" y="3566160"/>
            <a:ext cx="0" cy="1280160"/>
          </a:xfrm>
          <a:prstGeom xmlns:a="http://schemas.openxmlformats.org/drawingml/2006/main" prst="line">
            <a:avLst/>
          </a:prstGeom>
          <a:ln xmlns:a="http://schemas.openxmlformats.org/drawingml/2006/main" w="50800">
            <a:solidFill>
              <a:srgbClr val="496AE8"/>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TextBox 14">
            <a:extLst xmlns:a="http://schemas.openxmlformats.org/drawingml/2006/main">
              <a:ext uri="{FF2B5EF4-FFF2-40B4-BE49-F238E27FC236}">
                <a16:creationId xmlns:a16="http://schemas.microsoft.com/office/drawing/2014/main" id="{C315003F-7DBE-420F-ADFB-B54A87E8AD8A}"/>
              </a:ext>
            </a:extLst>
          </p:cNvPr>
          <p:cNvSpPr>
            <a:spLocks xmlns:a="http://schemas.openxmlformats.org/drawingml/2006/main" noGrp="1"/>
          </p:cNvSpPr>
          <p:nvPr/>
        </p:nvSpPr>
        <p:spPr>
          <a:xfrm xmlns:a="http://schemas.openxmlformats.org/drawingml/2006/main">
            <a:off x="6446520" y="5074920"/>
            <a:ext cx="4937760" cy="4572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300" b="0">
                <a:solidFill>
                  <a:srgbClr val="172B46"/>
                </a:solidFill>
                <a:latin typeface="Aptos"/>
                <a:ea typeface="Aptos"/>
                <a:cs typeface="Aptos"/>
              </a:defRPr>
            </a:pPr>
            <a:r>
              <a:t>Cosine = 0</a:t>
            </a:r>
          </a:p>
        </p:txBody>
      </p:sp>
      <p:sp>
        <p:nvSpPr>
          <p:cNvPr id="16" name="TextBox 15">
            <a:extLst xmlns:a="http://schemas.openxmlformats.org/drawingml/2006/main">
              <a:ext uri="{FF2B5EF4-FFF2-40B4-BE49-F238E27FC236}">
                <a16:creationId xmlns:a16="http://schemas.microsoft.com/office/drawing/2014/main" id="{5A244794-F894-4CCD-9591-4131425C816E}"/>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7" name="TextBox 16">
            <a:extLst xmlns:a="http://schemas.openxmlformats.org/drawingml/2006/main">
              <a:ext uri="{FF2B5EF4-FFF2-40B4-BE49-F238E27FC236}">
                <a16:creationId xmlns:a16="http://schemas.microsoft.com/office/drawing/2014/main" id="{ED41D50F-8E24-4779-848C-73E2EE802A32}"/>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15</a:t>
            </a:r>
            <a:r>
              <a:t>/56</a:t>
            </a:r>
          </a:p>
        </p:txBody>
      </p:sp>
    </p:spTree>
    <p:extLst>
      <p:ext uri="{BB962C8B-B14F-4D97-AF65-F5344CB8AC3E}">
        <p14:creationId xmlns:p14="http://schemas.microsoft.com/office/powerpoint/2010/main" val="1247889454"/>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BE4BF59-0FC0-4947-95C2-44C141A7E865}"/>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BDE838B-0490-4EA1-9106-2F8F0C921054}"/>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F8D5D36D-2D92-417C-A2FC-09E540093142}"/>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How the simplest example works</a:t>
            </a:r>
          </a:p>
        </p:txBody>
      </p:sp>
      <p:sp>
        <p:nvSpPr>
          <p:cNvPr id="5" name="TextBox 4">
            <a:extLst xmlns:a="http://schemas.openxmlformats.org/drawingml/2006/main">
              <a:ext uri="{FF2B5EF4-FFF2-40B4-BE49-F238E27FC236}">
                <a16:creationId xmlns:a16="http://schemas.microsoft.com/office/drawing/2014/main" id="{B79E3319-CD09-4D24-8BB2-763D5E8DE6EB}"/>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Keep following the same three sentences</a:t>
            </a:r>
          </a:p>
        </p:txBody>
      </p:sp>
      <p:sp>
        <p:nvSpPr>
          <p:cNvPr id="6" name="Rounded Rectangle 5">
            <a:extLst xmlns:a="http://schemas.openxmlformats.org/drawingml/2006/main">
              <a:ext uri="{FF2B5EF4-FFF2-40B4-BE49-F238E27FC236}">
                <a16:creationId xmlns:a16="http://schemas.microsoft.com/office/drawing/2014/main" id="{372BB0F2-FABB-4E6B-AB70-5E7A2A62C2AC}"/>
              </a:ext>
            </a:extLst>
          </p:cNvPr>
          <p:cNvSpPr>
            <a:spLocks xmlns:a="http://schemas.openxmlformats.org/drawingml/2006/main" noGrp="1"/>
          </p:cNvSpPr>
          <p:nvPr/>
        </p:nvSpPr>
        <p:spPr>
          <a:xfrm xmlns:a="http://schemas.openxmlformats.org/drawingml/2006/main">
            <a:off x="54864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09837314-2122-481F-8AD9-5AFBE395702A}"/>
              </a:ext>
            </a:extLst>
          </p:cNvPr>
          <p:cNvSpPr>
            <a:spLocks xmlns:a="http://schemas.openxmlformats.org/drawingml/2006/main" noGrp="1"/>
          </p:cNvSpPr>
          <p:nvPr/>
        </p:nvSpPr>
        <p:spPr>
          <a:xfrm xmlns:a="http://schemas.openxmlformats.org/drawingml/2006/main">
            <a:off x="548640" y="2560320"/>
            <a:ext cx="252603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EC8589C-35EF-4EA0-A8EE-754E24851123}"/>
              </a:ext>
            </a:extLst>
          </p:cNvPr>
          <p:cNvSpPr>
            <a:spLocks xmlns:a="http://schemas.openxmlformats.org/drawingml/2006/main" noGrp="1"/>
          </p:cNvSpPr>
          <p:nvPr/>
        </p:nvSpPr>
        <p:spPr>
          <a:xfrm xmlns:a="http://schemas.openxmlformats.org/drawingml/2006/main">
            <a:off x="75895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1 · TEXT</a:t>
            </a:r>
          </a:p>
        </p:txBody>
      </p:sp>
      <p:sp>
        <p:nvSpPr>
          <p:cNvPr id="9" name="TextBox 8">
            <a:extLst xmlns:a="http://schemas.openxmlformats.org/drawingml/2006/main">
              <a:ext uri="{FF2B5EF4-FFF2-40B4-BE49-F238E27FC236}">
                <a16:creationId xmlns:a16="http://schemas.microsoft.com/office/drawing/2014/main" id="{29789AF6-995E-40B0-8528-CAD6970D361B}"/>
              </a:ext>
            </a:extLst>
          </p:cNvPr>
          <p:cNvSpPr>
            <a:spLocks xmlns:a="http://schemas.openxmlformats.org/drawingml/2006/main" noGrp="1"/>
          </p:cNvSpPr>
          <p:nvPr/>
        </p:nvSpPr>
        <p:spPr>
          <a:xfrm xmlns:a="http://schemas.openxmlformats.org/drawingml/2006/main">
            <a:off x="75895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Cat / kitten / airplane</a:t>
            </a:r>
          </a:p>
        </p:txBody>
      </p:sp>
      <p:sp>
        <p:nvSpPr>
          <p:cNvPr id="10" name="Chevron 9">
            <a:extLst xmlns:a="http://schemas.openxmlformats.org/drawingml/2006/main">
              <a:ext uri="{FF2B5EF4-FFF2-40B4-BE49-F238E27FC236}">
                <a16:creationId xmlns:a16="http://schemas.microsoft.com/office/drawing/2014/main" id="{F5F38AD8-8908-4166-B3A6-2F753E99AC4C}"/>
              </a:ext>
            </a:extLst>
          </p:cNvPr>
          <p:cNvSpPr>
            <a:spLocks xmlns:a="http://schemas.openxmlformats.org/drawingml/2006/main" noGrp="1"/>
          </p:cNvSpPr>
          <p:nvPr/>
        </p:nvSpPr>
        <p:spPr>
          <a:xfrm xmlns:a="http://schemas.openxmlformats.org/drawingml/2006/main">
            <a:off x="312496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0DEEC20D-41FE-4C74-998E-9CBF8411F2A2}"/>
              </a:ext>
            </a:extLst>
          </p:cNvPr>
          <p:cNvSpPr>
            <a:spLocks xmlns:a="http://schemas.openxmlformats.org/drawingml/2006/main" noGrp="1"/>
          </p:cNvSpPr>
          <p:nvPr/>
        </p:nvSpPr>
        <p:spPr>
          <a:xfrm xmlns:a="http://schemas.openxmlformats.org/drawingml/2006/main">
            <a:off x="339471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F3930E22-32CD-4677-9EDA-6777D7CC8F7A}"/>
              </a:ext>
            </a:extLst>
          </p:cNvPr>
          <p:cNvSpPr>
            <a:spLocks xmlns:a="http://schemas.openxmlformats.org/drawingml/2006/main" noGrp="1"/>
          </p:cNvSpPr>
          <p:nvPr/>
        </p:nvSpPr>
        <p:spPr>
          <a:xfrm xmlns:a="http://schemas.openxmlformats.org/drawingml/2006/main">
            <a:off x="3394710" y="2560320"/>
            <a:ext cx="252603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8E92B68-8837-4008-BE4F-42792F65B4C3}"/>
              </a:ext>
            </a:extLst>
          </p:cNvPr>
          <p:cNvSpPr>
            <a:spLocks xmlns:a="http://schemas.openxmlformats.org/drawingml/2006/main" noGrp="1"/>
          </p:cNvSpPr>
          <p:nvPr/>
        </p:nvSpPr>
        <p:spPr>
          <a:xfrm xmlns:a="http://schemas.openxmlformats.org/drawingml/2006/main">
            <a:off x="360502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2 · EMBED</a:t>
            </a:r>
          </a:p>
        </p:txBody>
      </p:sp>
      <p:sp>
        <p:nvSpPr>
          <p:cNvPr id="14" name="TextBox 13">
            <a:extLst xmlns:a="http://schemas.openxmlformats.org/drawingml/2006/main">
              <a:ext uri="{FF2B5EF4-FFF2-40B4-BE49-F238E27FC236}">
                <a16:creationId xmlns:a16="http://schemas.microsoft.com/office/drawing/2014/main" id="{AB0A08D8-640B-4E20-B7D3-23DAAFF1B1B4}"/>
              </a:ext>
            </a:extLst>
          </p:cNvPr>
          <p:cNvSpPr>
            <a:spLocks xmlns:a="http://schemas.openxmlformats.org/drawingml/2006/main" noGrp="1"/>
          </p:cNvSpPr>
          <p:nvPr/>
        </p:nvSpPr>
        <p:spPr>
          <a:xfrm xmlns:a="http://schemas.openxmlformats.org/drawingml/2006/main">
            <a:off x="360502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Make number lists</a:t>
            </a:r>
          </a:p>
        </p:txBody>
      </p:sp>
      <p:sp>
        <p:nvSpPr>
          <p:cNvPr id="15" name="Chevron 14">
            <a:extLst xmlns:a="http://schemas.openxmlformats.org/drawingml/2006/main">
              <a:ext uri="{FF2B5EF4-FFF2-40B4-BE49-F238E27FC236}">
                <a16:creationId xmlns:a16="http://schemas.microsoft.com/office/drawing/2014/main" id="{A0BF1B28-72C3-49C0-A455-FBEB9C6B17A2}"/>
              </a:ext>
            </a:extLst>
          </p:cNvPr>
          <p:cNvSpPr>
            <a:spLocks xmlns:a="http://schemas.openxmlformats.org/drawingml/2006/main" noGrp="1"/>
          </p:cNvSpPr>
          <p:nvPr/>
        </p:nvSpPr>
        <p:spPr>
          <a:xfrm xmlns:a="http://schemas.openxmlformats.org/drawingml/2006/main">
            <a:off x="597103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ounded Rectangle 15">
            <a:extLst xmlns:a="http://schemas.openxmlformats.org/drawingml/2006/main">
              <a:ext uri="{FF2B5EF4-FFF2-40B4-BE49-F238E27FC236}">
                <a16:creationId xmlns:a16="http://schemas.microsoft.com/office/drawing/2014/main" id="{F4F0CB37-8D3F-4F61-A9B8-0097B29324AD}"/>
              </a:ext>
            </a:extLst>
          </p:cNvPr>
          <p:cNvSpPr>
            <a:spLocks xmlns:a="http://schemas.openxmlformats.org/drawingml/2006/main" noGrp="1"/>
          </p:cNvSpPr>
          <p:nvPr/>
        </p:nvSpPr>
        <p:spPr>
          <a:xfrm xmlns:a="http://schemas.openxmlformats.org/drawingml/2006/main">
            <a:off x="624078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D0FAC824-597C-477E-86E7-7154755C7D79}"/>
              </a:ext>
            </a:extLst>
          </p:cNvPr>
          <p:cNvSpPr>
            <a:spLocks xmlns:a="http://schemas.openxmlformats.org/drawingml/2006/main" noGrp="1"/>
          </p:cNvSpPr>
          <p:nvPr/>
        </p:nvSpPr>
        <p:spPr>
          <a:xfrm xmlns:a="http://schemas.openxmlformats.org/drawingml/2006/main">
            <a:off x="6240780" y="2560320"/>
            <a:ext cx="252603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3B18AFF-66C1-478F-9529-50CF4C446781}"/>
              </a:ext>
            </a:extLst>
          </p:cNvPr>
          <p:cNvSpPr>
            <a:spLocks xmlns:a="http://schemas.openxmlformats.org/drawingml/2006/main" noGrp="1"/>
          </p:cNvSpPr>
          <p:nvPr/>
        </p:nvSpPr>
        <p:spPr>
          <a:xfrm xmlns:a="http://schemas.openxmlformats.org/drawingml/2006/main">
            <a:off x="645109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3 · COMPARE</a:t>
            </a:r>
          </a:p>
        </p:txBody>
      </p:sp>
      <p:sp>
        <p:nvSpPr>
          <p:cNvPr id="19" name="TextBox 18">
            <a:extLst xmlns:a="http://schemas.openxmlformats.org/drawingml/2006/main">
              <a:ext uri="{FF2B5EF4-FFF2-40B4-BE49-F238E27FC236}">
                <a16:creationId xmlns:a16="http://schemas.microsoft.com/office/drawing/2014/main" id="{4E3053FE-79F6-4D81-95E3-27C827195B36}"/>
              </a:ext>
            </a:extLst>
          </p:cNvPr>
          <p:cNvSpPr>
            <a:spLocks xmlns:a="http://schemas.openxmlformats.org/drawingml/2006/main" noGrp="1"/>
          </p:cNvSpPr>
          <p:nvPr/>
        </p:nvSpPr>
        <p:spPr>
          <a:xfrm xmlns:a="http://schemas.openxmlformats.org/drawingml/2006/main">
            <a:off x="645109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Cat vs each sentence</a:t>
            </a:r>
          </a:p>
        </p:txBody>
      </p:sp>
      <p:sp>
        <p:nvSpPr>
          <p:cNvPr id="20" name="Chevron 19">
            <a:extLst xmlns:a="http://schemas.openxmlformats.org/drawingml/2006/main">
              <a:ext uri="{FF2B5EF4-FFF2-40B4-BE49-F238E27FC236}">
                <a16:creationId xmlns:a16="http://schemas.microsoft.com/office/drawing/2014/main" id="{23184894-A7A1-43CC-9C6B-1E27AC9D7CDD}"/>
              </a:ext>
            </a:extLst>
          </p:cNvPr>
          <p:cNvSpPr>
            <a:spLocks xmlns:a="http://schemas.openxmlformats.org/drawingml/2006/main" noGrp="1"/>
          </p:cNvSpPr>
          <p:nvPr/>
        </p:nvSpPr>
        <p:spPr>
          <a:xfrm xmlns:a="http://schemas.openxmlformats.org/drawingml/2006/main">
            <a:off x="881710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ounded Rectangle 20">
            <a:extLst xmlns:a="http://schemas.openxmlformats.org/drawingml/2006/main">
              <a:ext uri="{FF2B5EF4-FFF2-40B4-BE49-F238E27FC236}">
                <a16:creationId xmlns:a16="http://schemas.microsoft.com/office/drawing/2014/main" id="{EF2CC4DC-8371-427A-AEA1-311CDFD54220}"/>
              </a:ext>
            </a:extLst>
          </p:cNvPr>
          <p:cNvSpPr>
            <a:spLocks xmlns:a="http://schemas.openxmlformats.org/drawingml/2006/main" noGrp="1"/>
          </p:cNvSpPr>
          <p:nvPr/>
        </p:nvSpPr>
        <p:spPr>
          <a:xfrm xmlns:a="http://schemas.openxmlformats.org/drawingml/2006/main">
            <a:off x="908685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6C9FD004-6B0B-4E15-8C1F-C7C3CA029B3F}"/>
              </a:ext>
            </a:extLst>
          </p:cNvPr>
          <p:cNvSpPr>
            <a:spLocks xmlns:a="http://schemas.openxmlformats.org/drawingml/2006/main" noGrp="1"/>
          </p:cNvSpPr>
          <p:nvPr/>
        </p:nvSpPr>
        <p:spPr>
          <a:xfrm xmlns:a="http://schemas.openxmlformats.org/drawingml/2006/main">
            <a:off x="9086850" y="2560320"/>
            <a:ext cx="252603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6F1531CE-CFD7-45A2-9021-91FF89E427DF}"/>
              </a:ext>
            </a:extLst>
          </p:cNvPr>
          <p:cNvSpPr>
            <a:spLocks xmlns:a="http://schemas.openxmlformats.org/drawingml/2006/main" noGrp="1"/>
          </p:cNvSpPr>
          <p:nvPr/>
        </p:nvSpPr>
        <p:spPr>
          <a:xfrm xmlns:a="http://schemas.openxmlformats.org/drawingml/2006/main">
            <a:off x="929716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4 · RESULT</a:t>
            </a:r>
          </a:p>
        </p:txBody>
      </p:sp>
      <p:sp>
        <p:nvSpPr>
          <p:cNvPr id="24" name="TextBox 23">
            <a:extLst xmlns:a="http://schemas.openxmlformats.org/drawingml/2006/main">
              <a:ext uri="{FF2B5EF4-FFF2-40B4-BE49-F238E27FC236}">
                <a16:creationId xmlns:a16="http://schemas.microsoft.com/office/drawing/2014/main" id="{2E92CAA8-387F-43C9-98DC-DA90AE21B819}"/>
              </a:ext>
            </a:extLst>
          </p:cNvPr>
          <p:cNvSpPr>
            <a:spLocks xmlns:a="http://schemas.openxmlformats.org/drawingml/2006/main" noGrp="1"/>
          </p:cNvSpPr>
          <p:nvPr/>
        </p:nvSpPr>
        <p:spPr>
          <a:xfrm xmlns:a="http://schemas.openxmlformats.org/drawingml/2006/main">
            <a:off x="929716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Show the closest meaning</a:t>
            </a:r>
          </a:p>
        </p:txBody>
      </p:sp>
      <p:sp>
        <p:nvSpPr>
          <p:cNvPr id="25" name="TextBox 24">
            <a:extLst xmlns:a="http://schemas.openxmlformats.org/drawingml/2006/main">
              <a:ext uri="{FF2B5EF4-FFF2-40B4-BE49-F238E27FC236}">
                <a16:creationId xmlns:a16="http://schemas.microsoft.com/office/drawing/2014/main" id="{98B1D3AD-B11A-4A14-9AEC-5FEB7EE11F31}"/>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26" name="TextBox 25">
            <a:extLst xmlns:a="http://schemas.openxmlformats.org/drawingml/2006/main">
              <a:ext uri="{FF2B5EF4-FFF2-40B4-BE49-F238E27FC236}">
                <a16:creationId xmlns:a16="http://schemas.microsoft.com/office/drawing/2014/main" id="{5D79E441-6D32-43C7-972B-E046AB6AEF2C}"/>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16</a:t>
            </a:r>
            <a:r>
              <a:t>/56</a:t>
            </a:r>
          </a:p>
        </p:txBody>
      </p:sp>
    </p:spTree>
    <p:extLst>
      <p:ext uri="{BB962C8B-B14F-4D97-AF65-F5344CB8AC3E}">
        <p14:creationId xmlns:p14="http://schemas.microsoft.com/office/powerpoint/2010/main" val="1816019114"/>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8DC7C2B-3A1A-4C0E-8FFA-65B79B3A6EA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35C0AAB-50B3-4292-8A73-C2C4F8B491D9}"/>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149CCF28-794B-404F-B617-2D8AA03A5C37}"/>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Quick pause: explain these three words</a:t>
            </a:r>
          </a:p>
        </p:txBody>
      </p:sp>
      <p:sp>
        <p:nvSpPr>
          <p:cNvPr id="5" name="TextBox 4">
            <a:extLst xmlns:a="http://schemas.openxmlformats.org/drawingml/2006/main">
              <a:ext uri="{FF2B5EF4-FFF2-40B4-BE49-F238E27FC236}">
                <a16:creationId xmlns:a16="http://schemas.microsoft.com/office/drawing/2014/main" id="{C421A2A0-35E9-4FBE-A6D5-0D3D6989C86B}"/>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No code yet</a:t>
            </a:r>
          </a:p>
        </p:txBody>
      </p:sp>
      <p:sp>
        <p:nvSpPr>
          <p:cNvPr id="6" name="Rounded Rectangle 5">
            <a:extLst xmlns:a="http://schemas.openxmlformats.org/drawingml/2006/main">
              <a:ext uri="{FF2B5EF4-FFF2-40B4-BE49-F238E27FC236}">
                <a16:creationId xmlns:a16="http://schemas.microsoft.com/office/drawing/2014/main" id="{4E1A65CB-EE4C-4447-8765-45EA4A8B12E4}"/>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628C71E0-73CF-483A-8B12-4BB99BCEB472}"/>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EDFD3E3-E5D7-43D6-BE44-931E77DCB05D}"/>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VECTOR</a:t>
            </a:r>
          </a:p>
        </p:txBody>
      </p:sp>
      <p:sp>
        <p:nvSpPr>
          <p:cNvPr id="9" name="TextBox 8">
            <a:extLst xmlns:a="http://schemas.openxmlformats.org/drawingml/2006/main">
              <a:ext uri="{FF2B5EF4-FFF2-40B4-BE49-F238E27FC236}">
                <a16:creationId xmlns:a16="http://schemas.microsoft.com/office/drawing/2014/main" id="{EADADEDD-5ABF-449A-B643-14B02DFEB12B}"/>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list of numbers</a:t>
            </a:r>
          </a:p>
        </p:txBody>
      </p:sp>
      <p:sp>
        <p:nvSpPr>
          <p:cNvPr id="10" name="Rounded Rectangle 9">
            <a:extLst xmlns:a="http://schemas.openxmlformats.org/drawingml/2006/main">
              <a:ext uri="{FF2B5EF4-FFF2-40B4-BE49-F238E27FC236}">
                <a16:creationId xmlns:a16="http://schemas.microsoft.com/office/drawing/2014/main" id="{3400E6F8-53BA-49A0-B4B4-059A118D182D}"/>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791616FA-0C15-43CA-AEBA-DE08E4D8D825}"/>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499179E5-E870-4441-8DE1-0322C5DB46EB}"/>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EMBEDDING</a:t>
            </a:r>
          </a:p>
        </p:txBody>
      </p:sp>
      <p:sp>
        <p:nvSpPr>
          <p:cNvPr id="13" name="TextBox 12">
            <a:extLst xmlns:a="http://schemas.openxmlformats.org/drawingml/2006/main">
              <a:ext uri="{FF2B5EF4-FFF2-40B4-BE49-F238E27FC236}">
                <a16:creationId xmlns:a16="http://schemas.microsoft.com/office/drawing/2014/main" id="{F9782F32-045D-41DE-8571-9C658023AFEE}"/>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text’s numerical representation</a:t>
            </a:r>
          </a:p>
        </p:txBody>
      </p:sp>
      <p:sp>
        <p:nvSpPr>
          <p:cNvPr id="14" name="Rounded Rectangle 13">
            <a:extLst xmlns:a="http://schemas.openxmlformats.org/drawingml/2006/main">
              <a:ext uri="{FF2B5EF4-FFF2-40B4-BE49-F238E27FC236}">
                <a16:creationId xmlns:a16="http://schemas.microsoft.com/office/drawing/2014/main" id="{809756B4-EB44-49D6-BE60-6B2D357BC723}"/>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037B1983-11F5-44E1-9A7A-7FD3E60E7DEB}"/>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188F086-BEA2-4764-AE83-2F3D11C7129F}"/>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SIMILARITY</a:t>
            </a:r>
          </a:p>
        </p:txBody>
      </p:sp>
      <p:sp>
        <p:nvSpPr>
          <p:cNvPr id="17" name="TextBox 16">
            <a:extLst xmlns:a="http://schemas.openxmlformats.org/drawingml/2006/main">
              <a:ext uri="{FF2B5EF4-FFF2-40B4-BE49-F238E27FC236}">
                <a16:creationId xmlns:a16="http://schemas.microsoft.com/office/drawing/2014/main" id="{AC00F84F-639B-46E2-85D4-C3DE4B4FA3F8}"/>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A score for comparing representations</a:t>
            </a:r>
          </a:p>
        </p:txBody>
      </p:sp>
      <p:sp>
        <p:nvSpPr>
          <p:cNvPr id="18" name="TextBox 17">
            <a:extLst xmlns:a="http://schemas.openxmlformats.org/drawingml/2006/main">
              <a:ext uri="{FF2B5EF4-FFF2-40B4-BE49-F238E27FC236}">
                <a16:creationId xmlns:a16="http://schemas.microsoft.com/office/drawing/2014/main" id="{407B0E0F-B8D4-4A2F-ADDD-3AB26ADEBB99}"/>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9" name="TextBox 18">
            <a:extLst xmlns:a="http://schemas.openxmlformats.org/drawingml/2006/main">
              <a:ext uri="{FF2B5EF4-FFF2-40B4-BE49-F238E27FC236}">
                <a16:creationId xmlns:a16="http://schemas.microsoft.com/office/drawing/2014/main" id="{97D666C5-4EA4-4927-9513-7CD53EFE3402}"/>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17</a:t>
            </a:r>
            <a:r>
              <a:t>/56</a:t>
            </a:r>
          </a:p>
        </p:txBody>
      </p:sp>
    </p:spTree>
    <p:extLst>
      <p:ext uri="{BB962C8B-B14F-4D97-AF65-F5344CB8AC3E}">
        <p14:creationId xmlns:p14="http://schemas.microsoft.com/office/powerpoint/2010/main" val="63800952"/>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01003C2-1A5E-4DE3-9487-87D63581A49F}"/>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3FB2E62-C1DA-4F23-B6E3-D0AE15387C6B}"/>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3B1075E9-B9A0-4926-811A-B43A82EB0E24}"/>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A tiny Python list before any API</a:t>
            </a:r>
          </a:p>
        </p:txBody>
      </p:sp>
      <p:sp>
        <p:nvSpPr>
          <p:cNvPr id="5" name="TextBox 4">
            <a:extLst xmlns:a="http://schemas.openxmlformats.org/drawingml/2006/main">
              <a:ext uri="{FF2B5EF4-FFF2-40B4-BE49-F238E27FC236}">
                <a16:creationId xmlns:a16="http://schemas.microsoft.com/office/drawing/2014/main" id="{D079EF54-17D5-4387-9252-352C863CA593}"/>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A2 · This is a toy vector</a:t>
            </a:r>
          </a:p>
        </p:txBody>
      </p:sp>
      <p:sp>
        <p:nvSpPr>
          <p:cNvPr id="6" name="Rounded Rectangle 5">
            <a:extLst xmlns:a="http://schemas.openxmlformats.org/drawingml/2006/main">
              <a:ext uri="{FF2B5EF4-FFF2-40B4-BE49-F238E27FC236}">
                <a16:creationId xmlns:a16="http://schemas.microsoft.com/office/drawing/2014/main" id="{6A433DCE-2DC4-4E4C-85E9-A54A9BE707D7}"/>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47BEABA-B78F-44D8-B103-FBB2106C8073}"/>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toy_vector = [0.8, 0.2, -0.1]</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print(toy_vector)</a:t>
            </a:r>
          </a:p>
          <a:p xmlns:a="http://schemas.openxmlformats.org/drawingml/2006/main">
            <a:pPr>
              <a:spcAft>
                <a:spcPts val="0"/>
              </a:spcAft>
              <a:buNone/>
              <a:defRPr sz="2100" b="0">
                <a:solidFill>
                  <a:srgbClr val="FFFFFF"/>
                </a:solidFill>
                <a:latin typeface="Consolas"/>
                <a:ea typeface="Consolas"/>
                <a:cs typeface="Consolas"/>
              </a:defRPr>
            </a:pPr>
            <a:r>
              <a:t>print(len(toy_vector))</a:t>
            </a:r>
          </a:p>
        </p:txBody>
      </p:sp>
      <p:sp>
        <p:nvSpPr>
          <p:cNvPr id="8" name="TextBox 7">
            <a:extLst xmlns:a="http://schemas.openxmlformats.org/drawingml/2006/main">
              <a:ext uri="{FF2B5EF4-FFF2-40B4-BE49-F238E27FC236}">
                <a16:creationId xmlns:a16="http://schemas.microsoft.com/office/drawing/2014/main" id="{09C532E0-697E-433E-AD21-8755517AB221}"/>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Output: the list, then 3</a:t>
            </a:r>
          </a:p>
        </p:txBody>
      </p:sp>
      <p:sp>
        <p:nvSpPr>
          <p:cNvPr id="9" name="TextBox 8">
            <a:extLst xmlns:a="http://schemas.openxmlformats.org/drawingml/2006/main">
              <a:ext uri="{FF2B5EF4-FFF2-40B4-BE49-F238E27FC236}">
                <a16:creationId xmlns:a16="http://schemas.microsoft.com/office/drawing/2014/main" id="{0B83749D-E009-4E4C-B63D-4AE59AB645E5}"/>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6E1CF5F1-91C4-457C-AADE-D16DFBB7985C}"/>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18</a:t>
            </a:r>
            <a:r>
              <a:t>/56</a:t>
            </a:r>
          </a:p>
        </p:txBody>
      </p:sp>
    </p:spTree>
    <p:extLst>
      <p:ext uri="{BB962C8B-B14F-4D97-AF65-F5344CB8AC3E}">
        <p14:creationId xmlns:p14="http://schemas.microsoft.com/office/powerpoint/2010/main" val="326421752"/>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CFB0CB1-96F2-43FC-A2BC-48E360CF55D6}"/>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71DDA38-57C8-4507-96BC-89C73C29FD25}"/>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CBB45867-BCE0-4A8B-B31B-0BBAA06BC8C0}"/>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Generate real embeddings through an API</a:t>
            </a:r>
          </a:p>
        </p:txBody>
      </p:sp>
      <p:sp>
        <p:nvSpPr>
          <p:cNvPr id="5" name="TextBox 4">
            <a:extLst xmlns:a="http://schemas.openxmlformats.org/drawingml/2006/main">
              <a:ext uri="{FF2B5EF4-FFF2-40B4-BE49-F238E27FC236}">
                <a16:creationId xmlns:a16="http://schemas.microsoft.com/office/drawing/2014/main" id="{E8F1C433-EA1C-4104-AD15-E21EB053C2A1}"/>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Our text goes to Google; a vector comes back</a:t>
            </a:r>
          </a:p>
        </p:txBody>
      </p:sp>
      <p:sp>
        <p:nvSpPr>
          <p:cNvPr id="6" name="Rounded Rectangle 5">
            <a:extLst xmlns:a="http://schemas.openxmlformats.org/drawingml/2006/main">
              <a:ext uri="{FF2B5EF4-FFF2-40B4-BE49-F238E27FC236}">
                <a16:creationId xmlns:a16="http://schemas.microsoft.com/office/drawing/2014/main" id="{FB6420F1-3B44-4F77-BF68-B04620FF9312}"/>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35C555A9-666F-4953-A595-66438317B002}"/>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3C87810-C07E-4B93-A41F-7F3E43DAC31B}"/>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OUR PYTHON</a:t>
            </a:r>
          </a:p>
        </p:txBody>
      </p:sp>
      <p:sp>
        <p:nvSpPr>
          <p:cNvPr id="9" name="TextBox 8">
            <a:extLst xmlns:a="http://schemas.openxmlformats.org/drawingml/2006/main">
              <a:ext uri="{FF2B5EF4-FFF2-40B4-BE49-F238E27FC236}">
                <a16:creationId xmlns:a16="http://schemas.microsoft.com/office/drawing/2014/main" id="{FFDBE9E8-05DF-4EF2-8EDA-8A421BC9E423}"/>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Send a sentence</a:t>
            </a:r>
          </a:p>
        </p:txBody>
      </p:sp>
      <p:sp>
        <p:nvSpPr>
          <p:cNvPr id="10" name="Chevron 9">
            <a:extLst xmlns:a="http://schemas.openxmlformats.org/drawingml/2006/main">
              <a:ext uri="{FF2B5EF4-FFF2-40B4-BE49-F238E27FC236}">
                <a16:creationId xmlns:a16="http://schemas.microsoft.com/office/drawing/2014/main" id="{D51AFE09-B4AB-496A-A34E-9E6B0D039F83}"/>
              </a:ext>
            </a:extLst>
          </p:cNvPr>
          <p:cNvSpPr>
            <a:spLocks xmlns:a="http://schemas.openxmlformats.org/drawingml/2006/main" noGrp="1"/>
          </p:cNvSpPr>
          <p:nvPr/>
        </p:nvSpPr>
        <p:spPr>
          <a:xfrm xmlns:a="http://schemas.openxmlformats.org/drawingml/2006/main">
            <a:off x="407365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2588E6CC-4A89-4FAC-AB87-24712EBECA3F}"/>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E23DCB2F-5066-4E66-8A0B-55F4733F3A4D}"/>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EC8A4A1-9F13-49A1-8490-B19971A94BC2}"/>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GOOGLE API</a:t>
            </a:r>
          </a:p>
        </p:txBody>
      </p:sp>
      <p:sp>
        <p:nvSpPr>
          <p:cNvPr id="14" name="TextBox 13">
            <a:extLst xmlns:a="http://schemas.openxmlformats.org/drawingml/2006/main">
              <a:ext uri="{FF2B5EF4-FFF2-40B4-BE49-F238E27FC236}">
                <a16:creationId xmlns:a16="http://schemas.microsoft.com/office/drawing/2014/main" id="{8C51CC8C-4BD8-4FE2-AA11-9B35570F22EC}"/>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Run embedding model</a:t>
            </a:r>
          </a:p>
        </p:txBody>
      </p:sp>
      <p:sp>
        <p:nvSpPr>
          <p:cNvPr id="15" name="Chevron 14">
            <a:extLst xmlns:a="http://schemas.openxmlformats.org/drawingml/2006/main">
              <a:ext uri="{FF2B5EF4-FFF2-40B4-BE49-F238E27FC236}">
                <a16:creationId xmlns:a16="http://schemas.microsoft.com/office/drawing/2014/main" id="{CFE5FF4C-13EA-4DBF-B4B0-C43BE2A6B627}"/>
              </a:ext>
            </a:extLst>
          </p:cNvPr>
          <p:cNvSpPr>
            <a:spLocks xmlns:a="http://schemas.openxmlformats.org/drawingml/2006/main" noGrp="1"/>
          </p:cNvSpPr>
          <p:nvPr/>
        </p:nvSpPr>
        <p:spPr>
          <a:xfrm xmlns:a="http://schemas.openxmlformats.org/drawingml/2006/main">
            <a:off x="786841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ounded Rectangle 15">
            <a:extLst xmlns:a="http://schemas.openxmlformats.org/drawingml/2006/main">
              <a:ext uri="{FF2B5EF4-FFF2-40B4-BE49-F238E27FC236}">
                <a16:creationId xmlns:a16="http://schemas.microsoft.com/office/drawing/2014/main" id="{E0D0D789-627F-4B88-9728-9D260AFD454D}"/>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BB522876-6FBE-48E7-A287-CBBD26A1B1A0}"/>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87D5D45E-D8FA-465E-880E-ACACD08CBA97}"/>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OUR PYTHON</a:t>
            </a:r>
          </a:p>
        </p:txBody>
      </p:sp>
      <p:sp>
        <p:nvSpPr>
          <p:cNvPr id="19" name="TextBox 18">
            <a:extLst xmlns:a="http://schemas.openxmlformats.org/drawingml/2006/main">
              <a:ext uri="{FF2B5EF4-FFF2-40B4-BE49-F238E27FC236}">
                <a16:creationId xmlns:a16="http://schemas.microsoft.com/office/drawing/2014/main" id="{F4CDC01C-AC05-4A7F-AC18-10C16AB6B9D6}"/>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Receive a list of numbers</a:t>
            </a:r>
          </a:p>
        </p:txBody>
      </p:sp>
      <p:sp>
        <p:nvSpPr>
          <p:cNvPr id="20" name="TextBox 19">
            <a:extLst xmlns:a="http://schemas.openxmlformats.org/drawingml/2006/main">
              <a:ext uri="{FF2B5EF4-FFF2-40B4-BE49-F238E27FC236}">
                <a16:creationId xmlns:a16="http://schemas.microsoft.com/office/drawing/2014/main" id="{347A4FA3-0FAD-41BD-902E-30D84F2349A5}"/>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21" name="TextBox 20">
            <a:extLst xmlns:a="http://schemas.openxmlformats.org/drawingml/2006/main">
              <a:ext uri="{FF2B5EF4-FFF2-40B4-BE49-F238E27FC236}">
                <a16:creationId xmlns:a16="http://schemas.microsoft.com/office/drawing/2014/main" id="{6CB7DA91-B026-4682-A2B6-80F7DF0FC80A}"/>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19</a:t>
            </a:r>
            <a:r>
              <a:t>/56</a:t>
            </a:r>
          </a:p>
        </p:txBody>
      </p:sp>
    </p:spTree>
    <p:extLst>
      <p:ext uri="{BB962C8B-B14F-4D97-AF65-F5344CB8AC3E}">
        <p14:creationId xmlns:p14="http://schemas.microsoft.com/office/powerpoint/2010/main" val="1522293139"/>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841981E-F134-493B-A974-71D4FC64E650}"/>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5DDC4B-10D6-4831-8A55-D489DFECA840}"/>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A7A668BA-8A38-4541-BCB5-031AC24EED88}"/>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Prepare Colab or VS Code</a:t>
            </a:r>
          </a:p>
        </p:txBody>
      </p:sp>
      <p:sp>
        <p:nvSpPr>
          <p:cNvPr id="5" name="TextBox 4">
            <a:extLst xmlns:a="http://schemas.openxmlformats.org/drawingml/2006/main">
              <a:ext uri="{FF2B5EF4-FFF2-40B4-BE49-F238E27FC236}">
                <a16:creationId xmlns:a16="http://schemas.microsoft.com/office/drawing/2014/main" id="{3FA86DC1-A9FC-469D-9B69-9EF07B272F68}"/>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B1–B2 · Use the setup in your notebook</a:t>
            </a:r>
          </a:p>
        </p:txBody>
      </p:sp>
      <p:sp>
        <p:nvSpPr>
          <p:cNvPr id="6" name="Rounded Rectangle 5">
            <a:extLst xmlns:a="http://schemas.openxmlformats.org/drawingml/2006/main">
              <a:ext uri="{FF2B5EF4-FFF2-40B4-BE49-F238E27FC236}">
                <a16:creationId xmlns:a16="http://schemas.microsoft.com/office/drawing/2014/main" id="{3E5A4A04-0D78-48AC-8AE5-F272E9BC6CBF}"/>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A2715F7F-8DD2-4164-9A7F-57FFC8A84601}"/>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878B44E-7DE8-4279-AC39-3606AE464B0F}"/>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COLAB</a:t>
            </a:r>
          </a:p>
        </p:txBody>
      </p:sp>
      <p:sp>
        <p:nvSpPr>
          <p:cNvPr id="9" name="TextBox 8">
            <a:extLst xmlns:a="http://schemas.openxmlformats.org/drawingml/2006/main">
              <a:ext uri="{FF2B5EF4-FFF2-40B4-BE49-F238E27FC236}">
                <a16:creationId xmlns:a16="http://schemas.microsoft.com/office/drawing/2014/main" id="{C58A55CE-031E-4B3A-B853-8F757808C660}"/>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Upload notebook; run setup cell</a:t>
            </a:r>
          </a:p>
        </p:txBody>
      </p:sp>
      <p:sp>
        <p:nvSpPr>
          <p:cNvPr id="10" name="Rounded Rectangle 9">
            <a:extLst xmlns:a="http://schemas.openxmlformats.org/drawingml/2006/main">
              <a:ext uri="{FF2B5EF4-FFF2-40B4-BE49-F238E27FC236}">
                <a16:creationId xmlns:a16="http://schemas.microsoft.com/office/drawing/2014/main" id="{60B2A30B-6A8F-4F18-9658-F41E89E5E1EA}"/>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BEE3EDB8-B989-4F20-929F-C811F86E5A06}"/>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EAA0950-FDAF-488B-A0B3-A6403D5D9060}"/>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VS CODE</a:t>
            </a:r>
          </a:p>
        </p:txBody>
      </p:sp>
      <p:sp>
        <p:nvSpPr>
          <p:cNvPr id="13" name="TextBox 12">
            <a:extLst xmlns:a="http://schemas.openxmlformats.org/drawingml/2006/main">
              <a:ext uri="{FF2B5EF4-FFF2-40B4-BE49-F238E27FC236}">
                <a16:creationId xmlns:a16="http://schemas.microsoft.com/office/drawing/2014/main" id="{370B7585-CDB2-4C09-8100-D88BBA7069AB}"/>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Select Python kernel; run setup cell</a:t>
            </a:r>
          </a:p>
        </p:txBody>
      </p:sp>
      <p:sp>
        <p:nvSpPr>
          <p:cNvPr id="14" name="TextBox 13">
            <a:extLst xmlns:a="http://schemas.openxmlformats.org/drawingml/2006/main">
              <a:ext uri="{FF2B5EF4-FFF2-40B4-BE49-F238E27FC236}">
                <a16:creationId xmlns:a16="http://schemas.microsoft.com/office/drawing/2014/main" id="{7E3F3B6F-D3EF-44E4-B2BB-E30F1AE878B0}"/>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EB0B6E7C-0907-439D-B822-60286BA52526}"/>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20</a:t>
            </a:r>
            <a:r>
              <a:t>/56</a:t>
            </a:r>
          </a:p>
        </p:txBody>
      </p:sp>
    </p:spTree>
    <p:extLst>
      <p:ext uri="{BB962C8B-B14F-4D97-AF65-F5344CB8AC3E}">
        <p14:creationId xmlns:p14="http://schemas.microsoft.com/office/powerpoint/2010/main" val="772127695"/>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A1CDAA-4A86-462E-A6BD-CD34C7A9C94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7F227B-649A-4ECC-8BD4-AEBFA49F81E5}"/>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980EEF5E-4085-4891-83C8-F908BFBD742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Introduce just one new LangChain class</a:t>
            </a:r>
          </a:p>
        </p:txBody>
      </p:sp>
      <p:sp>
        <p:nvSpPr>
          <p:cNvPr id="5" name="TextBox 4">
            <a:extLst xmlns:a="http://schemas.openxmlformats.org/drawingml/2006/main">
              <a:ext uri="{FF2B5EF4-FFF2-40B4-BE49-F238E27FC236}">
                <a16:creationId xmlns:a16="http://schemas.microsoft.com/office/drawing/2014/main" id="{24F929E0-730E-4A06-92F4-055147E552A2}"/>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B3 · Create our embedding model</a:t>
            </a:r>
          </a:p>
        </p:txBody>
      </p:sp>
      <p:sp>
        <p:nvSpPr>
          <p:cNvPr id="6" name="Rounded Rectangle 5">
            <a:extLst xmlns:a="http://schemas.openxmlformats.org/drawingml/2006/main">
              <a:ext uri="{FF2B5EF4-FFF2-40B4-BE49-F238E27FC236}">
                <a16:creationId xmlns:a16="http://schemas.microsoft.com/office/drawing/2014/main" id="{BBF95081-F5EF-40D9-ADB9-2266E5BCB012}"/>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D4F2B0E7-8181-490E-89F0-0CB9C8C9668B}"/>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from langchain_google_genai import GoogleGenerativeAIEmbeddings</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embeddings = GoogleGenerativeAIEmbeddings(</a:t>
            </a:r>
          </a:p>
          <a:p xmlns:a="http://schemas.openxmlformats.org/drawingml/2006/main">
            <a:pPr>
              <a:spcAft>
                <a:spcPts val="0"/>
              </a:spcAft>
              <a:buNone/>
              <a:defRPr sz="2100" b="0">
                <a:solidFill>
                  <a:srgbClr val="FFFFFF"/>
                </a:solidFill>
                <a:latin typeface="Consolas"/>
                <a:ea typeface="Consolas"/>
                <a:cs typeface="Consolas"/>
              </a:defRPr>
            </a:pPr>
            <a:r>
              <a:t>    model="gemini-embedding-001"</a:t>
            </a:r>
          </a:p>
          <a:p xmlns:a="http://schemas.openxmlformats.org/drawingml/2006/main">
            <a:pPr>
              <a:spcAft>
                <a:spcPts val="0"/>
              </a:spcAft>
              <a:buNone/>
              <a:defRPr sz="2100" b="0">
                <a:solidFill>
                  <a:srgbClr val="FFFFFF"/>
                </a:solidFill>
                <a:latin typeface="Consolas"/>
                <a:ea typeface="Consolas"/>
                <a:cs typeface="Consolas"/>
              </a:defRPr>
            </a:pPr>
            <a:r>
              <a:t>)</a:t>
            </a:r>
          </a:p>
        </p:txBody>
      </p:sp>
      <p:sp>
        <p:nvSpPr>
          <p:cNvPr id="8" name="TextBox 7">
            <a:extLst xmlns:a="http://schemas.openxmlformats.org/drawingml/2006/main">
              <a:ext uri="{FF2B5EF4-FFF2-40B4-BE49-F238E27FC236}">
                <a16:creationId xmlns:a16="http://schemas.microsoft.com/office/drawing/2014/main" id="{495A6CA5-A303-4A48-9D5E-00DE4850517C}"/>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Same LangChain framework; new job: text → numbers</a:t>
            </a:r>
          </a:p>
        </p:txBody>
      </p:sp>
      <p:sp>
        <p:nvSpPr>
          <p:cNvPr id="9" name="TextBox 8">
            <a:extLst xmlns:a="http://schemas.openxmlformats.org/drawingml/2006/main">
              <a:ext uri="{FF2B5EF4-FFF2-40B4-BE49-F238E27FC236}">
                <a16:creationId xmlns:a16="http://schemas.microsoft.com/office/drawing/2014/main" id="{FEB5122C-2BD4-4529-BDE3-56D58745C0CA}"/>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21EC9673-8BE9-4BAE-9630-71B0D4FED7A2}"/>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21</a:t>
            </a:r>
            <a:r>
              <a:t>/56</a:t>
            </a:r>
          </a:p>
        </p:txBody>
      </p:sp>
    </p:spTree>
    <p:extLst>
      <p:ext uri="{BB962C8B-B14F-4D97-AF65-F5344CB8AC3E}">
        <p14:creationId xmlns:p14="http://schemas.microsoft.com/office/powerpoint/2010/main" val="1597685078"/>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EEFB9EB-B12C-442D-B2A2-2318C1E89BE1}"/>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EA9069C-CD32-412B-9361-DA8689049390}"/>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A7FF1595-65C6-48DD-A697-AFCC90DF2C3E}"/>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Send one sentence and inspect its numbers</a:t>
            </a:r>
          </a:p>
        </p:txBody>
      </p:sp>
      <p:sp>
        <p:nvSpPr>
          <p:cNvPr id="5" name="TextBox 4">
            <a:extLst xmlns:a="http://schemas.openxmlformats.org/drawingml/2006/main">
              <a:ext uri="{FF2B5EF4-FFF2-40B4-BE49-F238E27FC236}">
                <a16:creationId xmlns:a16="http://schemas.microsoft.com/office/drawing/2014/main" id="{8CF7FCCD-13E4-4040-9CEC-90B5DD4FC6DD}"/>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B4 · Our cat example again</a:t>
            </a:r>
          </a:p>
        </p:txBody>
      </p:sp>
      <p:sp>
        <p:nvSpPr>
          <p:cNvPr id="6" name="Rounded Rectangle 5">
            <a:extLst xmlns:a="http://schemas.openxmlformats.org/drawingml/2006/main">
              <a:ext uri="{FF2B5EF4-FFF2-40B4-BE49-F238E27FC236}">
                <a16:creationId xmlns:a16="http://schemas.microsoft.com/office/drawing/2014/main" id="{6110B1C9-719F-4D72-BB54-B5378C82B9FC}"/>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C672366-87E3-4007-B662-2E2424ED9AF8}"/>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cat_vector = embeddings.embed_query("A cat is sleeping.")</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print(cat_vector[:5])</a:t>
            </a:r>
          </a:p>
          <a:p xmlns:a="http://schemas.openxmlformats.org/drawingml/2006/main">
            <a:pPr>
              <a:spcAft>
                <a:spcPts val="0"/>
              </a:spcAft>
              <a:buNone/>
              <a:defRPr sz="2100" b="0">
                <a:solidFill>
                  <a:srgbClr val="FFFFFF"/>
                </a:solidFill>
                <a:latin typeface="Consolas"/>
                <a:ea typeface="Consolas"/>
                <a:cs typeface="Consolas"/>
              </a:defRPr>
            </a:pPr>
            <a:r>
              <a:t>print("Number of coordinates:", len(cat_vector))</a:t>
            </a:r>
          </a:p>
        </p:txBody>
      </p:sp>
      <p:sp>
        <p:nvSpPr>
          <p:cNvPr id="8" name="TextBox 7">
            <a:extLst xmlns:a="http://schemas.openxmlformats.org/drawingml/2006/main">
              <a:ext uri="{FF2B5EF4-FFF2-40B4-BE49-F238E27FC236}">
                <a16:creationId xmlns:a16="http://schemas.microsoft.com/office/drawing/2014/main" id="{C6C40C23-B5B0-488F-84FB-20C2B573D202}"/>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[:5] shows the first five numbers, not the whole list</a:t>
            </a:r>
          </a:p>
        </p:txBody>
      </p:sp>
      <p:sp>
        <p:nvSpPr>
          <p:cNvPr id="9" name="TextBox 8">
            <a:extLst xmlns:a="http://schemas.openxmlformats.org/drawingml/2006/main">
              <a:ext uri="{FF2B5EF4-FFF2-40B4-BE49-F238E27FC236}">
                <a16:creationId xmlns:a16="http://schemas.microsoft.com/office/drawing/2014/main" id="{84A6A529-89A8-4504-87FE-3287EE43F183}"/>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9116AB17-C0AB-48D3-80A9-567A3507E4A5}"/>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22</a:t>
            </a:r>
            <a:r>
              <a:t>/56</a:t>
            </a:r>
          </a:p>
        </p:txBody>
      </p:sp>
    </p:spTree>
    <p:extLst>
      <p:ext uri="{BB962C8B-B14F-4D97-AF65-F5344CB8AC3E}">
        <p14:creationId xmlns:p14="http://schemas.microsoft.com/office/powerpoint/2010/main" val="810533506"/>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53FBC97-89F5-4779-95E3-4AB403A5866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1E2DF31-3B13-40E6-AC06-ACC8031508D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BDFD1D8A-98A7-4990-893C-32DB7B00A34A}"/>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Give the model our three sentences</a:t>
            </a:r>
          </a:p>
        </p:txBody>
      </p:sp>
      <p:sp>
        <p:nvSpPr>
          <p:cNvPr id="5" name="TextBox 4">
            <a:extLst xmlns:a="http://schemas.openxmlformats.org/drawingml/2006/main">
              <a:ext uri="{FF2B5EF4-FFF2-40B4-BE49-F238E27FC236}">
                <a16:creationId xmlns:a16="http://schemas.microsoft.com/office/drawing/2014/main" id="{BFCCC9DD-1EE0-4113-BC3D-EBA740D264A0}"/>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B5 · One embedding for each sentence</a:t>
            </a:r>
          </a:p>
        </p:txBody>
      </p:sp>
      <p:sp>
        <p:nvSpPr>
          <p:cNvPr id="6" name="Rounded Rectangle 5">
            <a:extLst xmlns:a="http://schemas.openxmlformats.org/drawingml/2006/main">
              <a:ext uri="{FF2B5EF4-FFF2-40B4-BE49-F238E27FC236}">
                <a16:creationId xmlns:a16="http://schemas.microsoft.com/office/drawing/2014/main" id="{C412B49C-2E51-4DFF-B6BA-FC95A304588E}"/>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E6002A8-4E5F-4660-9096-40994D711E88}"/>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sentences = [</a:t>
            </a:r>
          </a:p>
          <a:p xmlns:a="http://schemas.openxmlformats.org/drawingml/2006/main">
            <a:pPr>
              <a:spcAft>
                <a:spcPts val="0"/>
              </a:spcAft>
              <a:buNone/>
              <a:defRPr sz="2100" b="0">
                <a:solidFill>
                  <a:srgbClr val="FFFFFF"/>
                </a:solidFill>
                <a:latin typeface="Consolas"/>
                <a:ea typeface="Consolas"/>
                <a:cs typeface="Consolas"/>
              </a:defRPr>
            </a:pPr>
            <a:r>
              <a:t>    "A cat is sleeping.",</a:t>
            </a:r>
          </a:p>
          <a:p xmlns:a="http://schemas.openxmlformats.org/drawingml/2006/main">
            <a:pPr>
              <a:spcAft>
                <a:spcPts val="0"/>
              </a:spcAft>
              <a:buNone/>
              <a:defRPr sz="2100" b="0">
                <a:solidFill>
                  <a:srgbClr val="FFFFFF"/>
                </a:solidFill>
                <a:latin typeface="Consolas"/>
                <a:ea typeface="Consolas"/>
                <a:cs typeface="Consolas"/>
              </a:defRPr>
            </a:pPr>
            <a:r>
              <a:t>    "A kitten is resting.",</a:t>
            </a:r>
          </a:p>
          <a:p xmlns:a="http://schemas.openxmlformats.org/drawingml/2006/main">
            <a:pPr>
              <a:spcAft>
                <a:spcPts val="0"/>
              </a:spcAft>
              <a:buNone/>
              <a:defRPr sz="2100" b="0">
                <a:solidFill>
                  <a:srgbClr val="FFFFFF"/>
                </a:solidFill>
                <a:latin typeface="Consolas"/>
                <a:ea typeface="Consolas"/>
                <a:cs typeface="Consolas"/>
              </a:defRPr>
            </a:pPr>
            <a:r>
              <a:t>    "An airplane is flying.",</a:t>
            </a:r>
          </a:p>
          <a:p xmlns:a="http://schemas.openxmlformats.org/drawingml/2006/main">
            <a:pPr>
              <a:spcAft>
                <a:spcPts val="0"/>
              </a:spcAft>
              <a:buNone/>
              <a:defRPr sz="2100" b="0">
                <a:solidFill>
                  <a:srgbClr val="FFFFFF"/>
                </a:solidFill>
                <a:latin typeface="Consolas"/>
                <a:ea typeface="Consolas"/>
                <a:cs typeface="Consolas"/>
              </a:defRPr>
            </a:pPr>
            <a:r>
              <a:t>]</a:t>
            </a:r>
          </a:p>
          <a:p xmlns:a="http://schemas.openxmlformats.org/drawingml/2006/main">
            <a:pPr>
              <a:spcAft>
                <a:spcPts val="0"/>
              </a:spcAft>
              <a:buNone/>
              <a:defRPr sz="2100" b="0">
                <a:solidFill>
                  <a:srgbClr val="FFFFFF"/>
                </a:solidFill>
                <a:latin typeface="Consolas"/>
                <a:ea typeface="Consolas"/>
                <a:cs typeface="Consolas"/>
              </a:defRPr>
            </a:pPr>
            <a:r>
              <a:t>sentence_vectors = similarity_model.embed_documents(sentences)</a:t>
            </a:r>
          </a:p>
        </p:txBody>
      </p:sp>
      <p:sp>
        <p:nvSpPr>
          <p:cNvPr id="8" name="TextBox 7">
            <a:extLst xmlns:a="http://schemas.openxmlformats.org/drawingml/2006/main">
              <a:ext uri="{FF2B5EF4-FFF2-40B4-BE49-F238E27FC236}">
                <a16:creationId xmlns:a16="http://schemas.microsoft.com/office/drawing/2014/main" id="{00C4E0B2-A9E0-4D0A-85EF-1F058862BCA3}"/>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similarity_model is set up in the preceding notebook cell</a:t>
            </a:r>
          </a:p>
        </p:txBody>
      </p:sp>
      <p:sp>
        <p:nvSpPr>
          <p:cNvPr id="9" name="TextBox 8">
            <a:extLst xmlns:a="http://schemas.openxmlformats.org/drawingml/2006/main">
              <a:ext uri="{FF2B5EF4-FFF2-40B4-BE49-F238E27FC236}">
                <a16:creationId xmlns:a16="http://schemas.microsoft.com/office/drawing/2014/main" id="{CDAC3DC2-3F28-45E9-8B46-FD56119DE3C8}"/>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96D40BB6-03FC-4720-8300-C2D2C92A69A8}"/>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23</a:t>
            </a:r>
            <a:r>
              <a:t>/56</a:t>
            </a:r>
          </a:p>
        </p:txBody>
      </p:sp>
    </p:spTree>
    <p:extLst>
      <p:ext uri="{BB962C8B-B14F-4D97-AF65-F5344CB8AC3E}">
        <p14:creationId xmlns:p14="http://schemas.microsoft.com/office/powerpoint/2010/main" val="2013720877"/>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B783F8F-70B6-496A-82F4-182D1C1FD1A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85453CA-DECF-4B63-A21E-D9C80E5D1771}"/>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9AD726DF-72A6-4809-9183-64DE2B15DF7B}"/>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Compare the first sentence with all three</a:t>
            </a:r>
          </a:p>
        </p:txBody>
      </p:sp>
      <p:sp>
        <p:nvSpPr>
          <p:cNvPr id="5" name="TextBox 4">
            <a:extLst xmlns:a="http://schemas.openxmlformats.org/drawingml/2006/main">
              <a:ext uri="{FF2B5EF4-FFF2-40B4-BE49-F238E27FC236}">
                <a16:creationId xmlns:a16="http://schemas.microsoft.com/office/drawing/2014/main" id="{A2EA891B-2EAA-473F-8729-21E6719118E9}"/>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B6 · Let the library do the maths</a:t>
            </a:r>
          </a:p>
        </p:txBody>
      </p:sp>
      <p:sp>
        <p:nvSpPr>
          <p:cNvPr id="6" name="Rounded Rectangle 5">
            <a:extLst xmlns:a="http://schemas.openxmlformats.org/drawingml/2006/main">
              <a:ext uri="{FF2B5EF4-FFF2-40B4-BE49-F238E27FC236}">
                <a16:creationId xmlns:a16="http://schemas.microsoft.com/office/drawing/2014/main" id="{59D1C0D4-8D18-46CC-8AFC-D231294753E8}"/>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8E8876-A842-4CF2-B75C-B10017A91998}"/>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from sklearn.metrics.pairwise import cosine_similarity</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scores = cosine_similarity(</a:t>
            </a:r>
          </a:p>
          <a:p xmlns:a="http://schemas.openxmlformats.org/drawingml/2006/main">
            <a:pPr>
              <a:spcAft>
                <a:spcPts val="0"/>
              </a:spcAft>
              <a:buNone/>
              <a:defRPr sz="2100" b="0">
                <a:solidFill>
                  <a:srgbClr val="FFFFFF"/>
                </a:solidFill>
                <a:latin typeface="Consolas"/>
                <a:ea typeface="Consolas"/>
                <a:cs typeface="Consolas"/>
              </a:defRPr>
            </a:pPr>
            <a:r>
              <a:t>    [sentence_vectors[0]], sentence_vectors</a:t>
            </a:r>
          </a:p>
          <a:p xmlns:a="http://schemas.openxmlformats.org/drawingml/2006/main">
            <a:pPr>
              <a:spcAft>
                <a:spcPts val="0"/>
              </a:spcAft>
              <a:buNone/>
              <a:defRPr sz="2100" b="0">
                <a:solidFill>
                  <a:srgbClr val="FFFFFF"/>
                </a:solidFill>
                <a:latin typeface="Consolas"/>
                <a:ea typeface="Consolas"/>
                <a:cs typeface="Consolas"/>
              </a:defRPr>
            </a:pPr>
            <a:r>
              <a:t>)[0]</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for i in range(len(sentences)):</a:t>
            </a:r>
          </a:p>
          <a:p xmlns:a="http://schemas.openxmlformats.org/drawingml/2006/main">
            <a:pPr>
              <a:spcAft>
                <a:spcPts val="0"/>
              </a:spcAft>
              <a:buNone/>
              <a:defRPr sz="2100" b="0">
                <a:solidFill>
                  <a:srgbClr val="FFFFFF"/>
                </a:solidFill>
                <a:latin typeface="Consolas"/>
                <a:ea typeface="Consolas"/>
                <a:cs typeface="Consolas"/>
              </a:defRPr>
            </a:pPr>
            <a:r>
              <a:t>    print(sentences[i], round(float(scores[i]), 3))</a:t>
            </a:r>
          </a:p>
        </p:txBody>
      </p:sp>
      <p:sp>
        <p:nvSpPr>
          <p:cNvPr id="8" name="TextBox 7">
            <a:extLst xmlns:a="http://schemas.openxmlformats.org/drawingml/2006/main">
              <a:ext uri="{FF2B5EF4-FFF2-40B4-BE49-F238E27FC236}">
                <a16:creationId xmlns:a16="http://schemas.microsoft.com/office/drawing/2014/main" id="{834CACC1-1F3A-4B56-AF60-48ADBBEBCC84}"/>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Predict first: kitten should be more related than airplane</a:t>
            </a:r>
          </a:p>
        </p:txBody>
      </p:sp>
      <p:sp>
        <p:nvSpPr>
          <p:cNvPr id="9" name="TextBox 8">
            <a:extLst xmlns:a="http://schemas.openxmlformats.org/drawingml/2006/main">
              <a:ext uri="{FF2B5EF4-FFF2-40B4-BE49-F238E27FC236}">
                <a16:creationId xmlns:a16="http://schemas.microsoft.com/office/drawing/2014/main" id="{F96983F3-5E2F-4C08-8267-CDE75113A4C9}"/>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4CC83125-FE8E-42F6-81E8-6A29D325DBDE}"/>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24</a:t>
            </a:r>
            <a:r>
              <a:t>/56</a:t>
            </a:r>
          </a:p>
        </p:txBody>
      </p:sp>
    </p:spTree>
    <p:extLst>
      <p:ext uri="{BB962C8B-B14F-4D97-AF65-F5344CB8AC3E}">
        <p14:creationId xmlns:p14="http://schemas.microsoft.com/office/powerpoint/2010/main" val="800262607"/>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09AFEA0-6A7F-45DB-8DCF-635133202425}"/>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CE726EE-9128-4889-AB58-547C050832EB}"/>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139CA240-6452-4D77-BFA2-5EE24B56577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Now return to our parcel assistant</a:t>
            </a:r>
          </a:p>
        </p:txBody>
      </p:sp>
      <p:sp>
        <p:nvSpPr>
          <p:cNvPr id="5" name="TextBox 4">
            <a:extLst xmlns:a="http://schemas.openxmlformats.org/drawingml/2006/main">
              <a:ext uri="{FF2B5EF4-FFF2-40B4-BE49-F238E27FC236}">
                <a16:creationId xmlns:a16="http://schemas.microsoft.com/office/drawing/2014/main" id="{0A5131E5-098D-4C00-9A2A-8DA5B4631F05}"/>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The same idea solves our Module 4 app’s missing search ability</a:t>
            </a:r>
          </a:p>
        </p:txBody>
      </p:sp>
      <p:sp>
        <p:nvSpPr>
          <p:cNvPr id="6" name="Rounded Rectangle 5">
            <a:extLst xmlns:a="http://schemas.openxmlformats.org/drawingml/2006/main">
              <a:ext uri="{FF2B5EF4-FFF2-40B4-BE49-F238E27FC236}">
                <a16:creationId xmlns:a16="http://schemas.microsoft.com/office/drawing/2014/main" id="{C04EB4A4-9ABA-448A-BE3C-A9A37B7E6DDF}"/>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7F7A24-94A9-449F-80DB-E40E341B08E6}"/>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408D621-CB2A-4A52-8ED4-031A7450C66F}"/>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CAT EXAMPLE</a:t>
            </a:r>
          </a:p>
        </p:txBody>
      </p:sp>
      <p:sp>
        <p:nvSpPr>
          <p:cNvPr id="9" name="TextBox 8">
            <a:extLst xmlns:a="http://schemas.openxmlformats.org/drawingml/2006/main">
              <a:ext uri="{FF2B5EF4-FFF2-40B4-BE49-F238E27FC236}">
                <a16:creationId xmlns:a16="http://schemas.microsoft.com/office/drawing/2014/main" id="{7A771B4F-15DF-43CD-BE59-F6072A83C4CF}"/>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a related sentence</a:t>
            </a:r>
          </a:p>
        </p:txBody>
      </p:sp>
      <p:sp>
        <p:nvSpPr>
          <p:cNvPr id="10" name="Rounded Rectangle 9">
            <a:extLst xmlns:a="http://schemas.openxmlformats.org/drawingml/2006/main">
              <a:ext uri="{FF2B5EF4-FFF2-40B4-BE49-F238E27FC236}">
                <a16:creationId xmlns:a16="http://schemas.microsoft.com/office/drawing/2014/main" id="{F485D33E-7081-4F3E-9201-8F59480DE4F2}"/>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7EF13B1E-C2EE-4D05-A87E-AF9979920C08}"/>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FD660E6-6BE0-4537-88A6-221FB9344887}"/>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PARCEL EXAMPLE</a:t>
            </a:r>
          </a:p>
        </p:txBody>
      </p:sp>
      <p:sp>
        <p:nvSpPr>
          <p:cNvPr id="13" name="TextBox 12">
            <a:extLst xmlns:a="http://schemas.openxmlformats.org/drawingml/2006/main">
              <a:ext uri="{FF2B5EF4-FFF2-40B4-BE49-F238E27FC236}">
                <a16:creationId xmlns:a16="http://schemas.microsoft.com/office/drawing/2014/main" id="{85DE1CD4-1AA2-45EA-BD1B-333D3C28DF7B}"/>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Find a related delivery policy</a:t>
            </a:r>
          </a:p>
        </p:txBody>
      </p:sp>
      <p:sp>
        <p:nvSpPr>
          <p:cNvPr id="14" name="TextBox 13">
            <a:extLst xmlns:a="http://schemas.openxmlformats.org/drawingml/2006/main">
              <a:ext uri="{FF2B5EF4-FFF2-40B4-BE49-F238E27FC236}">
                <a16:creationId xmlns:a16="http://schemas.microsoft.com/office/drawing/2014/main" id="{A870AF18-B36C-4BA8-B8BB-53FCCCEF35E2}"/>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7832B0BE-B754-44BF-9DD5-B9A4679E6AF7}"/>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25</a:t>
            </a:r>
            <a:r>
              <a:t>/56</a:t>
            </a:r>
          </a:p>
        </p:txBody>
      </p:sp>
    </p:spTree>
    <p:extLst>
      <p:ext uri="{BB962C8B-B14F-4D97-AF65-F5344CB8AC3E}">
        <p14:creationId xmlns:p14="http://schemas.microsoft.com/office/powerpoint/2010/main" val="1541716247"/>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362B195-4DE9-4F70-A07E-19613F62B695}"/>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D56B48C-279D-4C24-A194-62816B2B390E}"/>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A607B371-AA06-4000-B79B-EC8C6B723ABA}"/>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Give our parcel assistant three policies</a:t>
            </a:r>
          </a:p>
        </p:txBody>
      </p:sp>
      <p:sp>
        <p:nvSpPr>
          <p:cNvPr id="5" name="TextBox 4">
            <a:extLst xmlns:a="http://schemas.openxmlformats.org/drawingml/2006/main">
              <a:ext uri="{FF2B5EF4-FFF2-40B4-BE49-F238E27FC236}">
                <a16:creationId xmlns:a16="http://schemas.microsoft.com/office/drawing/2014/main" id="{2530C69E-96F4-48B3-948E-807C6A15E449}"/>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C1 · Ordinary Python strings</a:t>
            </a:r>
          </a:p>
        </p:txBody>
      </p:sp>
      <p:sp>
        <p:nvSpPr>
          <p:cNvPr id="6" name="Rounded Rectangle 5">
            <a:extLst xmlns:a="http://schemas.openxmlformats.org/drawingml/2006/main">
              <a:ext uri="{FF2B5EF4-FFF2-40B4-BE49-F238E27FC236}">
                <a16:creationId xmlns:a16="http://schemas.microsoft.com/office/drawing/2014/main" id="{95B38310-2D90-4525-BA79-88F539F34FC7}"/>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E3E0A94-D414-4D8D-BDA4-E38DF697ADC3}"/>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parcel_information = [</a:t>
            </a:r>
          </a:p>
          <a:p xmlns:a="http://schemas.openxmlformats.org/drawingml/2006/main">
            <a:pPr>
              <a:spcAft>
                <a:spcPts val="0"/>
              </a:spcAft>
              <a:buNone/>
              <a:defRPr sz="2100" b="0">
                <a:solidFill>
                  <a:srgbClr val="FFFFFF"/>
                </a:solidFill>
                <a:latin typeface="Consolas"/>
                <a:ea typeface="Consolas"/>
                <a:cs typeface="Consolas"/>
              </a:defRPr>
            </a:pPr>
            <a:r>
              <a:t>    "Standard delivery takes 3 to 5 working days.",</a:t>
            </a:r>
          </a:p>
          <a:p xmlns:a="http://schemas.openxmlformats.org/drawingml/2006/main">
            <a:pPr>
              <a:spcAft>
                <a:spcPts val="0"/>
              </a:spcAft>
              <a:buNone/>
              <a:defRPr sz="2100" b="0">
                <a:solidFill>
                  <a:srgbClr val="FFFFFF"/>
                </a:solidFill>
                <a:latin typeface="Consolas"/>
                <a:ea typeface="Consolas"/>
                <a:cs typeface="Consolas"/>
              </a:defRPr>
            </a:pPr>
            <a:r>
              <a:t>    "Cash on delivery lets you pay when the parcel arrives.",</a:t>
            </a:r>
          </a:p>
          <a:p xmlns:a="http://schemas.openxmlformats.org/drawingml/2006/main">
            <a:pPr>
              <a:spcAft>
                <a:spcPts val="0"/>
              </a:spcAft>
              <a:buNone/>
              <a:defRPr sz="2100" b="0">
                <a:solidFill>
                  <a:srgbClr val="FFFFFF"/>
                </a:solidFill>
                <a:latin typeface="Consolas"/>
                <a:ea typeface="Consolas"/>
                <a:cs typeface="Consolas"/>
              </a:defRPr>
            </a:pPr>
            <a:r>
              <a:t>    "For a damaged parcel, contact support with photos.",</a:t>
            </a:r>
          </a:p>
          <a:p xmlns:a="http://schemas.openxmlformats.org/drawingml/2006/main">
            <a:pPr>
              <a:spcAft>
                <a:spcPts val="0"/>
              </a:spcAft>
              <a:buNone/>
              <a:defRPr sz="2100" b="0">
                <a:solidFill>
                  <a:srgbClr val="FFFFFF"/>
                </a:solidFill>
                <a:latin typeface="Consolas"/>
                <a:ea typeface="Consolas"/>
                <a:cs typeface="Consolas"/>
              </a:defRPr>
            </a:pPr>
            <a:r>
              <a:t>]</a:t>
            </a:r>
          </a:p>
        </p:txBody>
      </p:sp>
      <p:sp>
        <p:nvSpPr>
          <p:cNvPr id="8" name="TextBox 7">
            <a:extLst xmlns:a="http://schemas.openxmlformats.org/drawingml/2006/main">
              <a:ext uri="{FF2B5EF4-FFF2-40B4-BE49-F238E27FC236}">
                <a16:creationId xmlns:a16="http://schemas.microsoft.com/office/drawing/2014/main" id="{DD3C2C1A-563A-43A2-B34E-D67031DF7CC3}"/>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Fictional company information for classroom practice</a:t>
            </a:r>
          </a:p>
        </p:txBody>
      </p:sp>
      <p:sp>
        <p:nvSpPr>
          <p:cNvPr id="9" name="TextBox 8">
            <a:extLst xmlns:a="http://schemas.openxmlformats.org/drawingml/2006/main">
              <a:ext uri="{FF2B5EF4-FFF2-40B4-BE49-F238E27FC236}">
                <a16:creationId xmlns:a16="http://schemas.microsoft.com/office/drawing/2014/main" id="{A43617D6-1E5A-4469-9E4B-1E077446C68C}"/>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18175467-7BBF-4724-B03E-9F2DBEE327B7}"/>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26</a:t>
            </a:r>
            <a:r>
              <a:t>/56</a:t>
            </a:r>
          </a:p>
        </p:txBody>
      </p:sp>
    </p:spTree>
    <p:extLst>
      <p:ext uri="{BB962C8B-B14F-4D97-AF65-F5344CB8AC3E}">
        <p14:creationId xmlns:p14="http://schemas.microsoft.com/office/powerpoint/2010/main" val="1700303649"/>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BA4B8AF-1E33-4314-A8D6-7EAC005AC360}"/>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3C40B46-DFF2-4730-BDCE-1989D191E6C1}"/>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E2C63D15-27DE-43C2-9378-C54C593A07F1}"/>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The customer uses different words</a:t>
            </a:r>
          </a:p>
        </p:txBody>
      </p:sp>
      <p:sp>
        <p:nvSpPr>
          <p:cNvPr id="5" name="TextBox 4">
            <a:extLst xmlns:a="http://schemas.openxmlformats.org/drawingml/2006/main">
              <a:ext uri="{FF2B5EF4-FFF2-40B4-BE49-F238E27FC236}">
                <a16:creationId xmlns:a16="http://schemas.microsoft.com/office/drawing/2014/main" id="{4AA51B29-D0AE-4448-BD4C-B2BD1BE1889F}"/>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“Can I pay when my parcel reaches me?”</a:t>
            </a:r>
          </a:p>
        </p:txBody>
      </p:sp>
      <p:sp>
        <p:nvSpPr>
          <p:cNvPr id="6" name="Rounded Rectangle 5">
            <a:extLst xmlns:a="http://schemas.openxmlformats.org/drawingml/2006/main">
              <a:ext uri="{FF2B5EF4-FFF2-40B4-BE49-F238E27FC236}">
                <a16:creationId xmlns:a16="http://schemas.microsoft.com/office/drawing/2014/main" id="{26819EC4-248F-494A-84C8-CD96873DB494}"/>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BBF95F7-72B8-46AE-B6C2-9FF58CBDE1C5}"/>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B619651-EB8F-4B62-912F-F1D20F9E4BCF}"/>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CUSTOMER WORDS</a:t>
            </a:r>
          </a:p>
        </p:txBody>
      </p:sp>
      <p:sp>
        <p:nvSpPr>
          <p:cNvPr id="9" name="TextBox 8">
            <a:extLst xmlns:a="http://schemas.openxmlformats.org/drawingml/2006/main">
              <a:ext uri="{FF2B5EF4-FFF2-40B4-BE49-F238E27FC236}">
                <a16:creationId xmlns:a16="http://schemas.microsoft.com/office/drawing/2014/main" id="{29B6FFE8-BCCF-4B6C-A70F-6EC1A0A4E9BB}"/>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pay · parcel reaches me</a:t>
            </a:r>
          </a:p>
        </p:txBody>
      </p:sp>
      <p:sp>
        <p:nvSpPr>
          <p:cNvPr id="10" name="Rounded Rectangle 9">
            <a:extLst xmlns:a="http://schemas.openxmlformats.org/drawingml/2006/main">
              <a:ext uri="{FF2B5EF4-FFF2-40B4-BE49-F238E27FC236}">
                <a16:creationId xmlns:a16="http://schemas.microsoft.com/office/drawing/2014/main" id="{B2E354BE-94C5-4720-8E27-B0F49EC8D304}"/>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9C7F5273-1ABA-432C-8942-F2559781024D}"/>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A413850-29D6-4DAB-B23E-12DF391458C5}"/>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SAVED POLICY</a:t>
            </a:r>
          </a:p>
        </p:txBody>
      </p:sp>
      <p:sp>
        <p:nvSpPr>
          <p:cNvPr id="13" name="TextBox 12">
            <a:extLst xmlns:a="http://schemas.openxmlformats.org/drawingml/2006/main">
              <a:ext uri="{FF2B5EF4-FFF2-40B4-BE49-F238E27FC236}">
                <a16:creationId xmlns:a16="http://schemas.microsoft.com/office/drawing/2014/main" id="{55CC2B61-40D2-4709-A3D1-EA3AA9480566}"/>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Cash on delivery · parcel arrives</a:t>
            </a:r>
          </a:p>
        </p:txBody>
      </p:sp>
      <p:sp>
        <p:nvSpPr>
          <p:cNvPr id="14" name="TextBox 13">
            <a:extLst xmlns:a="http://schemas.openxmlformats.org/drawingml/2006/main">
              <a:ext uri="{FF2B5EF4-FFF2-40B4-BE49-F238E27FC236}">
                <a16:creationId xmlns:a16="http://schemas.microsoft.com/office/drawing/2014/main" id="{3DD43614-C56E-452C-A1A0-B529EB45E913}"/>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390CE1F3-50E9-4E1F-80C9-97A74A57D974}"/>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27</a:t>
            </a:r>
            <a:r>
              <a:t>/56</a:t>
            </a:r>
          </a:p>
        </p:txBody>
      </p:sp>
    </p:spTree>
    <p:extLst>
      <p:ext uri="{BB962C8B-B14F-4D97-AF65-F5344CB8AC3E}">
        <p14:creationId xmlns:p14="http://schemas.microsoft.com/office/powerpoint/2010/main" val="2081057668"/>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1DEBB74-89A5-4546-A097-232F5C0E0EF6}"/>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519D462-2085-4526-9DD6-D5156E12BEE7}"/>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82590593-340E-44B1-8CDF-25A7824B0C02}"/>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Prepare the parcel information once</a:t>
            </a:r>
          </a:p>
        </p:txBody>
      </p:sp>
      <p:sp>
        <p:nvSpPr>
          <p:cNvPr id="5" name="TextBox 4">
            <a:extLst xmlns:a="http://schemas.openxmlformats.org/drawingml/2006/main">
              <a:ext uri="{FF2B5EF4-FFF2-40B4-BE49-F238E27FC236}">
                <a16:creationId xmlns:a16="http://schemas.microsoft.com/office/drawing/2014/main" id="{FC336FAA-CB9D-4667-9B7E-FEBC6292D6AB}"/>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C2 · Texts → stored vectors</a:t>
            </a:r>
          </a:p>
        </p:txBody>
      </p:sp>
      <p:sp>
        <p:nvSpPr>
          <p:cNvPr id="6" name="Rounded Rectangle 5">
            <a:extLst xmlns:a="http://schemas.openxmlformats.org/drawingml/2006/main">
              <a:ext uri="{FF2B5EF4-FFF2-40B4-BE49-F238E27FC236}">
                <a16:creationId xmlns:a16="http://schemas.microsoft.com/office/drawing/2014/main" id="{815CA62E-A54C-4876-8B81-2CC4D6F41DAD}"/>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FD2511-6ED6-41B9-9171-3FCAB3E5ACC3}"/>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parcel_vectors = embeddings.embed_documents(</a:t>
            </a:r>
          </a:p>
          <a:p xmlns:a="http://schemas.openxmlformats.org/drawingml/2006/main">
            <a:pPr>
              <a:spcAft>
                <a:spcPts val="0"/>
              </a:spcAft>
              <a:buNone/>
              <a:defRPr sz="2100" b="0">
                <a:solidFill>
                  <a:srgbClr val="FFFFFF"/>
                </a:solidFill>
                <a:latin typeface="Consolas"/>
                <a:ea typeface="Consolas"/>
                <a:cs typeface="Consolas"/>
              </a:defRPr>
            </a:pPr>
            <a:r>
              <a:t>    parcel_information</a:t>
            </a:r>
          </a:p>
          <a:p xmlns:a="http://schemas.openxmlformats.org/drawingml/2006/main">
            <a:pPr>
              <a:spcAft>
                <a:spcPts val="0"/>
              </a:spcAft>
              <a:buNone/>
              <a:defRPr sz="2100" b="0">
                <a:solidFill>
                  <a:srgbClr val="FFFFFF"/>
                </a:solidFill>
                <a:latin typeface="Consolas"/>
                <a:ea typeface="Consolas"/>
                <a:cs typeface="Consolas"/>
              </a:defRPr>
            </a:pPr>
            <a:r>
              <a:t>)</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print("Policies:", len(parcel_information))</a:t>
            </a:r>
          </a:p>
          <a:p xmlns:a="http://schemas.openxmlformats.org/drawingml/2006/main">
            <a:pPr>
              <a:spcAft>
                <a:spcPts val="0"/>
              </a:spcAft>
              <a:buNone/>
              <a:defRPr sz="2100" b="0">
                <a:solidFill>
                  <a:srgbClr val="FFFFFF"/>
                </a:solidFill>
                <a:latin typeface="Consolas"/>
                <a:ea typeface="Consolas"/>
                <a:cs typeface="Consolas"/>
              </a:defRPr>
            </a:pPr>
            <a:r>
              <a:t>print("Vectors:", len(parcel_vectors))</a:t>
            </a:r>
          </a:p>
        </p:txBody>
      </p:sp>
      <p:sp>
        <p:nvSpPr>
          <p:cNvPr id="8" name="TextBox 7">
            <a:extLst xmlns:a="http://schemas.openxmlformats.org/drawingml/2006/main">
              <a:ext uri="{FF2B5EF4-FFF2-40B4-BE49-F238E27FC236}">
                <a16:creationId xmlns:a16="http://schemas.microsoft.com/office/drawing/2014/main" id="{FCAE539E-C519-45A8-9F67-62F4A17464D7}"/>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Three policies → three vectors</a:t>
            </a:r>
          </a:p>
        </p:txBody>
      </p:sp>
      <p:sp>
        <p:nvSpPr>
          <p:cNvPr id="9" name="TextBox 8">
            <a:extLst xmlns:a="http://schemas.openxmlformats.org/drawingml/2006/main">
              <a:ext uri="{FF2B5EF4-FFF2-40B4-BE49-F238E27FC236}">
                <a16:creationId xmlns:a16="http://schemas.microsoft.com/office/drawing/2014/main" id="{B52604A8-4893-45FE-A75B-75D0C21C6237}"/>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A9547129-C551-418E-AFDE-502895112BF5}"/>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28</a:t>
            </a:r>
            <a:r>
              <a:t>/56</a:t>
            </a:r>
          </a:p>
        </p:txBody>
      </p:sp>
    </p:spTree>
    <p:extLst>
      <p:ext uri="{BB962C8B-B14F-4D97-AF65-F5344CB8AC3E}">
        <p14:creationId xmlns:p14="http://schemas.microsoft.com/office/powerpoint/2010/main" val="280402451"/>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E3B006-8916-42D5-B379-7D3614E8B23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E5F3B3F-E1DA-4444-8C6F-ED4B8A6DEBBF}"/>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1472BC12-78FD-4D34-9445-A84280B33C82}"/>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Convert the customer’s question too</a:t>
            </a:r>
          </a:p>
        </p:txBody>
      </p:sp>
      <p:sp>
        <p:nvSpPr>
          <p:cNvPr id="5" name="TextBox 4">
            <a:extLst xmlns:a="http://schemas.openxmlformats.org/drawingml/2006/main">
              <a:ext uri="{FF2B5EF4-FFF2-40B4-BE49-F238E27FC236}">
                <a16:creationId xmlns:a16="http://schemas.microsoft.com/office/drawing/2014/main" id="{F83E57FC-7F5E-4D4E-9D1E-419F3737656B}"/>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C3 · One question → one vector</a:t>
            </a:r>
          </a:p>
        </p:txBody>
      </p:sp>
      <p:sp>
        <p:nvSpPr>
          <p:cNvPr id="6" name="Rounded Rectangle 5">
            <a:extLst xmlns:a="http://schemas.openxmlformats.org/drawingml/2006/main">
              <a:ext uri="{FF2B5EF4-FFF2-40B4-BE49-F238E27FC236}">
                <a16:creationId xmlns:a16="http://schemas.microsoft.com/office/drawing/2014/main" id="{AE370F25-0EB6-433A-A04D-284546897EAC}"/>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C106E781-5E0A-4DB7-A7DA-DBE816F39000}"/>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question = "Can I pay when my parcel reaches me?"</a:t>
            </a:r>
          </a:p>
          <a:p xmlns:a="http://schemas.openxmlformats.org/drawingml/2006/main">
            <a:pPr>
              <a:spcAft>
                <a:spcPts val="0"/>
              </a:spcAft>
              <a:buNone/>
              <a:defRPr sz="2100" b="0">
                <a:solidFill>
                  <a:srgbClr val="FFFFFF"/>
                </a:solidFill>
                <a:latin typeface="Consolas"/>
                <a:ea typeface="Consolas"/>
                <a:cs typeface="Consolas"/>
              </a:defRPr>
            </a:pPr>
            <a:r>
              <a:t>question_vector = embeddings.embed_query(question)</a:t>
            </a:r>
          </a:p>
        </p:txBody>
      </p:sp>
      <p:sp>
        <p:nvSpPr>
          <p:cNvPr id="8" name="TextBox 7">
            <a:extLst xmlns:a="http://schemas.openxmlformats.org/drawingml/2006/main">
              <a:ext uri="{FF2B5EF4-FFF2-40B4-BE49-F238E27FC236}">
                <a16:creationId xmlns:a16="http://schemas.microsoft.com/office/drawing/2014/main" id="{28EE73C6-CDEF-4FBF-B2AE-D72108F688AF}"/>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Same embedding model as the stored policies</a:t>
            </a:r>
          </a:p>
        </p:txBody>
      </p:sp>
      <p:sp>
        <p:nvSpPr>
          <p:cNvPr id="9" name="TextBox 8">
            <a:extLst xmlns:a="http://schemas.openxmlformats.org/drawingml/2006/main">
              <a:ext uri="{FF2B5EF4-FFF2-40B4-BE49-F238E27FC236}">
                <a16:creationId xmlns:a16="http://schemas.microsoft.com/office/drawing/2014/main" id="{0B6006A1-7902-4399-8C41-B671A85B7F86}"/>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5065397B-44AC-42B9-9610-F8ABBB86560F}"/>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29</a:t>
            </a:r>
            <a:r>
              <a:t>/56</a:t>
            </a:r>
          </a:p>
        </p:txBody>
      </p:sp>
    </p:spTree>
    <p:extLst>
      <p:ext uri="{BB962C8B-B14F-4D97-AF65-F5344CB8AC3E}">
        <p14:creationId xmlns:p14="http://schemas.microsoft.com/office/powerpoint/2010/main" val="1268676429"/>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23A5F06-4224-4333-BEF4-B3BC2618465B}"/>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20CADCF-886E-4447-812F-2A4DBF7F201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E3F0B708-13CC-43BF-A6B2-D5230E8B1216}"/>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Compare the question with each policy</a:t>
            </a:r>
          </a:p>
        </p:txBody>
      </p:sp>
      <p:sp>
        <p:nvSpPr>
          <p:cNvPr id="5" name="TextBox 4">
            <a:extLst xmlns:a="http://schemas.openxmlformats.org/drawingml/2006/main">
              <a:ext uri="{FF2B5EF4-FFF2-40B4-BE49-F238E27FC236}">
                <a16:creationId xmlns:a16="http://schemas.microsoft.com/office/drawing/2014/main" id="{0511738F-5A95-4611-95F5-56A3396A40E5}"/>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C4 · Reuse the cosine function</a:t>
            </a:r>
          </a:p>
        </p:txBody>
      </p:sp>
      <p:sp>
        <p:nvSpPr>
          <p:cNvPr id="6" name="Rounded Rectangle 5">
            <a:extLst xmlns:a="http://schemas.openxmlformats.org/drawingml/2006/main">
              <a:ext uri="{FF2B5EF4-FFF2-40B4-BE49-F238E27FC236}">
                <a16:creationId xmlns:a16="http://schemas.microsoft.com/office/drawing/2014/main" id="{B154B1D2-A5FF-4C14-BCB1-F11E7C8E45D8}"/>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064ECBE-1673-4057-8A02-AFF147797C19}"/>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scores = cosine_similarity(</a:t>
            </a:r>
          </a:p>
          <a:p xmlns:a="http://schemas.openxmlformats.org/drawingml/2006/main">
            <a:pPr>
              <a:spcAft>
                <a:spcPts val="0"/>
              </a:spcAft>
              <a:buNone/>
              <a:defRPr sz="2100" b="0">
                <a:solidFill>
                  <a:srgbClr val="FFFFFF"/>
                </a:solidFill>
                <a:latin typeface="Consolas"/>
                <a:ea typeface="Consolas"/>
                <a:cs typeface="Consolas"/>
              </a:defRPr>
            </a:pPr>
            <a:r>
              <a:t>    [question_vector], parcel_vectors</a:t>
            </a:r>
          </a:p>
          <a:p xmlns:a="http://schemas.openxmlformats.org/drawingml/2006/main">
            <a:pPr>
              <a:spcAft>
                <a:spcPts val="0"/>
              </a:spcAft>
              <a:buNone/>
              <a:defRPr sz="2100" b="0">
                <a:solidFill>
                  <a:srgbClr val="FFFFFF"/>
                </a:solidFill>
                <a:latin typeface="Consolas"/>
                <a:ea typeface="Consolas"/>
                <a:cs typeface="Consolas"/>
              </a:defRPr>
            </a:pPr>
            <a:r>
              <a:t>)[0]</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for i in range(len(parcel_information)):</a:t>
            </a:r>
          </a:p>
          <a:p xmlns:a="http://schemas.openxmlformats.org/drawingml/2006/main">
            <a:pPr>
              <a:spcAft>
                <a:spcPts val="0"/>
              </a:spcAft>
              <a:buNone/>
              <a:defRPr sz="2100" b="0">
                <a:solidFill>
                  <a:srgbClr val="FFFFFF"/>
                </a:solidFill>
                <a:latin typeface="Consolas"/>
                <a:ea typeface="Consolas"/>
                <a:cs typeface="Consolas"/>
              </a:defRPr>
            </a:pPr>
            <a:r>
              <a:t>    print(i, round(float(scores[i]), 3))</a:t>
            </a:r>
          </a:p>
        </p:txBody>
      </p:sp>
      <p:sp>
        <p:nvSpPr>
          <p:cNvPr id="8" name="TextBox 7">
            <a:extLst xmlns:a="http://schemas.openxmlformats.org/drawingml/2006/main">
              <a:ext uri="{FF2B5EF4-FFF2-40B4-BE49-F238E27FC236}">
                <a16:creationId xmlns:a16="http://schemas.microsoft.com/office/drawing/2014/main" id="{6103A257-56B5-4C6E-834D-CA2F1E7AA1D6}"/>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Each score belongs to the policy at that position</a:t>
            </a:r>
          </a:p>
        </p:txBody>
      </p:sp>
      <p:sp>
        <p:nvSpPr>
          <p:cNvPr id="9" name="TextBox 8">
            <a:extLst xmlns:a="http://schemas.openxmlformats.org/drawingml/2006/main">
              <a:ext uri="{FF2B5EF4-FFF2-40B4-BE49-F238E27FC236}">
                <a16:creationId xmlns:a16="http://schemas.microsoft.com/office/drawing/2014/main" id="{5606999C-A702-4E09-8AC4-3CDBCEC39F8A}"/>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72F12AA5-45F0-4695-BE06-9646E80D904C}"/>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30</a:t>
            </a:r>
            <a:r>
              <a:t>/56</a:t>
            </a:r>
          </a:p>
        </p:txBody>
      </p:sp>
    </p:spTree>
    <p:extLst>
      <p:ext uri="{BB962C8B-B14F-4D97-AF65-F5344CB8AC3E}">
        <p14:creationId xmlns:p14="http://schemas.microsoft.com/office/powerpoint/2010/main" val="1664534127"/>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6B77100-D104-4057-8642-563CAF569010}"/>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F52B4EF-5E2F-420F-9BEF-3E2F7CAFB928}"/>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FCB7582B-B119-4E98-9D6C-578C9D16BD59}"/>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Choose the highest-scoring policy</a:t>
            </a:r>
          </a:p>
        </p:txBody>
      </p:sp>
      <p:sp>
        <p:nvSpPr>
          <p:cNvPr id="5" name="TextBox 4">
            <a:extLst xmlns:a="http://schemas.openxmlformats.org/drawingml/2006/main">
              <a:ext uri="{FF2B5EF4-FFF2-40B4-BE49-F238E27FC236}">
                <a16:creationId xmlns:a16="http://schemas.microsoft.com/office/drawing/2014/main" id="{38B5AB62-2A4D-4045-80C7-02867D62884F}"/>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C5 · A familiar loop, no advanced sorting</a:t>
            </a:r>
          </a:p>
        </p:txBody>
      </p:sp>
      <p:sp>
        <p:nvSpPr>
          <p:cNvPr id="6" name="Rounded Rectangle 5">
            <a:extLst xmlns:a="http://schemas.openxmlformats.org/drawingml/2006/main">
              <a:ext uri="{FF2B5EF4-FFF2-40B4-BE49-F238E27FC236}">
                <a16:creationId xmlns:a16="http://schemas.microsoft.com/office/drawing/2014/main" id="{28E3C6E9-003C-4847-97CC-8C55BFC35CA1}"/>
              </a:ext>
            </a:extLst>
          </p:cNvPr>
          <p:cNvSpPr>
            <a:spLocks xmlns:a="http://schemas.openxmlformats.org/drawingml/2006/main" noGrp="1"/>
          </p:cNvSpPr>
          <p:nvPr/>
        </p:nvSpPr>
        <p:spPr>
          <a:xfrm xmlns:a="http://schemas.openxmlformats.org/drawingml/2006/main">
            <a:off x="548640" y="2377440"/>
            <a:ext cx="11064240" cy="3566160"/>
          </a:xfrm>
          <a:prstGeom xmlns:a="http://schemas.openxmlformats.org/drawingml/2006/main" prst="roundRect">
            <a:avLst/>
          </a:prstGeom>
          <a:solidFill xmlns:a="http://schemas.openxmlformats.org/drawingml/2006/main">
            <a:srgbClr val="172B4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C6FE1E98-54CB-42A1-8DE2-5E04D0C3292A}"/>
              </a:ext>
            </a:extLst>
          </p:cNvPr>
          <p:cNvSpPr>
            <a:spLocks xmlns:a="http://schemas.openxmlformats.org/drawingml/2006/main" noGrp="1"/>
          </p:cNvSpPr>
          <p:nvPr/>
        </p:nvSpPr>
        <p:spPr>
          <a:xfrm xmlns:a="http://schemas.openxmlformats.org/drawingml/2006/main">
            <a:off x="777240" y="2587752"/>
            <a:ext cx="10607040" cy="32004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0"/>
              </a:spcAft>
              <a:buNone/>
              <a:defRPr sz="2100" b="0">
                <a:solidFill>
                  <a:srgbClr val="FFFFFF"/>
                </a:solidFill>
                <a:latin typeface="Consolas"/>
                <a:ea typeface="Consolas"/>
                <a:cs typeface="Consolas"/>
              </a:defRPr>
            </a:pPr>
            <a:r>
              <a:t>best_index = 0</a:t>
            </a:r>
          </a:p>
          <a:p xmlns:a="http://schemas.openxmlformats.org/drawingml/2006/main">
            <a:pPr>
              <a:spcAft>
                <a:spcPts val="0"/>
              </a:spcAft>
              <a:buNone/>
              <a:defRPr sz="2100" b="0">
                <a:solidFill>
                  <a:srgbClr val="FFFFFF"/>
                </a:solidFill>
                <a:latin typeface="Consolas"/>
                <a:ea typeface="Consolas"/>
                <a:cs typeface="Consolas"/>
              </a:defRPr>
            </a:pPr>
            <a:r>
              <a:t>for i in range(len(scores)):</a:t>
            </a:r>
          </a:p>
          <a:p xmlns:a="http://schemas.openxmlformats.org/drawingml/2006/main">
            <a:pPr>
              <a:spcAft>
                <a:spcPts val="0"/>
              </a:spcAft>
              <a:buNone/>
              <a:defRPr sz="2100" b="0">
                <a:solidFill>
                  <a:srgbClr val="FFFFFF"/>
                </a:solidFill>
                <a:latin typeface="Consolas"/>
                <a:ea typeface="Consolas"/>
                <a:cs typeface="Consolas"/>
              </a:defRPr>
            </a:pPr>
            <a:r>
              <a:t>    if scores[i] &gt; scores[best_index]:</a:t>
            </a:r>
          </a:p>
          <a:p xmlns:a="http://schemas.openxmlformats.org/drawingml/2006/main">
            <a:pPr>
              <a:spcAft>
                <a:spcPts val="0"/>
              </a:spcAft>
              <a:buNone/>
              <a:defRPr sz="2100" b="0">
                <a:solidFill>
                  <a:srgbClr val="FFFFFF"/>
                </a:solidFill>
                <a:latin typeface="Consolas"/>
                <a:ea typeface="Consolas"/>
                <a:cs typeface="Consolas"/>
              </a:defRPr>
            </a:pPr>
            <a:r>
              <a:t>        best_index = i</a:t>
            </a:r>
          </a:p>
          <a:p xmlns:a="http://schemas.openxmlformats.org/drawingml/2006/main">
            <a:pPr>
              <a:spcAft>
                <a:spcPts val="0"/>
              </a:spcAft>
              <a:buNone/>
              <a:defRPr sz="2100" b="0">
                <a:solidFill>
                  <a:srgbClr val="FFFFFF"/>
                </a:solidFill>
                <a:latin typeface="Consolas"/>
                <a:ea typeface="Consolas"/>
                <a:cs typeface="Consolas"/>
              </a:defRPr>
            </a:pPr>
          </a:p>
          <a:p xmlns:a="http://schemas.openxmlformats.org/drawingml/2006/main">
            <a:pPr>
              <a:spcAft>
                <a:spcPts val="0"/>
              </a:spcAft>
              <a:buNone/>
              <a:defRPr sz="2100" b="0">
                <a:solidFill>
                  <a:srgbClr val="FFFFFF"/>
                </a:solidFill>
                <a:latin typeface="Consolas"/>
                <a:ea typeface="Consolas"/>
                <a:cs typeface="Consolas"/>
              </a:defRPr>
            </a:pPr>
            <a:r>
              <a:t>print("Closest information:")</a:t>
            </a:r>
          </a:p>
          <a:p xmlns:a="http://schemas.openxmlformats.org/drawingml/2006/main">
            <a:pPr>
              <a:spcAft>
                <a:spcPts val="0"/>
              </a:spcAft>
              <a:buNone/>
              <a:defRPr sz="2100" b="0">
                <a:solidFill>
                  <a:srgbClr val="FFFFFF"/>
                </a:solidFill>
                <a:latin typeface="Consolas"/>
                <a:ea typeface="Consolas"/>
                <a:cs typeface="Consolas"/>
              </a:defRPr>
            </a:pPr>
            <a:r>
              <a:t>print(parcel_information[best_index])</a:t>
            </a:r>
          </a:p>
        </p:txBody>
      </p:sp>
      <p:sp>
        <p:nvSpPr>
          <p:cNvPr id="8" name="TextBox 7">
            <a:extLst xmlns:a="http://schemas.openxmlformats.org/drawingml/2006/main">
              <a:ext uri="{FF2B5EF4-FFF2-40B4-BE49-F238E27FC236}">
                <a16:creationId xmlns:a16="http://schemas.microsoft.com/office/drawing/2014/main" id="{367A496A-9D9B-4014-9A99-DAD07534A6C1}"/>
              </a:ext>
            </a:extLst>
          </p:cNvPr>
          <p:cNvSpPr>
            <a:spLocks xmlns:a="http://schemas.openxmlformats.org/drawingml/2006/main" noGrp="1"/>
          </p:cNvSpPr>
          <p:nvPr/>
        </p:nvSpPr>
        <p:spPr>
          <a:xfrm xmlns:a="http://schemas.openxmlformats.org/drawingml/2006/main">
            <a:off x="548640" y="5989320"/>
            <a:ext cx="10972800" cy="30175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600" b="1">
                <a:solidFill>
                  <a:srgbClr val="087F8C"/>
                </a:solidFill>
                <a:latin typeface="Aptos"/>
                <a:ea typeface="Aptos"/>
                <a:cs typeface="Aptos"/>
              </a:defRPr>
            </a:pPr>
            <a:r>
              <a:t>Intended match: the cash-on-delivery sentence</a:t>
            </a:r>
          </a:p>
        </p:txBody>
      </p:sp>
      <p:sp>
        <p:nvSpPr>
          <p:cNvPr id="9" name="TextBox 8">
            <a:extLst xmlns:a="http://schemas.openxmlformats.org/drawingml/2006/main">
              <a:ext uri="{FF2B5EF4-FFF2-40B4-BE49-F238E27FC236}">
                <a16:creationId xmlns:a16="http://schemas.microsoft.com/office/drawing/2014/main" id="{4C22A2AB-B82C-4BDF-9B41-0A6F7A23297D}"/>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0" name="TextBox 9">
            <a:extLst xmlns:a="http://schemas.openxmlformats.org/drawingml/2006/main">
              <a:ext uri="{FF2B5EF4-FFF2-40B4-BE49-F238E27FC236}">
                <a16:creationId xmlns:a16="http://schemas.microsoft.com/office/drawing/2014/main" id="{965BFFB1-57F6-48FF-A685-A3850735AF7D}"/>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31</a:t>
            </a:r>
            <a:r>
              <a:t>/56</a:t>
            </a:r>
          </a:p>
        </p:txBody>
      </p:sp>
    </p:spTree>
    <p:extLst>
      <p:ext uri="{BB962C8B-B14F-4D97-AF65-F5344CB8AC3E}">
        <p14:creationId xmlns:p14="http://schemas.microsoft.com/office/powerpoint/2010/main" val="1054365484"/>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522B693-8270-4137-AF3A-E62BBE39050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B214ABD-61B9-4199-91E3-BFC9CD2B8C7B}"/>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007C19AC-624C-4B09-B87F-B4F49AF6BF30}"/>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This is semantic search</a:t>
            </a:r>
          </a:p>
        </p:txBody>
      </p:sp>
      <p:sp>
        <p:nvSpPr>
          <p:cNvPr id="5" name="TextBox 4">
            <a:extLst xmlns:a="http://schemas.openxmlformats.org/drawingml/2006/main">
              <a:ext uri="{FF2B5EF4-FFF2-40B4-BE49-F238E27FC236}">
                <a16:creationId xmlns:a16="http://schemas.microsoft.com/office/drawing/2014/main" id="{E91B93AF-8AD9-49FC-A907-9F20A2195465}"/>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Semantic = meaning · search = find information</a:t>
            </a:r>
          </a:p>
        </p:txBody>
      </p:sp>
      <p:sp>
        <p:nvSpPr>
          <p:cNvPr id="6" name="Rounded Rectangle 5">
            <a:extLst xmlns:a="http://schemas.openxmlformats.org/drawingml/2006/main">
              <a:ext uri="{FF2B5EF4-FFF2-40B4-BE49-F238E27FC236}">
                <a16:creationId xmlns:a16="http://schemas.microsoft.com/office/drawing/2014/main" id="{AEDFE609-DDE4-436A-A643-F1246C2EDBB2}"/>
              </a:ext>
            </a:extLst>
          </p:cNvPr>
          <p:cNvSpPr>
            <a:spLocks xmlns:a="http://schemas.openxmlformats.org/drawingml/2006/main" noGrp="1"/>
          </p:cNvSpPr>
          <p:nvPr/>
        </p:nvSpPr>
        <p:spPr>
          <a:xfrm xmlns:a="http://schemas.openxmlformats.org/drawingml/2006/main">
            <a:off x="54864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67CEA1D-CB77-4D71-A713-4610A299BDB5}"/>
              </a:ext>
            </a:extLst>
          </p:cNvPr>
          <p:cNvSpPr>
            <a:spLocks xmlns:a="http://schemas.openxmlformats.org/drawingml/2006/main" noGrp="1"/>
          </p:cNvSpPr>
          <p:nvPr/>
        </p:nvSpPr>
        <p:spPr>
          <a:xfrm xmlns:a="http://schemas.openxmlformats.org/drawingml/2006/main">
            <a:off x="548640" y="2560320"/>
            <a:ext cx="252603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8362B46-21B6-48B9-80AE-7216175F1E7A}"/>
              </a:ext>
            </a:extLst>
          </p:cNvPr>
          <p:cNvSpPr>
            <a:spLocks xmlns:a="http://schemas.openxmlformats.org/drawingml/2006/main" noGrp="1"/>
          </p:cNvSpPr>
          <p:nvPr/>
        </p:nvSpPr>
        <p:spPr>
          <a:xfrm xmlns:a="http://schemas.openxmlformats.org/drawingml/2006/main">
            <a:off x="75895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QUESTION</a:t>
            </a:r>
          </a:p>
        </p:txBody>
      </p:sp>
      <p:sp>
        <p:nvSpPr>
          <p:cNvPr id="9" name="TextBox 8">
            <a:extLst xmlns:a="http://schemas.openxmlformats.org/drawingml/2006/main">
              <a:ext uri="{FF2B5EF4-FFF2-40B4-BE49-F238E27FC236}">
                <a16:creationId xmlns:a16="http://schemas.microsoft.com/office/drawing/2014/main" id="{63FAA608-4E2E-4CFB-BFAF-2F82BB5820BB}"/>
              </a:ext>
            </a:extLst>
          </p:cNvPr>
          <p:cNvSpPr>
            <a:spLocks xmlns:a="http://schemas.openxmlformats.org/drawingml/2006/main" noGrp="1"/>
          </p:cNvSpPr>
          <p:nvPr/>
        </p:nvSpPr>
        <p:spPr>
          <a:xfrm xmlns:a="http://schemas.openxmlformats.org/drawingml/2006/main">
            <a:off x="75895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Different customer wording</a:t>
            </a:r>
          </a:p>
        </p:txBody>
      </p:sp>
      <p:sp>
        <p:nvSpPr>
          <p:cNvPr id="10" name="Chevron 9">
            <a:extLst xmlns:a="http://schemas.openxmlformats.org/drawingml/2006/main">
              <a:ext uri="{FF2B5EF4-FFF2-40B4-BE49-F238E27FC236}">
                <a16:creationId xmlns:a16="http://schemas.microsoft.com/office/drawing/2014/main" id="{66C3FB0C-BC0D-4C38-922B-A90A78BD0C9C}"/>
              </a:ext>
            </a:extLst>
          </p:cNvPr>
          <p:cNvSpPr>
            <a:spLocks xmlns:a="http://schemas.openxmlformats.org/drawingml/2006/main" noGrp="1"/>
          </p:cNvSpPr>
          <p:nvPr/>
        </p:nvSpPr>
        <p:spPr>
          <a:xfrm xmlns:a="http://schemas.openxmlformats.org/drawingml/2006/main">
            <a:off x="312496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0DEF601E-2783-485A-BCD2-C0A97AE29B5B}"/>
              </a:ext>
            </a:extLst>
          </p:cNvPr>
          <p:cNvSpPr>
            <a:spLocks xmlns:a="http://schemas.openxmlformats.org/drawingml/2006/main" noGrp="1"/>
          </p:cNvSpPr>
          <p:nvPr/>
        </p:nvSpPr>
        <p:spPr>
          <a:xfrm xmlns:a="http://schemas.openxmlformats.org/drawingml/2006/main">
            <a:off x="339471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3A237554-B908-4523-A22A-510CFF3A178B}"/>
              </a:ext>
            </a:extLst>
          </p:cNvPr>
          <p:cNvSpPr>
            <a:spLocks xmlns:a="http://schemas.openxmlformats.org/drawingml/2006/main" noGrp="1"/>
          </p:cNvSpPr>
          <p:nvPr/>
        </p:nvSpPr>
        <p:spPr>
          <a:xfrm xmlns:a="http://schemas.openxmlformats.org/drawingml/2006/main">
            <a:off x="3394710" y="2560320"/>
            <a:ext cx="252603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6305C81-286A-42FD-B323-DE7CDE58629C}"/>
              </a:ext>
            </a:extLst>
          </p:cNvPr>
          <p:cNvSpPr>
            <a:spLocks xmlns:a="http://schemas.openxmlformats.org/drawingml/2006/main" noGrp="1"/>
          </p:cNvSpPr>
          <p:nvPr/>
        </p:nvSpPr>
        <p:spPr>
          <a:xfrm xmlns:a="http://schemas.openxmlformats.org/drawingml/2006/main">
            <a:off x="360502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NUMBERS</a:t>
            </a:r>
          </a:p>
        </p:txBody>
      </p:sp>
      <p:sp>
        <p:nvSpPr>
          <p:cNvPr id="14" name="TextBox 13">
            <a:extLst xmlns:a="http://schemas.openxmlformats.org/drawingml/2006/main">
              <a:ext uri="{FF2B5EF4-FFF2-40B4-BE49-F238E27FC236}">
                <a16:creationId xmlns:a16="http://schemas.microsoft.com/office/drawing/2014/main" id="{889AD842-7A50-47A8-BAB5-FCC6B1616F1F}"/>
              </a:ext>
            </a:extLst>
          </p:cNvPr>
          <p:cNvSpPr>
            <a:spLocks xmlns:a="http://schemas.openxmlformats.org/drawingml/2006/main" noGrp="1"/>
          </p:cNvSpPr>
          <p:nvPr/>
        </p:nvSpPr>
        <p:spPr>
          <a:xfrm xmlns:a="http://schemas.openxmlformats.org/drawingml/2006/main">
            <a:off x="360502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Embedding vectors</a:t>
            </a:r>
          </a:p>
        </p:txBody>
      </p:sp>
      <p:sp>
        <p:nvSpPr>
          <p:cNvPr id="15" name="Chevron 14">
            <a:extLst xmlns:a="http://schemas.openxmlformats.org/drawingml/2006/main">
              <a:ext uri="{FF2B5EF4-FFF2-40B4-BE49-F238E27FC236}">
                <a16:creationId xmlns:a16="http://schemas.microsoft.com/office/drawing/2014/main" id="{248C74DE-B640-4161-9A25-3E42E23B5E2F}"/>
              </a:ext>
            </a:extLst>
          </p:cNvPr>
          <p:cNvSpPr>
            <a:spLocks xmlns:a="http://schemas.openxmlformats.org/drawingml/2006/main" noGrp="1"/>
          </p:cNvSpPr>
          <p:nvPr/>
        </p:nvSpPr>
        <p:spPr>
          <a:xfrm xmlns:a="http://schemas.openxmlformats.org/drawingml/2006/main">
            <a:off x="597103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ounded Rectangle 15">
            <a:extLst xmlns:a="http://schemas.openxmlformats.org/drawingml/2006/main">
              <a:ext uri="{FF2B5EF4-FFF2-40B4-BE49-F238E27FC236}">
                <a16:creationId xmlns:a16="http://schemas.microsoft.com/office/drawing/2014/main" id="{D8A4295F-7D84-4F34-95A8-4D07917F6DEA}"/>
              </a:ext>
            </a:extLst>
          </p:cNvPr>
          <p:cNvSpPr>
            <a:spLocks xmlns:a="http://schemas.openxmlformats.org/drawingml/2006/main" noGrp="1"/>
          </p:cNvSpPr>
          <p:nvPr/>
        </p:nvSpPr>
        <p:spPr>
          <a:xfrm xmlns:a="http://schemas.openxmlformats.org/drawingml/2006/main">
            <a:off x="624078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8A2BBC2D-97EA-4E75-9539-7A653C9077CC}"/>
              </a:ext>
            </a:extLst>
          </p:cNvPr>
          <p:cNvSpPr>
            <a:spLocks xmlns:a="http://schemas.openxmlformats.org/drawingml/2006/main" noGrp="1"/>
          </p:cNvSpPr>
          <p:nvPr/>
        </p:nvSpPr>
        <p:spPr>
          <a:xfrm xmlns:a="http://schemas.openxmlformats.org/drawingml/2006/main">
            <a:off x="6240780" y="2560320"/>
            <a:ext cx="252603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38FC976E-BAA7-4BFD-B283-ACE9CCBC221D}"/>
              </a:ext>
            </a:extLst>
          </p:cNvPr>
          <p:cNvSpPr>
            <a:spLocks xmlns:a="http://schemas.openxmlformats.org/drawingml/2006/main" noGrp="1"/>
          </p:cNvSpPr>
          <p:nvPr/>
        </p:nvSpPr>
        <p:spPr>
          <a:xfrm xmlns:a="http://schemas.openxmlformats.org/drawingml/2006/main">
            <a:off x="645109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COMPARE</a:t>
            </a:r>
          </a:p>
        </p:txBody>
      </p:sp>
      <p:sp>
        <p:nvSpPr>
          <p:cNvPr id="19" name="TextBox 18">
            <a:extLst xmlns:a="http://schemas.openxmlformats.org/drawingml/2006/main">
              <a:ext uri="{FF2B5EF4-FFF2-40B4-BE49-F238E27FC236}">
                <a16:creationId xmlns:a16="http://schemas.microsoft.com/office/drawing/2014/main" id="{CD61F220-1E5E-4497-99F4-790CD269C1B4}"/>
              </a:ext>
            </a:extLst>
          </p:cNvPr>
          <p:cNvSpPr>
            <a:spLocks xmlns:a="http://schemas.openxmlformats.org/drawingml/2006/main" noGrp="1"/>
          </p:cNvSpPr>
          <p:nvPr/>
        </p:nvSpPr>
        <p:spPr>
          <a:xfrm xmlns:a="http://schemas.openxmlformats.org/drawingml/2006/main">
            <a:off x="645109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Cosine similarity</a:t>
            </a:r>
          </a:p>
        </p:txBody>
      </p:sp>
      <p:sp>
        <p:nvSpPr>
          <p:cNvPr id="20" name="Chevron 19">
            <a:extLst xmlns:a="http://schemas.openxmlformats.org/drawingml/2006/main">
              <a:ext uri="{FF2B5EF4-FFF2-40B4-BE49-F238E27FC236}">
                <a16:creationId xmlns:a16="http://schemas.microsoft.com/office/drawing/2014/main" id="{64EF3DBB-3E67-497D-AA58-38BDDBEE678E}"/>
              </a:ext>
            </a:extLst>
          </p:cNvPr>
          <p:cNvSpPr>
            <a:spLocks xmlns:a="http://schemas.openxmlformats.org/drawingml/2006/main" noGrp="1"/>
          </p:cNvSpPr>
          <p:nvPr/>
        </p:nvSpPr>
        <p:spPr>
          <a:xfrm xmlns:a="http://schemas.openxmlformats.org/drawingml/2006/main">
            <a:off x="8817102" y="3730752"/>
            <a:ext cx="228600" cy="320040"/>
          </a:xfrm>
          <a:prstGeom xmlns:a="http://schemas.openxmlformats.org/drawingml/2006/main" prst="chevron">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ounded Rectangle 20">
            <a:extLst xmlns:a="http://schemas.openxmlformats.org/drawingml/2006/main">
              <a:ext uri="{FF2B5EF4-FFF2-40B4-BE49-F238E27FC236}">
                <a16:creationId xmlns:a16="http://schemas.microsoft.com/office/drawing/2014/main" id="{1D63EB39-F001-4CC8-BA72-5749CDAFC243}"/>
              </a:ext>
            </a:extLst>
          </p:cNvPr>
          <p:cNvSpPr>
            <a:spLocks xmlns:a="http://schemas.openxmlformats.org/drawingml/2006/main" noGrp="1"/>
          </p:cNvSpPr>
          <p:nvPr/>
        </p:nvSpPr>
        <p:spPr>
          <a:xfrm xmlns:a="http://schemas.openxmlformats.org/drawingml/2006/main">
            <a:off x="9086850" y="2560320"/>
            <a:ext cx="252603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359672C6-B110-45B6-95F4-359E42DC1343}"/>
              </a:ext>
            </a:extLst>
          </p:cNvPr>
          <p:cNvSpPr>
            <a:spLocks xmlns:a="http://schemas.openxmlformats.org/drawingml/2006/main" noGrp="1"/>
          </p:cNvSpPr>
          <p:nvPr/>
        </p:nvSpPr>
        <p:spPr>
          <a:xfrm xmlns:a="http://schemas.openxmlformats.org/drawingml/2006/main">
            <a:off x="9086850" y="2560320"/>
            <a:ext cx="252603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D94108D8-D0F5-4CBD-80A0-090AD5F729A5}"/>
              </a:ext>
            </a:extLst>
          </p:cNvPr>
          <p:cNvSpPr>
            <a:spLocks xmlns:a="http://schemas.openxmlformats.org/drawingml/2006/main" noGrp="1"/>
          </p:cNvSpPr>
          <p:nvPr/>
        </p:nvSpPr>
        <p:spPr>
          <a:xfrm xmlns:a="http://schemas.openxmlformats.org/drawingml/2006/main">
            <a:off x="9297162" y="2825496"/>
            <a:ext cx="210540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FOUND TEXT</a:t>
            </a:r>
          </a:p>
        </p:txBody>
      </p:sp>
      <p:sp>
        <p:nvSpPr>
          <p:cNvPr id="24" name="TextBox 23">
            <a:extLst xmlns:a="http://schemas.openxmlformats.org/drawingml/2006/main">
              <a:ext uri="{FF2B5EF4-FFF2-40B4-BE49-F238E27FC236}">
                <a16:creationId xmlns:a16="http://schemas.microsoft.com/office/drawing/2014/main" id="{98656259-92A4-4E63-A92C-C995DA6883F8}"/>
              </a:ext>
            </a:extLst>
          </p:cNvPr>
          <p:cNvSpPr>
            <a:spLocks xmlns:a="http://schemas.openxmlformats.org/drawingml/2006/main" noGrp="1"/>
          </p:cNvSpPr>
          <p:nvPr/>
        </p:nvSpPr>
        <p:spPr>
          <a:xfrm xmlns:a="http://schemas.openxmlformats.org/drawingml/2006/main">
            <a:off x="9297162" y="3657600"/>
            <a:ext cx="210540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Closest saved policy</a:t>
            </a:r>
          </a:p>
        </p:txBody>
      </p:sp>
      <p:sp>
        <p:nvSpPr>
          <p:cNvPr id="25" name="TextBox 24">
            <a:extLst xmlns:a="http://schemas.openxmlformats.org/drawingml/2006/main">
              <a:ext uri="{FF2B5EF4-FFF2-40B4-BE49-F238E27FC236}">
                <a16:creationId xmlns:a16="http://schemas.microsoft.com/office/drawing/2014/main" id="{CE683CB7-A630-4681-ACAE-21DD4DAACF1D}"/>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26" name="TextBox 25">
            <a:extLst xmlns:a="http://schemas.openxmlformats.org/drawingml/2006/main">
              <a:ext uri="{FF2B5EF4-FFF2-40B4-BE49-F238E27FC236}">
                <a16:creationId xmlns:a16="http://schemas.microsoft.com/office/drawing/2014/main" id="{ADFE1519-43B9-4789-89EF-4F1A4A178C21}"/>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32</a:t>
            </a:r>
            <a:r>
              <a:t>/56</a:t>
            </a:r>
          </a:p>
        </p:txBody>
      </p:sp>
    </p:spTree>
    <p:extLst>
      <p:ext uri="{BB962C8B-B14F-4D97-AF65-F5344CB8AC3E}">
        <p14:creationId xmlns:p14="http://schemas.microsoft.com/office/powerpoint/2010/main" val="19368121"/>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09826C-51B8-4FC4-83A9-20F93D1AD3D3}"/>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DA3E94F-96B3-49F9-ACA7-9E54B5EC305B}"/>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85AB6C56-047E-4801-8F52-82549D3CD69E}"/>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Turn our steps into one small function</a:t>
            </a:r>
          </a:p>
        </p:txBody>
      </p:sp>
      <p:sp>
        <p:nvSpPr>
          <p:cNvPr id="5" name="TextBox 4">
            <a:extLst xmlns:a="http://schemas.openxmlformats.org/drawingml/2006/main">
              <a:ext uri="{FF2B5EF4-FFF2-40B4-BE49-F238E27FC236}">
                <a16:creationId xmlns:a16="http://schemas.microsoft.com/office/drawing/2014/main" id="{03A2F55E-CD84-4A77-8B0F-1AF71108BEFA}"/>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Practice C6 · Every line has already been taught</a:t>
            </a:r>
          </a:p>
        </p:txBody>
      </p:sp>
      <p:sp>
        <p:nvSpPr>
          <p:cNvPr id="6" name="Rounded Rectangle 5">
            <a:extLst xmlns:a="http://schemas.openxmlformats.org/drawingml/2006/main">
              <a:ext uri="{FF2B5EF4-FFF2-40B4-BE49-F238E27FC236}">
                <a16:creationId xmlns:a16="http://schemas.microsoft.com/office/drawing/2014/main" id="{433A903F-508F-457E-A2E6-100E79392062}"/>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8646B5D0-5C08-447F-8B5E-674F7BEFD6C3}"/>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5CD1522-9C4F-4E13-B253-59AFBC0D53CC}"/>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INPUT</a:t>
            </a:r>
          </a:p>
        </p:txBody>
      </p:sp>
      <p:sp>
        <p:nvSpPr>
          <p:cNvPr id="9" name="TextBox 8">
            <a:extLst xmlns:a="http://schemas.openxmlformats.org/drawingml/2006/main">
              <a:ext uri="{FF2B5EF4-FFF2-40B4-BE49-F238E27FC236}">
                <a16:creationId xmlns:a16="http://schemas.microsoft.com/office/drawing/2014/main" id="{259B7F15-ACB5-4DFA-B475-C802CD683484}"/>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search_parcel_information(question)</a:t>
            </a:r>
          </a:p>
        </p:txBody>
      </p:sp>
      <p:sp>
        <p:nvSpPr>
          <p:cNvPr id="10" name="Rounded Rectangle 9">
            <a:extLst xmlns:a="http://schemas.openxmlformats.org/drawingml/2006/main">
              <a:ext uri="{FF2B5EF4-FFF2-40B4-BE49-F238E27FC236}">
                <a16:creationId xmlns:a16="http://schemas.microsoft.com/office/drawing/2014/main" id="{E68D698C-2050-432B-B6F7-CC8E29EC8C51}"/>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4342B19A-5EB3-4E4C-8F55-9020B93B06CE}"/>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5E8777D-691B-4182-A3F0-2626A85C6C30}"/>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OUTPUT</a:t>
            </a:r>
          </a:p>
        </p:txBody>
      </p:sp>
      <p:sp>
        <p:nvSpPr>
          <p:cNvPr id="13" name="TextBox 12">
            <a:extLst xmlns:a="http://schemas.openxmlformats.org/drawingml/2006/main">
              <a:ext uri="{FF2B5EF4-FFF2-40B4-BE49-F238E27FC236}">
                <a16:creationId xmlns:a16="http://schemas.microsoft.com/office/drawing/2014/main" id="{E20F34BA-D7EE-4E3C-B101-B614471C18AF}"/>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Closest saved policy + its score</a:t>
            </a:r>
          </a:p>
        </p:txBody>
      </p:sp>
      <p:sp>
        <p:nvSpPr>
          <p:cNvPr id="14" name="TextBox 13">
            <a:extLst xmlns:a="http://schemas.openxmlformats.org/drawingml/2006/main">
              <a:ext uri="{FF2B5EF4-FFF2-40B4-BE49-F238E27FC236}">
                <a16:creationId xmlns:a16="http://schemas.microsoft.com/office/drawing/2014/main" id="{73560CE7-C0D0-4DAF-ABDE-3440AEF376CF}"/>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E8FDD938-DAE6-468E-B8A2-C2AEFD381151}"/>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33</a:t>
            </a:r>
            <a:r>
              <a:t>/56</a:t>
            </a:r>
          </a:p>
        </p:txBody>
      </p:sp>
    </p:spTree>
    <p:extLst>
      <p:ext uri="{BB962C8B-B14F-4D97-AF65-F5344CB8AC3E}">
        <p14:creationId xmlns:p14="http://schemas.microsoft.com/office/powerpoint/2010/main" val="2073071239"/>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A789C38-3EED-4311-867F-6863E1B1A7F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CE1BEDF-9B14-4B16-BFCF-A904665C950D}"/>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2FD6A247-58BE-43CD-A740-768AFD7EEE5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What improved from Module 4?</a:t>
            </a:r>
          </a:p>
        </p:txBody>
      </p:sp>
      <p:sp>
        <p:nvSpPr>
          <p:cNvPr id="5" name="TextBox 4">
            <a:extLst xmlns:a="http://schemas.openxmlformats.org/drawingml/2006/main">
              <a:ext uri="{FF2B5EF4-FFF2-40B4-BE49-F238E27FC236}">
                <a16:creationId xmlns:a16="http://schemas.microsoft.com/office/drawing/2014/main" id="{C8750195-7153-4A34-B41E-54A4059841B2}"/>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We added a new ability without changing parcel ID lookup</a:t>
            </a:r>
          </a:p>
        </p:txBody>
      </p:sp>
      <p:sp>
        <p:nvSpPr>
          <p:cNvPr id="6" name="Rounded Rectangle 5">
            <a:extLst xmlns:a="http://schemas.openxmlformats.org/drawingml/2006/main">
              <a:ext uri="{FF2B5EF4-FFF2-40B4-BE49-F238E27FC236}">
                <a16:creationId xmlns:a16="http://schemas.microsoft.com/office/drawing/2014/main" id="{B6B3E8EF-9C22-4986-A53F-513619E8F5B7}"/>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5C097912-C8F6-4CBC-9E03-A2F81168C8E4}"/>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C08DD06F-78B9-4820-97BE-3E4AA13EC858}"/>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“Where is PK101?”</a:t>
            </a:r>
          </a:p>
        </p:txBody>
      </p:sp>
      <p:sp>
        <p:nvSpPr>
          <p:cNvPr id="9" name="TextBox 8">
            <a:extLst xmlns:a="http://schemas.openxmlformats.org/drawingml/2006/main">
              <a:ext uri="{FF2B5EF4-FFF2-40B4-BE49-F238E27FC236}">
                <a16:creationId xmlns:a16="http://schemas.microsoft.com/office/drawing/2014/main" id="{CAF3E822-0C95-40FB-88C2-5B1A98A7624E}"/>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Use the original exact lookup</a:t>
            </a:r>
          </a:p>
        </p:txBody>
      </p:sp>
      <p:sp>
        <p:nvSpPr>
          <p:cNvPr id="10" name="Rounded Rectangle 9">
            <a:extLst xmlns:a="http://schemas.openxmlformats.org/drawingml/2006/main">
              <a:ext uri="{FF2B5EF4-FFF2-40B4-BE49-F238E27FC236}">
                <a16:creationId xmlns:a16="http://schemas.microsoft.com/office/drawing/2014/main" id="{77114DA6-BB4C-47BF-9F43-ABC987A623B3}"/>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618D476F-459B-4C4F-AEF5-714B898A9F73}"/>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5A650B6-9EA3-41F3-8964-343EA003A622}"/>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“Can I pay on arrival?”</a:t>
            </a:r>
          </a:p>
        </p:txBody>
      </p:sp>
      <p:sp>
        <p:nvSpPr>
          <p:cNvPr id="13" name="TextBox 12">
            <a:extLst xmlns:a="http://schemas.openxmlformats.org/drawingml/2006/main">
              <a:ext uri="{FF2B5EF4-FFF2-40B4-BE49-F238E27FC236}">
                <a16:creationId xmlns:a16="http://schemas.microsoft.com/office/drawing/2014/main" id="{E01C966E-7DA8-42BE-802E-D78569BE1419}"/>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Search the written payment information</a:t>
            </a:r>
          </a:p>
        </p:txBody>
      </p:sp>
      <p:sp>
        <p:nvSpPr>
          <p:cNvPr id="14" name="TextBox 13">
            <a:extLst xmlns:a="http://schemas.openxmlformats.org/drawingml/2006/main">
              <a:ext uri="{FF2B5EF4-FFF2-40B4-BE49-F238E27FC236}">
                <a16:creationId xmlns:a16="http://schemas.microsoft.com/office/drawing/2014/main" id="{ECCAF382-AD34-41EA-8A5A-DB9808F33AAE}"/>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C39A7456-43F2-4250-B040-F34EA9942F9F}"/>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34</a:t>
            </a:r>
            <a:r>
              <a:t>/56</a:t>
            </a:r>
          </a:p>
        </p:txBody>
      </p:sp>
    </p:spTree>
    <p:extLst>
      <p:ext uri="{BB962C8B-B14F-4D97-AF65-F5344CB8AC3E}">
        <p14:creationId xmlns:p14="http://schemas.microsoft.com/office/powerpoint/2010/main" val="1365012055"/>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435E816-08EF-4A3B-9370-7F43530E9F7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C1A453A-5A80-43E2-AA05-036D30ED9077}"/>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9A67F967-80F8-45C7-80E8-5E8B07285231}"/>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One important limitation</a:t>
            </a:r>
          </a:p>
        </p:txBody>
      </p:sp>
      <p:sp>
        <p:nvSpPr>
          <p:cNvPr id="5" name="TextBox 4">
            <a:extLst xmlns:a="http://schemas.openxmlformats.org/drawingml/2006/main">
              <a:ext uri="{FF2B5EF4-FFF2-40B4-BE49-F238E27FC236}">
                <a16:creationId xmlns:a16="http://schemas.microsoft.com/office/drawing/2014/main" id="{12D9041D-7FB7-4ACD-8CD8-BE5985C2FD72}"/>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Closest does not always mean useful</a:t>
            </a:r>
          </a:p>
        </p:txBody>
      </p:sp>
      <p:sp>
        <p:nvSpPr>
          <p:cNvPr id="6" name="Rounded Rectangle 5">
            <a:extLst xmlns:a="http://schemas.openxmlformats.org/drawingml/2006/main">
              <a:ext uri="{FF2B5EF4-FFF2-40B4-BE49-F238E27FC236}">
                <a16:creationId xmlns:a16="http://schemas.microsoft.com/office/drawing/2014/main" id="{8ABB78BF-232C-4C81-956C-137A9ACA5B2A}"/>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0ABA4418-5CDE-4210-AD4D-16DE76C98F81}"/>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715E395-6794-4F29-AE6F-55F02C90C644}"/>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UNRELATED QUESTION</a:t>
            </a:r>
          </a:p>
        </p:txBody>
      </p:sp>
      <p:sp>
        <p:nvSpPr>
          <p:cNvPr id="9" name="TextBox 8">
            <a:extLst xmlns:a="http://schemas.openxmlformats.org/drawingml/2006/main">
              <a:ext uri="{FF2B5EF4-FFF2-40B4-BE49-F238E27FC236}">
                <a16:creationId xmlns:a16="http://schemas.microsoft.com/office/drawing/2014/main" id="{E0AED4F2-2D1B-4647-AA0E-7D9C8651C3DA}"/>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“How do I cook biryani?”</a:t>
            </a:r>
          </a:p>
        </p:txBody>
      </p:sp>
      <p:sp>
        <p:nvSpPr>
          <p:cNvPr id="10" name="Rounded Rectangle 9">
            <a:extLst xmlns:a="http://schemas.openxmlformats.org/drawingml/2006/main">
              <a:ext uri="{FF2B5EF4-FFF2-40B4-BE49-F238E27FC236}">
                <a16:creationId xmlns:a16="http://schemas.microsoft.com/office/drawing/2014/main" id="{FFA685FF-805C-4F04-A676-0E980B884EBA}"/>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64072C80-3086-4245-BDF9-87756D1F4A55}"/>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ABF08A1-1076-43FB-A0DE-B2CF1A845FC1}"/>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SEARCH STILL FINDS</a:t>
            </a:r>
          </a:p>
        </p:txBody>
      </p:sp>
      <p:sp>
        <p:nvSpPr>
          <p:cNvPr id="13" name="TextBox 12">
            <a:extLst xmlns:a="http://schemas.openxmlformats.org/drawingml/2006/main">
              <a:ext uri="{FF2B5EF4-FFF2-40B4-BE49-F238E27FC236}">
                <a16:creationId xmlns:a16="http://schemas.microsoft.com/office/drawing/2014/main" id="{910E5646-253E-4DED-B8E6-C0CDD08DCEF0}"/>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The closest of our three policies</a:t>
            </a:r>
          </a:p>
        </p:txBody>
      </p:sp>
      <p:sp>
        <p:nvSpPr>
          <p:cNvPr id="14" name="TextBox 13">
            <a:extLst xmlns:a="http://schemas.openxmlformats.org/drawingml/2006/main">
              <a:ext uri="{FF2B5EF4-FFF2-40B4-BE49-F238E27FC236}">
                <a16:creationId xmlns:a16="http://schemas.microsoft.com/office/drawing/2014/main" id="{2965A4E0-5135-48ED-9173-48B7EF800C8A}"/>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71791035-1FA3-417A-9091-2F69D30A3FA9}"/>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35</a:t>
            </a:r>
            <a:r>
              <a:t>/56</a:t>
            </a:r>
          </a:p>
        </p:txBody>
      </p:sp>
    </p:spTree>
    <p:extLst>
      <p:ext uri="{BB962C8B-B14F-4D97-AF65-F5344CB8AC3E}">
        <p14:creationId xmlns:p14="http://schemas.microsoft.com/office/powerpoint/2010/main" val="1567598830"/>
      </p:ext>
    </p:extLst>
  </p:cSld>
</p:sld>
</file>

<file path=ppt/slides/slide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6BBEB01-F876-416E-B8CB-A0AE873842C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8B7A959-C789-4790-A5D2-6A9DBE58E7F0}"/>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EAB3E91E-CEDB-46B6-B7DA-963BAD8C6E91}"/>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Practice: change only one thing at a time</a:t>
            </a:r>
          </a:p>
        </p:txBody>
      </p:sp>
      <p:sp>
        <p:nvSpPr>
          <p:cNvPr id="5" name="TextBox 4">
            <a:extLst xmlns:a="http://schemas.openxmlformats.org/drawingml/2006/main">
              <a:ext uri="{FF2B5EF4-FFF2-40B4-BE49-F238E27FC236}">
                <a16:creationId xmlns:a16="http://schemas.microsoft.com/office/drawing/2014/main" id="{8DDD9A7D-AE7A-4800-A97A-2AB77A8B6CE0}"/>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Predict → run → read the saved answer</a:t>
            </a:r>
          </a:p>
        </p:txBody>
      </p:sp>
      <p:sp>
        <p:nvSpPr>
          <p:cNvPr id="6" name="Rounded Rectangle 5">
            <a:extLst xmlns:a="http://schemas.openxmlformats.org/drawingml/2006/main">
              <a:ext uri="{FF2B5EF4-FFF2-40B4-BE49-F238E27FC236}">
                <a16:creationId xmlns:a16="http://schemas.microsoft.com/office/drawing/2014/main" id="{48212860-0D05-4E5A-A390-8274A53C5812}"/>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500E7E83-C46A-4D41-923C-82B410CB4DB0}"/>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8C15B14-5628-4EE5-BAE3-BC52DEE109E5}"/>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1 · TIME</a:t>
            </a:r>
          </a:p>
        </p:txBody>
      </p:sp>
      <p:sp>
        <p:nvSpPr>
          <p:cNvPr id="9" name="TextBox 8">
            <a:extLst xmlns:a="http://schemas.openxmlformats.org/drawingml/2006/main">
              <a:ext uri="{FF2B5EF4-FFF2-40B4-BE49-F238E27FC236}">
                <a16:creationId xmlns:a16="http://schemas.microsoft.com/office/drawing/2014/main" id="{D0CF5AEB-3867-416C-9AAB-6DF30BB57DBC}"/>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How long will delivery take?</a:t>
            </a:r>
          </a:p>
        </p:txBody>
      </p:sp>
      <p:sp>
        <p:nvSpPr>
          <p:cNvPr id="10" name="Rounded Rectangle 9">
            <a:extLst xmlns:a="http://schemas.openxmlformats.org/drawingml/2006/main">
              <a:ext uri="{FF2B5EF4-FFF2-40B4-BE49-F238E27FC236}">
                <a16:creationId xmlns:a16="http://schemas.microsoft.com/office/drawing/2014/main" id="{BEFCE354-9127-46D9-A499-98B9EAEE4972}"/>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425C104A-E8C5-47AE-AE3D-BB2B3E4704F4}"/>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40A7041B-E0D6-4E31-B4C8-2EE3D0F46EA7}"/>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2 · PAYMENT</a:t>
            </a:r>
          </a:p>
        </p:txBody>
      </p:sp>
      <p:sp>
        <p:nvSpPr>
          <p:cNvPr id="13" name="TextBox 12">
            <a:extLst xmlns:a="http://schemas.openxmlformats.org/drawingml/2006/main">
              <a:ext uri="{FF2B5EF4-FFF2-40B4-BE49-F238E27FC236}">
                <a16:creationId xmlns:a16="http://schemas.microsoft.com/office/drawing/2014/main" id="{358BCB08-BB01-4111-B996-9AFC59817A80}"/>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Can I give cash to the rider?</a:t>
            </a:r>
          </a:p>
        </p:txBody>
      </p:sp>
      <p:sp>
        <p:nvSpPr>
          <p:cNvPr id="14" name="Rounded Rectangle 13">
            <a:extLst xmlns:a="http://schemas.openxmlformats.org/drawingml/2006/main">
              <a:ext uri="{FF2B5EF4-FFF2-40B4-BE49-F238E27FC236}">
                <a16:creationId xmlns:a16="http://schemas.microsoft.com/office/drawing/2014/main" id="{048609B4-2801-47E1-85E2-E864C098DDC9}"/>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863B0241-3C90-4779-8520-FDB7E20F5DB9}"/>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783A291A-9BC2-4F16-86D4-50CA9A704503}"/>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3 · DAMAGE</a:t>
            </a:r>
          </a:p>
        </p:txBody>
      </p:sp>
      <p:sp>
        <p:nvSpPr>
          <p:cNvPr id="17" name="TextBox 16">
            <a:extLst xmlns:a="http://schemas.openxmlformats.org/drawingml/2006/main">
              <a:ext uri="{FF2B5EF4-FFF2-40B4-BE49-F238E27FC236}">
                <a16:creationId xmlns:a16="http://schemas.microsoft.com/office/drawing/2014/main" id="{FA55C12E-9A5E-498E-A843-95B7851B91EB}"/>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My package is broken.</a:t>
            </a:r>
          </a:p>
        </p:txBody>
      </p:sp>
      <p:sp>
        <p:nvSpPr>
          <p:cNvPr id="18" name="TextBox 17">
            <a:extLst xmlns:a="http://schemas.openxmlformats.org/drawingml/2006/main">
              <a:ext uri="{FF2B5EF4-FFF2-40B4-BE49-F238E27FC236}">
                <a16:creationId xmlns:a16="http://schemas.microsoft.com/office/drawing/2014/main" id="{6E5E108F-1370-4150-82D2-17292B95E56D}"/>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9" name="TextBox 18">
            <a:extLst xmlns:a="http://schemas.openxmlformats.org/drawingml/2006/main">
              <a:ext uri="{FF2B5EF4-FFF2-40B4-BE49-F238E27FC236}">
                <a16:creationId xmlns:a16="http://schemas.microsoft.com/office/drawing/2014/main" id="{44581469-5692-41DE-B77E-D39849BE3D85}"/>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36</a:t>
            </a:r>
            <a:r>
              <a:t>/56</a:t>
            </a:r>
          </a:p>
        </p:txBody>
      </p:sp>
    </p:spTree>
    <p:extLst>
      <p:ext uri="{BB962C8B-B14F-4D97-AF65-F5344CB8AC3E}">
        <p14:creationId xmlns:p14="http://schemas.microsoft.com/office/powerpoint/2010/main" val="744886336"/>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6A28892-2FEF-4FD0-A712-235402629F09}"/>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7BA53CC-C2B7-44EA-8B00-DC6A3F3A02B7}"/>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67098691-066E-400C-91BD-89742656D84D}"/>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Can you explain the whole story?</a:t>
            </a:r>
          </a:p>
        </p:txBody>
      </p:sp>
      <p:sp>
        <p:nvSpPr>
          <p:cNvPr id="5" name="TextBox 4">
            <a:extLst xmlns:a="http://schemas.openxmlformats.org/drawingml/2006/main">
              <a:ext uri="{FF2B5EF4-FFF2-40B4-BE49-F238E27FC236}">
                <a16:creationId xmlns:a16="http://schemas.microsoft.com/office/drawing/2014/main" id="{FBF0B937-0C36-46E3-A50A-C0137FFE1562}"/>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Use your own words; English or Roman Urdu</a:t>
            </a:r>
          </a:p>
        </p:txBody>
      </p:sp>
      <p:sp>
        <p:nvSpPr>
          <p:cNvPr id="6" name="Rounded Rectangle 5">
            <a:extLst xmlns:a="http://schemas.openxmlformats.org/drawingml/2006/main">
              <a:ext uri="{FF2B5EF4-FFF2-40B4-BE49-F238E27FC236}">
                <a16:creationId xmlns:a16="http://schemas.microsoft.com/office/drawing/2014/main" id="{9870621D-0C2D-4A26-A15C-A7C3E61EA0E4}"/>
              </a:ext>
            </a:extLst>
          </p:cNvPr>
          <p:cNvSpPr>
            <a:spLocks xmlns:a="http://schemas.openxmlformats.org/drawingml/2006/main" noGrp="1"/>
          </p:cNvSpPr>
          <p:nvPr/>
        </p:nvSpPr>
        <p:spPr>
          <a:xfrm xmlns:a="http://schemas.openxmlformats.org/drawingml/2006/main">
            <a:off x="54864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BE87A476-5298-42BB-B333-75D5CC624464}"/>
              </a:ext>
            </a:extLst>
          </p:cNvPr>
          <p:cNvSpPr>
            <a:spLocks xmlns:a="http://schemas.openxmlformats.org/drawingml/2006/main" noGrp="1"/>
          </p:cNvSpPr>
          <p:nvPr/>
        </p:nvSpPr>
        <p:spPr>
          <a:xfrm xmlns:a="http://schemas.openxmlformats.org/drawingml/2006/main">
            <a:off x="548640" y="2560320"/>
            <a:ext cx="347472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D9867AF-084B-4151-83B2-53E027C53AD7}"/>
              </a:ext>
            </a:extLst>
          </p:cNvPr>
          <p:cNvSpPr>
            <a:spLocks xmlns:a="http://schemas.openxmlformats.org/drawingml/2006/main" noGrp="1"/>
          </p:cNvSpPr>
          <p:nvPr/>
        </p:nvSpPr>
        <p:spPr>
          <a:xfrm xmlns:a="http://schemas.openxmlformats.org/drawingml/2006/main">
            <a:off x="75895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VECTOR</a:t>
            </a:r>
          </a:p>
        </p:txBody>
      </p:sp>
      <p:sp>
        <p:nvSpPr>
          <p:cNvPr id="9" name="TextBox 8">
            <a:extLst xmlns:a="http://schemas.openxmlformats.org/drawingml/2006/main">
              <a:ext uri="{FF2B5EF4-FFF2-40B4-BE49-F238E27FC236}">
                <a16:creationId xmlns:a16="http://schemas.microsoft.com/office/drawing/2014/main" id="{89222173-3DD4-4B84-8129-732D8A2183F7}"/>
              </a:ext>
            </a:extLst>
          </p:cNvPr>
          <p:cNvSpPr>
            <a:spLocks xmlns:a="http://schemas.openxmlformats.org/drawingml/2006/main" noGrp="1"/>
          </p:cNvSpPr>
          <p:nvPr/>
        </p:nvSpPr>
        <p:spPr>
          <a:xfrm xmlns:a="http://schemas.openxmlformats.org/drawingml/2006/main">
            <a:off x="75895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Numbers in a list</a:t>
            </a:r>
          </a:p>
        </p:txBody>
      </p:sp>
      <p:sp>
        <p:nvSpPr>
          <p:cNvPr id="10" name="Rounded Rectangle 9">
            <a:extLst xmlns:a="http://schemas.openxmlformats.org/drawingml/2006/main">
              <a:ext uri="{FF2B5EF4-FFF2-40B4-BE49-F238E27FC236}">
                <a16:creationId xmlns:a16="http://schemas.microsoft.com/office/drawing/2014/main" id="{98C5CA81-1893-44F8-A1BE-B7610A6A76A0}"/>
              </a:ext>
            </a:extLst>
          </p:cNvPr>
          <p:cNvSpPr>
            <a:spLocks xmlns:a="http://schemas.openxmlformats.org/drawingml/2006/main" noGrp="1"/>
          </p:cNvSpPr>
          <p:nvPr/>
        </p:nvSpPr>
        <p:spPr>
          <a:xfrm xmlns:a="http://schemas.openxmlformats.org/drawingml/2006/main">
            <a:off x="434340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A1328BFF-E8E4-46C1-A71A-234FD2FF3AC4}"/>
              </a:ext>
            </a:extLst>
          </p:cNvPr>
          <p:cNvSpPr>
            <a:spLocks xmlns:a="http://schemas.openxmlformats.org/drawingml/2006/main" noGrp="1"/>
          </p:cNvSpPr>
          <p:nvPr/>
        </p:nvSpPr>
        <p:spPr>
          <a:xfrm xmlns:a="http://schemas.openxmlformats.org/drawingml/2006/main">
            <a:off x="4343400" y="2560320"/>
            <a:ext cx="347472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CB7ED21-C3B4-4A3D-AF67-73413B5C399C}"/>
              </a:ext>
            </a:extLst>
          </p:cNvPr>
          <p:cNvSpPr>
            <a:spLocks xmlns:a="http://schemas.openxmlformats.org/drawingml/2006/main" noGrp="1"/>
          </p:cNvSpPr>
          <p:nvPr/>
        </p:nvSpPr>
        <p:spPr>
          <a:xfrm xmlns:a="http://schemas.openxmlformats.org/drawingml/2006/main">
            <a:off x="455371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EMBEDDING</a:t>
            </a:r>
          </a:p>
        </p:txBody>
      </p:sp>
      <p:sp>
        <p:nvSpPr>
          <p:cNvPr id="13" name="TextBox 12">
            <a:extLst xmlns:a="http://schemas.openxmlformats.org/drawingml/2006/main">
              <a:ext uri="{FF2B5EF4-FFF2-40B4-BE49-F238E27FC236}">
                <a16:creationId xmlns:a16="http://schemas.microsoft.com/office/drawing/2014/main" id="{C93D79FF-E6E3-47AB-BC14-14A6A3833853}"/>
              </a:ext>
            </a:extLst>
          </p:cNvPr>
          <p:cNvSpPr>
            <a:spLocks xmlns:a="http://schemas.openxmlformats.org/drawingml/2006/main" noGrp="1"/>
          </p:cNvSpPr>
          <p:nvPr/>
        </p:nvSpPr>
        <p:spPr>
          <a:xfrm xmlns:a="http://schemas.openxmlformats.org/drawingml/2006/main">
            <a:off x="455371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Text represented by those numbers</a:t>
            </a:r>
          </a:p>
        </p:txBody>
      </p:sp>
      <p:sp>
        <p:nvSpPr>
          <p:cNvPr id="14" name="Rounded Rectangle 13">
            <a:extLst xmlns:a="http://schemas.openxmlformats.org/drawingml/2006/main">
              <a:ext uri="{FF2B5EF4-FFF2-40B4-BE49-F238E27FC236}">
                <a16:creationId xmlns:a16="http://schemas.microsoft.com/office/drawing/2014/main" id="{EB95AC3B-A0E6-4303-B141-B17CC789D3D3}"/>
              </a:ext>
            </a:extLst>
          </p:cNvPr>
          <p:cNvSpPr>
            <a:spLocks xmlns:a="http://schemas.openxmlformats.org/drawingml/2006/main" noGrp="1"/>
          </p:cNvSpPr>
          <p:nvPr/>
        </p:nvSpPr>
        <p:spPr>
          <a:xfrm xmlns:a="http://schemas.openxmlformats.org/drawingml/2006/main">
            <a:off x="8138160" y="2560320"/>
            <a:ext cx="347472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5DEA8273-7B29-4E6A-B621-2E720180FB53}"/>
              </a:ext>
            </a:extLst>
          </p:cNvPr>
          <p:cNvSpPr>
            <a:spLocks xmlns:a="http://schemas.openxmlformats.org/drawingml/2006/main" noGrp="1"/>
          </p:cNvSpPr>
          <p:nvPr/>
        </p:nvSpPr>
        <p:spPr>
          <a:xfrm xmlns:a="http://schemas.openxmlformats.org/drawingml/2006/main">
            <a:off x="8138160" y="2560320"/>
            <a:ext cx="3474720" cy="64008"/>
          </a:xfrm>
          <a:prstGeom xmlns:a="http://schemas.openxmlformats.org/drawingml/2006/main" prst="rect">
            <a:avLst/>
          </a:prstGeom>
          <a:solidFill xmlns:a="http://schemas.openxmlformats.org/drawingml/2006/main">
            <a:srgbClr val="D68A2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A405184C-1C51-48A2-ACD1-87F24B248AD2}"/>
              </a:ext>
            </a:extLst>
          </p:cNvPr>
          <p:cNvSpPr>
            <a:spLocks xmlns:a="http://schemas.openxmlformats.org/drawingml/2006/main" noGrp="1"/>
          </p:cNvSpPr>
          <p:nvPr/>
        </p:nvSpPr>
        <p:spPr>
          <a:xfrm xmlns:a="http://schemas.openxmlformats.org/drawingml/2006/main">
            <a:off x="8348472" y="2825496"/>
            <a:ext cx="305409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SEMANTIC SEARCH</a:t>
            </a:r>
          </a:p>
        </p:txBody>
      </p:sp>
      <p:sp>
        <p:nvSpPr>
          <p:cNvPr id="17" name="TextBox 16">
            <a:extLst xmlns:a="http://schemas.openxmlformats.org/drawingml/2006/main">
              <a:ext uri="{FF2B5EF4-FFF2-40B4-BE49-F238E27FC236}">
                <a16:creationId xmlns:a16="http://schemas.microsoft.com/office/drawing/2014/main" id="{7C47716D-0742-4BB4-8474-19F1AE02EC1A}"/>
              </a:ext>
            </a:extLst>
          </p:cNvPr>
          <p:cNvSpPr>
            <a:spLocks xmlns:a="http://schemas.openxmlformats.org/drawingml/2006/main" noGrp="1"/>
          </p:cNvSpPr>
          <p:nvPr/>
        </p:nvSpPr>
        <p:spPr>
          <a:xfrm xmlns:a="http://schemas.openxmlformats.org/drawingml/2006/main">
            <a:off x="8348472" y="3657600"/>
            <a:ext cx="305409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400" b="0">
                <a:solidFill>
                  <a:srgbClr val="172B46"/>
                </a:solidFill>
                <a:latin typeface="Aptos"/>
                <a:ea typeface="Aptos"/>
                <a:cs typeface="Aptos"/>
              </a:defRPr>
            </a:pPr>
            <a:r>
              <a:t>Find saved text by meaning</a:t>
            </a:r>
          </a:p>
        </p:txBody>
      </p:sp>
      <p:sp>
        <p:nvSpPr>
          <p:cNvPr id="18" name="TextBox 17">
            <a:extLst xmlns:a="http://schemas.openxmlformats.org/drawingml/2006/main">
              <a:ext uri="{FF2B5EF4-FFF2-40B4-BE49-F238E27FC236}">
                <a16:creationId xmlns:a16="http://schemas.microsoft.com/office/drawing/2014/main" id="{206C635F-DAA9-4497-9DDB-011FFB6A1CC7}"/>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9" name="TextBox 18">
            <a:extLst xmlns:a="http://schemas.openxmlformats.org/drawingml/2006/main">
              <a:ext uri="{FF2B5EF4-FFF2-40B4-BE49-F238E27FC236}">
                <a16:creationId xmlns:a16="http://schemas.microsoft.com/office/drawing/2014/main" id="{17133B0E-9AA6-4544-B5B0-598CFD49411F}"/>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37</a:t>
            </a:r>
            <a:r>
              <a:t>/56</a:t>
            </a:r>
          </a:p>
        </p:txBody>
      </p:sp>
    </p:spTree>
    <p:extLst>
      <p:ext uri="{BB962C8B-B14F-4D97-AF65-F5344CB8AC3E}">
        <p14:creationId xmlns:p14="http://schemas.microsoft.com/office/powerpoint/2010/main" val="972629905"/>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23BC704-50B8-4BE1-B8E1-3701AC6D2240}"/>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24DED50-7CB7-465C-9361-79ECB2CC4129}"/>
              </a:ext>
            </a:extLst>
          </p:cNvPr>
          <p:cNvSpPr>
            <a:spLocks xmlns:a="http://schemas.openxmlformats.org/drawingml/2006/main" noGrp="1"/>
          </p:cNvSpPr>
          <p:nvPr/>
        </p:nvSpPr>
        <p:spPr>
          <a:xfrm xmlns:a="http://schemas.openxmlformats.org/drawingml/2006/main">
            <a:off x="548640" y="274320"/>
            <a:ext cx="10972800" cy="27432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200" b="1">
                <a:solidFill>
                  <a:srgbClr val="087F8C"/>
                </a:solidFill>
                <a:latin typeface="Aptos"/>
                <a:ea typeface="Aptos"/>
                <a:cs typeface="Aptos"/>
              </a:defRPr>
            </a:pPr>
            <a:r>
              <a:t>BANO QABIL  /  MODULE 05  /  BEGINNER EDITION</a:t>
            </a:r>
          </a:p>
        </p:txBody>
      </p:sp>
      <p:sp>
        <p:nvSpPr>
          <p:cNvPr id="4" name="TextBox 3">
            <a:extLst xmlns:a="http://schemas.openxmlformats.org/drawingml/2006/main">
              <a:ext uri="{FF2B5EF4-FFF2-40B4-BE49-F238E27FC236}">
                <a16:creationId xmlns:a16="http://schemas.microsoft.com/office/drawing/2014/main" id="{E887ADA6-52A3-4687-B803-4FFCA26CBFA8}"/>
              </a:ext>
            </a:extLst>
          </p:cNvPr>
          <p:cNvSpPr>
            <a:spLocks xmlns:a="http://schemas.openxmlformats.org/drawingml/2006/main" noGrp="1"/>
          </p:cNvSpPr>
          <p:nvPr/>
        </p:nvSpPr>
        <p:spPr>
          <a:xfrm xmlns:a="http://schemas.openxmlformats.org/drawingml/2006/main">
            <a:off x="548640" y="822960"/>
            <a:ext cx="11064240" cy="713232"/>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3200" b="1">
                <a:solidFill>
                  <a:srgbClr val="172B46"/>
                </a:solidFill>
                <a:latin typeface="Aptos"/>
                <a:ea typeface="Aptos"/>
                <a:cs typeface="Aptos"/>
              </a:defRPr>
            </a:pPr>
            <a:r>
              <a:t>Teacher notes &amp; sources</a:t>
            </a:r>
          </a:p>
        </p:txBody>
      </p:sp>
      <p:sp>
        <p:nvSpPr>
          <p:cNvPr id="5" name="TextBox 4">
            <a:extLst xmlns:a="http://schemas.openxmlformats.org/drawingml/2006/main">
              <a:ext uri="{FF2B5EF4-FFF2-40B4-BE49-F238E27FC236}">
                <a16:creationId xmlns:a16="http://schemas.microsoft.com/office/drawing/2014/main" id="{34ECE6AB-6AE0-49EF-9EAD-F3B02F28CD8D}"/>
              </a:ext>
            </a:extLst>
          </p:cNvPr>
          <p:cNvSpPr>
            <a:spLocks xmlns:a="http://schemas.openxmlformats.org/drawingml/2006/main" noGrp="1"/>
          </p:cNvSpPr>
          <p:nvPr/>
        </p:nvSpPr>
        <p:spPr>
          <a:xfrm xmlns:a="http://schemas.openxmlformats.org/drawingml/2006/main">
            <a:off x="548640" y="1600200"/>
            <a:ext cx="10972800" cy="54864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0">
                <a:solidFill>
                  <a:srgbClr val="63738A"/>
                </a:solidFill>
                <a:latin typeface="Aptos"/>
                <a:ea typeface="Aptos"/>
                <a:cs typeface="Aptos"/>
              </a:defRPr>
            </a:pPr>
            <a:r>
              <a:t>Beginner scope · consistent examples · official references</a:t>
            </a:r>
          </a:p>
        </p:txBody>
      </p:sp>
      <p:sp>
        <p:nvSpPr>
          <p:cNvPr id="6" name="Rounded Rectangle 5">
            <a:extLst xmlns:a="http://schemas.openxmlformats.org/drawingml/2006/main">
              <a:ext uri="{FF2B5EF4-FFF2-40B4-BE49-F238E27FC236}">
                <a16:creationId xmlns:a16="http://schemas.microsoft.com/office/drawing/2014/main" id="{39205706-DF9D-4085-A3D2-72797E6AA54B}"/>
              </a:ext>
            </a:extLst>
          </p:cNvPr>
          <p:cNvSpPr>
            <a:spLocks xmlns:a="http://schemas.openxmlformats.org/drawingml/2006/main" noGrp="1"/>
          </p:cNvSpPr>
          <p:nvPr/>
        </p:nvSpPr>
        <p:spPr>
          <a:xfrm xmlns:a="http://schemas.openxmlformats.org/drawingml/2006/main">
            <a:off x="548640"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ACB857BC-AC93-411C-B113-79648F2623C8}"/>
              </a:ext>
            </a:extLst>
          </p:cNvPr>
          <p:cNvSpPr>
            <a:spLocks xmlns:a="http://schemas.openxmlformats.org/drawingml/2006/main" noGrp="1"/>
          </p:cNvSpPr>
          <p:nvPr/>
        </p:nvSpPr>
        <p:spPr>
          <a:xfrm xmlns:a="http://schemas.openxmlformats.org/drawingml/2006/main">
            <a:off x="548640" y="2560320"/>
            <a:ext cx="5372100" cy="64008"/>
          </a:xfrm>
          <a:prstGeom xmlns:a="http://schemas.openxmlformats.org/drawingml/2006/main" prst="rect">
            <a:avLst/>
          </a:prstGeom>
          <a:solidFill xmlns:a="http://schemas.openxmlformats.org/drawingml/2006/main">
            <a:srgbClr val="087F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8E8956B-7320-48D1-8FEB-B1CF2B404CB7}"/>
              </a:ext>
            </a:extLst>
          </p:cNvPr>
          <p:cNvSpPr>
            <a:spLocks xmlns:a="http://schemas.openxmlformats.org/drawingml/2006/main" noGrp="1"/>
          </p:cNvSpPr>
          <p:nvPr/>
        </p:nvSpPr>
        <p:spPr>
          <a:xfrm xmlns:a="http://schemas.openxmlformats.org/drawingml/2006/main">
            <a:off x="75895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THIS LESSON</a:t>
            </a:r>
          </a:p>
        </p:txBody>
      </p:sp>
      <p:sp>
        <p:nvSpPr>
          <p:cNvPr id="9" name="TextBox 8">
            <a:extLst xmlns:a="http://schemas.openxmlformats.org/drawingml/2006/main">
              <a:ext uri="{FF2B5EF4-FFF2-40B4-BE49-F238E27FC236}">
                <a16:creationId xmlns:a16="http://schemas.microsoft.com/office/drawing/2014/main" id="{D6735DBB-2361-4F78-985E-F3820A2AA5EC}"/>
              </a:ext>
            </a:extLst>
          </p:cNvPr>
          <p:cNvSpPr>
            <a:spLocks xmlns:a="http://schemas.openxmlformats.org/drawingml/2006/main" noGrp="1"/>
          </p:cNvSpPr>
          <p:nvPr/>
        </p:nvSpPr>
        <p:spPr>
          <a:xfrm xmlns:a="http://schemas.openxmlformats.org/drawingml/2006/main">
            <a:off x="75895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Cat example → parcel practical</a:t>
            </a:r>
          </a:p>
        </p:txBody>
      </p:sp>
      <p:sp>
        <p:nvSpPr>
          <p:cNvPr id="10" name="Rounded Rectangle 9">
            <a:extLst xmlns:a="http://schemas.openxmlformats.org/drawingml/2006/main">
              <a:ext uri="{FF2B5EF4-FFF2-40B4-BE49-F238E27FC236}">
                <a16:creationId xmlns:a16="http://schemas.microsoft.com/office/drawing/2014/main" id="{6D2204F8-D1D6-4159-9F00-A1C37A981F87}"/>
              </a:ext>
            </a:extLst>
          </p:cNvPr>
          <p:cNvSpPr>
            <a:spLocks xmlns:a="http://schemas.openxmlformats.org/drawingml/2006/main" noGrp="1"/>
          </p:cNvSpPr>
          <p:nvPr/>
        </p:nvSpPr>
        <p:spPr>
          <a:xfrm xmlns:a="http://schemas.openxmlformats.org/drawingml/2006/main">
            <a:off x="6240779" y="2560320"/>
            <a:ext cx="5372100" cy="28803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7A65054B-69B2-46BD-A846-94D3CDC97E35}"/>
              </a:ext>
            </a:extLst>
          </p:cNvPr>
          <p:cNvSpPr>
            <a:spLocks xmlns:a="http://schemas.openxmlformats.org/drawingml/2006/main" noGrp="1"/>
          </p:cNvSpPr>
          <p:nvPr/>
        </p:nvSpPr>
        <p:spPr>
          <a:xfrm xmlns:a="http://schemas.openxmlformats.org/drawingml/2006/main">
            <a:off x="6240779" y="2560320"/>
            <a:ext cx="5372100" cy="64008"/>
          </a:xfrm>
          <a:prstGeom xmlns:a="http://schemas.openxmlformats.org/drawingml/2006/main" prst="rect">
            <a:avLst/>
          </a:prstGeom>
          <a:solidFill xmlns:a="http://schemas.openxmlformats.org/drawingml/2006/main">
            <a:srgbClr val="496A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7F200F3-6E74-4F58-9374-6A285E9A6444}"/>
              </a:ext>
            </a:extLst>
          </p:cNvPr>
          <p:cNvSpPr>
            <a:spLocks xmlns:a="http://schemas.openxmlformats.org/drawingml/2006/main" noGrp="1"/>
          </p:cNvSpPr>
          <p:nvPr/>
        </p:nvSpPr>
        <p:spPr>
          <a:xfrm xmlns:a="http://schemas.openxmlformats.org/drawingml/2006/main">
            <a:off x="6451092" y="2825496"/>
            <a:ext cx="4951476" cy="658368"/>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000" b="1">
                <a:solidFill>
                  <a:srgbClr val="087F8C"/>
                </a:solidFill>
                <a:latin typeface="Aptos"/>
                <a:ea typeface="Aptos"/>
                <a:cs typeface="Aptos"/>
              </a:defRPr>
            </a:pPr>
            <a:r>
              <a:t>NEXT STEP</a:t>
            </a:r>
          </a:p>
        </p:txBody>
      </p:sp>
      <p:sp>
        <p:nvSpPr>
          <p:cNvPr id="13" name="TextBox 12">
            <a:extLst xmlns:a="http://schemas.openxmlformats.org/drawingml/2006/main">
              <a:ext uri="{FF2B5EF4-FFF2-40B4-BE49-F238E27FC236}">
                <a16:creationId xmlns:a16="http://schemas.microsoft.com/office/drawing/2014/main" id="{6DE130B9-E31B-46F7-BDCB-350ED51ABE46}"/>
              </a:ext>
            </a:extLst>
          </p:cNvPr>
          <p:cNvSpPr>
            <a:spLocks xmlns:a="http://schemas.openxmlformats.org/drawingml/2006/main" noGrp="1"/>
          </p:cNvSpPr>
          <p:nvPr/>
        </p:nvSpPr>
        <p:spPr>
          <a:xfrm xmlns:a="http://schemas.openxmlformats.org/drawingml/2006/main">
            <a:off x="6451092" y="3657600"/>
            <a:ext cx="4951476" cy="15544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2700" b="0">
                <a:solidFill>
                  <a:srgbClr val="172B46"/>
                </a:solidFill>
                <a:latin typeface="Aptos"/>
                <a:ea typeface="Aptos"/>
                <a:cs typeface="Aptos"/>
              </a:defRPr>
            </a:pPr>
            <a:r>
              <a:t>Use search inside the existing assistant</a:t>
            </a:r>
          </a:p>
        </p:txBody>
      </p:sp>
      <p:sp>
        <p:nvSpPr>
          <p:cNvPr id="14" name="TextBox 13">
            <a:extLst xmlns:a="http://schemas.openxmlformats.org/drawingml/2006/main">
              <a:ext uri="{FF2B5EF4-FFF2-40B4-BE49-F238E27FC236}">
                <a16:creationId xmlns:a16="http://schemas.microsoft.com/office/drawing/2014/main" id="{0285D71A-4B59-47E0-B041-C4F8F03FC861}"/>
              </a:ext>
            </a:extLst>
          </p:cNvPr>
          <p:cNvSpPr>
            <a:spLocks xmlns:a="http://schemas.openxmlformats.org/drawingml/2006/main" noGrp="1"/>
          </p:cNvSpPr>
          <p:nvPr/>
        </p:nvSpPr>
        <p:spPr>
          <a:xfrm xmlns:a="http://schemas.openxmlformats.org/drawingml/2006/main">
            <a:off x="548640" y="6428232"/>
            <a:ext cx="10058400" cy="22860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Prepared by Engr Usman Hasan</a:t>
            </a:r>
          </a:p>
        </p:txBody>
      </p:sp>
      <p:sp>
        <p:nvSpPr>
          <p:cNvPr id="15" name="TextBox 14">
            <a:extLst xmlns:a="http://schemas.openxmlformats.org/drawingml/2006/main">
              <a:ext uri="{FF2B5EF4-FFF2-40B4-BE49-F238E27FC236}">
                <a16:creationId xmlns:a16="http://schemas.microsoft.com/office/drawing/2014/main" id="{CDAB12E8-CC0F-448F-9F97-2A7E3AC29B26}"/>
              </a:ext>
            </a:extLst>
          </p:cNvPr>
          <p:cNvSpPr>
            <a:spLocks xmlns:a="http://schemas.openxmlformats.org/drawingml/2006/main" noGrp="1"/>
          </p:cNvSpPr>
          <p:nvPr/>
        </p:nvSpPr>
        <p:spPr>
          <a:xfrm xmlns:a="http://schemas.openxmlformats.org/drawingml/2006/main">
            <a:off x="10789920" y="6428232"/>
            <a:ext cx="914400" cy="259080"/>
          </a:xfrm>
          <a:prstGeom xmlns:a="http://schemas.openxmlformats.org/drawingml/2006/main" prst="rect">
            <a:avLst/>
          </a:prstGeom>
          <a:noFill xmlns:a="http://schemas.openxmlformats.org/drawingml/2006/main"/>
        </p:spPr>
        <p:txBody>
          <a:bodyPr xmlns:a="http://schemas.openxmlformats.org/drawingml/2006/main" wrap="square" lIns="0" rIns="0">
            <a:spAutoFit/>
          </a:bodyPr>
          <a:lstStyle xmlns:a="http://schemas.openxmlformats.org/drawingml/2006/main"/>
          <a:p xmlns:a="http://schemas.openxmlformats.org/drawingml/2006/main">
            <a:pPr>
              <a:spcAft>
                <a:spcPts val="1000"/>
              </a:spcAft>
              <a:buNone/>
              <a:defRPr sz="1100" b="0">
                <a:solidFill>
                  <a:srgbClr val="63738A"/>
                </a:solidFill>
                <a:latin typeface="Aptos"/>
                <a:ea typeface="Aptos"/>
                <a:cs typeface="Aptos"/>
              </a:defRPr>
            </a:pPr>
            <a:r>
              <a:t>38</a:t>
            </a:r>
            <a:r>
              <a:t>/56</a:t>
            </a:r>
          </a:p>
        </p:txBody>
      </p:sp>
    </p:spTree>
    <p:extLst>
      <p:ext uri="{BB962C8B-B14F-4D97-AF65-F5344CB8AC3E}">
        <p14:creationId xmlns:p14="http://schemas.microsoft.com/office/powerpoint/2010/main" val="1379609230"/>
      </p:ext>
    </p:extLst>
  </p:cSld>
</p:sld>
</file>

<file path=ppt/slides/slide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BB090B21-7322-4D0F-9D23-1534A6F63E6C}"/>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EB96E4E1-A657-490E-A5AB-4E491A3FF7F0}"/>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Parcel customer-support assistant</a:t>
            </a:r>
          </a:p>
        </p:txBody>
      </p:sp>
      <p:sp>
        <p:nvSpPr>
          <p:cNvPr id="3" name="subtitle">
            <a:extLst xmlns:a="http://schemas.openxmlformats.org/drawingml/2006/main">
              <a:ext uri="{FF2B5EF4-FFF2-40B4-BE49-F238E27FC236}">
                <a16:creationId xmlns:a16="http://schemas.microsoft.com/office/drawing/2014/main" id="{8A43302D-1FFB-4FC3-B85D-E18F7308EFA4}"/>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PART D: One useful project with the pieces you already know</a:t>
            </a:r>
          </a:p>
        </p:txBody>
      </p:sp>
      <p:sp>
        <p:nvSpPr>
          <p:cNvPr id="4" name="content">
            <a:extLst xmlns:a="http://schemas.openxmlformats.org/drawingml/2006/main">
              <a:ext uri="{FF2B5EF4-FFF2-40B4-BE49-F238E27FC236}">
                <a16:creationId xmlns:a16="http://schemas.microsoft.com/office/drawing/2014/main" id="{FBD716D1-D559-4DD3-9499-BAEBC6A2AD02}"/>
              </a:ext>
            </a:extLst>
          </p:cNvPr>
          <p:cNvSpPr>
            <a:spLocks xmlns:a="http://schemas.openxmlformats.org/drawingml/2006/main" noGrp="1"/>
          </p:cNvSpPr>
          <p:nvPr/>
        </p:nvSpPr>
        <p:spPr>
          <a:xfrm xmlns:a="http://schemas.openxmlformats.org/drawingml/2006/main">
            <a:off x="552450" y="2476500"/>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6"/>
                </a:solidFill>
                <a:latin typeface="Aptos"/>
                <a:ea typeface="Aptos"/>
                <a:cs typeface="Aptos"/>
              </a:defRPr>
            </a:defPPr>
          </a:lstStyle>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“Where is PK101, and can I pay the rider when it arrives?”</a:t>
            </a:r>
          </a:p>
          <a:p xmlns:a="http://schemas.openxmlformats.org/drawingml/2006/main">
            <a:r>
              <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The assistant checks a saved status and finds a payment policy.</a:t>
            </a:r>
          </a:p>
        </p:txBody>
      </p:sp>
      <p:sp>
        <p:nvSpPr>
          <p:cNvPr id="5" name="brand">
            <a:extLst xmlns:a="http://schemas.openxmlformats.org/drawingml/2006/main">
              <a:ext uri="{FF2B5EF4-FFF2-40B4-BE49-F238E27FC236}">
                <a16:creationId xmlns:a16="http://schemas.microsoft.com/office/drawing/2014/main" id="{F25ABF8F-F2BF-4CEE-89E2-C78F3CE4CEC6}"/>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9B57CDC2-CD56-48C6-84DE-187E58D51549}"/>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39/56</a:t>
            </a:r>
          </a:p>
        </p:txBody>
      </p:sp>
    </p:spTree>
    <p:extLst>
      <p:ext uri="{BB962C8B-B14F-4D97-AF65-F5344CB8AC3E}">
        <p14:creationId xmlns:p14="http://schemas.microsoft.com/office/powerpoint/2010/main" val="1187731289"/>
      </p:ext>
    </p:extLst>
  </p:cSld>
</p:sld>
</file>

<file path=ppt/slides/slide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05E1FB3E-98BE-49CF-B1A3-4348D4A964D3}"/>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94D82ACB-70A7-492E-ADF6-04538CD29C0B}"/>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One customer question needs two sources</a:t>
            </a:r>
          </a:p>
        </p:txBody>
      </p:sp>
      <p:sp>
        <p:nvSpPr>
          <p:cNvPr id="3" name="subtitle">
            <a:extLst xmlns:a="http://schemas.openxmlformats.org/drawingml/2006/main">
              <a:ext uri="{FF2B5EF4-FFF2-40B4-BE49-F238E27FC236}">
                <a16:creationId xmlns:a16="http://schemas.microsoft.com/office/drawing/2014/main" id="{24093C09-8282-425E-9F60-E7CF022EE12F}"/>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A status record and a company policy</a:t>
            </a:r>
          </a:p>
        </p:txBody>
      </p:sp>
      <p:sp>
        <p:nvSpPr>
          <p:cNvPr id="4" name="left">
            <a:extLst xmlns:a="http://schemas.openxmlformats.org/drawingml/2006/main">
              <a:ext uri="{FF2B5EF4-FFF2-40B4-BE49-F238E27FC236}">
                <a16:creationId xmlns:a16="http://schemas.microsoft.com/office/drawing/2014/main" id="{35B8813E-5676-4304-BBAD-935AC1360D64}"/>
              </a:ext>
            </a:extLst>
          </p:cNvPr>
          <p:cNvSpPr>
            <a:spLocks xmlns:a="http://schemas.openxmlformats.org/drawingml/2006/main" noGrp="1"/>
          </p:cNvSpPr>
          <p:nvPr/>
        </p:nvSpPr>
        <p:spPr>
          <a:xfrm xmlns:a="http://schemas.openxmlformats.org/drawingml/2006/main">
            <a:off x="552450" y="2571750"/>
            <a:ext cx="51435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6"/>
                </a:solidFill>
                <a:latin typeface="Aptos"/>
                <a:ea typeface="Aptos"/>
                <a:cs typeface="Aptos"/>
              </a:defRPr>
            </a:defPPr>
          </a:lstStyle>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STATUS QUESTION</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Where is PK101?</a:t>
            </a:r>
          </a:p>
          <a:p xmlns:a="http://schemas.openxmlformats.org/drawingml/2006/main">
            <a:r>
              <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Saved record:</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Out for delivery in Multan.</a:t>
            </a:r>
          </a:p>
        </p:txBody>
      </p:sp>
      <p:sp>
        <p:nvSpPr>
          <p:cNvPr id="5" name="right">
            <a:extLst xmlns:a="http://schemas.openxmlformats.org/drawingml/2006/main">
              <a:ext uri="{FF2B5EF4-FFF2-40B4-BE49-F238E27FC236}">
                <a16:creationId xmlns:a16="http://schemas.microsoft.com/office/drawing/2014/main" id="{F0CE8326-40D5-46BA-8F66-2C71C300959E}"/>
              </a:ext>
            </a:extLst>
          </p:cNvPr>
          <p:cNvSpPr>
            <a:spLocks xmlns:a="http://schemas.openxmlformats.org/drawingml/2006/main" noGrp="1"/>
          </p:cNvSpPr>
          <p:nvPr/>
        </p:nvSpPr>
        <p:spPr>
          <a:xfrm xmlns:a="http://schemas.openxmlformats.org/drawingml/2006/main">
            <a:off x="6343650" y="2571750"/>
            <a:ext cx="5238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6"/>
                </a:solidFill>
                <a:latin typeface="Aptos"/>
                <a:ea typeface="Aptos"/>
                <a:cs typeface="Aptos"/>
              </a:defRPr>
            </a:defPPr>
          </a:lstStyle>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POLICY QUESTION</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Can I pay on arrival?</a:t>
            </a:r>
          </a:p>
          <a:p xmlns:a="http://schemas.openxmlformats.org/drawingml/2006/main">
            <a:r>
              <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Saved payment sentence:</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Cash on delivery lets you pay when the parcel arrives.</a:t>
            </a:r>
          </a:p>
        </p:txBody>
      </p:sp>
      <p:sp>
        <p:nvSpPr>
          <p:cNvPr id="6" name="brand">
            <a:extLst xmlns:a="http://schemas.openxmlformats.org/drawingml/2006/main">
              <a:ext uri="{FF2B5EF4-FFF2-40B4-BE49-F238E27FC236}">
                <a16:creationId xmlns:a16="http://schemas.microsoft.com/office/drawing/2014/main" id="{B9ADE552-FECA-4D62-8091-91D53DC3C60F}"/>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2395D8F4-574A-4648-A6C9-D4B962442BA3}"/>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40/56</a:t>
            </a:r>
          </a:p>
        </p:txBody>
      </p:sp>
    </p:spTree>
    <p:extLst>
      <p:ext uri="{BB962C8B-B14F-4D97-AF65-F5344CB8AC3E}">
        <p14:creationId xmlns:p14="http://schemas.microsoft.com/office/powerpoint/2010/main" val="841108045"/>
      </p:ext>
    </p:extLst>
  </p:cSld>
</p:sld>
</file>

<file path=ppt/slides/slide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FD57308B-F0C2-47EB-9856-08CFFA02DC68}"/>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4B59F11E-872E-49EF-8204-CA073CB203F8}"/>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two tools</a:t>
            </a:r>
          </a:p>
        </p:txBody>
      </p:sp>
      <p:sp>
        <p:nvSpPr>
          <p:cNvPr id="3" name="subtitle">
            <a:extLst xmlns:a="http://schemas.openxmlformats.org/drawingml/2006/main">
              <a:ext uri="{FF2B5EF4-FFF2-40B4-BE49-F238E27FC236}">
                <a16:creationId xmlns:a16="http://schemas.microsoft.com/office/drawing/2014/main" id="{2A7C714D-C3DE-4A20-B410-9A7163445624}"/>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The LLM requests work and Python performs it</a:t>
            </a:r>
          </a:p>
        </p:txBody>
      </p:sp>
      <p:graphicFrame>
        <p:nvGraphicFramePr>
          <p:cNvPr id="4" name="">
            <a:extLst xmlns:a="http://schemas.openxmlformats.org/drawingml/2006/main">
              <a:ext uri="{FF2B5EF4-FFF2-40B4-BE49-F238E27FC236}">
                <a16:creationId xmlns:a16="http://schemas.microsoft.com/office/drawing/2014/main" id="{A7F59254-05F5-4CCB-9FF3-4B81D2A28CF2}"/>
              </a:ext>
            </a:extLst>
          </p:cNvPr>
          <p:cNvGraphicFramePr/>
          <p:nvPr/>
        </p:nvGraphicFramePr>
        <p:xfrm>
          <a:off xmlns:a="http://schemas.openxmlformats.org/drawingml/2006/main" x="552450" y="2505075"/>
          <a:ext xmlns:a="http://schemas.openxmlformats.org/drawingml/2006/main" cx="11049000" cy="2857500"/>
        </p:xfrm>
        <a:graphic xmlns:a="http://schemas.openxmlformats.org/drawingml/2006/main">
          <a:graphicData uri="http://schemas.openxmlformats.org/drawingml/2006/table">
            <a:tbl>
              <a:tblPr/>
              <a:tblGrid>
                <a:gridCol w="3381375"/>
                <a:gridCol w="4857750"/>
                <a:gridCol w="2809875"/>
              </a:tblGrid>
              <a:tr h="952500">
                <a:tc>
                  <a:txBody>
                    <a:bodyPr/>
                    <a:lstStyle/>
                    <a:p>
                      <a:r>
                        <a:rPr sz="1875" b="1">
                          <a:solidFill>
                            <a:srgbClr val="FFFFFF"/>
                          </a:solidFill>
                          <a:latin typeface="Aptos"/>
                          <a:ea typeface="Aptos"/>
                          <a:cs typeface="Aptos"/>
                        </a:rPr>
                        <a:t>Tool</a:t>
                      </a:r>
                    </a:p>
                  </a:txBody>
                  <a:tcPr marL="133350" marR="133350" marT="114300" marB="95250">
                    <a:solidFill>
                      <a:srgbClr val="087F8C"/>
                    </a:solidFill>
                  </a:tcPr>
                </a:tc>
                <a:tc>
                  <a:txBody>
                    <a:bodyPr/>
                    <a:lstStyle/>
                    <a:p>
                      <a:r>
                        <a:rPr sz="1875" b="1">
                          <a:solidFill>
                            <a:srgbClr val="FFFFFF"/>
                          </a:solidFill>
                          <a:latin typeface="Aptos"/>
                          <a:ea typeface="Aptos"/>
                          <a:cs typeface="Aptos"/>
                        </a:rPr>
                        <a:t>Job</a:t>
                      </a:r>
                    </a:p>
                  </a:txBody>
                  <a:tcPr marL="133350" marR="133350" marT="114300" marB="95250">
                    <a:solidFill>
                      <a:srgbClr val="087F8C"/>
                    </a:solidFill>
                  </a:tcPr>
                </a:tc>
                <a:tc>
                  <a:txBody>
                    <a:bodyPr/>
                    <a:lstStyle/>
                    <a:p>
                      <a:r>
                        <a:rPr sz="1875" b="1">
                          <a:solidFill>
                            <a:srgbClr val="FFFFFF"/>
                          </a:solidFill>
                          <a:latin typeface="Aptos"/>
                          <a:ea typeface="Aptos"/>
                          <a:cs typeface="Aptos"/>
                        </a:rPr>
                        <a:t>Earlier lesson</a:t>
                      </a:r>
                    </a:p>
                  </a:txBody>
                  <a:tcPr marL="133350" marR="133350" marT="114300" marB="95250">
                    <a:solidFill>
                      <a:srgbClr val="087F8C"/>
                    </a:solidFill>
                  </a:tcPr>
                </a:tc>
              </a:tr>
              <a:tr h="952500">
                <a:tc>
                  <a:txBody>
                    <a:bodyPr/>
                    <a:lstStyle/>
                    <a:p>
                      <a:r>
                        <a:rPr sz="1950">
                          <a:solidFill>
                            <a:srgbClr val="172B46"/>
                          </a:solidFill>
                          <a:latin typeface="Aptos"/>
                          <a:ea typeface="Aptos"/>
                          <a:cs typeface="Aptos"/>
                        </a:rPr>
                        <a:t>get_parcel_status</a:t>
                      </a:r>
                    </a:p>
                  </a:txBody>
                  <a:tcPr marL="133350" marR="133350" marT="114300" marB="95250">
                    <a:solidFill>
                      <a:srgbClr val="FFFFFF"/>
                    </a:solidFill>
                  </a:tcPr>
                </a:tc>
                <a:tc>
                  <a:txBody>
                    <a:bodyPr/>
                    <a:lstStyle/>
                    <a:p>
                      <a:r>
                        <a:rPr sz="1950">
                          <a:solidFill>
                            <a:srgbClr val="172B46"/>
                          </a:solidFill>
                          <a:latin typeface="Aptos"/>
                          <a:ea typeface="Aptos"/>
                          <a:cs typeface="Aptos"/>
                        </a:rPr>
                        <a:t>Read a saved status using an ID</a:t>
                      </a:r>
                    </a:p>
                  </a:txBody>
                  <a:tcPr marL="133350" marR="133350" marT="114300" marB="95250">
                    <a:solidFill>
                      <a:srgbClr val="FFFFFF"/>
                    </a:solidFill>
                  </a:tcPr>
                </a:tc>
                <a:tc>
                  <a:txBody>
                    <a:bodyPr/>
                    <a:lstStyle/>
                    <a:p>
                      <a:r>
                        <a:rPr sz="1950">
                          <a:solidFill>
                            <a:srgbClr val="172B46"/>
                          </a:solidFill>
                          <a:latin typeface="Aptos"/>
                          <a:ea typeface="Aptos"/>
                          <a:cs typeface="Aptos"/>
                        </a:rPr>
                        <a:t>Module 4</a:t>
                      </a:r>
                    </a:p>
                  </a:txBody>
                  <a:tcPr marL="133350" marR="133350" marT="114300" marB="95250">
                    <a:solidFill>
                      <a:srgbClr val="FFFFFF"/>
                    </a:solidFill>
                  </a:tcPr>
                </a:tc>
              </a:tr>
              <a:tr h="952500">
                <a:tc>
                  <a:txBody>
                    <a:bodyPr/>
                    <a:lstStyle/>
                    <a:p>
                      <a:r>
                        <a:rPr sz="1950">
                          <a:solidFill>
                            <a:srgbClr val="172B46"/>
                          </a:solidFill>
                          <a:latin typeface="Aptos"/>
                          <a:ea typeface="Aptos"/>
                          <a:cs typeface="Aptos"/>
                        </a:rPr>
                        <a:t>search_delivery_policy</a:t>
                      </a:r>
                    </a:p>
                  </a:txBody>
                  <a:tcPr marL="133350" marR="133350" marT="114300" marB="95250">
                    <a:solidFill>
                      <a:srgbClr val="FFFFFF"/>
                    </a:solidFill>
                  </a:tcPr>
                </a:tc>
                <a:tc>
                  <a:txBody>
                    <a:bodyPr/>
                    <a:lstStyle/>
                    <a:p>
                      <a:r>
                        <a:rPr sz="1950">
                          <a:solidFill>
                            <a:srgbClr val="172B46"/>
                          </a:solidFill>
                          <a:latin typeface="Aptos"/>
                          <a:ea typeface="Aptos"/>
                          <a:cs typeface="Aptos"/>
                        </a:rPr>
                        <a:t>Embed the question and compare policy vectors</a:t>
                      </a:r>
                    </a:p>
                  </a:txBody>
                  <a:tcPr marL="133350" marR="133350" marT="114300" marB="95250">
                    <a:solidFill>
                      <a:srgbClr val="FFFFFF"/>
                    </a:solidFill>
                  </a:tcPr>
                </a:tc>
                <a:tc>
                  <a:txBody>
                    <a:bodyPr/>
                    <a:lstStyle/>
                    <a:p>
                      <a:r>
                        <a:rPr sz="1950">
                          <a:solidFill>
                            <a:srgbClr val="172B46"/>
                          </a:solidFill>
                          <a:latin typeface="Aptos"/>
                          <a:ea typeface="Aptos"/>
                          <a:cs typeface="Aptos"/>
                        </a:rPr>
                        <a:t>Module 5</a:t>
                      </a:r>
                    </a:p>
                  </a:txBody>
                  <a:tcPr marL="133350" marR="133350" marT="114300" marB="95250">
                    <a:solidFill>
                      <a:srgbClr val="FFFFFF"/>
                    </a:solidFill>
                  </a:tcPr>
                </a:tc>
              </a:tr>
            </a:tbl>
          </a:graphicData>
        </a:graphic>
      </p:graphicFrame>
      <p:sp>
        <p:nvSpPr>
          <p:cNvPr id="5" name="brand">
            <a:extLst xmlns:a="http://schemas.openxmlformats.org/drawingml/2006/main">
              <a:ext uri="{FF2B5EF4-FFF2-40B4-BE49-F238E27FC236}">
                <a16:creationId xmlns:a16="http://schemas.microsoft.com/office/drawing/2014/main" id="{D94845BE-023C-47FB-AE65-D318CA023096}"/>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19E7C99E-F915-49D0-A49B-48A6C122E929}"/>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41/56</a:t>
            </a:r>
          </a:p>
        </p:txBody>
      </p:sp>
    </p:spTree>
    <p:extLst>
      <p:ext uri="{BB962C8B-B14F-4D97-AF65-F5344CB8AC3E}">
        <p14:creationId xmlns:p14="http://schemas.microsoft.com/office/powerpoint/2010/main" val="846907276"/>
      </p:ext>
    </p:extLst>
  </p:cSld>
</p:sld>
</file>

<file path=ppt/slides/slide4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50315E6-A06A-4E04-8ADE-9D2DA449AD76}"/>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F845A3C5-4118-48ED-B054-90B6F77B0D7D}"/>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complete project flow</a:t>
            </a:r>
          </a:p>
        </p:txBody>
      </p:sp>
      <p:sp>
        <p:nvSpPr>
          <p:cNvPr id="3" name="subtitle">
            <a:extLst xmlns:a="http://schemas.openxmlformats.org/drawingml/2006/main">
              <a:ext uri="{FF2B5EF4-FFF2-40B4-BE49-F238E27FC236}">
                <a16:creationId xmlns:a16="http://schemas.microsoft.com/office/drawing/2014/main" id="{B02F589C-E4F8-447F-8E48-B192132C4839}"/>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Every step has a familiar job</a:t>
            </a:r>
          </a:p>
        </p:txBody>
      </p:sp>
      <p:sp>
        <p:nvSpPr>
          <p:cNvPr id="4" name="content">
            <a:extLst xmlns:a="http://schemas.openxmlformats.org/drawingml/2006/main">
              <a:ext uri="{FF2B5EF4-FFF2-40B4-BE49-F238E27FC236}">
                <a16:creationId xmlns:a16="http://schemas.microsoft.com/office/drawing/2014/main" id="{0004F042-4588-4B5A-A614-FEDCE20F8943}"/>
              </a:ext>
            </a:extLst>
          </p:cNvPr>
          <p:cNvSpPr>
            <a:spLocks xmlns:a="http://schemas.openxmlformats.org/drawingml/2006/main" noGrp="1"/>
          </p:cNvSpPr>
          <p:nvPr/>
        </p:nvSpPr>
        <p:spPr>
          <a:xfrm xmlns:a="http://schemas.openxmlformats.org/drawingml/2006/main">
            <a:off x="552450" y="2476500"/>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6"/>
                </a:solidFill>
                <a:latin typeface="Aptos"/>
                <a:ea typeface="Aptos"/>
                <a:cs typeface="Aptos"/>
              </a:defRPr>
            </a:defPPr>
          </a:lstStyle>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1. Groq reads the customer question and requests a tool.</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2. Python runs exact lookup or meaning search.</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3. Python returns the tool result with its request ID.</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4. Groq reads the returned evidence and answers.</a:t>
            </a:r>
          </a:p>
        </p:txBody>
      </p:sp>
      <p:sp>
        <p:nvSpPr>
          <p:cNvPr id="5" name="brand">
            <a:extLst xmlns:a="http://schemas.openxmlformats.org/drawingml/2006/main">
              <a:ext uri="{FF2B5EF4-FFF2-40B4-BE49-F238E27FC236}">
                <a16:creationId xmlns:a16="http://schemas.microsoft.com/office/drawing/2014/main" id="{33C5BAE0-A617-4A56-8FFD-836C1A45494B}"/>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0F08583F-EC5B-4ACB-9260-AC31F3FFF3E2}"/>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42/56</a:t>
            </a:r>
          </a:p>
        </p:txBody>
      </p:sp>
    </p:spTree>
    <p:extLst>
      <p:ext uri="{BB962C8B-B14F-4D97-AF65-F5344CB8AC3E}">
        <p14:creationId xmlns:p14="http://schemas.microsoft.com/office/powerpoint/2010/main" val="170299412"/>
      </p:ext>
    </p:extLst>
  </p:cSld>
</p:sld>
</file>

<file path=ppt/slides/slide4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96BB375-B332-46C9-87D9-080CA60F991E}"/>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CC7363DF-A973-4697-BF9D-7E21CA3B52D9}"/>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API setup</a:t>
            </a:r>
          </a:p>
        </p:txBody>
      </p:sp>
      <p:sp>
        <p:nvSpPr>
          <p:cNvPr id="3" name="subtitle">
            <a:extLst xmlns:a="http://schemas.openxmlformats.org/drawingml/2006/main">
              <a:ext uri="{FF2B5EF4-FFF2-40B4-BE49-F238E27FC236}">
                <a16:creationId xmlns:a16="http://schemas.microsoft.com/office/drawing/2014/main" id="{576B678D-B094-4A48-92FC-4BE9D867BC31}"/>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D1: Same notebook kernel, two provider keys</a:t>
            </a:r>
          </a:p>
        </p:txBody>
      </p:sp>
      <p:graphicFrame>
        <p:nvGraphicFramePr>
          <p:cNvPr id="4" name="">
            <a:extLst xmlns:a="http://schemas.openxmlformats.org/drawingml/2006/main">
              <a:ext uri="{FF2B5EF4-FFF2-40B4-BE49-F238E27FC236}">
                <a16:creationId xmlns:a16="http://schemas.microsoft.com/office/drawing/2014/main" id="{50B7D9AB-67B8-4F17-BDDF-688F1FC8AD28}"/>
              </a:ext>
            </a:extLst>
          </p:cNvPr>
          <p:cNvGraphicFramePr/>
          <p:nvPr/>
        </p:nvGraphicFramePr>
        <p:xfrm>
          <a:off xmlns:a="http://schemas.openxmlformats.org/drawingml/2006/main" x="552450" y="2505075"/>
          <a:ext xmlns:a="http://schemas.openxmlformats.org/drawingml/2006/main" cx="11049000" cy="2857500"/>
        </p:xfrm>
        <a:graphic xmlns:a="http://schemas.openxmlformats.org/drawingml/2006/main">
          <a:graphicData uri="http://schemas.openxmlformats.org/drawingml/2006/table">
            <a:tbl>
              <a:tblPr/>
              <a:tblGrid>
                <a:gridCol w="3381375"/>
                <a:gridCol w="4857750"/>
                <a:gridCol w="2809875"/>
              </a:tblGrid>
              <a:tr h="952500">
                <a:tc>
                  <a:txBody>
                    <a:bodyPr/>
                    <a:lstStyle/>
                    <a:p>
                      <a:r>
                        <a:rPr sz="1875" b="1">
                          <a:solidFill>
                            <a:srgbClr val="FFFFFF"/>
                          </a:solidFill>
                          <a:latin typeface="Aptos"/>
                          <a:ea typeface="Aptos"/>
                          <a:cs typeface="Aptos"/>
                        </a:rPr>
                        <a:t>Role</a:t>
                      </a:r>
                    </a:p>
                  </a:txBody>
                  <a:tcPr marL="133350" marR="133350" marT="114300" marB="95250">
                    <a:solidFill>
                      <a:srgbClr val="087F8C"/>
                    </a:solidFill>
                  </a:tcPr>
                </a:tc>
                <a:tc>
                  <a:txBody>
                    <a:bodyPr/>
                    <a:lstStyle/>
                    <a:p>
                      <a:r>
                        <a:rPr sz="1875" b="1">
                          <a:solidFill>
                            <a:srgbClr val="FFFFFF"/>
                          </a:solidFill>
                          <a:latin typeface="Aptos"/>
                          <a:ea typeface="Aptos"/>
                          <a:cs typeface="Aptos"/>
                        </a:rPr>
                        <a:t>Provider and key</a:t>
                      </a:r>
                    </a:p>
                  </a:txBody>
                  <a:tcPr marL="133350" marR="133350" marT="114300" marB="95250">
                    <a:solidFill>
                      <a:srgbClr val="087F8C"/>
                    </a:solidFill>
                  </a:tcPr>
                </a:tc>
                <a:tc>
                  <a:txBody>
                    <a:bodyPr/>
                    <a:lstStyle/>
                    <a:p>
                      <a:r>
                        <a:rPr sz="1875" b="1">
                          <a:solidFill>
                            <a:srgbClr val="FFFFFF"/>
                          </a:solidFill>
                          <a:latin typeface="Aptos"/>
                          <a:ea typeface="Aptos"/>
                          <a:cs typeface="Aptos"/>
                        </a:rPr>
                        <a:t>Model</a:t>
                      </a:r>
                    </a:p>
                  </a:txBody>
                  <a:tcPr marL="133350" marR="133350" marT="114300" marB="95250">
                    <a:solidFill>
                      <a:srgbClr val="087F8C"/>
                    </a:solidFill>
                  </a:tcPr>
                </a:tc>
              </a:tr>
              <a:tr h="952500">
                <a:tc>
                  <a:txBody>
                    <a:bodyPr/>
                    <a:lstStyle/>
                    <a:p>
                      <a:r>
                        <a:rPr sz="1950">
                          <a:solidFill>
                            <a:srgbClr val="172B46"/>
                          </a:solidFill>
                          <a:latin typeface="Aptos"/>
                          <a:ea typeface="Aptos"/>
                          <a:cs typeface="Aptos"/>
                        </a:rPr>
                        <a:t>Text embeddings</a:t>
                      </a:r>
                    </a:p>
                  </a:txBody>
                  <a:tcPr marL="133350" marR="133350" marT="114300" marB="95250">
                    <a:solidFill>
                      <a:srgbClr val="FFFFFF"/>
                    </a:solidFill>
                  </a:tcPr>
                </a:tc>
                <a:tc>
                  <a:txBody>
                    <a:bodyPr/>
                    <a:lstStyle/>
                    <a:p>
                      <a:r>
                        <a:rPr sz="1950">
                          <a:solidFill>
                            <a:srgbClr val="172B46"/>
                          </a:solidFill>
                          <a:latin typeface="Aptos"/>
                          <a:ea typeface="Aptos"/>
                          <a:cs typeface="Aptos"/>
                        </a:rPr>
                        <a:t>Google: GOOGLE_API_KEY</a:t>
                      </a:r>
                    </a:p>
                  </a:txBody>
                  <a:tcPr marL="133350" marR="133350" marT="114300" marB="95250">
                    <a:solidFill>
                      <a:srgbClr val="FFFFFF"/>
                    </a:solidFill>
                  </a:tcPr>
                </a:tc>
                <a:tc>
                  <a:txBody>
                    <a:bodyPr/>
                    <a:lstStyle/>
                    <a:p>
                      <a:r>
                        <a:rPr sz="1950">
                          <a:solidFill>
                            <a:srgbClr val="172B46"/>
                          </a:solidFill>
                          <a:latin typeface="Aptos"/>
                          <a:ea typeface="Aptos"/>
                          <a:cs typeface="Aptos"/>
                        </a:rPr>
                        <a:t>gemini-embedding-001</a:t>
                      </a:r>
                    </a:p>
                  </a:txBody>
                  <a:tcPr marL="133350" marR="133350" marT="114300" marB="95250">
                    <a:solidFill>
                      <a:srgbClr val="FFFFFF"/>
                    </a:solidFill>
                  </a:tcPr>
                </a:tc>
              </a:tr>
              <a:tr h="952500">
                <a:tc>
                  <a:txBody>
                    <a:bodyPr/>
                    <a:lstStyle/>
                    <a:p>
                      <a:r>
                        <a:rPr sz="1950">
                          <a:solidFill>
                            <a:srgbClr val="172B46"/>
                          </a:solidFill>
                          <a:latin typeface="Aptos"/>
                          <a:ea typeface="Aptos"/>
                          <a:cs typeface="Aptos"/>
                        </a:rPr>
                        <a:t>Tool selection and replies</a:t>
                      </a:r>
                    </a:p>
                  </a:txBody>
                  <a:tcPr marL="133350" marR="133350" marT="114300" marB="95250">
                    <a:solidFill>
                      <a:srgbClr val="FFFFFF"/>
                    </a:solidFill>
                  </a:tcPr>
                </a:tc>
                <a:tc>
                  <a:txBody>
                    <a:bodyPr/>
                    <a:lstStyle/>
                    <a:p>
                      <a:r>
                        <a:rPr sz="1950">
                          <a:solidFill>
                            <a:srgbClr val="172B46"/>
                          </a:solidFill>
                          <a:latin typeface="Aptos"/>
                          <a:ea typeface="Aptos"/>
                          <a:cs typeface="Aptos"/>
                        </a:rPr>
                        <a:t>Groq: GROQ_API_KEY</a:t>
                      </a:r>
                    </a:p>
                  </a:txBody>
                  <a:tcPr marL="133350" marR="133350" marT="114300" marB="95250">
                    <a:solidFill>
                      <a:srgbClr val="FFFFFF"/>
                    </a:solidFill>
                  </a:tcPr>
                </a:tc>
                <a:tc>
                  <a:txBody>
                    <a:bodyPr/>
                    <a:lstStyle/>
                    <a:p>
                      <a:r>
                        <a:rPr sz="1950">
                          <a:solidFill>
                            <a:srgbClr val="172B46"/>
                          </a:solidFill>
                          <a:latin typeface="Aptos"/>
                          <a:ea typeface="Aptos"/>
                          <a:cs typeface="Aptos"/>
                        </a:rPr>
                        <a:t>openai/gpt-oss-20b</a:t>
                      </a:r>
                    </a:p>
                  </a:txBody>
                  <a:tcPr marL="133350" marR="133350" marT="114300" marB="95250">
                    <a:solidFill>
                      <a:srgbClr val="FFFFFF"/>
                    </a:solidFill>
                  </a:tcPr>
                </a:tc>
              </a:tr>
            </a:tbl>
          </a:graphicData>
        </a:graphic>
      </p:graphicFrame>
      <p:sp>
        <p:nvSpPr>
          <p:cNvPr id="5" name="brand">
            <a:extLst xmlns:a="http://schemas.openxmlformats.org/drawingml/2006/main">
              <a:ext uri="{FF2B5EF4-FFF2-40B4-BE49-F238E27FC236}">
                <a16:creationId xmlns:a16="http://schemas.microsoft.com/office/drawing/2014/main" id="{6E9A40F3-9E48-462C-9AE3-BCEB1DB08AC1}"/>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DA2ADF17-E3E2-4FB3-AA12-5408A187F718}"/>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43/56</a:t>
            </a:r>
          </a:p>
        </p:txBody>
      </p:sp>
    </p:spTree>
    <p:extLst>
      <p:ext uri="{BB962C8B-B14F-4D97-AF65-F5344CB8AC3E}">
        <p14:creationId xmlns:p14="http://schemas.microsoft.com/office/powerpoint/2010/main" val="1179519483"/>
      </p:ext>
    </p:extLst>
  </p:cSld>
</p:sld>
</file>

<file path=ppt/slides/slide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B816EAB-D472-44BC-B0F6-86AA23D4CC82}"/>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D88A4345-6DA8-4A6C-A68D-72DDAD5F1F69}"/>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status tool</a:t>
            </a:r>
          </a:p>
        </p:txBody>
      </p:sp>
      <p:sp>
        <p:nvSpPr>
          <p:cNvPr id="3" name="subtitle">
            <a:extLst xmlns:a="http://schemas.openxmlformats.org/drawingml/2006/main">
              <a:ext uri="{FF2B5EF4-FFF2-40B4-BE49-F238E27FC236}">
                <a16:creationId xmlns:a16="http://schemas.microsoft.com/office/drawing/2014/main" id="{8F026145-8536-43BC-888A-A915A73AA0B5}"/>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D2–D3: Reuse the Module 4 lookup function</a:t>
            </a:r>
          </a:p>
        </p:txBody>
      </p:sp>
      <p:sp>
        <p:nvSpPr>
          <p:cNvPr id="4" name="code-frame">
            <a:extLst xmlns:a="http://schemas.openxmlformats.org/drawingml/2006/main">
              <a:ext uri="{FF2B5EF4-FFF2-40B4-BE49-F238E27FC236}">
                <a16:creationId xmlns:a16="http://schemas.microsoft.com/office/drawing/2014/main" id="{F538DE46-6DE5-470A-A1E3-7E9BFC958AD2}"/>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79F33514-B49D-4FB5-8A53-1A435A5D4F5C}"/>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from langchain_core.tools import tool</a:t>
            </a:r>
          </a:p>
          <a:p xmlns:a="http://schemas.openxmlformats.org/drawingml/2006/main">
            <a:r>
              <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@tool</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def get_parcel_status(tracking_id: str) -&gt; str:</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"""Read a saved parcel status using its ID."""</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return lookup_parcel(tracking_id)</a:t>
            </a:r>
          </a:p>
        </p:txBody>
      </p:sp>
      <p:sp>
        <p:nvSpPr>
          <p:cNvPr id="6" name="brand">
            <a:extLst xmlns:a="http://schemas.openxmlformats.org/drawingml/2006/main">
              <a:ext uri="{FF2B5EF4-FFF2-40B4-BE49-F238E27FC236}">
                <a16:creationId xmlns:a16="http://schemas.microsoft.com/office/drawing/2014/main" id="{8BEE4FC9-D346-4994-8EA5-F8BF6EDF2984}"/>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066D458C-3CA7-4303-8806-26F623D3F719}"/>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44/56</a:t>
            </a:r>
          </a:p>
        </p:txBody>
      </p:sp>
    </p:spTree>
    <p:extLst>
      <p:ext uri="{BB962C8B-B14F-4D97-AF65-F5344CB8AC3E}">
        <p14:creationId xmlns:p14="http://schemas.microsoft.com/office/powerpoint/2010/main" val="1229033993"/>
      </p:ext>
    </p:extLst>
  </p:cSld>
</p:sld>
</file>

<file path=ppt/slides/slide4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50B03FD2-1142-4C9D-9C4B-8FC70D975A03}"/>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5C5B271C-8AB5-4A61-8619-F9FCF0A26B25}"/>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policy search tool</a:t>
            </a:r>
          </a:p>
        </p:txBody>
      </p:sp>
      <p:sp>
        <p:nvSpPr>
          <p:cNvPr id="3" name="subtitle">
            <a:extLst xmlns:a="http://schemas.openxmlformats.org/drawingml/2006/main">
              <a:ext uri="{FF2B5EF4-FFF2-40B4-BE49-F238E27FC236}">
                <a16:creationId xmlns:a16="http://schemas.microsoft.com/office/drawing/2014/main" id="{311A58BD-6072-4A32-B961-C7DC8E82F19A}"/>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D4: Reuse the vectors and cosine comparison</a:t>
            </a:r>
          </a:p>
        </p:txBody>
      </p:sp>
      <p:sp>
        <p:nvSpPr>
          <p:cNvPr id="4" name="code-frame">
            <a:extLst xmlns:a="http://schemas.openxmlformats.org/drawingml/2006/main">
              <a:ext uri="{FF2B5EF4-FFF2-40B4-BE49-F238E27FC236}">
                <a16:creationId xmlns:a16="http://schemas.microsoft.com/office/drawing/2014/main" id="{C62DB8B6-56DB-4945-80F8-C37E89A132D6}"/>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BEF8B6C9-55CC-4959-87D4-13ED578CA723}"/>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@tool</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def search_delivery_policy(question: str) -&gt; str:</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"""Find a saved delivery policy by meaning."""</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information, score = search_parcel_information(question)</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return information</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 The notebook wrapper adds a source ID and score.</a:t>
            </a:r>
          </a:p>
        </p:txBody>
      </p:sp>
      <p:sp>
        <p:nvSpPr>
          <p:cNvPr id="6" name="brand">
            <a:extLst xmlns:a="http://schemas.openxmlformats.org/drawingml/2006/main">
              <a:ext uri="{FF2B5EF4-FFF2-40B4-BE49-F238E27FC236}">
                <a16:creationId xmlns:a16="http://schemas.microsoft.com/office/drawing/2014/main" id="{660F957F-5297-434B-8A9A-8265C9BB6325}"/>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34BE4CD7-6302-4838-91B9-B956714C8138}"/>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45/56</a:t>
            </a:r>
          </a:p>
        </p:txBody>
      </p:sp>
    </p:spTree>
    <p:extLst>
      <p:ext uri="{BB962C8B-B14F-4D97-AF65-F5344CB8AC3E}">
        <p14:creationId xmlns:p14="http://schemas.microsoft.com/office/powerpoint/2010/main" val="608532822"/>
      </p:ext>
    </p:extLst>
  </p:cSld>
</p:sld>
</file>

<file path=ppt/slides/slide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29FCDDAC-D503-47DA-8279-5AAE2442D87B}"/>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B957219F-E323-48A4-ACCC-0E40AA81F710}"/>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Direct tool tests</a:t>
            </a:r>
          </a:p>
        </p:txBody>
      </p:sp>
      <p:sp>
        <p:nvSpPr>
          <p:cNvPr id="3" name="subtitle">
            <a:extLst xmlns:a="http://schemas.openxmlformats.org/drawingml/2006/main">
              <a:ext uri="{FF2B5EF4-FFF2-40B4-BE49-F238E27FC236}">
                <a16:creationId xmlns:a16="http://schemas.microsoft.com/office/drawing/2014/main" id="{ADC79B42-76B4-451C-B557-7FF9B37EDE56}"/>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D5: Check Python results before involving Groq</a:t>
            </a:r>
          </a:p>
        </p:txBody>
      </p:sp>
      <p:sp>
        <p:nvSpPr>
          <p:cNvPr id="4" name="code-frame">
            <a:extLst xmlns:a="http://schemas.openxmlformats.org/drawingml/2006/main">
              <a:ext uri="{FF2B5EF4-FFF2-40B4-BE49-F238E27FC236}">
                <a16:creationId xmlns:a16="http://schemas.microsoft.com/office/drawing/2014/main" id="{33D27EBE-9CF2-405C-8DC0-1C82DDA7EAF4}"/>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3C5C639F-8DFB-4200-BFE2-313B1789B0EA}"/>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print(get_parcel_status.invoke({</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"tracking_id": "PK101"</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a:p xmlns:a="http://schemas.openxmlformats.org/drawingml/2006/main">
            <a:r>
              <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print(search_delivery_policy.invoke({</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"question": "Can I pay the rider on arrival?"</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6" name="brand">
            <a:extLst xmlns:a="http://schemas.openxmlformats.org/drawingml/2006/main">
              <a:ext uri="{FF2B5EF4-FFF2-40B4-BE49-F238E27FC236}">
                <a16:creationId xmlns:a16="http://schemas.microsoft.com/office/drawing/2014/main" id="{1C6895FA-000E-4420-AFB9-CB4A77D3D7FC}"/>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31500C58-8AD2-4A57-BBE7-D6A354B1490B}"/>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46/56</a:t>
            </a:r>
          </a:p>
        </p:txBody>
      </p:sp>
    </p:spTree>
    <p:extLst>
      <p:ext uri="{BB962C8B-B14F-4D97-AF65-F5344CB8AC3E}">
        <p14:creationId xmlns:p14="http://schemas.microsoft.com/office/powerpoint/2010/main" val="497610721"/>
      </p:ext>
    </p:extLst>
  </p:cSld>
</p:sld>
</file>

<file path=ppt/slides/slide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EE5DDF8-E30C-44F2-A2A6-780DA1A75911}"/>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47F0C3B9-BFCB-4B89-B695-F7301FEC5BA5}"/>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Groq and the tool definitions</a:t>
            </a:r>
          </a:p>
        </p:txBody>
      </p:sp>
      <p:sp>
        <p:nvSpPr>
          <p:cNvPr id="3" name="subtitle">
            <a:extLst xmlns:a="http://schemas.openxmlformats.org/drawingml/2006/main">
              <a:ext uri="{FF2B5EF4-FFF2-40B4-BE49-F238E27FC236}">
                <a16:creationId xmlns:a16="http://schemas.microsoft.com/office/drawing/2014/main" id="{145B26EF-6DAC-4B77-8062-B33C420AA572}"/>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D6: The same bind_tools pattern as Module 4</a:t>
            </a:r>
          </a:p>
        </p:txBody>
      </p:sp>
      <p:sp>
        <p:nvSpPr>
          <p:cNvPr id="4" name="code-frame">
            <a:extLst xmlns:a="http://schemas.openxmlformats.org/drawingml/2006/main">
              <a:ext uri="{FF2B5EF4-FFF2-40B4-BE49-F238E27FC236}">
                <a16:creationId xmlns:a16="http://schemas.microsoft.com/office/drawing/2014/main" id="{67BFBE51-1AFB-471D-85D8-0F35C5592E43}"/>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02D54F62-0B1D-47B7-A0FE-BE0BC9C5CF4E}"/>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llm = ChatGroq(</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model="openai/gpt-oss-20b", temperature=0</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llm_with_tools = llm.bind_tools([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get_parcel_status, search_delivery_policy</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6" name="brand">
            <a:extLst xmlns:a="http://schemas.openxmlformats.org/drawingml/2006/main">
              <a:ext uri="{FF2B5EF4-FFF2-40B4-BE49-F238E27FC236}">
                <a16:creationId xmlns:a16="http://schemas.microsoft.com/office/drawing/2014/main" id="{F52F8AF9-DECD-435C-BB27-C8E5498384E1}"/>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1F18D45D-9FD0-4F3B-8DE6-D0BA0EC6CE0F}"/>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47/56</a:t>
            </a:r>
          </a:p>
        </p:txBody>
      </p:sp>
    </p:spTree>
    <p:extLst>
      <p:ext uri="{BB962C8B-B14F-4D97-AF65-F5344CB8AC3E}">
        <p14:creationId xmlns:p14="http://schemas.microsoft.com/office/powerpoint/2010/main" val="693178657"/>
      </p:ext>
    </p:extLst>
  </p:cSld>
</p:sld>
</file>

<file path=ppt/slides/slide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D09D271-7EE6-4DA9-87BD-BF489C621BB6}"/>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B21CBE72-A0F1-43A2-9371-D339859EAB38}"/>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assistant rules</a:t>
            </a:r>
          </a:p>
        </p:txBody>
      </p:sp>
      <p:sp>
        <p:nvSpPr>
          <p:cNvPr id="3" name="subtitle">
            <a:extLst xmlns:a="http://schemas.openxmlformats.org/drawingml/2006/main">
              <a:ext uri="{FF2B5EF4-FFF2-40B4-BE49-F238E27FC236}">
                <a16:creationId xmlns:a16="http://schemas.microsoft.com/office/drawing/2014/main" id="{7286B392-2508-4448-9A2F-440E9238FFE1}"/>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D7: Same prompt-template pattern, clearer evidence rules</a:t>
            </a:r>
          </a:p>
        </p:txBody>
      </p:sp>
      <p:sp>
        <p:nvSpPr>
          <p:cNvPr id="4" name="content">
            <a:extLst xmlns:a="http://schemas.openxmlformats.org/drawingml/2006/main">
              <a:ext uri="{FF2B5EF4-FFF2-40B4-BE49-F238E27FC236}">
                <a16:creationId xmlns:a16="http://schemas.microsoft.com/office/drawing/2014/main" id="{D53FDE7B-408E-4CE4-A2EB-A478C01C6762}"/>
              </a:ext>
            </a:extLst>
          </p:cNvPr>
          <p:cNvSpPr>
            <a:spLocks xmlns:a="http://schemas.openxmlformats.org/drawingml/2006/main" noGrp="1"/>
          </p:cNvSpPr>
          <p:nvPr/>
        </p:nvSpPr>
        <p:spPr>
          <a:xfrm xmlns:a="http://schemas.openxmlformats.org/drawingml/2006/main">
            <a:off x="552450" y="2476500"/>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6"/>
                </a:solidFill>
                <a:latin typeface="Aptos"/>
                <a:ea typeface="Aptos"/>
                <a:cs typeface="Aptos"/>
              </a:defRPr>
            </a:defPPr>
          </a:lstStyle>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Use the status tool for tracking questions.</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Ask for a missing tracking ID.</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Search saved policies for company-policy questions.</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Use both tools when the question needs both.</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Admit missing information and cite policy IDs.</a:t>
            </a:r>
          </a:p>
        </p:txBody>
      </p:sp>
      <p:sp>
        <p:nvSpPr>
          <p:cNvPr id="5" name="brand">
            <a:extLst xmlns:a="http://schemas.openxmlformats.org/drawingml/2006/main">
              <a:ext uri="{FF2B5EF4-FFF2-40B4-BE49-F238E27FC236}">
                <a16:creationId xmlns:a16="http://schemas.microsoft.com/office/drawing/2014/main" id="{3CA07918-4D86-40A5-94B8-88BB49934FDB}"/>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AF6F2052-783D-4FFE-B9FA-4814C0C4A0BD}"/>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48/56</a:t>
            </a:r>
          </a:p>
        </p:txBody>
      </p:sp>
    </p:spTree>
    <p:extLst>
      <p:ext uri="{BB962C8B-B14F-4D97-AF65-F5344CB8AC3E}">
        <p14:creationId xmlns:p14="http://schemas.microsoft.com/office/powerpoint/2010/main" val="96043618"/>
      </p:ext>
    </p:extLst>
  </p:cSld>
</p:sld>
</file>

<file path=ppt/slides/slide4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12F422A4-62D8-443B-AEC1-11EF4482AA21}"/>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66E3B11A-BA3C-4C8A-95DE-B05B7617A48C}"/>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actual tool request</a:t>
            </a:r>
          </a:p>
        </p:txBody>
      </p:sp>
      <p:sp>
        <p:nvSpPr>
          <p:cNvPr id="3" name="subtitle">
            <a:extLst xmlns:a="http://schemas.openxmlformats.org/drawingml/2006/main">
              <a:ext uri="{FF2B5EF4-FFF2-40B4-BE49-F238E27FC236}">
                <a16:creationId xmlns:a16="http://schemas.microsoft.com/office/drawing/2014/main" id="{AD0B82B2-4016-459C-B919-5B4A64F07B29}"/>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D8: Inspect what Groq asks Python to do</a:t>
            </a:r>
          </a:p>
        </p:txBody>
      </p:sp>
      <p:sp>
        <p:nvSpPr>
          <p:cNvPr id="4" name="code-frame">
            <a:extLst xmlns:a="http://schemas.openxmlformats.org/drawingml/2006/main">
              <a:ext uri="{FF2B5EF4-FFF2-40B4-BE49-F238E27FC236}">
                <a16:creationId xmlns:a16="http://schemas.microsoft.com/office/drawing/2014/main" id="{CB24FC57-004C-4704-91FB-572A3AB970A1}"/>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F0372245-8D4C-415E-9687-8A2CBBF4042A}"/>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messages = support_prompt.invoke({</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"question": "Can I pay on arrival?"</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}).to_messages()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request = llm_with_tools.invoke(messages)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print(request.tool_calls)</a:t>
            </a:r>
          </a:p>
        </p:txBody>
      </p:sp>
      <p:sp>
        <p:nvSpPr>
          <p:cNvPr id="6" name="brand">
            <a:extLst xmlns:a="http://schemas.openxmlformats.org/drawingml/2006/main">
              <a:ext uri="{FF2B5EF4-FFF2-40B4-BE49-F238E27FC236}">
                <a16:creationId xmlns:a16="http://schemas.microsoft.com/office/drawing/2014/main" id="{385735CF-F944-4707-81E9-6CFFEAE62922}"/>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BAB14438-DF20-40E3-A028-59F8FED84B58}"/>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49/56</a:t>
            </a:r>
          </a:p>
        </p:txBody>
      </p:sp>
    </p:spTree>
    <p:extLst>
      <p:ext uri="{BB962C8B-B14F-4D97-AF65-F5344CB8AC3E}">
        <p14:creationId xmlns:p14="http://schemas.microsoft.com/office/powerpoint/2010/main" val="310642044"/>
      </p:ext>
    </p:extLst>
  </p:cSld>
</p:sld>
</file>

<file path=ppt/slides/slide5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C0EFA261-836A-47A2-9257-00E72A2776BB}"/>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790E1806-21CD-4733-9415-898F09B3CDAF}"/>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Python executes the requested tool</a:t>
            </a:r>
          </a:p>
        </p:txBody>
      </p:sp>
      <p:sp>
        <p:nvSpPr>
          <p:cNvPr id="3" name="subtitle">
            <a:extLst xmlns:a="http://schemas.openxmlformats.org/drawingml/2006/main">
              <a:ext uri="{FF2B5EF4-FFF2-40B4-BE49-F238E27FC236}">
                <a16:creationId xmlns:a16="http://schemas.microsoft.com/office/drawing/2014/main" id="{AED7DEAA-532D-4C11-87D3-B573E2D53604}"/>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D9: Allow only the two tools we defined</a:t>
            </a:r>
          </a:p>
        </p:txBody>
      </p:sp>
      <p:sp>
        <p:nvSpPr>
          <p:cNvPr id="4" name="code-frame">
            <a:extLst xmlns:a="http://schemas.openxmlformats.org/drawingml/2006/main">
              <a:ext uri="{FF2B5EF4-FFF2-40B4-BE49-F238E27FC236}">
                <a16:creationId xmlns:a16="http://schemas.microsoft.com/office/drawing/2014/main" id="{162944C1-B847-439C-86BD-9E9C90E50A4B}"/>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8629B331-360A-40EA-AECE-EC92AFF5C523}"/>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if tool_name == "get_parcel_status":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result = get_parcel_status.invoke(inputs)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elif tool_name == "search_delivery_policy":</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result = search_delivery_policy.invoke(inputs)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else:</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result = "Requested tool is unavailable."</a:t>
            </a:r>
          </a:p>
        </p:txBody>
      </p:sp>
      <p:sp>
        <p:nvSpPr>
          <p:cNvPr id="6" name="brand">
            <a:extLst xmlns:a="http://schemas.openxmlformats.org/drawingml/2006/main">
              <a:ext uri="{FF2B5EF4-FFF2-40B4-BE49-F238E27FC236}">
                <a16:creationId xmlns:a16="http://schemas.microsoft.com/office/drawing/2014/main" id="{CD4B487E-883D-4866-B2EA-8AECBDEFF4D1}"/>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118FBF5C-FF0F-4619-AE5A-43DFE6EA5194}"/>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50/56</a:t>
            </a:r>
          </a:p>
        </p:txBody>
      </p:sp>
    </p:spTree>
    <p:extLst>
      <p:ext uri="{BB962C8B-B14F-4D97-AF65-F5344CB8AC3E}">
        <p14:creationId xmlns:p14="http://schemas.microsoft.com/office/powerpoint/2010/main" val="1245399993"/>
      </p:ext>
    </p:extLst>
  </p:cSld>
</p:sld>
</file>

<file path=ppt/slides/slide5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1EA6AB9A-3595-4262-B8FA-76B8D3079328}"/>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2C1AB68A-20F8-4503-B9A1-2ED57FFC1CD0}"/>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Matching the result to its request</a:t>
            </a:r>
          </a:p>
        </p:txBody>
      </p:sp>
      <p:sp>
        <p:nvSpPr>
          <p:cNvPr id="3" name="subtitle">
            <a:extLst xmlns:a="http://schemas.openxmlformats.org/drawingml/2006/main">
              <a:ext uri="{FF2B5EF4-FFF2-40B4-BE49-F238E27FC236}">
                <a16:creationId xmlns:a16="http://schemas.microsoft.com/office/drawing/2014/main" id="{B6B07C68-B887-4CA8-8226-E17728CB53A1}"/>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D10: The same ToolMessage rule as Module 4</a:t>
            </a:r>
          </a:p>
        </p:txBody>
      </p:sp>
      <p:sp>
        <p:nvSpPr>
          <p:cNvPr id="4" name="code-frame">
            <a:extLst xmlns:a="http://schemas.openxmlformats.org/drawingml/2006/main">
              <a:ext uri="{FF2B5EF4-FFF2-40B4-BE49-F238E27FC236}">
                <a16:creationId xmlns:a16="http://schemas.microsoft.com/office/drawing/2014/main" id="{44A8DF7B-BB12-43BE-B5A6-C859DCA234C7}"/>
              </a:ext>
            </a:extLst>
          </p:cNvPr>
          <p:cNvSpPr>
            <a:spLocks xmlns:a="http://schemas.openxmlformats.org/drawingml/2006/main" noGrp="1"/>
          </p:cNvSpPr>
          <p:nvPr/>
        </p:nvSpPr>
        <p:spPr>
          <a:xfrm xmlns:a="http://schemas.openxmlformats.org/drawingml/2006/main">
            <a:off x="552450" y="2419350"/>
            <a:ext cx="11049000" cy="3476625"/>
          </a:xfrm>
          <a:prstGeom xmlns:a="http://schemas.openxmlformats.org/drawingml/2006/main" prst="rect">
            <a:avLst/>
          </a:prstGeom>
          <a:solidFill xmlns:a="http://schemas.openxmlformats.org/drawingml/2006/main">
            <a:srgbClr val="172B46"/>
          </a:solidFill>
          <a:ln xmlns:a="http://schemas.openxmlformats.org/drawingml/2006/main" w="0">
            <a:noFill/>
          </a:ln>
        </p:spPr>
      </p:sp>
      <p:sp>
        <p:nvSpPr>
          <p:cNvPr id="5" name="code">
            <a:extLst xmlns:a="http://schemas.openxmlformats.org/drawingml/2006/main">
              <a:ext uri="{FF2B5EF4-FFF2-40B4-BE49-F238E27FC236}">
                <a16:creationId xmlns:a16="http://schemas.microsoft.com/office/drawing/2014/main" id="{5388A7D9-D74B-475F-B199-16DAF31E558D}"/>
              </a:ext>
            </a:extLst>
          </p:cNvPr>
          <p:cNvSpPr>
            <a:spLocks xmlns:a="http://schemas.openxmlformats.org/drawingml/2006/main" noGrp="1"/>
          </p:cNvSpPr>
          <p:nvPr/>
        </p:nvSpPr>
        <p:spPr>
          <a:xfrm xmlns:a="http://schemas.openxmlformats.org/drawingml/2006/main">
            <a:off x="790575" y="2667000"/>
            <a:ext cx="10572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Consolas"/>
                <a:ea typeface="Consolas"/>
                <a:cs typeface="Consolas"/>
              </a:defRPr>
            </a:defPPr>
          </a:lstStyle>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messages.append(request)</a:t>
            </a:r>
          </a:p>
          <a:p xmlns:a="http://schemas.openxmlformats.org/drawingml/2006/main">
            <a:r>
              <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for call in request.tool_calls:</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result = execute_support_call(call)</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messages.append(ToolMessage(</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content=str(result),</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tool_call_id=call["id"],</a:t>
            </a:r>
          </a:p>
          <a:p xmlns:a="http://schemas.openxmlformats.org/drawingml/2006/main">
            <a:pPr>
              <a:defRPr sz="1875" b="0">
                <a:solidFill>
                  <a:srgbClr val="FFFFFF"/>
                </a:solidFill>
                <a:latin typeface="Consolas"/>
                <a:ea typeface="Consolas"/>
                <a:cs typeface="Consolas"/>
              </a:defRPr>
            </a:pPr>
            <a:r>
              <a:rPr sz="1875" b="0">
                <a:solidFill>
                  <a:srgbClr val="FFFFFF"/>
                </a:solidFill>
                <a:latin typeface="Consolas"/>
                <a:ea typeface="Consolas"/>
                <a:cs typeface="Consolas"/>
              </a:rPr>
              <a:t>    ))</a:t>
            </a:r>
          </a:p>
        </p:txBody>
      </p:sp>
      <p:sp>
        <p:nvSpPr>
          <p:cNvPr id="6" name="brand">
            <a:extLst xmlns:a="http://schemas.openxmlformats.org/drawingml/2006/main">
              <a:ext uri="{FF2B5EF4-FFF2-40B4-BE49-F238E27FC236}">
                <a16:creationId xmlns:a16="http://schemas.microsoft.com/office/drawing/2014/main" id="{D6344BEF-26F1-4A47-8698-E257E1836E61}"/>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3199F78E-D12E-4FEE-A3E9-97E2AA144D84}"/>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51/56</a:t>
            </a:r>
          </a:p>
        </p:txBody>
      </p:sp>
    </p:spTree>
    <p:extLst>
      <p:ext uri="{BB962C8B-B14F-4D97-AF65-F5344CB8AC3E}">
        <p14:creationId xmlns:p14="http://schemas.microsoft.com/office/powerpoint/2010/main" val="1637256817"/>
      </p:ext>
    </p:extLst>
  </p:cSld>
</p:sld>
</file>

<file path=ppt/slides/slide5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1E97E3B-D183-465B-9134-6F2848DBBE37}"/>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E5D9232E-4BA0-4DFE-BE3B-116F081264B0}"/>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Groq explains the returned evidence</a:t>
            </a:r>
          </a:p>
        </p:txBody>
      </p:sp>
      <p:sp>
        <p:nvSpPr>
          <p:cNvPr id="3" name="subtitle">
            <a:extLst xmlns:a="http://schemas.openxmlformats.org/drawingml/2006/main">
              <a:ext uri="{FF2B5EF4-FFF2-40B4-BE49-F238E27FC236}">
                <a16:creationId xmlns:a16="http://schemas.microsoft.com/office/drawing/2014/main" id="{B2F62F03-0737-4274-8FF1-CD9A73865FDF}"/>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D11: Saved information becomes a customer reply</a:t>
            </a:r>
          </a:p>
        </p:txBody>
      </p:sp>
      <p:sp>
        <p:nvSpPr>
          <p:cNvPr id="4" name="left">
            <a:extLst xmlns:a="http://schemas.openxmlformats.org/drawingml/2006/main">
              <a:ext uri="{FF2B5EF4-FFF2-40B4-BE49-F238E27FC236}">
                <a16:creationId xmlns:a16="http://schemas.microsoft.com/office/drawing/2014/main" id="{4FD9DB76-4684-4C1C-84E1-5A3C91C4AEFA}"/>
              </a:ext>
            </a:extLst>
          </p:cNvPr>
          <p:cNvSpPr>
            <a:spLocks xmlns:a="http://schemas.openxmlformats.org/drawingml/2006/main" noGrp="1"/>
          </p:cNvSpPr>
          <p:nvPr/>
        </p:nvSpPr>
        <p:spPr>
          <a:xfrm xmlns:a="http://schemas.openxmlformats.org/drawingml/2006/main">
            <a:off x="552450" y="2571750"/>
            <a:ext cx="51435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6"/>
                </a:solidFill>
                <a:latin typeface="Aptos"/>
                <a:ea typeface="Aptos"/>
                <a:cs typeface="Aptos"/>
              </a:defRPr>
            </a:defPPr>
          </a:lstStyle>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RETURNED EVIDENCE</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[P2] Cash on delivery lets you pay when the parcel arrives.</a:t>
            </a:r>
          </a:p>
        </p:txBody>
      </p:sp>
      <p:sp>
        <p:nvSpPr>
          <p:cNvPr id="5" name="right">
            <a:extLst xmlns:a="http://schemas.openxmlformats.org/drawingml/2006/main">
              <a:ext uri="{FF2B5EF4-FFF2-40B4-BE49-F238E27FC236}">
                <a16:creationId xmlns:a16="http://schemas.microsoft.com/office/drawing/2014/main" id="{F70CC0F9-8B62-4D1C-9459-22E93AFBDA61}"/>
              </a:ext>
            </a:extLst>
          </p:cNvPr>
          <p:cNvSpPr>
            <a:spLocks xmlns:a="http://schemas.openxmlformats.org/drawingml/2006/main" noGrp="1"/>
          </p:cNvSpPr>
          <p:nvPr/>
        </p:nvSpPr>
        <p:spPr>
          <a:xfrm xmlns:a="http://schemas.openxmlformats.org/drawingml/2006/main">
            <a:off x="6343650" y="2571750"/>
            <a:ext cx="5238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6"/>
                </a:solidFill>
                <a:latin typeface="Aptos"/>
                <a:ea typeface="Aptos"/>
                <a:cs typeface="Aptos"/>
              </a:defRPr>
            </a:defPPr>
          </a:lstStyle>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EXPECTED REPLY</a:t>
            </a:r>
          </a:p>
          <a:p xmlns:a="http://schemas.openxmlformats.org/drawingml/2006/main">
            <a:pPr>
              <a:defRPr sz="2250" b="0">
                <a:solidFill>
                  <a:srgbClr val="172B46"/>
                </a:solidFill>
                <a:latin typeface="Aptos"/>
                <a:ea typeface="Aptos"/>
                <a:cs typeface="Aptos"/>
              </a:defRPr>
            </a:pPr>
            <a:r>
              <a:rPr sz="2250" b="0">
                <a:solidFill>
                  <a:srgbClr val="172B46"/>
                </a:solidFill>
                <a:latin typeface="Aptos"/>
                <a:ea typeface="Aptos"/>
                <a:cs typeface="Aptos"/>
              </a:rPr>
              <a:t>Yes, you can pay when the parcel arrives [P2].</a:t>
            </a:r>
          </a:p>
        </p:txBody>
      </p:sp>
      <p:sp>
        <p:nvSpPr>
          <p:cNvPr id="6" name="brand">
            <a:extLst xmlns:a="http://schemas.openxmlformats.org/drawingml/2006/main">
              <a:ext uri="{FF2B5EF4-FFF2-40B4-BE49-F238E27FC236}">
                <a16:creationId xmlns:a16="http://schemas.microsoft.com/office/drawing/2014/main" id="{7A434BEC-29B8-4FC0-B860-5C47DA3AE7AD}"/>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7" name="page">
            <a:extLst xmlns:a="http://schemas.openxmlformats.org/drawingml/2006/main">
              <a:ext uri="{FF2B5EF4-FFF2-40B4-BE49-F238E27FC236}">
                <a16:creationId xmlns:a16="http://schemas.microsoft.com/office/drawing/2014/main" id="{F3AE19BE-35A4-4311-996F-DD35D154F8BF}"/>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52/56</a:t>
            </a:r>
          </a:p>
        </p:txBody>
      </p:sp>
    </p:spTree>
    <p:extLst>
      <p:ext uri="{BB962C8B-B14F-4D97-AF65-F5344CB8AC3E}">
        <p14:creationId xmlns:p14="http://schemas.microsoft.com/office/powerpoint/2010/main" val="1985612731"/>
      </p:ext>
    </p:extLst>
  </p:cSld>
</p:sld>
</file>

<file path=ppt/slides/slide5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71FBFC08-320A-44BD-AE32-564BF874619C}"/>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69D1A9C0-4827-419D-8802-3E5D738E6D7A}"/>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reusable support function</a:t>
            </a:r>
          </a:p>
        </p:txBody>
      </p:sp>
      <p:sp>
        <p:nvSpPr>
          <p:cNvPr id="3" name="subtitle">
            <a:extLst xmlns:a="http://schemas.openxmlformats.org/drawingml/2006/main">
              <a:ext uri="{FF2B5EF4-FFF2-40B4-BE49-F238E27FC236}">
                <a16:creationId xmlns:a16="http://schemas.microsoft.com/office/drawing/2014/main" id="{9D799F68-ADAC-4D35-A77B-2619B11EB42A}"/>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D12: Repeat the familiar cycle when another tool is needed</a:t>
            </a:r>
          </a:p>
        </p:txBody>
      </p:sp>
      <p:sp>
        <p:nvSpPr>
          <p:cNvPr id="4" name="content">
            <a:extLst xmlns:a="http://schemas.openxmlformats.org/drawingml/2006/main">
              <a:ext uri="{FF2B5EF4-FFF2-40B4-BE49-F238E27FC236}">
                <a16:creationId xmlns:a16="http://schemas.microsoft.com/office/drawing/2014/main" id="{1DE305FC-2E7C-4FC5-96C9-1FA311B97097}"/>
              </a:ext>
            </a:extLst>
          </p:cNvPr>
          <p:cNvSpPr>
            <a:spLocks xmlns:a="http://schemas.openxmlformats.org/drawingml/2006/main" noGrp="1"/>
          </p:cNvSpPr>
          <p:nvPr/>
        </p:nvSpPr>
        <p:spPr>
          <a:xfrm xmlns:a="http://schemas.openxmlformats.org/drawingml/2006/main">
            <a:off x="552450" y="2476500"/>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6"/>
                </a:solidFill>
                <a:latin typeface="Aptos"/>
                <a:ea typeface="Aptos"/>
                <a:cs typeface="Aptos"/>
              </a:defRPr>
            </a:defPPr>
          </a:lstStyle>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ask_support(question)</a:t>
            </a:r>
          </a:p>
          <a:p xmlns:a="http://schemas.openxmlformats.org/drawingml/2006/main">
            <a:r>
              <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One question starts a fresh message list.</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Each model turn can request one or both tools.</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Python runs every allowed request and returns matching results.</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The model replies when it has enough evidence.</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A four-turn limit stops endless requests.</a:t>
            </a:r>
          </a:p>
        </p:txBody>
      </p:sp>
      <p:sp>
        <p:nvSpPr>
          <p:cNvPr id="5" name="brand">
            <a:extLst xmlns:a="http://schemas.openxmlformats.org/drawingml/2006/main">
              <a:ext uri="{FF2B5EF4-FFF2-40B4-BE49-F238E27FC236}">
                <a16:creationId xmlns:a16="http://schemas.microsoft.com/office/drawing/2014/main" id="{8DBAE96A-3512-42D9-A75D-9FB841BADCC4}"/>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4A7E2270-8C7B-4EA8-9910-AD20872AF36F}"/>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53/56</a:t>
            </a:r>
          </a:p>
        </p:txBody>
      </p:sp>
    </p:spTree>
    <p:extLst>
      <p:ext uri="{BB962C8B-B14F-4D97-AF65-F5344CB8AC3E}">
        <p14:creationId xmlns:p14="http://schemas.microsoft.com/office/powerpoint/2010/main" val="1522037914"/>
      </p:ext>
    </p:extLst>
  </p:cSld>
</p:sld>
</file>

<file path=ppt/slides/slide5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A196A1C-82E8-4EB3-B264-0D9B5BB8FB34}"/>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1FFDD774-B69B-4CD9-BD39-26E9F0B32B17}"/>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The combined customer question</a:t>
            </a:r>
          </a:p>
        </p:txBody>
      </p:sp>
      <p:sp>
        <p:nvSpPr>
          <p:cNvPr id="3" name="subtitle">
            <a:extLst xmlns:a="http://schemas.openxmlformats.org/drawingml/2006/main">
              <a:ext uri="{FF2B5EF4-FFF2-40B4-BE49-F238E27FC236}">
                <a16:creationId xmlns:a16="http://schemas.microsoft.com/office/drawing/2014/main" id="{FCB91B54-EA80-459D-8A47-FFD62959CD29}"/>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D13: One input, two tools, one reply</a:t>
            </a:r>
          </a:p>
        </p:txBody>
      </p:sp>
      <p:sp>
        <p:nvSpPr>
          <p:cNvPr id="4" name="content">
            <a:extLst xmlns:a="http://schemas.openxmlformats.org/drawingml/2006/main">
              <a:ext uri="{FF2B5EF4-FFF2-40B4-BE49-F238E27FC236}">
                <a16:creationId xmlns:a16="http://schemas.microsoft.com/office/drawing/2014/main" id="{8F33C904-6E62-49C4-83A4-4E0D1ED3F973}"/>
              </a:ext>
            </a:extLst>
          </p:cNvPr>
          <p:cNvSpPr>
            <a:spLocks xmlns:a="http://schemas.openxmlformats.org/drawingml/2006/main" noGrp="1"/>
          </p:cNvSpPr>
          <p:nvPr/>
        </p:nvSpPr>
        <p:spPr>
          <a:xfrm xmlns:a="http://schemas.openxmlformats.org/drawingml/2006/main">
            <a:off x="552450" y="2476500"/>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6"/>
                </a:solidFill>
                <a:latin typeface="Aptos"/>
                <a:ea typeface="Aptos"/>
                <a:cs typeface="Aptos"/>
              </a:defRPr>
            </a:defPPr>
          </a:lstStyle>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“Where is PK101, and can I pay the rider when it arrives?”</a:t>
            </a:r>
          </a:p>
          <a:p xmlns:a="http://schemas.openxmlformats.org/drawingml/2006/main">
            <a:r>
              <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Intended tool trace:</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get_parcel_status with PK101</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search_delivery_policy with the payment question</a:t>
            </a:r>
          </a:p>
          <a:p xmlns:a="http://schemas.openxmlformats.org/drawingml/2006/main">
            <a:r>
              <a:t/>
            </a:r>
          </a:p>
          <a:p xmlns:a="http://schemas.openxmlformats.org/drawingml/2006/main">
            <a:pPr>
              <a:defRPr sz="2400" b="0">
                <a:solidFill>
                  <a:srgbClr val="172B46"/>
                </a:solidFill>
                <a:latin typeface="Aptos"/>
                <a:ea typeface="Aptos"/>
                <a:cs typeface="Aptos"/>
              </a:defRPr>
            </a:pPr>
            <a:r>
              <a:rPr sz="2400" b="0">
                <a:solidFill>
                  <a:srgbClr val="172B46"/>
                </a:solidFill>
                <a:latin typeface="Aptos"/>
                <a:ea typeface="Aptos"/>
                <a:cs typeface="Aptos"/>
              </a:rPr>
              <a:t>Expected answer: saved Multan status and payment policy [P2].</a:t>
            </a:r>
          </a:p>
        </p:txBody>
      </p:sp>
      <p:sp>
        <p:nvSpPr>
          <p:cNvPr id="5" name="brand">
            <a:extLst xmlns:a="http://schemas.openxmlformats.org/drawingml/2006/main">
              <a:ext uri="{FF2B5EF4-FFF2-40B4-BE49-F238E27FC236}">
                <a16:creationId xmlns:a16="http://schemas.microsoft.com/office/drawing/2014/main" id="{CB628B29-F470-4D08-9771-F8532B70C63F}"/>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9C4BFC04-95B9-475C-91EE-83EF77BE4FB1}"/>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54/56</a:t>
            </a:r>
          </a:p>
        </p:txBody>
      </p:sp>
    </p:spTree>
    <p:extLst>
      <p:ext uri="{BB962C8B-B14F-4D97-AF65-F5344CB8AC3E}">
        <p14:creationId xmlns:p14="http://schemas.microsoft.com/office/powerpoint/2010/main" val="524367719"/>
      </p:ext>
    </p:extLst>
  </p:cSld>
</p:sld>
</file>

<file path=ppt/slides/slide5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90D288D6-03A6-4531-BE3F-0D78F10A5BBB}"/>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E1347AD6-F6E1-495D-ADA3-E04260F6259C}"/>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Questions to test in class</a:t>
            </a:r>
          </a:p>
        </p:txBody>
      </p:sp>
      <p:sp>
        <p:nvSpPr>
          <p:cNvPr id="3" name="subtitle">
            <a:extLst xmlns:a="http://schemas.openxmlformats.org/drawingml/2006/main">
              <a:ext uri="{FF2B5EF4-FFF2-40B4-BE49-F238E27FC236}">
                <a16:creationId xmlns:a16="http://schemas.microsoft.com/office/drawing/2014/main" id="{8D48EAF8-DA56-429B-A86A-915B8ED26BA9}"/>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Each question checks a different part of the project</a:t>
            </a:r>
          </a:p>
        </p:txBody>
      </p:sp>
      <p:graphicFrame>
        <p:nvGraphicFramePr>
          <p:cNvPr id="4" name="">
            <a:extLst xmlns:a="http://schemas.openxmlformats.org/drawingml/2006/main">
              <a:ext uri="{FF2B5EF4-FFF2-40B4-BE49-F238E27FC236}">
                <a16:creationId xmlns:a16="http://schemas.microsoft.com/office/drawing/2014/main" id="{9A892123-7CF5-4EA2-8889-A87C21E51346}"/>
              </a:ext>
            </a:extLst>
          </p:cNvPr>
          <p:cNvGraphicFramePr/>
          <p:nvPr/>
        </p:nvGraphicFramePr>
        <p:xfrm>
          <a:off xmlns:a="http://schemas.openxmlformats.org/drawingml/2006/main" x="552450" y="2505075"/>
          <a:ext xmlns:a="http://schemas.openxmlformats.org/drawingml/2006/main" cx="11049000" cy="3143250"/>
        </p:xfrm>
        <a:graphic xmlns:a="http://schemas.openxmlformats.org/drawingml/2006/main">
          <a:graphicData uri="http://schemas.openxmlformats.org/drawingml/2006/table">
            <a:tbl>
              <a:tblPr/>
              <a:tblGrid>
                <a:gridCol w="5953125"/>
                <a:gridCol w="5095875"/>
              </a:tblGrid>
              <a:tr h="628650">
                <a:tc>
                  <a:txBody>
                    <a:bodyPr/>
                    <a:lstStyle/>
                    <a:p>
                      <a:r>
                        <a:rPr sz="1875" b="1">
                          <a:solidFill>
                            <a:srgbClr val="FFFFFF"/>
                          </a:solidFill>
                          <a:latin typeface="Aptos"/>
                          <a:ea typeface="Aptos"/>
                          <a:cs typeface="Aptos"/>
                        </a:rPr>
                        <a:t>Question</a:t>
                      </a:r>
                    </a:p>
                  </a:txBody>
                  <a:tcPr marL="133350" marR="133350" marT="114300" marB="95250">
                    <a:solidFill>
                      <a:srgbClr val="087F8C"/>
                    </a:solidFill>
                  </a:tcPr>
                </a:tc>
                <a:tc>
                  <a:txBody>
                    <a:bodyPr/>
                    <a:lstStyle/>
                    <a:p>
                      <a:r>
                        <a:rPr sz="1875" b="1">
                          <a:solidFill>
                            <a:srgbClr val="FFFFFF"/>
                          </a:solidFill>
                          <a:latin typeface="Aptos"/>
                          <a:ea typeface="Aptos"/>
                          <a:cs typeface="Aptos"/>
                        </a:rPr>
                        <a:t>Intended result</a:t>
                      </a:r>
                    </a:p>
                  </a:txBody>
                  <a:tcPr marL="133350" marR="133350" marT="114300" marB="95250">
                    <a:solidFill>
                      <a:srgbClr val="087F8C"/>
                    </a:solidFill>
                  </a:tcPr>
                </a:tc>
              </a:tr>
              <a:tr h="628650">
                <a:tc>
                  <a:txBody>
                    <a:bodyPr/>
                    <a:lstStyle/>
                    <a:p>
                      <a:r>
                        <a:rPr sz="1950">
                          <a:solidFill>
                            <a:srgbClr val="172B46"/>
                          </a:solidFill>
                          <a:latin typeface="Aptos"/>
                          <a:ea typeface="Aptos"/>
                          <a:cs typeface="Aptos"/>
                        </a:rPr>
                        <a:t>Where is PK101?</a:t>
                      </a:r>
                    </a:p>
                  </a:txBody>
                  <a:tcPr marL="133350" marR="133350" marT="114300" marB="95250">
                    <a:solidFill>
                      <a:srgbClr val="FFFFFF"/>
                    </a:solidFill>
                  </a:tcPr>
                </a:tc>
                <a:tc>
                  <a:txBody>
                    <a:bodyPr/>
                    <a:lstStyle/>
                    <a:p>
                      <a:r>
                        <a:rPr sz="1950">
                          <a:solidFill>
                            <a:srgbClr val="172B46"/>
                          </a:solidFill>
                          <a:latin typeface="Aptos"/>
                          <a:ea typeface="Aptos"/>
                          <a:cs typeface="Aptos"/>
                        </a:rPr>
                        <a:t>Status tool reads the saved record</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Can I give cash to the rider?</a:t>
                      </a:r>
                    </a:p>
                  </a:txBody>
                  <a:tcPr marL="133350" marR="133350" marT="114300" marB="95250">
                    <a:solidFill>
                      <a:srgbClr val="FFFFFF"/>
                    </a:solidFill>
                  </a:tcPr>
                </a:tc>
                <a:tc>
                  <a:txBody>
                    <a:bodyPr/>
                    <a:lstStyle/>
                    <a:p>
                      <a:r>
                        <a:rPr sz="1950">
                          <a:solidFill>
                            <a:srgbClr val="172B46"/>
                          </a:solidFill>
                          <a:latin typeface="Aptos"/>
                          <a:ea typeface="Aptos"/>
                          <a:cs typeface="Aptos"/>
                        </a:rPr>
                        <a:t>Policy search retrieves payment [P2]</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My parcel is broken. What now?</a:t>
                      </a:r>
                    </a:p>
                  </a:txBody>
                  <a:tcPr marL="133350" marR="133350" marT="114300" marB="95250">
                    <a:solidFill>
                      <a:srgbClr val="FFFFFF"/>
                    </a:solidFill>
                  </a:tcPr>
                </a:tc>
                <a:tc>
                  <a:txBody>
                    <a:bodyPr/>
                    <a:lstStyle/>
                    <a:p>
                      <a:r>
                        <a:rPr sz="1950">
                          <a:solidFill>
                            <a:srgbClr val="172B46"/>
                          </a:solidFill>
                          <a:latin typeface="Aptos"/>
                          <a:ea typeface="Aptos"/>
                          <a:cs typeface="Aptos"/>
                        </a:rPr>
                        <a:t>Policy search retrieves damage [P3]</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Where is PK101, and can I pay on arrival?</a:t>
                      </a:r>
                    </a:p>
                  </a:txBody>
                  <a:tcPr marL="133350" marR="133350" marT="114300" marB="95250">
                    <a:solidFill>
                      <a:srgbClr val="FFFFFF"/>
                    </a:solidFill>
                  </a:tcPr>
                </a:tc>
                <a:tc>
                  <a:txBody>
                    <a:bodyPr/>
                    <a:lstStyle/>
                    <a:p>
                      <a:r>
                        <a:rPr sz="1950">
                          <a:solidFill>
                            <a:srgbClr val="172B46"/>
                          </a:solidFill>
                          <a:latin typeface="Aptos"/>
                          <a:ea typeface="Aptos"/>
                          <a:cs typeface="Aptos"/>
                        </a:rPr>
                        <a:t>Both tools supply evidence</a:t>
                      </a:r>
                    </a:p>
                  </a:txBody>
                  <a:tcPr marL="133350" marR="133350" marT="114300" marB="95250">
                    <a:solidFill>
                      <a:srgbClr val="FFFFFF"/>
                    </a:solidFill>
                  </a:tcPr>
                </a:tc>
              </a:tr>
            </a:tbl>
          </a:graphicData>
        </a:graphic>
      </p:graphicFrame>
      <p:sp>
        <p:nvSpPr>
          <p:cNvPr id="5" name="brand">
            <a:extLst xmlns:a="http://schemas.openxmlformats.org/drawingml/2006/main">
              <a:ext uri="{FF2B5EF4-FFF2-40B4-BE49-F238E27FC236}">
                <a16:creationId xmlns:a16="http://schemas.microsoft.com/office/drawing/2014/main" id="{CC9BD271-0DEB-4C38-940F-E8DC0E611122}"/>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276F177B-9F58-43DC-A1D7-7AE127F1FA5E}"/>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55/56</a:t>
            </a:r>
          </a:p>
        </p:txBody>
      </p:sp>
    </p:spTree>
    <p:extLst>
      <p:ext uri="{BB962C8B-B14F-4D97-AF65-F5344CB8AC3E}">
        <p14:creationId xmlns:p14="http://schemas.microsoft.com/office/powerpoint/2010/main" val="766837456"/>
      </p:ext>
    </p:extLst>
  </p:cSld>
</p:sld>
</file>

<file path=ppt/slides/slide5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3846C82-B63C-4C0C-9072-65836B013F72}"/>
              </a:ext>
            </a:extLst>
          </p:cNvPr>
          <p:cNvSpPr>
            <a:spLocks xmlns:a="http://schemas.openxmlformats.org/drawingml/2006/main" noGrp="1"/>
          </p:cNvSpPr>
          <p:nvPr/>
        </p:nvSpPr>
        <p:spPr>
          <a:xfrm xmlns:a="http://schemas.openxmlformats.org/drawingml/2006/main">
            <a:off x="552450" y="2762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C"/>
                </a:solidFill>
                <a:latin typeface="Aptos"/>
                <a:ea typeface="Aptos"/>
                <a:cs typeface="Aptos"/>
              </a:defRPr>
            </a:defPPr>
          </a:lstStyle>
          <a:p xmlns:a="http://schemas.openxmlformats.org/drawingml/2006/main">
            <a:pPr>
              <a:defRPr sz="1200" b="1">
                <a:solidFill>
                  <a:srgbClr val="087F8C"/>
                </a:solidFill>
                <a:latin typeface="Aptos"/>
                <a:ea typeface="Aptos"/>
                <a:cs typeface="Aptos"/>
              </a:defRPr>
            </a:pPr>
            <a:r>
              <a:rPr sz="1200" b="1">
                <a:solidFill>
                  <a:srgbClr val="087F8C"/>
                </a:solidFill>
                <a:latin typeface="Aptos"/>
                <a:ea typeface="Aptos"/>
                <a:cs typeface="Aptos"/>
              </a:rPr>
              <a:t>BANO QABIL  /  MODULE 05  /  PARCEL SUPPORT PROJECT</a:t>
            </a:r>
          </a:p>
        </p:txBody>
      </p:sp>
      <p:sp>
        <p:nvSpPr>
          <p:cNvPr id="2" name="title">
            <a:extLst xmlns:a="http://schemas.openxmlformats.org/drawingml/2006/main">
              <a:ext uri="{FF2B5EF4-FFF2-40B4-BE49-F238E27FC236}">
                <a16:creationId xmlns:a16="http://schemas.microsoft.com/office/drawing/2014/main" id="{95E838B5-1D88-42F7-B259-AE3220C927EF}"/>
              </a:ext>
            </a:extLst>
          </p:cNvPr>
          <p:cNvSpPr>
            <a:spLocks xmlns:a="http://schemas.openxmlformats.org/drawingml/2006/main" noGrp="1"/>
          </p:cNvSpPr>
          <p:nvPr/>
        </p:nvSpPr>
        <p:spPr>
          <a:xfrm xmlns:a="http://schemas.openxmlformats.org/drawingml/2006/main">
            <a:off x="552450" y="8191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72B46"/>
                </a:solidFill>
                <a:latin typeface="Aptos"/>
                <a:ea typeface="Aptos"/>
                <a:cs typeface="Aptos"/>
              </a:defRPr>
            </a:defPPr>
          </a:lstStyle>
          <a:p xmlns:a="http://schemas.openxmlformats.org/drawingml/2006/main">
            <a:pPr>
              <a:defRPr sz="3200" b="1">
                <a:solidFill>
                  <a:srgbClr val="172B46"/>
                </a:solidFill>
                <a:latin typeface="Aptos"/>
                <a:ea typeface="Aptos"/>
                <a:cs typeface="Aptos"/>
              </a:defRPr>
            </a:pPr>
            <a:r>
              <a:rPr sz="3200" b="1">
                <a:solidFill>
                  <a:srgbClr val="172B46"/>
                </a:solidFill>
                <a:latin typeface="Aptos"/>
                <a:ea typeface="Aptos"/>
                <a:cs typeface="Aptos"/>
              </a:rPr>
              <a:t>Missing information and real-world use</a:t>
            </a:r>
          </a:p>
        </p:txBody>
      </p:sp>
      <p:sp>
        <p:nvSpPr>
          <p:cNvPr id="3" name="subtitle">
            <a:extLst xmlns:a="http://schemas.openxmlformats.org/drawingml/2006/main">
              <a:ext uri="{FF2B5EF4-FFF2-40B4-BE49-F238E27FC236}">
                <a16:creationId xmlns:a16="http://schemas.microsoft.com/office/drawing/2014/main" id="{86DA31F2-728E-4502-81DF-410CA6033DCB}"/>
              </a:ext>
            </a:extLst>
          </p:cNvPr>
          <p:cNvSpPr>
            <a:spLocks xmlns:a="http://schemas.openxmlformats.org/drawingml/2006/main" noGrp="1"/>
          </p:cNvSpPr>
          <p:nvPr/>
        </p:nvSpPr>
        <p:spPr>
          <a:xfrm xmlns:a="http://schemas.openxmlformats.org/drawingml/2006/main">
            <a:off x="552450" y="160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0">
                <a:solidFill>
                  <a:srgbClr val="63738A"/>
                </a:solidFill>
                <a:latin typeface="Aptos"/>
                <a:ea typeface="Aptos"/>
                <a:cs typeface="Aptos"/>
              </a:defRPr>
            </a:defPPr>
          </a:lstStyle>
          <a:p xmlns:a="http://schemas.openxmlformats.org/drawingml/2006/main">
            <a:pPr>
              <a:defRPr sz="2000" b="0">
                <a:solidFill>
                  <a:srgbClr val="63738A"/>
                </a:solidFill>
                <a:latin typeface="Aptos"/>
                <a:ea typeface="Aptos"/>
                <a:cs typeface="Aptos"/>
              </a:defRPr>
            </a:pPr>
            <a:r>
              <a:rPr sz="2000" b="0">
                <a:solidFill>
                  <a:srgbClr val="63738A"/>
                </a:solidFill>
                <a:latin typeface="Aptos"/>
                <a:ea typeface="Aptos"/>
                <a:cs typeface="Aptos"/>
              </a:rPr>
              <a:t>A useful assistant must know where its evidence ends</a:t>
            </a:r>
          </a:p>
        </p:txBody>
      </p:sp>
      <p:graphicFrame>
        <p:nvGraphicFramePr>
          <p:cNvPr id="4" name="">
            <a:extLst xmlns:a="http://schemas.openxmlformats.org/drawingml/2006/main">
              <a:ext uri="{FF2B5EF4-FFF2-40B4-BE49-F238E27FC236}">
                <a16:creationId xmlns:a16="http://schemas.microsoft.com/office/drawing/2014/main" id="{EEC26A3C-8187-42D0-A78F-18F54408C71C}"/>
              </a:ext>
            </a:extLst>
          </p:cNvPr>
          <p:cNvGraphicFramePr/>
          <p:nvPr/>
        </p:nvGraphicFramePr>
        <p:xfrm>
          <a:off xmlns:a="http://schemas.openxmlformats.org/drawingml/2006/main" x="552450" y="2505075"/>
          <a:ext xmlns:a="http://schemas.openxmlformats.org/drawingml/2006/main" cx="11049000" cy="3143250"/>
        </p:xfrm>
        <a:graphic xmlns:a="http://schemas.openxmlformats.org/drawingml/2006/main">
          <a:graphicData uri="http://schemas.openxmlformats.org/drawingml/2006/table">
            <a:tbl>
              <a:tblPr/>
              <a:tblGrid>
                <a:gridCol w="5953125"/>
                <a:gridCol w="5095875"/>
              </a:tblGrid>
              <a:tr h="628650">
                <a:tc>
                  <a:txBody>
                    <a:bodyPr/>
                    <a:lstStyle/>
                    <a:p>
                      <a:r>
                        <a:rPr sz="1875" b="1">
                          <a:solidFill>
                            <a:srgbClr val="FFFFFF"/>
                          </a:solidFill>
                          <a:latin typeface="Aptos"/>
                          <a:ea typeface="Aptos"/>
                          <a:cs typeface="Aptos"/>
                        </a:rPr>
                        <a:t>Question or issue</a:t>
                      </a:r>
                    </a:p>
                  </a:txBody>
                  <a:tcPr marL="133350" marR="133350" marT="114300" marB="95250">
                    <a:solidFill>
                      <a:srgbClr val="087F8C"/>
                    </a:solidFill>
                  </a:tcPr>
                </a:tc>
                <a:tc>
                  <a:txBody>
                    <a:bodyPr/>
                    <a:lstStyle/>
                    <a:p>
                      <a:r>
                        <a:rPr sz="1875" b="1">
                          <a:solidFill>
                            <a:srgbClr val="FFFFFF"/>
                          </a:solidFill>
                          <a:latin typeface="Aptos"/>
                          <a:ea typeface="Aptos"/>
                          <a:cs typeface="Aptos"/>
                        </a:rPr>
                        <a:t>What students should verify</a:t>
                      </a:r>
                    </a:p>
                  </a:txBody>
                  <a:tcPr marL="133350" marR="133350" marT="114300" marB="95250">
                    <a:solidFill>
                      <a:srgbClr val="087F8C"/>
                    </a:solidFill>
                  </a:tcPr>
                </a:tc>
              </a:tr>
              <a:tr h="628650">
                <a:tc>
                  <a:txBody>
                    <a:bodyPr/>
                    <a:lstStyle/>
                    <a:p>
                      <a:r>
                        <a:rPr sz="1950">
                          <a:solidFill>
                            <a:srgbClr val="172B46"/>
                          </a:solidFill>
                          <a:latin typeface="Aptos"/>
                          <a:ea typeface="Aptos"/>
                          <a:cs typeface="Aptos"/>
                        </a:rPr>
                        <a:t>Where is my parcel?</a:t>
                      </a:r>
                    </a:p>
                  </a:txBody>
                  <a:tcPr marL="133350" marR="133350" marT="114300" marB="95250">
                    <a:solidFill>
                      <a:srgbClr val="FFFFFF"/>
                    </a:solidFill>
                  </a:tcPr>
                </a:tc>
                <a:tc>
                  <a:txBody>
                    <a:bodyPr/>
                    <a:lstStyle/>
                    <a:p>
                      <a:r>
                        <a:rPr sz="1950">
                          <a:solidFill>
                            <a:srgbClr val="172B46"/>
                          </a:solidFill>
                          <a:latin typeface="Aptos"/>
                          <a:ea typeface="Aptos"/>
                          <a:cs typeface="Aptos"/>
                        </a:rPr>
                        <a:t>Ask for a tracking ID</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Where is PK999?</a:t>
                      </a:r>
                    </a:p>
                  </a:txBody>
                  <a:tcPr marL="133350" marR="133350" marT="114300" marB="95250">
                    <a:solidFill>
                      <a:srgbClr val="FFFFFF"/>
                    </a:solidFill>
                  </a:tcPr>
                </a:tc>
                <a:tc>
                  <a:txBody>
                    <a:bodyPr/>
                    <a:lstStyle/>
                    <a:p>
                      <a:r>
                        <a:rPr sz="1950">
                          <a:solidFill>
                            <a:srgbClr val="172B46"/>
                          </a:solidFill>
                          <a:latin typeface="Aptos"/>
                          <a:ea typeface="Aptos"/>
                          <a:cs typeface="Aptos"/>
                        </a:rPr>
                        <a:t>Return the saved not-found response</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What is your refund period?</a:t>
                      </a:r>
                    </a:p>
                  </a:txBody>
                  <a:tcPr marL="133350" marR="133350" marT="114300" marB="95250">
                    <a:solidFill>
                      <a:srgbClr val="FFFFFF"/>
                    </a:solidFill>
                  </a:tcPr>
                </a:tc>
                <a:tc>
                  <a:txBody>
                    <a:bodyPr/>
                    <a:lstStyle/>
                    <a:p>
                      <a:r>
                        <a:rPr sz="1950">
                          <a:solidFill>
                            <a:srgbClr val="172B46"/>
                          </a:solidFill>
                          <a:latin typeface="Aptos"/>
                          <a:ea typeface="Aptos"/>
                          <a:cs typeface="Aptos"/>
                        </a:rPr>
                        <a:t>Admit the saved policies do not specify it</a:t>
                      </a:r>
                    </a:p>
                  </a:txBody>
                  <a:tcPr marL="133350" marR="133350" marT="114300" marB="95250">
                    <a:solidFill>
                      <a:srgbClr val="FFFFFF"/>
                    </a:solidFill>
                  </a:tcPr>
                </a:tc>
              </a:tr>
              <a:tr h="628650">
                <a:tc>
                  <a:txBody>
                    <a:bodyPr/>
                    <a:lstStyle/>
                    <a:p>
                      <a:r>
                        <a:rPr sz="1950">
                          <a:solidFill>
                            <a:srgbClr val="172B46"/>
                          </a:solidFill>
                          <a:latin typeface="Aptos"/>
                          <a:ea typeface="Aptos"/>
                          <a:cs typeface="Aptos"/>
                        </a:rPr>
                        <a:t>Change PK101 to delivered.</a:t>
                      </a:r>
                    </a:p>
                  </a:txBody>
                  <a:tcPr marL="133350" marR="133350" marT="114300" marB="95250">
                    <a:solidFill>
                      <a:srgbClr val="FFFFFF"/>
                    </a:solidFill>
                  </a:tcPr>
                </a:tc>
                <a:tc>
                  <a:txBody>
                    <a:bodyPr/>
                    <a:lstStyle/>
                    <a:p>
                      <a:r>
                        <a:rPr sz="1950">
                          <a:solidFill>
                            <a:srgbClr val="172B46"/>
                          </a:solidFill>
                          <a:latin typeface="Aptos"/>
                          <a:ea typeface="Aptos"/>
                          <a:cs typeface="Aptos"/>
                        </a:rPr>
                        <a:t>Do not claim a record update</a:t>
                      </a:r>
                    </a:p>
                  </a:txBody>
                  <a:tcPr marL="133350" marR="133350" marT="114300" marB="95250">
                    <a:solidFill>
                      <a:srgbClr val="FFFFFF"/>
                    </a:solidFill>
                  </a:tcPr>
                </a:tc>
              </a:tr>
            </a:tbl>
          </a:graphicData>
        </a:graphic>
      </p:graphicFrame>
      <p:sp>
        <p:nvSpPr>
          <p:cNvPr id="5" name="brand">
            <a:extLst xmlns:a="http://schemas.openxmlformats.org/drawingml/2006/main">
              <a:ext uri="{FF2B5EF4-FFF2-40B4-BE49-F238E27FC236}">
                <a16:creationId xmlns:a16="http://schemas.microsoft.com/office/drawing/2014/main" id="{CD7F4FBF-0B24-4501-B0A7-88F427E4F177}"/>
              </a:ext>
            </a:extLst>
          </p:cNvPr>
          <p:cNvSpPr>
            <a:spLocks xmlns:a="http://schemas.openxmlformats.org/drawingml/2006/main" noGrp="1"/>
          </p:cNvSpPr>
          <p:nvPr/>
        </p:nvSpPr>
        <p:spPr>
          <a:xfrm xmlns:a="http://schemas.openxmlformats.org/drawingml/2006/main">
            <a:off x="55245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Prepared by Engr Usman Hasan</a:t>
            </a:r>
          </a:p>
        </p:txBody>
      </p:sp>
      <p:sp>
        <p:nvSpPr>
          <p:cNvPr id="6" name="page">
            <a:extLst xmlns:a="http://schemas.openxmlformats.org/drawingml/2006/main">
              <a:ext uri="{FF2B5EF4-FFF2-40B4-BE49-F238E27FC236}">
                <a16:creationId xmlns:a16="http://schemas.microsoft.com/office/drawing/2014/main" id="{26146CBE-4EDE-44B3-A4E2-63CB3B6A9D00}"/>
              </a:ext>
            </a:extLst>
          </p:cNvPr>
          <p:cNvSpPr>
            <a:spLocks xmlns:a="http://schemas.openxmlformats.org/drawingml/2006/main" noGrp="1"/>
          </p:cNvSpPr>
          <p:nvPr/>
        </p:nvSpPr>
        <p:spPr>
          <a:xfrm xmlns:a="http://schemas.openxmlformats.org/drawingml/2006/main">
            <a:off x="10791825" y="64293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00" b="0">
                <a:solidFill>
                  <a:srgbClr val="63738A"/>
                </a:solidFill>
                <a:latin typeface="Aptos"/>
                <a:ea typeface="Aptos"/>
                <a:cs typeface="Aptos"/>
              </a:defRPr>
            </a:defPPr>
          </a:lstStyle>
          <a:p xmlns:a="http://schemas.openxmlformats.org/drawingml/2006/main">
            <a:pPr>
              <a:defRPr sz="1100" b="0">
                <a:solidFill>
                  <a:srgbClr val="63738A"/>
                </a:solidFill>
                <a:latin typeface="Aptos"/>
                <a:ea typeface="Aptos"/>
                <a:cs typeface="Aptos"/>
              </a:defRPr>
            </a:pPr>
            <a:r>
              <a:rPr sz="1100" b="0">
                <a:solidFill>
                  <a:srgbClr val="63738A"/>
                </a:solidFill>
                <a:latin typeface="Aptos"/>
                <a:ea typeface="Aptos"/>
                <a:cs typeface="Aptos"/>
              </a:rPr>
              <a:t>56/56</a:t>
            </a:r>
          </a:p>
        </p:txBody>
      </p:sp>
    </p:spTree>
    <p:extLst>
      <p:ext uri="{BB962C8B-B14F-4D97-AF65-F5344CB8AC3E}">
        <p14:creationId xmlns:p14="http://schemas.microsoft.com/office/powerpoint/2010/main" val="140525587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2026-10-09T19:58:20.8820000Z</dcterms:created>
  <dcterms:modified xsi:type="dcterms:W3CDTF">2026-10-09T19:58:20.8820000Z</dcterms:modified>
</coreProperties>
</file>