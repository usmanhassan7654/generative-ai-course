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67ee161dea48f6" /><Relationship Type="http://schemas.openxmlformats.org/officeDocument/2006/relationships/extended-properties" Target="/docProps/app.xml" Id="R47dd3b65de534903" /><Relationship Type="http://schemas.openxmlformats.org/officeDocument/2006/relationships/officeDocument" Target="/ppt/presentation.xml" Id="Rd0d5467dd2f34b85" /></Relationships>
</file>

<file path=ppt/presentation.xml><?xml version="1.0" encoding="utf-8"?>
<p:presentation xmlns:p="http://schemas.openxmlformats.org/presentationml/2006/main">
  <p:sldMasterIdLst>
    <p:sldMasterId xmlns:r="http://schemas.openxmlformats.org/officeDocument/2006/relationships" id="2147483648" r:id="Rb92586450f89484a"/>
  </p:sldMasterIdLst>
  <p:notesMasterIdLst>
    <p:notesMasterId xmlns:r="http://schemas.openxmlformats.org/officeDocument/2006/relationships" r:id="R16a79f57fda8410d"/>
  </p:notesMasterIdLst>
  <p:sldIdLst>
    <p:sldId xmlns:r="http://schemas.openxmlformats.org/officeDocument/2006/relationships" id="256" r:id="R0be70b4be17541a3"/>
    <p:sldId xmlns:r="http://schemas.openxmlformats.org/officeDocument/2006/relationships" id="257" r:id="R79fab375bfbf4159"/>
    <p:sldId xmlns:r="http://schemas.openxmlformats.org/officeDocument/2006/relationships" id="258" r:id="Rf8fa77bbcbe948c5"/>
    <p:sldId xmlns:r="http://schemas.openxmlformats.org/officeDocument/2006/relationships" id="259" r:id="R5f71c90aa4e849ee"/>
    <p:sldId xmlns:r="http://schemas.openxmlformats.org/officeDocument/2006/relationships" id="260" r:id="Rfdbf95f4f54746a2"/>
    <p:sldId xmlns:r="http://schemas.openxmlformats.org/officeDocument/2006/relationships" id="261" r:id="R523082558b6749f2"/>
    <p:sldId xmlns:r="http://schemas.openxmlformats.org/officeDocument/2006/relationships" id="262" r:id="Rff7cefee19ad448c"/>
    <p:sldId xmlns:r="http://schemas.openxmlformats.org/officeDocument/2006/relationships" id="263" r:id="R6a366453f416457d"/>
    <p:sldId xmlns:r="http://schemas.openxmlformats.org/officeDocument/2006/relationships" id="264" r:id="R87c9b1849d514199"/>
    <p:sldId xmlns:r="http://schemas.openxmlformats.org/officeDocument/2006/relationships" id="265" r:id="R758632cb8c634d6a"/>
    <p:sldId xmlns:r="http://schemas.openxmlformats.org/officeDocument/2006/relationships" id="266" r:id="R4f041b63737a4729"/>
    <p:sldId xmlns:r="http://schemas.openxmlformats.org/officeDocument/2006/relationships" id="267" r:id="Rf1b6ca7845ee41c2"/>
    <p:sldId xmlns:r="http://schemas.openxmlformats.org/officeDocument/2006/relationships" id="268" r:id="R12d0761c26384810"/>
    <p:sldId xmlns:r="http://schemas.openxmlformats.org/officeDocument/2006/relationships" id="269" r:id="R7d6e4664fbda4769"/>
    <p:sldId xmlns:r="http://schemas.openxmlformats.org/officeDocument/2006/relationships" id="270" r:id="Rd775d3b109874243"/>
    <p:sldId xmlns:r="http://schemas.openxmlformats.org/officeDocument/2006/relationships" id="271" r:id="R46f45059b8264896"/>
    <p:sldId xmlns:r="http://schemas.openxmlformats.org/officeDocument/2006/relationships" id="272" r:id="R6c1ca25a6ce5411d"/>
    <p:sldId xmlns:r="http://schemas.openxmlformats.org/officeDocument/2006/relationships" id="273" r:id="Re1d6e4ff39784115"/>
    <p:sldId xmlns:r="http://schemas.openxmlformats.org/officeDocument/2006/relationships" id="274" r:id="R23179a60a900482f"/>
    <p:sldId xmlns:r="http://schemas.openxmlformats.org/officeDocument/2006/relationships" id="275" r:id="R75271d6fca3c49c7"/>
    <p:sldId xmlns:r="http://schemas.openxmlformats.org/officeDocument/2006/relationships" id="276" r:id="R29989baefa4b4052"/>
    <p:sldId xmlns:r="http://schemas.openxmlformats.org/officeDocument/2006/relationships" id="277" r:id="Rafa759bd71e24f80"/>
    <p:sldId xmlns:r="http://schemas.openxmlformats.org/officeDocument/2006/relationships" id="278" r:id="R74026dc1cead4503"/>
    <p:sldId xmlns:r="http://schemas.openxmlformats.org/officeDocument/2006/relationships" id="279" r:id="Ra2ea0b27b91d4aa9"/>
    <p:sldId xmlns:r="http://schemas.openxmlformats.org/officeDocument/2006/relationships" id="280" r:id="R504e9c5a6d8a4457"/>
    <p:sldId xmlns:r="http://schemas.openxmlformats.org/officeDocument/2006/relationships" id="281" r:id="R9be308a2b1ad465a"/>
    <p:sldId xmlns:r="http://schemas.openxmlformats.org/officeDocument/2006/relationships" id="282" r:id="Rbe4d8c2274324c4c"/>
    <p:sldId xmlns:r="http://schemas.openxmlformats.org/officeDocument/2006/relationships" id="283" r:id="Rf578dcfd585d446b"/>
    <p:sldId xmlns:r="http://schemas.openxmlformats.org/officeDocument/2006/relationships" id="284" r:id="R7d5d382fa16747ed"/>
    <p:sldId xmlns:r="http://schemas.openxmlformats.org/officeDocument/2006/relationships" id="285" r:id="R717e00ebb20440c5"/>
    <p:sldId xmlns:r="http://schemas.openxmlformats.org/officeDocument/2006/relationships" id="286" r:id="R5e81d844959b4ba2"/>
    <p:sldId xmlns:r="http://schemas.openxmlformats.org/officeDocument/2006/relationships" id="287" r:id="R8ebe3c3d70a84e15"/>
    <p:sldId xmlns:r="http://schemas.openxmlformats.org/officeDocument/2006/relationships" id="288" r:id="R5d40622465e14173"/>
    <p:sldId xmlns:r="http://schemas.openxmlformats.org/officeDocument/2006/relationships" id="289" r:id="Ra590636e97aa44fa"/>
    <p:sldId xmlns:r="http://schemas.openxmlformats.org/officeDocument/2006/relationships" id="290" r:id="R7f9ab632ee6b4463"/>
    <p:sldId xmlns:r="http://schemas.openxmlformats.org/officeDocument/2006/relationships" id="291" r:id="Rd8757c505dab429e"/>
    <p:sldId xmlns:r="http://schemas.openxmlformats.org/officeDocument/2006/relationships" id="292" r:id="Rf15be847883c4c1e"/>
    <p:sldId xmlns:r="http://schemas.openxmlformats.org/officeDocument/2006/relationships" id="293" r:id="Re0887464dd6c464f"/>
    <p:sldId xmlns:r="http://schemas.openxmlformats.org/officeDocument/2006/relationships" id="294" r:id="R3c994d0a5367494a"/>
    <p:sldId xmlns:r="http://schemas.openxmlformats.org/officeDocument/2006/relationships" id="295" r:id="Rb56ffd36b3594b9e"/>
    <p:sldId xmlns:r="http://schemas.openxmlformats.org/officeDocument/2006/relationships" id="296" r:id="R7891badeca5d431f"/>
    <p:sldId xmlns:r="http://schemas.openxmlformats.org/officeDocument/2006/relationships" id="297" r:id="R14269f8d53274e31"/>
    <p:sldId xmlns:r="http://schemas.openxmlformats.org/officeDocument/2006/relationships" id="298" r:id="R8321883a052840ef"/>
    <p:sldId xmlns:r="http://schemas.openxmlformats.org/officeDocument/2006/relationships" id="299" r:id="Rf2da0d5c3045492d"/>
    <p:sldId xmlns:r="http://schemas.openxmlformats.org/officeDocument/2006/relationships" id="300" r:id="Re9a1b0e846a44aa8"/>
    <p:sldId xmlns:r="http://schemas.openxmlformats.org/officeDocument/2006/relationships" id="301" r:id="R680408ab48484622"/>
    <p:sldId xmlns:r="http://schemas.openxmlformats.org/officeDocument/2006/relationships" id="302" r:id="R468c553546754468"/>
    <p:sldId xmlns:r="http://schemas.openxmlformats.org/officeDocument/2006/relationships" id="303" r:id="R7bba193343634129"/>
    <p:sldId xmlns:r="http://schemas.openxmlformats.org/officeDocument/2006/relationships" id="304" r:id="R52be6f78c4af4611"/>
    <p:sldId xmlns:r="http://schemas.openxmlformats.org/officeDocument/2006/relationships" id="305" r:id="R5a0570af02cf42fa"/>
    <p:sldId xmlns:r="http://schemas.openxmlformats.org/officeDocument/2006/relationships" id="306" r:id="R934d5bf181dd46cb"/>
    <p:sldId xmlns:r="http://schemas.openxmlformats.org/officeDocument/2006/relationships" id="307" r:id="Rfb4b629c15a043a7"/>
    <p:sldId xmlns:r="http://schemas.openxmlformats.org/officeDocument/2006/relationships" id="308" r:id="R2f8fb6525bee498b"/>
    <p:sldId xmlns:r="http://schemas.openxmlformats.org/officeDocument/2006/relationships" id="309" r:id="Raa9298dd464b4420"/>
    <p:sldId xmlns:r="http://schemas.openxmlformats.org/officeDocument/2006/relationships" id="310" r:id="R03a8a40914114f98"/>
    <p:sldId xmlns:r="http://schemas.openxmlformats.org/officeDocument/2006/relationships" id="311" r:id="R0a9cb377d4cc44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636c23ce6f415f" /><Relationship Type="http://schemas.openxmlformats.org/officeDocument/2006/relationships/slideMaster" Target="/ppt/slideMasters/slideMaster1.xml" Id="Rb92586450f89484a" /><Relationship Type="http://schemas.openxmlformats.org/officeDocument/2006/relationships/notesMaster" Target="/ppt/notesMasters/notesMaster1.xml" Id="R16a79f57fda8410d" /><Relationship Type="http://schemas.openxmlformats.org/officeDocument/2006/relationships/presProps" Target="/ppt/presProps.xml" Id="R066c2f6c391f4faf" /><Relationship Type="http://schemas.openxmlformats.org/officeDocument/2006/relationships/tableStyles" Target="/ppt/tableStyles.xml" Id="Rbf63cce88d094605" /><Relationship Type="http://schemas.openxmlformats.org/officeDocument/2006/relationships/slide" Target="/ppt/slides/slide1.xml" Id="R0be70b4be17541a3" /><Relationship Type="http://schemas.openxmlformats.org/officeDocument/2006/relationships/slide" Target="/ppt/slides/slide2.xml" Id="R79fab375bfbf4159" /><Relationship Type="http://schemas.openxmlformats.org/officeDocument/2006/relationships/slide" Target="/ppt/slides/slide3.xml" Id="Rf8fa77bbcbe948c5" /><Relationship Type="http://schemas.openxmlformats.org/officeDocument/2006/relationships/slide" Target="/ppt/slides/slide4.xml" Id="R5f71c90aa4e849ee" /><Relationship Type="http://schemas.openxmlformats.org/officeDocument/2006/relationships/slide" Target="/ppt/slides/slide5.xml" Id="Rfdbf95f4f54746a2" /><Relationship Type="http://schemas.openxmlformats.org/officeDocument/2006/relationships/slide" Target="/ppt/slides/slide6.xml" Id="R523082558b6749f2" /><Relationship Type="http://schemas.openxmlformats.org/officeDocument/2006/relationships/slide" Target="/ppt/slides/slide7.xml" Id="Rff7cefee19ad448c" /><Relationship Type="http://schemas.openxmlformats.org/officeDocument/2006/relationships/slide" Target="/ppt/slides/slide8.xml" Id="R6a366453f416457d" /><Relationship Type="http://schemas.openxmlformats.org/officeDocument/2006/relationships/slide" Target="/ppt/slides/slide9.xml" Id="R87c9b1849d514199" /><Relationship Type="http://schemas.openxmlformats.org/officeDocument/2006/relationships/slide" Target="/ppt/slides/slide10.xml" Id="R758632cb8c634d6a" /><Relationship Type="http://schemas.openxmlformats.org/officeDocument/2006/relationships/slide" Target="/ppt/slides/slide11.xml" Id="R4f041b63737a4729" /><Relationship Type="http://schemas.openxmlformats.org/officeDocument/2006/relationships/slide" Target="/ppt/slides/slide12.xml" Id="Rf1b6ca7845ee41c2" /><Relationship Type="http://schemas.openxmlformats.org/officeDocument/2006/relationships/slide" Target="/ppt/slides/slide13.xml" Id="R12d0761c26384810" /><Relationship Type="http://schemas.openxmlformats.org/officeDocument/2006/relationships/slide" Target="/ppt/slides/slide14.xml" Id="R7d6e4664fbda4769" /><Relationship Type="http://schemas.openxmlformats.org/officeDocument/2006/relationships/slide" Target="/ppt/slides/slide15.xml" Id="Rd775d3b109874243" /><Relationship Type="http://schemas.openxmlformats.org/officeDocument/2006/relationships/slide" Target="/ppt/slides/slide16.xml" Id="R46f45059b8264896" /><Relationship Type="http://schemas.openxmlformats.org/officeDocument/2006/relationships/slide" Target="/ppt/slides/slide17.xml" Id="R6c1ca25a6ce5411d" /><Relationship Type="http://schemas.openxmlformats.org/officeDocument/2006/relationships/slide" Target="/ppt/slides/slide18.xml" Id="Re1d6e4ff39784115" /><Relationship Type="http://schemas.openxmlformats.org/officeDocument/2006/relationships/slide" Target="/ppt/slides/slide19.xml" Id="R23179a60a900482f" /><Relationship Type="http://schemas.openxmlformats.org/officeDocument/2006/relationships/slide" Target="/ppt/slides/slide20.xml" Id="R75271d6fca3c49c7" /><Relationship Type="http://schemas.openxmlformats.org/officeDocument/2006/relationships/slide" Target="/ppt/slides/slide21.xml" Id="R29989baefa4b4052" /><Relationship Type="http://schemas.openxmlformats.org/officeDocument/2006/relationships/slide" Target="/ppt/slides/slide22.xml" Id="Rafa759bd71e24f80" /><Relationship Type="http://schemas.openxmlformats.org/officeDocument/2006/relationships/slide" Target="/ppt/slides/slide23.xml" Id="R74026dc1cead4503" /><Relationship Type="http://schemas.openxmlformats.org/officeDocument/2006/relationships/slide" Target="/ppt/slides/slide24.xml" Id="Ra2ea0b27b91d4aa9" /><Relationship Type="http://schemas.openxmlformats.org/officeDocument/2006/relationships/slide" Target="/ppt/slides/slide25.xml" Id="R504e9c5a6d8a4457" /><Relationship Type="http://schemas.openxmlformats.org/officeDocument/2006/relationships/slide" Target="/ppt/slides/slide26.xml" Id="R9be308a2b1ad465a" /><Relationship Type="http://schemas.openxmlformats.org/officeDocument/2006/relationships/slide" Target="/ppt/slides/slide27.xml" Id="Rbe4d8c2274324c4c" /><Relationship Type="http://schemas.openxmlformats.org/officeDocument/2006/relationships/slide" Target="/ppt/slides/slide28.xml" Id="Rf578dcfd585d446b" /><Relationship Type="http://schemas.openxmlformats.org/officeDocument/2006/relationships/slide" Target="/ppt/slides/slide29.xml" Id="R7d5d382fa16747ed" /><Relationship Type="http://schemas.openxmlformats.org/officeDocument/2006/relationships/slide" Target="/ppt/slides/slide30.xml" Id="R717e00ebb20440c5" /><Relationship Type="http://schemas.openxmlformats.org/officeDocument/2006/relationships/slide" Target="/ppt/slides/slide31.xml" Id="R5e81d844959b4ba2" /><Relationship Type="http://schemas.openxmlformats.org/officeDocument/2006/relationships/slide" Target="/ppt/slides/slide32.xml" Id="R8ebe3c3d70a84e15" /><Relationship Type="http://schemas.openxmlformats.org/officeDocument/2006/relationships/slide" Target="/ppt/slides/slide33.xml" Id="R5d40622465e14173" /><Relationship Type="http://schemas.openxmlformats.org/officeDocument/2006/relationships/slide" Target="/ppt/slides/slide34.xml" Id="Ra590636e97aa44fa" /><Relationship Type="http://schemas.openxmlformats.org/officeDocument/2006/relationships/slide" Target="/ppt/slides/slide35.xml" Id="R7f9ab632ee6b4463" /><Relationship Type="http://schemas.openxmlformats.org/officeDocument/2006/relationships/slide" Target="/ppt/slides/slide36.xml" Id="Rd8757c505dab429e" /><Relationship Type="http://schemas.openxmlformats.org/officeDocument/2006/relationships/slide" Target="/ppt/slides/slide37.xml" Id="Rf15be847883c4c1e" /><Relationship Type="http://schemas.openxmlformats.org/officeDocument/2006/relationships/slide" Target="/ppt/slides/slide38.xml" Id="Re0887464dd6c464f" /><Relationship Type="http://schemas.openxmlformats.org/officeDocument/2006/relationships/slide" Target="/ppt/slides/slide39.xml" Id="R3c994d0a5367494a" /><Relationship Type="http://schemas.openxmlformats.org/officeDocument/2006/relationships/slide" Target="/ppt/slides/slide40.xml" Id="Rb56ffd36b3594b9e" /><Relationship Type="http://schemas.openxmlformats.org/officeDocument/2006/relationships/slide" Target="/ppt/slides/slide41.xml" Id="R7891badeca5d431f" /><Relationship Type="http://schemas.openxmlformats.org/officeDocument/2006/relationships/slide" Target="/ppt/slides/slide42.xml" Id="R14269f8d53274e31" /><Relationship Type="http://schemas.openxmlformats.org/officeDocument/2006/relationships/slide" Target="/ppt/slides/slide43.xml" Id="R8321883a052840ef" /><Relationship Type="http://schemas.openxmlformats.org/officeDocument/2006/relationships/slide" Target="/ppt/slides/slide44.xml" Id="Rf2da0d5c3045492d" /><Relationship Type="http://schemas.openxmlformats.org/officeDocument/2006/relationships/slide" Target="/ppt/slides/slide45.xml" Id="Re9a1b0e846a44aa8" /><Relationship Type="http://schemas.openxmlformats.org/officeDocument/2006/relationships/slide" Target="/ppt/slides/slide46.xml" Id="R680408ab48484622" /><Relationship Type="http://schemas.openxmlformats.org/officeDocument/2006/relationships/slide" Target="/ppt/slides/slide47.xml" Id="R468c553546754468" /><Relationship Type="http://schemas.openxmlformats.org/officeDocument/2006/relationships/slide" Target="/ppt/slides/slide48.xml" Id="R7bba193343634129" /><Relationship Type="http://schemas.openxmlformats.org/officeDocument/2006/relationships/slide" Target="/ppt/slides/slide49.xml" Id="R52be6f78c4af4611" /><Relationship Type="http://schemas.openxmlformats.org/officeDocument/2006/relationships/slide" Target="/ppt/slides/slide50.xml" Id="R5a0570af02cf42fa" /><Relationship Type="http://schemas.openxmlformats.org/officeDocument/2006/relationships/slide" Target="/ppt/slides/slide51.xml" Id="R934d5bf181dd46cb" /><Relationship Type="http://schemas.openxmlformats.org/officeDocument/2006/relationships/slide" Target="/ppt/slides/slide52.xml" Id="Rfb4b629c15a043a7" /><Relationship Type="http://schemas.openxmlformats.org/officeDocument/2006/relationships/slide" Target="/ppt/slides/slide53.xml" Id="R2f8fb6525bee498b" /><Relationship Type="http://schemas.openxmlformats.org/officeDocument/2006/relationships/slide" Target="/ppt/slides/slide54.xml" Id="Raa9298dd464b4420" /><Relationship Type="http://schemas.openxmlformats.org/officeDocument/2006/relationships/slide" Target="/ppt/slides/slide55.xml" Id="R03a8a40914114f98" /><Relationship Type="http://schemas.openxmlformats.org/officeDocument/2006/relationships/slide" Target="/ppt/slides/slide56.xml" Id="R0a9cb377d4cc44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742b2cc30646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fe351df44b456d" /><Relationship Type="http://schemas.openxmlformats.org/officeDocument/2006/relationships/notesMaster" Target="/ppt/notesMasters/notesMaster1.xml" Id="R4e4db8bcf29249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877a01d4de4b4d" /><Relationship Type="http://schemas.openxmlformats.org/officeDocument/2006/relationships/notesMaster" Target="/ppt/notesMasters/notesMaster1.xml" Id="R3b21ca2aea2347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4df91710e54122" /><Relationship Type="http://schemas.openxmlformats.org/officeDocument/2006/relationships/notesMaster" Target="/ppt/notesMasters/notesMaster1.xml" Id="Rae4726c2f27143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a71c1886a04930" /><Relationship Type="http://schemas.openxmlformats.org/officeDocument/2006/relationships/notesMaster" Target="/ppt/notesMasters/notesMaster1.xml" Id="R810e65de852a4a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04d03b189a4880" /><Relationship Type="http://schemas.openxmlformats.org/officeDocument/2006/relationships/notesMaster" Target="/ppt/notesMasters/notesMaster1.xml" Id="Rebe9f416867f42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20818bfc584afa" /><Relationship Type="http://schemas.openxmlformats.org/officeDocument/2006/relationships/notesMaster" Target="/ppt/notesMasters/notesMaster1.xml" Id="Rcb799dcc31494b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6563ea814e478d" /><Relationship Type="http://schemas.openxmlformats.org/officeDocument/2006/relationships/notesMaster" Target="/ppt/notesMasters/notesMaster1.xml" Id="Rbda10d2d79b348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fc352efa964fbc" /><Relationship Type="http://schemas.openxmlformats.org/officeDocument/2006/relationships/notesMaster" Target="/ppt/notesMasters/notesMaster1.xml" Id="Rce88238efeac4b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e7eec03db34efc" /><Relationship Type="http://schemas.openxmlformats.org/officeDocument/2006/relationships/notesMaster" Target="/ppt/notesMasters/notesMaster1.xml" Id="R33feeada27164f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fe4f9055db4a39" /><Relationship Type="http://schemas.openxmlformats.org/officeDocument/2006/relationships/notesMaster" Target="/ppt/notesMasters/notesMaster1.xml" Id="Rd7953398c3cf4e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31037c3069473d" /><Relationship Type="http://schemas.openxmlformats.org/officeDocument/2006/relationships/notesMaster" Target="/ppt/notesMasters/notesMaster1.xml" Id="R3ca047933f664c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c7993357fd42a7" /><Relationship Type="http://schemas.openxmlformats.org/officeDocument/2006/relationships/notesMaster" Target="/ppt/notesMasters/notesMaster1.xml" Id="R1c94b4243a1149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d3b64b014b4f5b" /><Relationship Type="http://schemas.openxmlformats.org/officeDocument/2006/relationships/notesMaster" Target="/ppt/notesMasters/notesMaster1.xml" Id="Rb923756b415d48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28f9ef835448c6" /><Relationship Type="http://schemas.openxmlformats.org/officeDocument/2006/relationships/notesMaster" Target="/ppt/notesMasters/notesMaster1.xml" Id="R14750fbf14424f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dd77bf39bd40de" /><Relationship Type="http://schemas.openxmlformats.org/officeDocument/2006/relationships/notesMaster" Target="/ppt/notesMasters/notesMaster1.xml" Id="R9efff7a6c12948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4f296dd766646e5" /><Relationship Type="http://schemas.openxmlformats.org/officeDocument/2006/relationships/notesMaster" Target="/ppt/notesMasters/notesMaster1.xml" Id="Red22320c3a734d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7a190db7f78484e" /><Relationship Type="http://schemas.openxmlformats.org/officeDocument/2006/relationships/notesMaster" Target="/ppt/notesMasters/notesMaster1.xml" Id="Rbc6b4e08ea40405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88b8f351674496" /><Relationship Type="http://schemas.openxmlformats.org/officeDocument/2006/relationships/notesMaster" Target="/ppt/notesMasters/notesMaster1.xml" Id="R313320bf363440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ea486564e85483c" /><Relationship Type="http://schemas.openxmlformats.org/officeDocument/2006/relationships/notesMaster" Target="/ppt/notesMasters/notesMaster1.xml" Id="R836c27b78f77433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50c99ce5ae04c14" /><Relationship Type="http://schemas.openxmlformats.org/officeDocument/2006/relationships/notesMaster" Target="/ppt/notesMasters/notesMaster1.xml" Id="Rab2b1815b40646a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ce324f66754d11" /><Relationship Type="http://schemas.openxmlformats.org/officeDocument/2006/relationships/notesMaster" Target="/ppt/notesMasters/notesMaster1.xml" Id="R6ee23e890098486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c0184b63f0d4486" /><Relationship Type="http://schemas.openxmlformats.org/officeDocument/2006/relationships/notesMaster" Target="/ppt/notesMasters/notesMaster1.xml" Id="R87283609bc7d49d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3885b4bab23411e" /><Relationship Type="http://schemas.openxmlformats.org/officeDocument/2006/relationships/notesMaster" Target="/ppt/notesMasters/notesMaster1.xml" Id="Rbee483835cf14e6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a2c5f8ff1b44afd" /><Relationship Type="http://schemas.openxmlformats.org/officeDocument/2006/relationships/notesMaster" Target="/ppt/notesMasters/notesMaster1.xml" Id="R7bb53d4ef0e7419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0a2d42c54f0454e" /><Relationship Type="http://schemas.openxmlformats.org/officeDocument/2006/relationships/notesMaster" Target="/ppt/notesMasters/notesMaster1.xml" Id="R0ff5c88747344d7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0faa17feea742c4" /><Relationship Type="http://schemas.openxmlformats.org/officeDocument/2006/relationships/notesMaster" Target="/ppt/notesMasters/notesMaster1.xml" Id="Rba937be681f644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26f5f5f24fb47d3" /><Relationship Type="http://schemas.openxmlformats.org/officeDocument/2006/relationships/notesMaster" Target="/ppt/notesMasters/notesMaster1.xml" Id="R775d15cd4b6f449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10476c5649a4abe" /><Relationship Type="http://schemas.openxmlformats.org/officeDocument/2006/relationships/notesMaster" Target="/ppt/notesMasters/notesMaster1.xml" Id="R8e1caca6241b484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2098f68c4344574" /><Relationship Type="http://schemas.openxmlformats.org/officeDocument/2006/relationships/notesMaster" Target="/ppt/notesMasters/notesMaster1.xml" Id="R6c83ad0e350040e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a0afe5201b64338" /><Relationship Type="http://schemas.openxmlformats.org/officeDocument/2006/relationships/notesMaster" Target="/ppt/notesMasters/notesMaster1.xml" Id="Recc007f55c814d9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a2858c31a64739" /><Relationship Type="http://schemas.openxmlformats.org/officeDocument/2006/relationships/notesMaster" Target="/ppt/notesMasters/notesMaster1.xml" Id="R43f8416cf11a4f8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3eef141f76d40db" /><Relationship Type="http://schemas.openxmlformats.org/officeDocument/2006/relationships/notesMaster" Target="/ppt/notesMasters/notesMaster1.xml" Id="R2ca20464f46e497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1ff336a39814700" /><Relationship Type="http://schemas.openxmlformats.org/officeDocument/2006/relationships/notesMaster" Target="/ppt/notesMasters/notesMaster1.xml" Id="Rd6078e6f5b8148b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b38959e87ef47ba" /><Relationship Type="http://schemas.openxmlformats.org/officeDocument/2006/relationships/notesMaster" Target="/ppt/notesMasters/notesMaster1.xml" Id="Rdeded01a5279409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259989fceea4c3a" /><Relationship Type="http://schemas.openxmlformats.org/officeDocument/2006/relationships/notesMaster" Target="/ppt/notesMasters/notesMaster1.xml" Id="R3a964a61ecaf433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4948f746e5a47cc" /><Relationship Type="http://schemas.openxmlformats.org/officeDocument/2006/relationships/notesMaster" Target="/ppt/notesMasters/notesMaster1.xml" Id="R72551900c06f495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89c22b493024f0d" /><Relationship Type="http://schemas.openxmlformats.org/officeDocument/2006/relationships/notesMaster" Target="/ppt/notesMasters/notesMaster1.xml" Id="R8f599d3b0c3e484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7c57a854dba4092" /><Relationship Type="http://schemas.openxmlformats.org/officeDocument/2006/relationships/notesMaster" Target="/ppt/notesMasters/notesMaster1.xml" Id="Ra02f935ffb054dc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d9b2c4e9a5b4a16" /><Relationship Type="http://schemas.openxmlformats.org/officeDocument/2006/relationships/notesMaster" Target="/ppt/notesMasters/notesMaster1.xml" Id="Rd891e01012fa4ef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dbcbac9ea004023" /><Relationship Type="http://schemas.openxmlformats.org/officeDocument/2006/relationships/notesMaster" Target="/ppt/notesMasters/notesMaster1.xml" Id="R7fd816295c26436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34565586eb64add" /><Relationship Type="http://schemas.openxmlformats.org/officeDocument/2006/relationships/notesMaster" Target="/ppt/notesMasters/notesMaster1.xml" Id="R6f6eb12f1c204cb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6c6afa34ad84e08" /><Relationship Type="http://schemas.openxmlformats.org/officeDocument/2006/relationships/notesMaster" Target="/ppt/notesMasters/notesMaster1.xml" Id="R42366ae55f954b9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b2a943c1ab342ff" /><Relationship Type="http://schemas.openxmlformats.org/officeDocument/2006/relationships/notesMaster" Target="/ppt/notesMasters/notesMaster1.xml" Id="R4d33c0a6e1a3416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1c6e9b78b6847b5" /><Relationship Type="http://schemas.openxmlformats.org/officeDocument/2006/relationships/notesMaster" Target="/ppt/notesMasters/notesMaster1.xml" Id="R8f00955eb50e403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74ab953adc84799" /><Relationship Type="http://schemas.openxmlformats.org/officeDocument/2006/relationships/notesMaster" Target="/ppt/notesMasters/notesMaster1.xml" Id="R3388e4e6521a4be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43d6ae3f26c4ad4" /><Relationship Type="http://schemas.openxmlformats.org/officeDocument/2006/relationships/notesMaster" Target="/ppt/notesMasters/notesMaster1.xml" Id="R028888691ae6477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64006f6bcef4de3" /><Relationship Type="http://schemas.openxmlformats.org/officeDocument/2006/relationships/notesMaster" Target="/ppt/notesMasters/notesMaster1.xml" Id="Reb5806ca1fc3427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8ee55d379c64d71" /><Relationship Type="http://schemas.openxmlformats.org/officeDocument/2006/relationships/notesMaster" Target="/ppt/notesMasters/notesMaster1.xml" Id="R70dec0942893423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490fadad6e94217" /><Relationship Type="http://schemas.openxmlformats.org/officeDocument/2006/relationships/notesMaster" Target="/ppt/notesMasters/notesMaster1.xml" Id="Rfc2b8cd7172546e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1e781375e774f5b" /><Relationship Type="http://schemas.openxmlformats.org/officeDocument/2006/relationships/notesMaster" Target="/ppt/notesMasters/notesMaster1.xml" Id="R23d4eec5402a41e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288c11fc51f4186" /><Relationship Type="http://schemas.openxmlformats.org/officeDocument/2006/relationships/notesMaster" Target="/ppt/notesMasters/notesMaster1.xml" Id="R1adaf66d0ccd432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2b0633eedd54735" /><Relationship Type="http://schemas.openxmlformats.org/officeDocument/2006/relationships/notesMaster" Target="/ppt/notesMasters/notesMaster1.xml" Id="Rbc9bad462edc403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093ecf934d64325" /><Relationship Type="http://schemas.openxmlformats.org/officeDocument/2006/relationships/notesMaster" Target="/ppt/notesMasters/notesMaster1.xml" Id="Raf31d5afcb9845c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2af4251a35548c9" /><Relationship Type="http://schemas.openxmlformats.org/officeDocument/2006/relationships/notesMaster" Target="/ppt/notesMasters/notesMaster1.xml" Id="Re763b2b5b7bb45a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62b7998310d4d29" /><Relationship Type="http://schemas.openxmlformats.org/officeDocument/2006/relationships/notesMaster" Target="/ppt/notesMasters/notesMaster1.xml" Id="R44bee092fe524ef4"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662cae46092403e" /><Relationship Type="http://schemas.openxmlformats.org/officeDocument/2006/relationships/notesMaster" Target="/ppt/notesMasters/notesMaster1.xml" Id="Rac317ecf153f4f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by Engr Usman Hasan. Begin from the exact Module 5 parcel policies students practised. This lesson follows six requested topics: definition, need, working, use cases, common products and one Python/LangChain demo. No SQL, server or index knowledge is assumed. Suggested 90 to 120 minutes with pauses. Roman Urdu: Aaj koi naya complicated agent nahin banayenge. Usi parcel search ko save karna aur dobara use karna seekhenge.</a:t>
            </a:r>
          </a:p>
          <a:p xmlns:a="http://schemas.openxmlformats.org/drawingml/2006/main">
            <a:r>
              <a:t>Part B follows the 36-slide beginner foundation and covers scale, indexing strategies and the document-set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say which saved policy answers this question. They should recognize the cash-on-delivery policy. Do not show any code yet. The sentence matches the Module 5 material exactly. This is a target example, not a recorded live model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three sentences and one question from the previous slide. Embeddings came from Google. Cosine compared their directions. Groq could call the search tool and explain the evidence. Roman Urdu: Pichli class mein search ka concept seekha tha. Is class mein us data ko sambhalna seekhenge. This diagram is a recap, not a complete software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normal in-memory Python list belongs to the running process. Stopping it loses those in-memory values unless something saves them. A vector database is not the only storage option: a file can also save vectors. The database packages storage and search operations. Roman Urdu: List ka data program band honay ke baad apne aap disk par save nahin hota.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only these six questions. Students should leave able to explain each in their own words. No HNSW, IVF, graph tuning, batching helper or production sizing exercise is part of the required lesson. Keep the discussion about a familiar customer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database is organized storage that a program can read later. A vector is the list of numbers introduced in Module 5. A vector database stores these representations and offers vector similarity search, often with record-management features. Roman Urdu: Vector database aik munazzam jagah hai jahan vectors rakhte hain, aur miltay jultay vectors dhoondte hain. The embedding model still supplies the numerical representation.</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library catalogue is an analogy for organized storage and retrieval. It does not explain the exact mathematics of vector search. Imagine asking for a book about caring for a young cat, even when its title says kitten care. Roman Urdu: Catalogue kitaab khud nahin likhta. Woh sahi kitaab tak pohanchata hai. Similarly, our database retrieves saved policy evidence rather than composing a fresh 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 identifies a record. Text is the saved sentence. Vector is its numerical representation. These displayed vector values are invented for illustration, not actual API output. A database can also keep labels such as source or category, but students do not need metadata code in the first demo. Roman Urdu: Har record ki pehchan, asal jumla aur uske numbers aik saath reh sakte hain.</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one benefit at a time. Reuse avoids generating unchanged document vectors again after every restart. A saved collection keeps record IDs and text together. Vector search can use an organized index as the dataset grows. A vector database does not guarantee a faster result for every tiny dataset or replace an embedding model. Roman Urdu: Har martaba purani policies ke vectors dobara banane se bach sakte hain.</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an exact word search with semantic search gently. Keyword search can also be useful and can use synonyms or hybrid methods; do not claim every keyword system fails. This example illustrates the learned relationship embeddings can capture. A poor model or poor policy set can still retrieve an unsuitable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invent a fixed number of documents at which a vector database becomes mandatory. Emphasize the feature need. A file could persist vectors, but then the application must manage its own record synchronization and searching. Roman Urdu: Sirf teen sentences ke liye database lazmi nahin. Hum woh cheez seekh rahe hain jo baray projects mein kaam aati 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the stages before drawing the full process. Saving is also called ingestion, but use save until students are comfortable. Search is also called querying. Roman Urdu: Pehla kaam maloomat rakhna. Doosra kaam sawal par maloomat dhoondna. Avoid introducing several synonyms in the same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exactly the three original policy sentences, each treated as one short document. Document just means a piece of saved text here, not necessarily a PDF or Word file. This avoids adding file loading, text splitting and metadata at the same time. All policies are fictional classroom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embedding model learned language relationships during its training and now maps our text into a numerical representation. The database does not generate meaning just by saving a sentence. Roman Urdu: Meaning ka numerical representation embedding model deta hai. The vector is a representation, not a human-readable explanation. No model internals or training mathematics are required today.</a:t>
            </a:r>
          </a:p>
          <a:p xmlns:a="http://schemas.openxmlformats.org/drawingml/2006/main">
            <a:r>
              <a:t>Official source: https://ai.google.dev/gemini-api/docs/embeddings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 the original sentences alongside their vectors and stable IDs. A collection means a named group of records. In the practical demo, our collection has the simple name parcel_easy_06 and lives in the parcel_easy_db folder. Do not teach collection, directory, namespace, tenant and index as five competing new terms. One named group in one local folder is enough.</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customer question also needs a compatible numerical representation. Use the same embedding model and settings as the stored policies. Saving document vectors does not remove the need to embed a new question. Roman Urdu: Purani policies ke vectors save hain, lekin naye sawal ke numbers phir banenge. The query wording is an example and the middle operation still needs Google API access.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demo explicitly selects cosine as the closeness measure, continuing Module 5. The database uses vector search internally, so students no longer write the manual best-index loop. The diagram represents possible semantic relationships, not real embedding coordinates or measured scores. Roman Urdu: Cosine gayab nahin hua. Comparison database ke search ke andar ho raha hai. Indexed search can be approximate; do not promise the mathematically exact best result every time.</a:t>
            </a:r>
          </a:p>
          <a:p xmlns:a="http://schemas.openxmlformats.org/drawingml/2006/main">
            <a:r>
              <a:t>Official source: https://docs.trychroma.com/docs/collections/configure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intended result for the classroom query. Search returns a candidate sentence already in storage. It does not prove that the sentence answers every question. We deliberately postpone a Groq-generated response until the database idea is understood. Read the retrieved sentence and compare it with the question.</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user can build semantic search without using a chat LLM at all. Google embeddings are one provider role, local Chroma is another component, and Groq is optional generation. Roman Urdu: Model numbers banata hai. Database maloomat nikalta hai. LLM us maloomat ko alfaaz mein samjha sakta hai. Storing policies does not train Groq or permanently update its model weights.</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before advancing. Ask one student for the policy ID and another to explain the reasoning. Expected P3 because the saved text addresses damage and photos. This is a short open discussion, not an objective multiple-choice quiz widget. Keep the policy choices visible verbally or return briefly to the three-policy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Intended relevant retrieval is P3. Do not claim a particular cosine score or a passed live API test without running it. Roman Urdu: Broken aur damaged lafz mukhtalif hain, lekin is context mein aik maslay ko bayan karte hain. A good representation can place related wording close enough to retrieve the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application patterns, not claims that a specific company uses a named database. Product discovery needs useful product text, and exact price/stock constraints require appropriate structured checks too. Company documents require access controls in an actual deployment. Keep the primary lesson about retrieving related text rather than promising a complete product from one vector 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invented example data, not advice about a real store. The company would supply its approved wording and exact exchange period. The vector database retrieves that evidence; the application must not invent a seven-day or thirty-day period. Roman Urdu: Customer ka sawal apne lafzon mein hai. Hum business ki likhi hui policy dhoond rahe 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selection of established options, not a market-share ranking or a claim that one is universally best. Introduce each in a short phrase and move on. Official sources: https://docs.pinecone.io/guides/get-started/overview ; https://qdrant.tech/documentation/overview/ ; https://docs.weaviate.io/weaviate ;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Chroma avoids a database-service signup for this demo. The Google embedding API still needs a key, network and quota. No Chroma Cloud key, local GPU or Groq key is required for the core exercise. Explain LangChain as the familiar Python interface connecting the embedding model and storage. Students should be able to state the goal before seeing code.</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requirements file pins the versions locally checked. The short slide command emphasizes the two new integration names and lets pip resolve dependencies. Students can use the pinned notebook installation cell for a reproducible class environment. If imports fail after installing into a running kernel, restart the kernel and rerun from imports. Use Python 3.11+ in VS Code. Internet is needed for installation.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has a short hidden-input cell using getpass and GOOGLE_API_KEY immediately before this code. Reuse the Module 5 key if available. Never put a real API key on a slide or in GitHub. This constructor prepares the integration; it does not embed all policies immediately. Google currently documents gemini-embedding-001 for text-only use, but provider access can change.</a:t>
            </a:r>
          </a:p>
          <a:p xmlns:a="http://schemas.openxmlformats.org/drawingml/2006/main">
            <a:r>
              <a:t>Official source: https://ai.google.dev/gemini-api/docs/embeddings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three list entries. Students already know Python lists. One short sentence acts as one document in this demo. No PDF loading, chunking, Document class or metadata schema is needed for the first working version. We can extend these concepts after the core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one setting at a time. db is our Python handle to the collection. collection_name names the group, embedding_function selects our familiar model, and persist_directory names its saved folder. The last dictionary is Chroma configuration selecting cosine, matching Module 5. hnsw is an internal setting name here; students are not required to study that algorithm. An existing collection retains its configuration; this demo uses a new dedicated name.</a:t>
            </a:r>
          </a:p>
          <a:p xmlns:a="http://schemas.openxmlformats.org/drawingml/2006/main">
            <a:r>
              <a:t>Official source: https://docs.langchain.com/oss/python/integrations/vectorstores/chroma ; https://docs.trychroma.com/docs/collections/configure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add_texts calls the configured embedding integration, then stores the text and vectors. Stable IDs prevent additional logical duplicates in this Chroma integration, but running the save cell again can still regenerate embeddings and use API quota. For the persistence demonstration skip this cell when reopening. Avoid adding an ID-sync helper function before students understand the core operations.</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results as a list. results[0] is its first returned Document, and page_content is its saved text. There are three records because the previous save cell ran. The companion notebook checks for an empty list before printing. LangChain embeds the query and Chroma searches. No live API score is prefilled. This API returns documents; we avoid score interpretation until students are comfortable with basic retrieval.</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the add_texts operation separately from similarity_search. Saving embeds policies and writes records. Searching embeds the new question and finds saved candidate text. This diagram explains the hidden work without teaching another API. Roman Urdu: Chhota code ka matlab kaam gayab hona nahin. LangChain model aur database ko connect kar raha hai.</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Python and reopen the same folder and collection with the same embedding model. Do not rerun add_texts for the persistence experiment. The notebook provides a short second Chroma initialization cell using the same settings. On Colab, the temporary runtime disk can disappear; persistence in its folder is not a promise of cloud backup. Files on a local machine also need backups if important.</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two intended relevant policies are P3 and P1. The third has no supporting policy in our three sentences. A vector search may still return the nearest sentence. Read it and say that the refund period is unavailable rather than inventing one. This is a major practical limit of nearest-neighbor retrieval. No threshold helper or extra LLM routing is required for this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learned tools in Module 4/5. The exact tracking-ID lookup remains a dictionary or tracking API call. Only policy retrieval changes internally. This slide preserves context without rebuilding the whole tool loop. Core database learning ends with saved text retrieval. In a later class, the search function can call similarity_search and pass page_content to the familiar Groq tool wrapper. Do not treat general pickup policies as parcel-specific availability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explain the six headings in simple words. They should distinguish model representation from storage/search and understand why new questions still need embeddings. Suggested closing challenge: replace the three parcel sentences with three fictional college policies, use a new collection name, and search differently worded questions. The teacher notes include explanations; live Google API behaviour still needs verification with authorized 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first 36 slides as the foundation students understood. Now extend the same company, not a different project. Three policies become twelve files in practice. Ten thousand is an illustrative future workload, not a performance result. Roman Urdu: Concept wohi hai. Ab maloomat zyada hai, is liye kaam ko groups mein karte hain. Suggested teaching: split the full module over two sessions if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very large embedding request may exceed provider limits or be harder to retry. A collection can also require more memory than expected. Break work into manageable groups. The diagram is illustrative and does not claim that exactly 10,000 documents would fail or prescribe a production batch size. Database batch limits and embedding provider limits are separate. Roman Urdu: Sara samaan aik dafa uthana zaroori nahin. Thora thora kaam kar sakte hain.</a:t>
            </a:r>
          </a:p>
          <a:p xmlns:a="http://schemas.openxmlformats.org/drawingml/2006/main">
            <a:r>
              <a:t>Official source: https://docs.trychroma.com/docs/collections/add-data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files 1–4, 5–8, and 9–12. Three groups of four produce twelve saved records. Four is a convenient teaching size, not a production recommendation. Actual APIs have request/token and rate limits that may require another batch size. Roman Urdu: Batch ka matlab sirf chhota group hai. Each record has its own vector; we do not merge all four policies into one vector.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large document set, read groups from disk, embed them, write them, then move on. This prevents the whole ingestion dataset from needing to be loaded into Python at once, although the database index still needs resources. Our small twelve-file notebook loads the texts first and batches embedding/writing only. Be explicit about this difference. Resume and retry procedures are production concerns, not hidden guarantees in the classroom loop.</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Store unchanged document vectors once, then reuse them for many questions. Every new question still needs a compatible query embedding in this app. It does not need to re-embed all saved documents. No model-weights training happens when Chroma saves records. Stable IDs prevent extra logical duplicates, but repeating add_texts can still use embedding API quota. Skip ingestion on query-only restarts.</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collection might contain thousands of records while the app returns just a few candidates. The index helps organize the candidate search; a growing collection still needs measured memory and latency capacity. k=3 limits returned results, not the number of vectors or graph nodes examined. Diagram is conceptual, not a benchmark or a guarantee of constant search time.</a:t>
            </a:r>
          </a:p>
          <a:p xmlns:a="http://schemas.openxmlformats.org/drawingml/2006/main">
            <a:r>
              <a:t>Official source: https://docs.trychroma.com/docs/collections/configure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library guide analogy again. An index is an additional search structure, not a new embedding model. It does not generate semantic meaning. Explain why we do not want to manually compare a question with every saved vector for every large search workload. Exact scanning may still be a useful baseline. Roman Urdu: Cosine faasla compare karta hai. Index talash ka raasta munazzam karta hai.</a:t>
            </a:r>
          </a:p>
          <a:p xmlns:a="http://schemas.openxmlformats.org/drawingml/2006/main">
            <a:r>
              <a:t>Official source: https://github.com/facebookresearch/faiss/wiki/Faiss-indexes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one query connected to each of eight stored vectors. All candidates are compared, so this establishes an exact nearest-vector baseline for the selected metric. It can be perfectly adequate for small data. More vectors and dimensions mean more comparison work. This is a simplified illustration, not a measured performance plot. Roman Urdu: Har vector ko dekh kar faisla karna exact search hai.</a:t>
            </a:r>
          </a:p>
          <a:p xmlns:a="http://schemas.openxmlformats.org/drawingml/2006/main">
            <a:r>
              <a:t>Official source: https://github.com/facebookresearch/faiss/wiki/Faiss-indexes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HNSW expands to Hierarchical Navigable Small World. Explain it as a broad-route map plus local roads. Upper layers contain fewer points and guide navigation; lower layers refine the candidates. The drawing is a schematic, not a real trace, not the full algorithm, and not a guarantee that the highlighted route is optimal. Single-node Chroma uses HNSW. Approximate nearest-neighbor search can miss a true closest vector. Roman Urdu: Pehle bara raasta, phir qareebi galiyan.</a:t>
            </a:r>
          </a:p>
          <a:p xmlns:a="http://schemas.openxmlformats.org/drawingml/2006/main">
            <a:r>
              <a:t>Official source: https://docs.trychroma.com/docs/collections/configure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IVF means Inverted File. A clustering stage partitions the numerical vector space. A query selects some groups and scans their candidates. A nearest neighbor can be missed if its group is not searched. The regions are learned vector groupings, not metadata categories assigned by humans. This is an alternative strategy, not the index configured in our Chroma notebook. Roman Urdu: Pehle munasib ilaqay chuno, phir un ke andar dhoondo.</a:t>
            </a:r>
          </a:p>
          <a:p xmlns:a="http://schemas.openxmlformats.org/drawingml/2006/main">
            <a:r>
              <a:t>Official source: https://github.com/facebookresearch/faiss/wiki/Faiss-indexes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Chroma local handles HNSW internally in this lesson. Students are not expected to implement HNSW or IVF. Both can use an appropriate distance metric. Start from defaults and evaluate a real workload before tuning. Exact nearest-vector accuracy still does not guarantee that a retrieved sentence answers the customer question. Source: https://docs.trychroma.com/docs/collections/configure ; https://github.com/facebookresearch/faiss/wiki/Faiss-indexes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in nearest-neighbor search concerns recovering the true nearest vectors. It is different from answer factuality. In HNSW ef_search controls search effort; keep it at the default for class. k controls the number of returned results and is not the same setting. No universal fastest configuration exists. Relevance, latency and memory should be measured together for a real deployment.</a:t>
            </a:r>
          </a:p>
          <a:p xmlns:a="http://schemas.openxmlformats.org/drawingml/2006/main">
            <a:r>
              <a:t>Official source: https://docs.trychroma.com/docs/collections/configure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P01–P03 retain the exact three Module 5 policy sentences. P04–P12 expand the fictional policy set. One file is one short complete document. The notebook seeds the same sample files in Colab; VS Code gets them inside the teaching pack. We use a separate named collection for the document-set exercise, so its IDs do not mix with the first three-record demo. Long PDFs and chunking can be introduced in a later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notebook cell defines files as a sorted list of .txt paths and creates empty texts, ids and sources lists. Explain append, stem and name using one filename first. source is a label we can display to show where a match came from. The twelve-file exercise uses a small Python list; true large ingestion should read groups incrementally instead of loading all texts into RAM. No embedding is generated while reading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is already familiar from the basic demo. The name identifies a collection, and the folder identifies the local persistent storage. The model stays gemini-embedding-001 and the metric stays cosine. Keep the same model/settings when reopening. A different embedding space needs a new collection and re-embedding even if dimensions happen to match.</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start=0/end=4, start=4/end=8 and start=8/end=12 beside the earlier batch diagram. A slice excludes the end position. add_texts generates vectors for this group and upserts its IDs. Repeating the cell may re-embed all twelve documents despite stable IDs. For the restart demonstration skip this cell. Our small demonstration has no automatic content-change detector, token-aware chunking or retry/resume manager.</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relevant passage is P04_missed_delivery.txt. Real ranking depends on the actual embedding model, so record observed outputs with your key. A second or third match can be less useful. No generation LLM is needed. The original text is returned from storage. k=3 does not require that three items all answer the question.</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has a separate reopen cell with the complete constructor. To prove persistence, close Python and rerun imports, model setup and the reopen cell without rerunning save cells. New question embeddings still use the API. On Colab, temporary runtime storage can be deleted, so a folder there is not a cloud backup. A production shared service needs an appropriate deployment, access controls and backups.</a:t>
            </a:r>
          </a:p>
          <a:p xmlns:a="http://schemas.openxmlformats.org/drawingml/2006/main">
            <a:r>
              <a:t>Official source: https://docs.langchain.com/oss/python/integrations/vectorstores/chroma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 does not include a refund-period policy. Nearest-vector retrieval can still return unrelated text. Local mechanics can be tested with deterministic vectors, but that does not validate live semantic ranking. Students should test paraphrases, sources and missing answers. Actual scale claims need measured load tests; a twelve-file demo proves the workflow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four requested topics. We introduced Chroma/Pinecone and alternatives in the foundation. We added batch ingestion and reusable queries. We explained exact search, HNSW and IVF with schematic graphics. We completed a small document-set exercise. This is a teaching example, not proof of million-vector throughput. Next extensions can cover long-document splitting, update synchronization and a fuller RAG assistant.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c27db40ba545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baddca419b4a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9be6df43f346c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94138389ef464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532ba5a2b240c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75bb29568c47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DAE3B4-FFE2-44CD-BED1-C8B872AA35C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D04DA90-9BF5-4807-9DEA-FFCFD7EC7C1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CADB59-AF8C-414F-A4BE-2F97E3D86D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623AD1-3DBE-4DC5-B036-F1AF2FDEA1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2E1F2F5-2EAC-4695-A7AE-1D3D2BEE42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DA6AC5-574A-4E62-BA0E-01C982AA5D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E4B174-6748-4A4B-A2C6-CC515CDCEC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1EC443-D072-4FC0-ACA9-03B2B64D6E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C98771-5C30-4069-9D45-D1128438EC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A76E3B-A556-4C11-8EA6-D705AEA030A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bb9ad02cd34f1b" /><Relationship Type="http://schemas.openxmlformats.org/officeDocument/2006/relationships/slideLayout" Target="/ppt/slideLayouts/slideLayout1.xml" Id="R5ffd5a8b91ab4277" /><Relationship Type="http://schemas.openxmlformats.org/officeDocument/2006/relationships/slideLayout" Target="/ppt/slideLayouts/slideLayout2.xml" Id="R3a02ab76fc2f4bcf" /><Relationship Type="http://schemas.openxmlformats.org/officeDocument/2006/relationships/slideLayout" Target="/ppt/slideLayouts/slideLayout3.xml" Id="R609434785ab34f9a" /><Relationship Type="http://schemas.openxmlformats.org/officeDocument/2006/relationships/slideLayout" Target="/ppt/slideLayouts/slideLayout4.xml" Id="R5c873dc5c3654742" /><Relationship Type="http://schemas.openxmlformats.org/officeDocument/2006/relationships/slideLayout" Target="/ppt/slideLayouts/slideLayout5.xml" Id="Re55bf95ecf7e4bcd" /><Relationship Type="http://schemas.openxmlformats.org/officeDocument/2006/relationships/slideLayout" Target="/ppt/slideLayouts/slideLayout6.xml" Id="R5696ecf5b45e45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fd5a8b91ab4277"/>
    <p:sldLayoutId xmlns:r="http://schemas.openxmlformats.org/officeDocument/2006/relationships" id="2147483650" r:id="R3a02ab76fc2f4bcf"/>
    <p:sldLayoutId xmlns:r="http://schemas.openxmlformats.org/officeDocument/2006/relationships" id="2147483651" r:id="R609434785ab34f9a"/>
    <p:sldLayoutId xmlns:r="http://schemas.openxmlformats.org/officeDocument/2006/relationships" id="2147483652" r:id="R5c873dc5c3654742"/>
    <p:sldLayoutId xmlns:r="http://schemas.openxmlformats.org/officeDocument/2006/relationships" id="2147483653" r:id="Re55bf95ecf7e4bcd"/>
    <p:sldLayoutId xmlns:r="http://schemas.openxmlformats.org/officeDocument/2006/relationships" id="2147483654" r:id="R5696ecf5b45e45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d95ad14d37415e" /><Relationship Type="http://schemas.openxmlformats.org/officeDocument/2006/relationships/notesSlide" Target="/ppt/notesSlides/notesSlide1.xml" Id="Rb5f762b6511f44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4bf797d3e494646" /><Relationship Type="http://schemas.openxmlformats.org/officeDocument/2006/relationships/notesSlide" Target="/ppt/notesSlides/notesSlide2.xml" Id="R0964bb23e4414b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e8c9d3b8e6c47e6" /><Relationship Type="http://schemas.openxmlformats.org/officeDocument/2006/relationships/notesSlide" Target="/ppt/notesSlides/notesSlide3.xml" Id="R445474222ac844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9c847c9c214717" /><Relationship Type="http://schemas.openxmlformats.org/officeDocument/2006/relationships/notesSlide" Target="/ppt/notesSlides/notesSlide4.xml" Id="R405b1226a3de44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ee85ff0ee1f47d1" /><Relationship Type="http://schemas.openxmlformats.org/officeDocument/2006/relationships/notesSlide" Target="/ppt/notesSlides/notesSlide5.xml" Id="R18c9dcbc79694c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acf08918c54e0d" /><Relationship Type="http://schemas.openxmlformats.org/officeDocument/2006/relationships/notesSlide" Target="/ppt/notesSlides/notesSlide6.xml" Id="R65b85ac6746147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c019fcf0fc64c7b" /><Relationship Type="http://schemas.openxmlformats.org/officeDocument/2006/relationships/notesSlide" Target="/ppt/notesSlides/notesSlide7.xml" Id="R3034d6d832ee4a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42ed896811f4aa1" /><Relationship Type="http://schemas.openxmlformats.org/officeDocument/2006/relationships/notesSlide" Target="/ppt/notesSlides/notesSlide8.xml" Id="Rab3cfaab004c47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cdf203f635c4fde" /><Relationship Type="http://schemas.openxmlformats.org/officeDocument/2006/relationships/notesSlide" Target="/ppt/notesSlides/notesSlide9.xml" Id="R7900bbc7a5f940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b5568cf624b4e1d" /><Relationship Type="http://schemas.openxmlformats.org/officeDocument/2006/relationships/notesSlide" Target="/ppt/notesSlides/notesSlide10.xml" Id="R76bc786269c5421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57ed8c88c0e4a1f" /><Relationship Type="http://schemas.openxmlformats.org/officeDocument/2006/relationships/notesSlide" Target="/ppt/notesSlides/notesSlide11.xml" Id="Rf6844a0a391a4a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05cd3fa05104477" /><Relationship Type="http://schemas.openxmlformats.org/officeDocument/2006/relationships/notesSlide" Target="/ppt/notesSlides/notesSlide12.xml" Id="R9e139190441d4d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d90d2d148f9487e" /><Relationship Type="http://schemas.openxmlformats.org/officeDocument/2006/relationships/notesSlide" Target="/ppt/notesSlides/notesSlide13.xml" Id="R8d9b05ad272a454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9f177702ecb4aee" /><Relationship Type="http://schemas.openxmlformats.org/officeDocument/2006/relationships/notesSlide" Target="/ppt/notesSlides/notesSlide14.xml" Id="Rf20016c7cb32490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31e9394467b46d6" /><Relationship Type="http://schemas.openxmlformats.org/officeDocument/2006/relationships/notesSlide" Target="/ppt/notesSlides/notesSlide15.xml" Id="R883347a6c24c44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2a7e1136fbb4ca6" /><Relationship Type="http://schemas.openxmlformats.org/officeDocument/2006/relationships/notesSlide" Target="/ppt/notesSlides/notesSlide16.xml" Id="Rab5691d67db9438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99d6a1c87024010" /><Relationship Type="http://schemas.openxmlformats.org/officeDocument/2006/relationships/notesSlide" Target="/ppt/notesSlides/notesSlide17.xml" Id="Rc0343960d3264a4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34283e1e8d842c1" /><Relationship Type="http://schemas.openxmlformats.org/officeDocument/2006/relationships/notesSlide" Target="/ppt/notesSlides/notesSlide18.xml" Id="R5f156385531448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445bf84b85446fe" /><Relationship Type="http://schemas.openxmlformats.org/officeDocument/2006/relationships/notesSlide" Target="/ppt/notesSlides/notesSlide19.xml" Id="R50ec417d56e344f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197f760dc714710" /><Relationship Type="http://schemas.openxmlformats.org/officeDocument/2006/relationships/notesSlide" Target="/ppt/notesSlides/notesSlide20.xml" Id="Rbbac5ee0eb6741e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97a8df212624b11" /><Relationship Type="http://schemas.openxmlformats.org/officeDocument/2006/relationships/notesSlide" Target="/ppt/notesSlides/notesSlide21.xml" Id="Ra334accc8cfe49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0b62a09e5314b08" /><Relationship Type="http://schemas.openxmlformats.org/officeDocument/2006/relationships/notesSlide" Target="/ppt/notesSlides/notesSlide22.xml" Id="Rbfd46941a30f4c1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2c058a96f4441c7" /><Relationship Type="http://schemas.openxmlformats.org/officeDocument/2006/relationships/notesSlide" Target="/ppt/notesSlides/notesSlide23.xml" Id="R1901542eedc84db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4228304f4844b31" /><Relationship Type="http://schemas.openxmlformats.org/officeDocument/2006/relationships/notesSlide" Target="/ppt/notesSlides/notesSlide24.xml" Id="R7a36520e82bd4fe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3b483b99c2c491c" /><Relationship Type="http://schemas.openxmlformats.org/officeDocument/2006/relationships/notesSlide" Target="/ppt/notesSlides/notesSlide25.xml" Id="Rd8cd1126d0b7446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a46baa1b06a435a" /><Relationship Type="http://schemas.openxmlformats.org/officeDocument/2006/relationships/notesSlide" Target="/ppt/notesSlides/notesSlide26.xml" Id="R487a9fb5059e463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feceb296a6b4d9d" /><Relationship Type="http://schemas.openxmlformats.org/officeDocument/2006/relationships/notesSlide" Target="/ppt/notesSlides/notesSlide27.xml" Id="Rf4b66f6e76c044b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e2ed97d4c224987" /><Relationship Type="http://schemas.openxmlformats.org/officeDocument/2006/relationships/notesSlide" Target="/ppt/notesSlides/notesSlide28.xml" Id="R6cc52b162b1d45b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0eaba5a7aae4cc6" /><Relationship Type="http://schemas.openxmlformats.org/officeDocument/2006/relationships/notesSlide" Target="/ppt/notesSlides/notesSlide29.xml" Id="R9aa5e4a9518a45f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f5fdc1e3b764a35" /><Relationship Type="http://schemas.openxmlformats.org/officeDocument/2006/relationships/notesSlide" Target="/ppt/notesSlides/notesSlide30.xml" Id="R0ddfca6b2f114ef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068291b0c344d28" /><Relationship Type="http://schemas.openxmlformats.org/officeDocument/2006/relationships/notesSlide" Target="/ppt/notesSlides/notesSlide31.xml" Id="Rd3e7c5cdca34479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c411240f333426b" /><Relationship Type="http://schemas.openxmlformats.org/officeDocument/2006/relationships/notesSlide" Target="/ppt/notesSlides/notesSlide32.xml" Id="Red0acecfb37f4d0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5e2361248224e26" /><Relationship Type="http://schemas.openxmlformats.org/officeDocument/2006/relationships/notesSlide" Target="/ppt/notesSlides/notesSlide33.xml" Id="R3bd77591b0dd4ee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11035ff3dbf4125" /><Relationship Type="http://schemas.openxmlformats.org/officeDocument/2006/relationships/notesSlide" Target="/ppt/notesSlides/notesSlide34.xml" Id="Rf9bdb7992ad54da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1a815bf4b6a4f0b" /><Relationship Type="http://schemas.openxmlformats.org/officeDocument/2006/relationships/notesSlide" Target="/ppt/notesSlides/notesSlide35.xml" Id="R8ac8edbf0b55401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8336f876f94a90" /><Relationship Type="http://schemas.openxmlformats.org/officeDocument/2006/relationships/notesSlide" Target="/ppt/notesSlides/notesSlide36.xml" Id="Rde19f22efd8c404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fe1d7180e4a4525" /><Relationship Type="http://schemas.openxmlformats.org/officeDocument/2006/relationships/notesSlide" Target="/ppt/notesSlides/notesSlide37.xml" Id="Rbab55a9d22f0423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8767850e3074db6" /><Relationship Type="http://schemas.openxmlformats.org/officeDocument/2006/relationships/notesSlide" Target="/ppt/notesSlides/notesSlide38.xml" Id="R417d0e3c3d03486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acdb4059d87442b" /><Relationship Type="http://schemas.openxmlformats.org/officeDocument/2006/relationships/notesSlide" Target="/ppt/notesSlides/notesSlide39.xml" Id="Radd47a2af560422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c4bf17a013849d1" /><Relationship Type="http://schemas.openxmlformats.org/officeDocument/2006/relationships/notesSlide" Target="/ppt/notesSlides/notesSlide40.xml" Id="R7e69949c5d054e1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92aa170d5824544" /><Relationship Type="http://schemas.openxmlformats.org/officeDocument/2006/relationships/notesSlide" Target="/ppt/notesSlides/notesSlide41.xml" Id="R187e99bed6ab4b8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a9f4c8751394ce3" /><Relationship Type="http://schemas.openxmlformats.org/officeDocument/2006/relationships/notesSlide" Target="/ppt/notesSlides/notesSlide42.xml" Id="Rbafe5df9389a4f6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553418b88aa94dc8" /><Relationship Type="http://schemas.openxmlformats.org/officeDocument/2006/relationships/notesSlide" Target="/ppt/notesSlides/notesSlide43.xml" Id="Rfedc3dc17c21485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c9d6e99edcce4c4d" /><Relationship Type="http://schemas.openxmlformats.org/officeDocument/2006/relationships/notesSlide" Target="/ppt/notesSlides/notesSlide44.xml" Id="R284ce63fc22a4bc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9f97805a2254572" /><Relationship Type="http://schemas.openxmlformats.org/officeDocument/2006/relationships/notesSlide" Target="/ppt/notesSlides/notesSlide45.xml" Id="Ra8931ca1d212428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3085248e2dfe4e38" /><Relationship Type="http://schemas.openxmlformats.org/officeDocument/2006/relationships/notesSlide" Target="/ppt/notesSlides/notesSlide46.xml" Id="R16525118ad5a4bf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dc162b0bd5c444e9" /><Relationship Type="http://schemas.openxmlformats.org/officeDocument/2006/relationships/notesSlide" Target="/ppt/notesSlides/notesSlide47.xml" Id="R45727722293b430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57d30f96a8a643c4" /><Relationship Type="http://schemas.openxmlformats.org/officeDocument/2006/relationships/notesSlide" Target="/ppt/notesSlides/notesSlide48.xml" Id="R809ba545e78d46f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14048c5d735a4700" /><Relationship Type="http://schemas.openxmlformats.org/officeDocument/2006/relationships/notesSlide" Target="/ppt/notesSlides/notesSlide49.xml" Id="R05b660d3c48c430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93854a845b8b4856" /><Relationship Type="http://schemas.openxmlformats.org/officeDocument/2006/relationships/notesSlide" Target="/ppt/notesSlides/notesSlide50.xml" Id="R9cab59a2a2b2488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d2fcf92a5fa4062" /><Relationship Type="http://schemas.openxmlformats.org/officeDocument/2006/relationships/notesSlide" Target="/ppt/notesSlides/notesSlide51.xml" Id="Rcc483825d4a4428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f1dfd5af9275424b" /><Relationship Type="http://schemas.openxmlformats.org/officeDocument/2006/relationships/notesSlide" Target="/ppt/notesSlides/notesSlide52.xml" Id="R03fdc38c4f8f4a8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0e4fb7779d954d5a" /><Relationship Type="http://schemas.openxmlformats.org/officeDocument/2006/relationships/notesSlide" Target="/ppt/notesSlides/notesSlide53.xml" Id="R2170b0d70b694c2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c4a928c133f44ed7" /><Relationship Type="http://schemas.openxmlformats.org/officeDocument/2006/relationships/notesSlide" Target="/ppt/notesSlides/notesSlide54.xml" Id="R9bef3a7fae4144d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67f9d88fe95c435b" /><Relationship Type="http://schemas.openxmlformats.org/officeDocument/2006/relationships/notesSlide" Target="/ppt/notesSlides/notesSlide55.xml" Id="Rdaeacc6ff668425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9ac90d1d533b48f5" /><Relationship Type="http://schemas.openxmlformats.org/officeDocument/2006/relationships/notesSlide" Target="/ppt/notesSlides/notesSlide56.xml" Id="R2192d9c9a5244fb9" /></Relationships>
</file>

<file path=ppt/slides/slide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8C713A7-5B62-4A3D-B95B-9932F076109E}"/>
              </a:ext>
            </a:extLst>
          </p:cNvPr>
          <p:cNvSpPr>
            <a:spLocks xmlns:a="http://schemas.openxmlformats.org/drawingml/2006/main" noGrp="1"/>
          </p:cNvSpPr>
          <p:nvPr/>
        </p:nvSpPr>
        <p:spPr>
          <a:xfrm xmlns:a="http://schemas.openxmlformats.org/drawingml/2006/main">
            <a:off x="628650" y="762000"/>
            <a:ext cx="1076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87E84"/>
                </a:solidFill>
                <a:latin typeface="DejaVu Sans"/>
                <a:ea typeface="DejaVu Sans"/>
                <a:cs typeface="DejaVu Sans"/>
              </a:defRPr>
            </a:defPPr>
          </a:lstStyle>
          <a:p xmlns:a="http://schemas.openxmlformats.org/drawingml/2006/main">
            <a:pPr>
              <a:buNone/>
              <a:defRPr sz="1650" b="1">
                <a:solidFill>
                  <a:srgbClr val="087E84"/>
                </a:solidFill>
                <a:latin typeface="DejaVu Sans"/>
                <a:ea typeface="DejaVu Sans"/>
                <a:cs typeface="DejaVu Sans"/>
              </a:defRPr>
            </a:pPr>
            <a:r>
              <a:rPr sz="1650" b="1">
                <a:solidFill>
                  <a:srgbClr val="087E84"/>
                </a:solidFill>
                <a:latin typeface="DejaVu Sans"/>
                <a:ea typeface="DejaVu Sans"/>
                <a:cs typeface="DejaVu Sans"/>
              </a:rPr>
              <a:t>BANO QABIL  /  GENERATIVE AI</a:t>
            </a:r>
          </a:p>
        </p:txBody>
      </p:sp>
      <p:sp>
        <p:nvSpPr>
          <p:cNvPr id="2" name="text-1">
            <a:extLst xmlns:a="http://schemas.openxmlformats.org/drawingml/2006/main">
              <a:ext uri="{FF2B5EF4-FFF2-40B4-BE49-F238E27FC236}">
                <a16:creationId xmlns:a16="http://schemas.microsoft.com/office/drawing/2014/main" id="{5FEF5DF6-DF46-4615-9DE2-DEB13D002C07}"/>
              </a:ext>
            </a:extLst>
          </p:cNvPr>
          <p:cNvSpPr>
            <a:spLocks xmlns:a="http://schemas.openxmlformats.org/drawingml/2006/main" noGrp="1"/>
          </p:cNvSpPr>
          <p:nvPr/>
        </p:nvSpPr>
        <p:spPr>
          <a:xfrm xmlns:a="http://schemas.openxmlformats.org/drawingml/2006/main">
            <a:off x="619125" y="2190750"/>
            <a:ext cx="1095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250" b="1">
                <a:solidFill>
                  <a:srgbClr val="182C43"/>
                </a:solidFill>
                <a:latin typeface="DejaVu Sans"/>
                <a:ea typeface="DejaVu Sans"/>
                <a:cs typeface="DejaVu Sans"/>
              </a:defRPr>
            </a:defPPr>
          </a:lstStyle>
          <a:p xmlns:a="http://schemas.openxmlformats.org/drawingml/2006/main">
            <a:pPr>
              <a:buNone/>
              <a:defRPr sz="5250" b="1">
                <a:solidFill>
                  <a:srgbClr val="182C43"/>
                </a:solidFill>
                <a:latin typeface="DejaVu Sans"/>
                <a:ea typeface="DejaVu Sans"/>
                <a:cs typeface="DejaVu Sans"/>
              </a:defRPr>
            </a:pPr>
            <a:r>
              <a:rPr sz="5250" b="1">
                <a:solidFill>
                  <a:srgbClr val="182C43"/>
                </a:solidFill>
                <a:latin typeface="DejaVu Sans"/>
                <a:ea typeface="DejaVu Sans"/>
                <a:cs typeface="DejaVu Sans"/>
              </a:rPr>
              <a:t>Vector Databases</a:t>
            </a:r>
          </a:p>
        </p:txBody>
      </p:sp>
      <p:sp>
        <p:nvSpPr>
          <p:cNvPr id="3" name="text-2">
            <a:extLst xmlns:a="http://schemas.openxmlformats.org/drawingml/2006/main">
              <a:ext uri="{FF2B5EF4-FFF2-40B4-BE49-F238E27FC236}">
                <a16:creationId xmlns:a16="http://schemas.microsoft.com/office/drawing/2014/main" id="{BCA9CBDF-EDEB-43FF-9D05-DC40B5736362}"/>
              </a:ext>
            </a:extLst>
          </p:cNvPr>
          <p:cNvSpPr>
            <a:spLocks xmlns:a="http://schemas.openxmlformats.org/drawingml/2006/main" noGrp="1"/>
          </p:cNvSpPr>
          <p:nvPr/>
        </p:nvSpPr>
        <p:spPr>
          <a:xfrm xmlns:a="http://schemas.openxmlformats.org/drawingml/2006/main">
            <a:off x="666750" y="3476625"/>
            <a:ext cx="10668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596B79"/>
                </a:solidFill>
                <a:latin typeface="DejaVu Sans"/>
                <a:ea typeface="DejaVu Sans"/>
                <a:cs typeface="DejaVu Sans"/>
              </a:defRPr>
            </a:defPPr>
          </a:lstStyle>
          <a:p xmlns:a="http://schemas.openxmlformats.org/drawingml/2006/main">
            <a:pPr>
              <a:buNone/>
              <a:defRPr sz="2550" b="0">
                <a:solidFill>
                  <a:srgbClr val="596B79"/>
                </a:solidFill>
                <a:latin typeface="DejaVu Sans"/>
                <a:ea typeface="DejaVu Sans"/>
                <a:cs typeface="DejaVu Sans"/>
              </a:defRPr>
            </a:pPr>
            <a:r>
              <a:rPr sz="2550" b="0">
                <a:solidFill>
                  <a:srgbClr val="596B79"/>
                </a:solidFill>
                <a:latin typeface="DejaVu Sans"/>
                <a:ea typeface="DejaVu Sans"/>
                <a:cs typeface="DejaVu Sans"/>
              </a:rPr>
              <a:t>Module 06</a:t>
            </a:r>
          </a:p>
          <a:p xmlns:a="http://schemas.openxmlformats.org/drawingml/2006/main">
            <a:pPr>
              <a:buNone/>
              <a:defRPr sz="2550" b="0">
                <a:solidFill>
                  <a:srgbClr val="596B79"/>
                </a:solidFill>
                <a:latin typeface="DejaVu Sans"/>
                <a:ea typeface="DejaVu Sans"/>
                <a:cs typeface="DejaVu Sans"/>
              </a:defRPr>
            </a:pPr>
            <a:r>
              <a:rPr sz="2550" b="0">
                <a:solidFill>
                  <a:srgbClr val="596B79"/>
                </a:solidFill>
                <a:latin typeface="DejaVu Sans"/>
                <a:ea typeface="DejaVu Sans"/>
                <a:cs typeface="DejaVu Sans"/>
              </a:rPr>
              <a:t>Our parcel assistant gets a place to save its knowledge</a:t>
            </a:r>
          </a:p>
        </p:txBody>
      </p:sp>
      <p:sp>
        <p:nvSpPr>
          <p:cNvPr id="4" name="text-3">
            <a:extLst xmlns:a="http://schemas.openxmlformats.org/drawingml/2006/main">
              <a:ext uri="{FF2B5EF4-FFF2-40B4-BE49-F238E27FC236}">
                <a16:creationId xmlns:a16="http://schemas.microsoft.com/office/drawing/2014/main" id="{42346635-CAC8-4580-A664-BAFE9159E677}"/>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5" name="text-4">
            <a:extLst xmlns:a="http://schemas.openxmlformats.org/drawingml/2006/main">
              <a:ext uri="{FF2B5EF4-FFF2-40B4-BE49-F238E27FC236}">
                <a16:creationId xmlns:a16="http://schemas.microsoft.com/office/drawing/2014/main" id="{7D017D41-D1EF-4EC6-90DB-B97CBDECD401}"/>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01</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372984154"/>
      </p:ext>
    </p:extLst>
  </p:cSld>
</p:sld>
</file>

<file path=ppt/slides/slide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DA8213DF-A648-43E7-878D-C628FBA6B9EF}"/>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Remember this customer question?</a:t>
            </a:r>
          </a:p>
        </p:txBody>
      </p:sp>
      <p:sp>
        <p:nvSpPr>
          <p:cNvPr id="2" name="text-1">
            <a:extLst xmlns:a="http://schemas.openxmlformats.org/drawingml/2006/main">
              <a:ext uri="{FF2B5EF4-FFF2-40B4-BE49-F238E27FC236}">
                <a16:creationId xmlns:a16="http://schemas.microsoft.com/office/drawing/2014/main" id="{07DE33B2-6EF3-4F66-BAA8-CDE832B3B8D8}"/>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The same parcel company from Module 5</a:t>
            </a:r>
          </a:p>
        </p:txBody>
      </p:sp>
      <p:sp>
        <p:nvSpPr>
          <p:cNvPr id="3" name="text-2">
            <a:extLst xmlns:a="http://schemas.openxmlformats.org/drawingml/2006/main">
              <a:ext uri="{FF2B5EF4-FFF2-40B4-BE49-F238E27FC236}">
                <a16:creationId xmlns:a16="http://schemas.microsoft.com/office/drawing/2014/main" id="{FDF9E112-899B-408E-95A0-4FB919AB3CFE}"/>
              </a:ext>
            </a:extLst>
          </p:cNvPr>
          <p:cNvSpPr>
            <a:spLocks xmlns:a="http://schemas.openxmlformats.org/drawingml/2006/main" noGrp="1"/>
          </p:cNvSpPr>
          <p:nvPr/>
        </p:nvSpPr>
        <p:spPr>
          <a:xfrm xmlns:a="http://schemas.openxmlformats.org/drawingml/2006/main">
            <a:off x="666750" y="22955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87E84"/>
                </a:solidFill>
                <a:latin typeface="DejaVu Sans"/>
                <a:ea typeface="DejaVu Sans"/>
                <a:cs typeface="DejaVu Sans"/>
              </a:defRPr>
            </a:defPPr>
          </a:lstStyle>
          <a:p xmlns:a="http://schemas.openxmlformats.org/drawingml/2006/main">
            <a:pPr>
              <a:buNone/>
              <a:defRPr sz="1500" b="1">
                <a:solidFill>
                  <a:srgbClr val="087E84"/>
                </a:solidFill>
                <a:latin typeface="DejaVu Sans"/>
                <a:ea typeface="DejaVu Sans"/>
                <a:cs typeface="DejaVu Sans"/>
              </a:defRPr>
            </a:pPr>
            <a:r>
              <a:rPr sz="1500" b="1">
                <a:solidFill>
                  <a:srgbClr val="087E84"/>
                </a:solidFill>
                <a:latin typeface="DejaVu Sans"/>
                <a:ea typeface="DejaVu Sans"/>
                <a:cs typeface="DejaVu Sans"/>
              </a:rPr>
              <a:t>CUSTOMER</a:t>
            </a:r>
          </a:p>
        </p:txBody>
      </p:sp>
      <p:sp>
        <p:nvSpPr>
          <p:cNvPr id="4" name="text-3">
            <a:extLst xmlns:a="http://schemas.openxmlformats.org/drawingml/2006/main">
              <a:ext uri="{FF2B5EF4-FFF2-40B4-BE49-F238E27FC236}">
                <a16:creationId xmlns:a16="http://schemas.microsoft.com/office/drawing/2014/main" id="{73E231DF-55EA-469B-B33A-E11FF1611B38}"/>
              </a:ext>
            </a:extLst>
          </p:cNvPr>
          <p:cNvSpPr>
            <a:spLocks xmlns:a="http://schemas.openxmlformats.org/drawingml/2006/main" noGrp="1"/>
          </p:cNvSpPr>
          <p:nvPr/>
        </p:nvSpPr>
        <p:spPr>
          <a:xfrm xmlns:a="http://schemas.openxmlformats.org/drawingml/2006/main">
            <a:off x="666750" y="2781300"/>
            <a:ext cx="10668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82C43"/>
                </a:solidFill>
                <a:latin typeface="DejaVu Sans"/>
                <a:ea typeface="DejaVu Sans"/>
                <a:cs typeface="DejaVu Sans"/>
              </a:defRPr>
            </a:defPPr>
          </a:lstStyle>
          <a:p xmlns:a="http://schemas.openxmlformats.org/drawingml/2006/main">
            <a:pPr>
              <a:buNone/>
              <a:defRPr sz="2925" b="1">
                <a:solidFill>
                  <a:srgbClr val="182C43"/>
                </a:solidFill>
                <a:latin typeface="DejaVu Sans"/>
                <a:ea typeface="DejaVu Sans"/>
                <a:cs typeface="DejaVu Sans"/>
              </a:defRPr>
            </a:pPr>
            <a:r>
              <a:rPr sz="2925" b="1">
                <a:solidFill>
                  <a:srgbClr val="182C43"/>
                </a:solidFill>
                <a:latin typeface="DejaVu Sans"/>
                <a:ea typeface="DejaVu Sans"/>
                <a:cs typeface="DejaVu Sans"/>
              </a:rPr>
              <a:t>“Can I pay the rider when my parcel arrives?”</a:t>
            </a:r>
          </a:p>
        </p:txBody>
      </p:sp>
      <p:sp>
        <p:nvSpPr>
          <p:cNvPr id="5" name="text-4">
            <a:extLst xmlns:a="http://schemas.openxmlformats.org/drawingml/2006/main">
              <a:ext uri="{FF2B5EF4-FFF2-40B4-BE49-F238E27FC236}">
                <a16:creationId xmlns:a16="http://schemas.microsoft.com/office/drawing/2014/main" id="{CAB54AEF-01BE-40C7-AECB-28180E8EEEBB}"/>
              </a:ext>
            </a:extLst>
          </p:cNvPr>
          <p:cNvSpPr>
            <a:spLocks xmlns:a="http://schemas.openxmlformats.org/drawingml/2006/main" noGrp="1"/>
          </p:cNvSpPr>
          <p:nvPr/>
        </p:nvSpPr>
        <p:spPr>
          <a:xfrm xmlns:a="http://schemas.openxmlformats.org/drawingml/2006/main">
            <a:off x="666750" y="4362450"/>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96B79"/>
                </a:solidFill>
                <a:latin typeface="DejaVu Sans"/>
                <a:ea typeface="DejaVu Sans"/>
                <a:cs typeface="DejaVu Sans"/>
              </a:defRPr>
            </a:defPPr>
          </a:lstStyle>
          <a:p xmlns:a="http://schemas.openxmlformats.org/drawingml/2006/main">
            <a:pPr>
              <a:buNone/>
              <a:defRPr sz="1725" b="0">
                <a:solidFill>
                  <a:srgbClr val="596B79"/>
                </a:solidFill>
                <a:latin typeface="DejaVu Sans"/>
                <a:ea typeface="DejaVu Sans"/>
                <a:cs typeface="DejaVu Sans"/>
              </a:defRPr>
            </a:pPr>
            <a:r>
              <a:rPr sz="1725" b="0">
                <a:solidFill>
                  <a:srgbClr val="596B79"/>
                </a:solidFill>
                <a:latin typeface="DejaVu Sans"/>
                <a:ea typeface="DejaVu Sans"/>
                <a:cs typeface="DejaVu Sans"/>
              </a:rPr>
              <a:t>The saved policy we want to find</a:t>
            </a:r>
          </a:p>
        </p:txBody>
      </p:sp>
      <p:sp>
        <p:nvSpPr>
          <p:cNvPr id="6" name="text-5">
            <a:extLst xmlns:a="http://schemas.openxmlformats.org/drawingml/2006/main">
              <a:ext uri="{FF2B5EF4-FFF2-40B4-BE49-F238E27FC236}">
                <a16:creationId xmlns:a16="http://schemas.microsoft.com/office/drawing/2014/main" id="{EB52DF27-E7A2-407E-8763-EE507243C240}"/>
              </a:ext>
            </a:extLst>
          </p:cNvPr>
          <p:cNvSpPr>
            <a:spLocks xmlns:a="http://schemas.openxmlformats.org/drawingml/2006/main" noGrp="1"/>
          </p:cNvSpPr>
          <p:nvPr/>
        </p:nvSpPr>
        <p:spPr>
          <a:xfrm xmlns:a="http://schemas.openxmlformats.org/drawingml/2006/main">
            <a:off x="666750" y="4924425"/>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84"/>
                </a:solidFill>
                <a:latin typeface="DejaVu Sans"/>
                <a:ea typeface="DejaVu Sans"/>
                <a:cs typeface="DejaVu Sans"/>
              </a:defRPr>
            </a:defPPr>
          </a:lstStyle>
          <a:p xmlns:a="http://schemas.openxmlformats.org/drawingml/2006/main">
            <a:pPr>
              <a:buNone/>
              <a:defRPr sz="2400" b="1">
                <a:solidFill>
                  <a:srgbClr val="087E84"/>
                </a:solidFill>
                <a:latin typeface="DejaVu Sans"/>
                <a:ea typeface="DejaVu Sans"/>
                <a:cs typeface="DejaVu Sans"/>
              </a:defRPr>
            </a:pPr>
            <a:r>
              <a:rPr sz="2400" b="1">
                <a:solidFill>
                  <a:srgbClr val="087E84"/>
                </a:solidFill>
                <a:latin typeface="DejaVu Sans"/>
                <a:ea typeface="DejaVu Sans"/>
                <a:cs typeface="DejaVu Sans"/>
              </a:rPr>
              <a:t>Cash on delivery lets you pay when the parcel arrives.</a:t>
            </a:r>
          </a:p>
        </p:txBody>
      </p:sp>
      <p:sp>
        <p:nvSpPr>
          <p:cNvPr id="7" name="text-6">
            <a:extLst xmlns:a="http://schemas.openxmlformats.org/drawingml/2006/main">
              <a:ext uri="{FF2B5EF4-FFF2-40B4-BE49-F238E27FC236}">
                <a16:creationId xmlns:a16="http://schemas.microsoft.com/office/drawing/2014/main" id="{83CFC155-C4BC-4D65-9C4A-1FD9F109D953}"/>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8" name="text-7">
            <a:extLst xmlns:a="http://schemas.openxmlformats.org/drawingml/2006/main">
              <a:ext uri="{FF2B5EF4-FFF2-40B4-BE49-F238E27FC236}">
                <a16:creationId xmlns:a16="http://schemas.microsoft.com/office/drawing/2014/main" id="{671F9D3E-7013-4CDC-A6F1-4599F601158C}"/>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02</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789603833"/>
      </p:ext>
    </p:extLst>
  </p:cSld>
</p:sld>
</file>

<file path=ppt/slides/slide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7E14F430-9AD1-485B-B06B-EC413969B258}"/>
              </a:ext>
            </a:extLst>
          </p:cNvPr>
          <p:cNvCxnSpPr>
            <a:stCxn xmlns:a="http://schemas.openxmlformats.org/drawingml/2006/main" id="4" idx="3"/>
            <a:endCxn xmlns:a="http://schemas.openxmlformats.org/drawingml/2006/main" id="5" idx="1"/>
          </p:cNvCxnSpPr>
          <p:nvPr/>
        </p:nvCxnSpPr>
        <p:spPr>
          <a:xfrm xmlns:a="http://schemas.openxmlformats.org/drawingml/2006/main">
            <a:off x="7715250" y="3738563"/>
            <a:ext cx="619125"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6E3C14E9-C768-4DFB-A9DB-7DF5804A9ADB}"/>
              </a:ext>
            </a:extLst>
          </p:cNvPr>
          <p:cNvCxnSpPr>
            <a:stCxn xmlns:a="http://schemas.openxmlformats.org/drawingml/2006/main" id="3" idx="3"/>
            <a:endCxn xmlns:a="http://schemas.openxmlformats.org/drawingml/2006/main" id="4" idx="1"/>
          </p:cNvCxnSpPr>
          <p:nvPr/>
        </p:nvCxnSpPr>
        <p:spPr>
          <a:xfrm xmlns:a="http://schemas.openxmlformats.org/drawingml/2006/main">
            <a:off x="3857625" y="3738563"/>
            <a:ext cx="619125"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10" name="text-0">
            <a:extLst xmlns:a="http://schemas.openxmlformats.org/drawingml/2006/main">
              <a:ext uri="{FF2B5EF4-FFF2-40B4-BE49-F238E27FC236}">
                <a16:creationId xmlns:a16="http://schemas.microsoft.com/office/drawing/2014/main" id="{AD007585-B5D8-4579-AB0C-FC0FDEE0BF80}"/>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What we already built</a:t>
            </a:r>
          </a:p>
        </p:txBody>
      </p:sp>
      <p:sp>
        <p:nvSpPr>
          <p:cNvPr id="2" name="text-1">
            <a:extLst xmlns:a="http://schemas.openxmlformats.org/drawingml/2006/main">
              <a:ext uri="{FF2B5EF4-FFF2-40B4-BE49-F238E27FC236}">
                <a16:creationId xmlns:a16="http://schemas.microsoft.com/office/drawing/2014/main" id="{EA364B11-C675-428F-AFEF-1B62E5A7A3CB}"/>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A quick recap before the new idea</a:t>
            </a:r>
          </a:p>
        </p:txBody>
      </p:sp>
      <p:sp>
        <p:nvSpPr>
          <p:cNvPr id="3" name="diagram-2">
            <a:extLst xmlns:a="http://schemas.openxmlformats.org/drawingml/2006/main">
              <a:ext uri="{FF2B5EF4-FFF2-40B4-BE49-F238E27FC236}">
                <a16:creationId xmlns:a16="http://schemas.microsoft.com/office/drawing/2014/main" id="{D28CD77F-DB11-44D3-B7EA-4F21371DE828}"/>
              </a:ext>
            </a:extLst>
          </p:cNvPr>
          <p:cNvSpPr>
            <a:spLocks xmlns:a="http://schemas.openxmlformats.org/drawingml/2006/main" noGrp="1"/>
          </p:cNvSpPr>
          <p:nvPr/>
        </p:nvSpPr>
        <p:spPr>
          <a:xfrm xmlns:a="http://schemas.openxmlformats.org/drawingml/2006/main">
            <a:off x="619125" y="3048000"/>
            <a:ext cx="323850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Text becomes vectors</a:t>
            </a:r>
          </a:p>
        </p:txBody>
      </p:sp>
      <p:sp>
        <p:nvSpPr>
          <p:cNvPr id="4" name="diagram-3">
            <a:extLst xmlns:a="http://schemas.openxmlformats.org/drawingml/2006/main">
              <a:ext uri="{FF2B5EF4-FFF2-40B4-BE49-F238E27FC236}">
                <a16:creationId xmlns:a16="http://schemas.microsoft.com/office/drawing/2014/main" id="{505F6263-B71E-4CC9-BC3B-2C94A447DC8E}"/>
              </a:ext>
            </a:extLst>
          </p:cNvPr>
          <p:cNvSpPr>
            <a:spLocks xmlns:a="http://schemas.openxmlformats.org/drawingml/2006/main" noGrp="1"/>
          </p:cNvSpPr>
          <p:nvPr/>
        </p:nvSpPr>
        <p:spPr>
          <a:xfrm xmlns:a="http://schemas.openxmlformats.org/drawingml/2006/main">
            <a:off x="4476750" y="3048000"/>
            <a:ext cx="323850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Cosine compares vectors</a:t>
            </a:r>
          </a:p>
        </p:txBody>
      </p:sp>
      <p:sp>
        <p:nvSpPr>
          <p:cNvPr id="5" name="diagram-4">
            <a:extLst xmlns:a="http://schemas.openxmlformats.org/drawingml/2006/main">
              <a:ext uri="{FF2B5EF4-FFF2-40B4-BE49-F238E27FC236}">
                <a16:creationId xmlns:a16="http://schemas.microsoft.com/office/drawing/2014/main" id="{C7259598-C43D-475E-BAEE-1990FFC9AFC1}"/>
              </a:ext>
            </a:extLst>
          </p:cNvPr>
          <p:cNvSpPr>
            <a:spLocks xmlns:a="http://schemas.openxmlformats.org/drawingml/2006/main" noGrp="1"/>
          </p:cNvSpPr>
          <p:nvPr/>
        </p:nvSpPr>
        <p:spPr>
          <a:xfrm xmlns:a="http://schemas.openxmlformats.org/drawingml/2006/main">
            <a:off x="8334375" y="3048000"/>
            <a:ext cx="323850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Python returns a policy</a:t>
            </a:r>
          </a:p>
        </p:txBody>
      </p:sp>
      <p:sp>
        <p:nvSpPr>
          <p:cNvPr id="8" name="text-7">
            <a:extLst xmlns:a="http://schemas.openxmlformats.org/drawingml/2006/main">
              <a:ext uri="{FF2B5EF4-FFF2-40B4-BE49-F238E27FC236}">
                <a16:creationId xmlns:a16="http://schemas.microsoft.com/office/drawing/2014/main" id="{5CD2495E-EE81-4EB5-ADFD-BEE13DE9880E}"/>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9" name="text-8">
            <a:extLst xmlns:a="http://schemas.openxmlformats.org/drawingml/2006/main">
              <a:ext uri="{FF2B5EF4-FFF2-40B4-BE49-F238E27FC236}">
                <a16:creationId xmlns:a16="http://schemas.microsoft.com/office/drawing/2014/main" id="{3A1D37D0-91E8-43C1-8A34-C28492D12AE6}"/>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03</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469982681"/>
      </p:ext>
    </p:extLst>
  </p:cSld>
</p:sld>
</file>

<file path=ppt/slides/slide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0112B81-5732-42C6-92B0-7474A161965A}"/>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One new problem</a:t>
            </a:r>
          </a:p>
        </p:txBody>
      </p:sp>
      <p:sp>
        <p:nvSpPr>
          <p:cNvPr id="2" name="text-1">
            <a:extLst xmlns:a="http://schemas.openxmlformats.org/drawingml/2006/main">
              <a:ext uri="{FF2B5EF4-FFF2-40B4-BE49-F238E27FC236}">
                <a16:creationId xmlns:a16="http://schemas.microsoft.com/office/drawing/2014/main" id="{3736210A-C2D7-4682-95EC-FF5863246983}"/>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Tomorrow, we want to use the same knowledge again</a:t>
            </a:r>
          </a:p>
        </p:txBody>
      </p:sp>
      <p:sp>
        <p:nvSpPr>
          <p:cNvPr id="3" name="text-2">
            <a:extLst xmlns:a="http://schemas.openxmlformats.org/drawingml/2006/main">
              <a:ext uri="{FF2B5EF4-FFF2-40B4-BE49-F238E27FC236}">
                <a16:creationId xmlns:a16="http://schemas.microsoft.com/office/drawing/2014/main" id="{E57192E5-C8FB-4D71-B82F-D0B189913829}"/>
              </a:ext>
            </a:extLst>
          </p:cNvPr>
          <p:cNvSpPr>
            <a:spLocks xmlns:a="http://schemas.openxmlformats.org/drawingml/2006/main" noGrp="1"/>
          </p:cNvSpPr>
          <p:nvPr/>
        </p:nvSpPr>
        <p:spPr>
          <a:xfrm xmlns:a="http://schemas.openxmlformats.org/drawingml/2006/main">
            <a:off x="666750" y="2647950"/>
            <a:ext cx="49530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182C43"/>
                </a:solidFill>
                <a:latin typeface="DejaVu Sans"/>
                <a:ea typeface="DejaVu Sans"/>
                <a:cs typeface="DejaVu Sans"/>
              </a:defRPr>
            </a:defPPr>
          </a:lstStyle>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TODAY</a:t>
            </a:r>
          </a:p>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Three policy vectors in a Python list.</a:t>
            </a:r>
          </a:p>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Our search works.</a:t>
            </a:r>
          </a:p>
        </p:txBody>
      </p:sp>
      <p:sp>
        <p:nvSpPr>
          <p:cNvPr id="4" name="text-3">
            <a:extLst xmlns:a="http://schemas.openxmlformats.org/drawingml/2006/main">
              <a:ext uri="{FF2B5EF4-FFF2-40B4-BE49-F238E27FC236}">
                <a16:creationId xmlns:a16="http://schemas.microsoft.com/office/drawing/2014/main" id="{D31D2A41-AC86-4182-B235-5E19E60FFAA1}"/>
              </a:ext>
            </a:extLst>
          </p:cNvPr>
          <p:cNvSpPr>
            <a:spLocks xmlns:a="http://schemas.openxmlformats.org/drawingml/2006/main" noGrp="1"/>
          </p:cNvSpPr>
          <p:nvPr/>
        </p:nvSpPr>
        <p:spPr>
          <a:xfrm xmlns:a="http://schemas.openxmlformats.org/drawingml/2006/main">
            <a:off x="6524625" y="2647950"/>
            <a:ext cx="5000625"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182C43"/>
                </a:solidFill>
                <a:latin typeface="DejaVu Sans"/>
                <a:ea typeface="DejaVu Sans"/>
                <a:cs typeface="DejaVu Sans"/>
              </a:defRPr>
            </a:defPPr>
          </a:lstStyle>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TOMORROW</a:t>
            </a:r>
          </a:p>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Python starts again.</a:t>
            </a:r>
          </a:p>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Where are the saved vectors?</a:t>
            </a:r>
          </a:p>
        </p:txBody>
      </p:sp>
      <p:sp>
        <p:nvSpPr>
          <p:cNvPr id="5" name="text-4">
            <a:extLst xmlns:a="http://schemas.openxmlformats.org/drawingml/2006/main">
              <a:ext uri="{FF2B5EF4-FFF2-40B4-BE49-F238E27FC236}">
                <a16:creationId xmlns:a16="http://schemas.microsoft.com/office/drawing/2014/main" id="{81F87DC9-832C-431C-BE01-F395039986B2}"/>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6" name="text-5">
            <a:extLst xmlns:a="http://schemas.openxmlformats.org/drawingml/2006/main">
              <a:ext uri="{FF2B5EF4-FFF2-40B4-BE49-F238E27FC236}">
                <a16:creationId xmlns:a16="http://schemas.microsoft.com/office/drawing/2014/main" id="{356AD01D-EA4A-46D0-B572-5142C0D6FED6}"/>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04</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629989681"/>
      </p:ext>
    </p:extLst>
  </p:cSld>
</p:sld>
</file>

<file path=ppt/slides/slide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18453CDA-ECCE-494A-93C0-5ACD4AB622E0}"/>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Today’s six questions</a:t>
            </a:r>
          </a:p>
        </p:txBody>
      </p:sp>
      <p:sp>
        <p:nvSpPr>
          <p:cNvPr id="2" name="text-1">
            <a:extLst xmlns:a="http://schemas.openxmlformats.org/drawingml/2006/main">
              <a:ext uri="{FF2B5EF4-FFF2-40B4-BE49-F238E27FC236}">
                <a16:creationId xmlns:a16="http://schemas.microsoft.com/office/drawing/2014/main" id="{58F6D045-1B09-4757-BD1B-962DF7F83D87}"/>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One clear route through the class</a:t>
            </a:r>
          </a:p>
        </p:txBody>
      </p:sp>
      <p:sp>
        <p:nvSpPr>
          <p:cNvPr id="3" name="text-2">
            <a:extLst xmlns:a="http://schemas.openxmlformats.org/drawingml/2006/main">
              <a:ext uri="{FF2B5EF4-FFF2-40B4-BE49-F238E27FC236}">
                <a16:creationId xmlns:a16="http://schemas.microsoft.com/office/drawing/2014/main" id="{57341939-5824-4BAC-8C53-8E9B0AED5BD5}"/>
              </a:ext>
            </a:extLst>
          </p:cNvPr>
          <p:cNvSpPr>
            <a:spLocks xmlns:a="http://schemas.openxmlformats.org/drawingml/2006/main" noGrp="1"/>
          </p:cNvSpPr>
          <p:nvPr/>
        </p:nvSpPr>
        <p:spPr>
          <a:xfrm xmlns:a="http://schemas.openxmlformats.org/drawingml/2006/main">
            <a:off x="666750" y="238125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087E84"/>
                </a:solidFill>
                <a:latin typeface="DejaVu Sans"/>
                <a:ea typeface="DejaVu Sans"/>
                <a:cs typeface="DejaVu Sans"/>
              </a:defRPr>
            </a:defPPr>
          </a:lstStyle>
          <a:p xmlns:a="http://schemas.openxmlformats.org/drawingml/2006/main">
            <a:pPr>
              <a:buNone/>
              <a:defRPr sz="2850" b="1">
                <a:solidFill>
                  <a:srgbClr val="087E84"/>
                </a:solidFill>
                <a:latin typeface="DejaVu Sans"/>
                <a:ea typeface="DejaVu Sans"/>
                <a:cs typeface="DejaVu Sans"/>
              </a:defRPr>
            </a:pPr>
            <a:r>
              <a:rPr sz="2850" b="1">
                <a:solidFill>
                  <a:srgbClr val="087E84"/>
                </a:solidFill>
                <a:latin typeface="DejaVu Sans"/>
                <a:ea typeface="DejaVu Sans"/>
                <a:cs typeface="DejaVu Sans"/>
              </a:rPr>
              <a:t>1</a:t>
            </a:r>
          </a:p>
        </p:txBody>
      </p:sp>
      <p:sp>
        <p:nvSpPr>
          <p:cNvPr id="4" name="text-3">
            <a:extLst xmlns:a="http://schemas.openxmlformats.org/drawingml/2006/main">
              <a:ext uri="{FF2B5EF4-FFF2-40B4-BE49-F238E27FC236}">
                <a16:creationId xmlns:a16="http://schemas.microsoft.com/office/drawing/2014/main" id="{3197150B-EF96-4F7B-97F5-D400A45B8136}"/>
              </a:ext>
            </a:extLst>
          </p:cNvPr>
          <p:cNvSpPr>
            <a:spLocks xmlns:a="http://schemas.openxmlformats.org/drawingml/2006/main" noGrp="1"/>
          </p:cNvSpPr>
          <p:nvPr/>
        </p:nvSpPr>
        <p:spPr>
          <a:xfrm xmlns:a="http://schemas.openxmlformats.org/drawingml/2006/main">
            <a:off x="1409700" y="2381250"/>
            <a:ext cx="4286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82C43"/>
                </a:solidFill>
                <a:latin typeface="DejaVu Sans"/>
                <a:ea typeface="DejaVu Sans"/>
                <a:cs typeface="DejaVu Sans"/>
              </a:defRPr>
            </a:defPPr>
          </a:lstStyle>
          <a:p xmlns:a="http://schemas.openxmlformats.org/drawingml/2006/main">
            <a:pPr>
              <a:buNone/>
              <a:defRPr sz="2325" b="0">
                <a:solidFill>
                  <a:srgbClr val="182C43"/>
                </a:solidFill>
                <a:latin typeface="DejaVu Sans"/>
                <a:ea typeface="DejaVu Sans"/>
                <a:cs typeface="DejaVu Sans"/>
              </a:defRPr>
            </a:pPr>
            <a:r>
              <a:rPr sz="2325" b="0">
                <a:solidFill>
                  <a:srgbClr val="182C43"/>
                </a:solidFill>
                <a:latin typeface="DejaVu Sans"/>
                <a:ea typeface="DejaVu Sans"/>
                <a:cs typeface="DejaVu Sans"/>
              </a:rPr>
              <a:t>What is a vector database?</a:t>
            </a:r>
          </a:p>
        </p:txBody>
      </p:sp>
      <p:sp>
        <p:nvSpPr>
          <p:cNvPr id="5" name="text-4">
            <a:extLst xmlns:a="http://schemas.openxmlformats.org/drawingml/2006/main">
              <a:ext uri="{FF2B5EF4-FFF2-40B4-BE49-F238E27FC236}">
                <a16:creationId xmlns:a16="http://schemas.microsoft.com/office/drawing/2014/main" id="{3DCF8807-008C-44D8-937B-8E1202D724FD}"/>
              </a:ext>
            </a:extLst>
          </p:cNvPr>
          <p:cNvSpPr>
            <a:spLocks xmlns:a="http://schemas.openxmlformats.org/drawingml/2006/main" noGrp="1"/>
          </p:cNvSpPr>
          <p:nvPr/>
        </p:nvSpPr>
        <p:spPr>
          <a:xfrm xmlns:a="http://schemas.openxmlformats.org/drawingml/2006/main">
            <a:off x="666750" y="352425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087E84"/>
                </a:solidFill>
                <a:latin typeface="DejaVu Sans"/>
                <a:ea typeface="DejaVu Sans"/>
                <a:cs typeface="DejaVu Sans"/>
              </a:defRPr>
            </a:defPPr>
          </a:lstStyle>
          <a:p xmlns:a="http://schemas.openxmlformats.org/drawingml/2006/main">
            <a:pPr>
              <a:buNone/>
              <a:defRPr sz="2850" b="1">
                <a:solidFill>
                  <a:srgbClr val="087E84"/>
                </a:solidFill>
                <a:latin typeface="DejaVu Sans"/>
                <a:ea typeface="DejaVu Sans"/>
                <a:cs typeface="DejaVu Sans"/>
              </a:defRPr>
            </a:pPr>
            <a:r>
              <a:rPr sz="2850" b="1">
                <a:solidFill>
                  <a:srgbClr val="087E84"/>
                </a:solidFill>
                <a:latin typeface="DejaVu Sans"/>
                <a:ea typeface="DejaVu Sans"/>
                <a:cs typeface="DejaVu Sans"/>
              </a:rPr>
              <a:t>2</a:t>
            </a:r>
          </a:p>
        </p:txBody>
      </p:sp>
      <p:sp>
        <p:nvSpPr>
          <p:cNvPr id="6" name="text-5">
            <a:extLst xmlns:a="http://schemas.openxmlformats.org/drawingml/2006/main">
              <a:ext uri="{FF2B5EF4-FFF2-40B4-BE49-F238E27FC236}">
                <a16:creationId xmlns:a16="http://schemas.microsoft.com/office/drawing/2014/main" id="{7A4DE834-A4E3-4A44-BED1-95A756781DD6}"/>
              </a:ext>
            </a:extLst>
          </p:cNvPr>
          <p:cNvSpPr>
            <a:spLocks xmlns:a="http://schemas.openxmlformats.org/drawingml/2006/main" noGrp="1"/>
          </p:cNvSpPr>
          <p:nvPr/>
        </p:nvSpPr>
        <p:spPr>
          <a:xfrm xmlns:a="http://schemas.openxmlformats.org/drawingml/2006/main">
            <a:off x="1409700" y="3524250"/>
            <a:ext cx="4286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82C43"/>
                </a:solidFill>
                <a:latin typeface="DejaVu Sans"/>
                <a:ea typeface="DejaVu Sans"/>
                <a:cs typeface="DejaVu Sans"/>
              </a:defRPr>
            </a:defPPr>
          </a:lstStyle>
          <a:p xmlns:a="http://schemas.openxmlformats.org/drawingml/2006/main">
            <a:pPr>
              <a:buNone/>
              <a:defRPr sz="2325" b="0">
                <a:solidFill>
                  <a:srgbClr val="182C43"/>
                </a:solidFill>
                <a:latin typeface="DejaVu Sans"/>
                <a:ea typeface="DejaVu Sans"/>
                <a:cs typeface="DejaVu Sans"/>
              </a:defRPr>
            </a:pPr>
            <a:r>
              <a:rPr sz="2325" b="0">
                <a:solidFill>
                  <a:srgbClr val="182C43"/>
                </a:solidFill>
                <a:latin typeface="DejaVu Sans"/>
                <a:ea typeface="DejaVu Sans"/>
                <a:cs typeface="DejaVu Sans"/>
              </a:rPr>
              <a:t>Why do we need one?</a:t>
            </a:r>
          </a:p>
        </p:txBody>
      </p:sp>
      <p:sp>
        <p:nvSpPr>
          <p:cNvPr id="7" name="text-6">
            <a:extLst xmlns:a="http://schemas.openxmlformats.org/drawingml/2006/main">
              <a:ext uri="{FF2B5EF4-FFF2-40B4-BE49-F238E27FC236}">
                <a16:creationId xmlns:a16="http://schemas.microsoft.com/office/drawing/2014/main" id="{9BD4EDFB-AEB1-449B-9784-C36C4BFAB2E5}"/>
              </a:ext>
            </a:extLst>
          </p:cNvPr>
          <p:cNvSpPr>
            <a:spLocks xmlns:a="http://schemas.openxmlformats.org/drawingml/2006/main" noGrp="1"/>
          </p:cNvSpPr>
          <p:nvPr/>
        </p:nvSpPr>
        <p:spPr>
          <a:xfrm xmlns:a="http://schemas.openxmlformats.org/drawingml/2006/main">
            <a:off x="666750" y="466725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087E84"/>
                </a:solidFill>
                <a:latin typeface="DejaVu Sans"/>
                <a:ea typeface="DejaVu Sans"/>
                <a:cs typeface="DejaVu Sans"/>
              </a:defRPr>
            </a:defPPr>
          </a:lstStyle>
          <a:p xmlns:a="http://schemas.openxmlformats.org/drawingml/2006/main">
            <a:pPr>
              <a:buNone/>
              <a:defRPr sz="2850" b="1">
                <a:solidFill>
                  <a:srgbClr val="087E84"/>
                </a:solidFill>
                <a:latin typeface="DejaVu Sans"/>
                <a:ea typeface="DejaVu Sans"/>
                <a:cs typeface="DejaVu Sans"/>
              </a:defRPr>
            </a:pPr>
            <a:r>
              <a:rPr sz="2850" b="1">
                <a:solidFill>
                  <a:srgbClr val="087E84"/>
                </a:solidFill>
                <a:latin typeface="DejaVu Sans"/>
                <a:ea typeface="DejaVu Sans"/>
                <a:cs typeface="DejaVu Sans"/>
              </a:rPr>
              <a:t>3</a:t>
            </a:r>
          </a:p>
        </p:txBody>
      </p:sp>
      <p:sp>
        <p:nvSpPr>
          <p:cNvPr id="8" name="text-7">
            <a:extLst xmlns:a="http://schemas.openxmlformats.org/drawingml/2006/main">
              <a:ext uri="{FF2B5EF4-FFF2-40B4-BE49-F238E27FC236}">
                <a16:creationId xmlns:a16="http://schemas.microsoft.com/office/drawing/2014/main" id="{461E8A9C-830F-4DA6-BB3F-DA531B87466F}"/>
              </a:ext>
            </a:extLst>
          </p:cNvPr>
          <p:cNvSpPr>
            <a:spLocks xmlns:a="http://schemas.openxmlformats.org/drawingml/2006/main" noGrp="1"/>
          </p:cNvSpPr>
          <p:nvPr/>
        </p:nvSpPr>
        <p:spPr>
          <a:xfrm xmlns:a="http://schemas.openxmlformats.org/drawingml/2006/main">
            <a:off x="1409700" y="4667250"/>
            <a:ext cx="4286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82C43"/>
                </a:solidFill>
                <a:latin typeface="DejaVu Sans"/>
                <a:ea typeface="DejaVu Sans"/>
                <a:cs typeface="DejaVu Sans"/>
              </a:defRPr>
            </a:defPPr>
          </a:lstStyle>
          <a:p xmlns:a="http://schemas.openxmlformats.org/drawingml/2006/main">
            <a:pPr>
              <a:buNone/>
              <a:defRPr sz="2325" b="0">
                <a:solidFill>
                  <a:srgbClr val="182C43"/>
                </a:solidFill>
                <a:latin typeface="DejaVu Sans"/>
                <a:ea typeface="DejaVu Sans"/>
                <a:cs typeface="DejaVu Sans"/>
              </a:defRPr>
            </a:pPr>
            <a:r>
              <a:rPr sz="2325" b="0">
                <a:solidFill>
                  <a:srgbClr val="182C43"/>
                </a:solidFill>
                <a:latin typeface="DejaVu Sans"/>
                <a:ea typeface="DejaVu Sans"/>
                <a:cs typeface="DejaVu Sans"/>
              </a:rPr>
              <a:t>How does it work?</a:t>
            </a:r>
          </a:p>
        </p:txBody>
      </p:sp>
      <p:sp>
        <p:nvSpPr>
          <p:cNvPr id="9" name="text-8">
            <a:extLst xmlns:a="http://schemas.openxmlformats.org/drawingml/2006/main">
              <a:ext uri="{FF2B5EF4-FFF2-40B4-BE49-F238E27FC236}">
                <a16:creationId xmlns:a16="http://schemas.microsoft.com/office/drawing/2014/main" id="{E9B33FE0-4863-4E98-9C2B-E9CA994EFBB1}"/>
              </a:ext>
            </a:extLst>
          </p:cNvPr>
          <p:cNvSpPr>
            <a:spLocks xmlns:a="http://schemas.openxmlformats.org/drawingml/2006/main" noGrp="1"/>
          </p:cNvSpPr>
          <p:nvPr/>
        </p:nvSpPr>
        <p:spPr>
          <a:xfrm xmlns:a="http://schemas.openxmlformats.org/drawingml/2006/main">
            <a:off x="6572250" y="238125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087E84"/>
                </a:solidFill>
                <a:latin typeface="DejaVu Sans"/>
                <a:ea typeface="DejaVu Sans"/>
                <a:cs typeface="DejaVu Sans"/>
              </a:defRPr>
            </a:defPPr>
          </a:lstStyle>
          <a:p xmlns:a="http://schemas.openxmlformats.org/drawingml/2006/main">
            <a:pPr>
              <a:buNone/>
              <a:defRPr sz="2850" b="1">
                <a:solidFill>
                  <a:srgbClr val="087E84"/>
                </a:solidFill>
                <a:latin typeface="DejaVu Sans"/>
                <a:ea typeface="DejaVu Sans"/>
                <a:cs typeface="DejaVu Sans"/>
              </a:defRPr>
            </a:pPr>
            <a:r>
              <a:rPr sz="2850" b="1">
                <a:solidFill>
                  <a:srgbClr val="087E84"/>
                </a:solidFill>
                <a:latin typeface="DejaVu Sans"/>
                <a:ea typeface="DejaVu Sans"/>
                <a:cs typeface="DejaVu Sans"/>
              </a:rPr>
              <a:t>4</a:t>
            </a:r>
          </a:p>
        </p:txBody>
      </p:sp>
      <p:sp>
        <p:nvSpPr>
          <p:cNvPr id="10" name="text-9">
            <a:extLst xmlns:a="http://schemas.openxmlformats.org/drawingml/2006/main">
              <a:ext uri="{FF2B5EF4-FFF2-40B4-BE49-F238E27FC236}">
                <a16:creationId xmlns:a16="http://schemas.microsoft.com/office/drawing/2014/main" id="{D2C6F814-0BC1-4FD4-818B-9C49663FDE59}"/>
              </a:ext>
            </a:extLst>
          </p:cNvPr>
          <p:cNvSpPr>
            <a:spLocks xmlns:a="http://schemas.openxmlformats.org/drawingml/2006/main" noGrp="1"/>
          </p:cNvSpPr>
          <p:nvPr/>
        </p:nvSpPr>
        <p:spPr>
          <a:xfrm xmlns:a="http://schemas.openxmlformats.org/drawingml/2006/main">
            <a:off x="7315200" y="2381250"/>
            <a:ext cx="4286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82C43"/>
                </a:solidFill>
                <a:latin typeface="DejaVu Sans"/>
                <a:ea typeface="DejaVu Sans"/>
                <a:cs typeface="DejaVu Sans"/>
              </a:defRPr>
            </a:defPPr>
          </a:lstStyle>
          <a:p xmlns:a="http://schemas.openxmlformats.org/drawingml/2006/main">
            <a:pPr>
              <a:buNone/>
              <a:defRPr sz="2325" b="0">
                <a:solidFill>
                  <a:srgbClr val="182C43"/>
                </a:solidFill>
                <a:latin typeface="DejaVu Sans"/>
                <a:ea typeface="DejaVu Sans"/>
                <a:cs typeface="DejaVu Sans"/>
              </a:defRPr>
            </a:pPr>
            <a:r>
              <a:rPr sz="2325" b="0">
                <a:solidFill>
                  <a:srgbClr val="182C43"/>
                </a:solidFill>
                <a:latin typeface="DejaVu Sans"/>
                <a:ea typeface="DejaVu Sans"/>
                <a:cs typeface="DejaVu Sans"/>
              </a:rPr>
              <a:t>Where is it useful?</a:t>
            </a:r>
          </a:p>
        </p:txBody>
      </p:sp>
      <p:sp>
        <p:nvSpPr>
          <p:cNvPr id="11" name="text-10">
            <a:extLst xmlns:a="http://schemas.openxmlformats.org/drawingml/2006/main">
              <a:ext uri="{FF2B5EF4-FFF2-40B4-BE49-F238E27FC236}">
                <a16:creationId xmlns:a16="http://schemas.microsoft.com/office/drawing/2014/main" id="{5FF4BD78-662A-411B-B240-A3F61D031E7E}"/>
              </a:ext>
            </a:extLst>
          </p:cNvPr>
          <p:cNvSpPr>
            <a:spLocks xmlns:a="http://schemas.openxmlformats.org/drawingml/2006/main" noGrp="1"/>
          </p:cNvSpPr>
          <p:nvPr/>
        </p:nvSpPr>
        <p:spPr>
          <a:xfrm xmlns:a="http://schemas.openxmlformats.org/drawingml/2006/main">
            <a:off x="6572250" y="352425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087E84"/>
                </a:solidFill>
                <a:latin typeface="DejaVu Sans"/>
                <a:ea typeface="DejaVu Sans"/>
                <a:cs typeface="DejaVu Sans"/>
              </a:defRPr>
            </a:defPPr>
          </a:lstStyle>
          <a:p xmlns:a="http://schemas.openxmlformats.org/drawingml/2006/main">
            <a:pPr>
              <a:buNone/>
              <a:defRPr sz="2850" b="1">
                <a:solidFill>
                  <a:srgbClr val="087E84"/>
                </a:solidFill>
                <a:latin typeface="DejaVu Sans"/>
                <a:ea typeface="DejaVu Sans"/>
                <a:cs typeface="DejaVu Sans"/>
              </a:defRPr>
            </a:pPr>
            <a:r>
              <a:rPr sz="2850" b="1">
                <a:solidFill>
                  <a:srgbClr val="087E84"/>
                </a:solidFill>
                <a:latin typeface="DejaVu Sans"/>
                <a:ea typeface="DejaVu Sans"/>
                <a:cs typeface="DejaVu Sans"/>
              </a:rPr>
              <a:t>5</a:t>
            </a:r>
          </a:p>
        </p:txBody>
      </p:sp>
      <p:sp>
        <p:nvSpPr>
          <p:cNvPr id="12" name="text-11">
            <a:extLst xmlns:a="http://schemas.openxmlformats.org/drawingml/2006/main">
              <a:ext uri="{FF2B5EF4-FFF2-40B4-BE49-F238E27FC236}">
                <a16:creationId xmlns:a16="http://schemas.microsoft.com/office/drawing/2014/main" id="{A72BDD47-DEAC-4DB0-9B45-E649C37FFB69}"/>
              </a:ext>
            </a:extLst>
          </p:cNvPr>
          <p:cNvSpPr>
            <a:spLocks xmlns:a="http://schemas.openxmlformats.org/drawingml/2006/main" noGrp="1"/>
          </p:cNvSpPr>
          <p:nvPr/>
        </p:nvSpPr>
        <p:spPr>
          <a:xfrm xmlns:a="http://schemas.openxmlformats.org/drawingml/2006/main">
            <a:off x="7315200" y="3524250"/>
            <a:ext cx="4286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82C43"/>
                </a:solidFill>
                <a:latin typeface="DejaVu Sans"/>
                <a:ea typeface="DejaVu Sans"/>
                <a:cs typeface="DejaVu Sans"/>
              </a:defRPr>
            </a:defPPr>
          </a:lstStyle>
          <a:p xmlns:a="http://schemas.openxmlformats.org/drawingml/2006/main">
            <a:pPr>
              <a:buNone/>
              <a:defRPr sz="2325" b="0">
                <a:solidFill>
                  <a:srgbClr val="182C43"/>
                </a:solidFill>
                <a:latin typeface="DejaVu Sans"/>
                <a:ea typeface="DejaVu Sans"/>
                <a:cs typeface="DejaVu Sans"/>
              </a:defRPr>
            </a:pPr>
            <a:r>
              <a:rPr sz="2325" b="0">
                <a:solidFill>
                  <a:srgbClr val="182C43"/>
                </a:solidFill>
                <a:latin typeface="DejaVu Sans"/>
                <a:ea typeface="DejaVu Sans"/>
                <a:cs typeface="DejaVu Sans"/>
              </a:rPr>
              <a:t>Which options are common?</a:t>
            </a:r>
          </a:p>
        </p:txBody>
      </p:sp>
      <p:sp>
        <p:nvSpPr>
          <p:cNvPr id="13" name="text-12">
            <a:extLst xmlns:a="http://schemas.openxmlformats.org/drawingml/2006/main">
              <a:ext uri="{FF2B5EF4-FFF2-40B4-BE49-F238E27FC236}">
                <a16:creationId xmlns:a16="http://schemas.microsoft.com/office/drawing/2014/main" id="{5C4CB6DD-5BF0-4751-BC5A-1DC5FD98BC3D}"/>
              </a:ext>
            </a:extLst>
          </p:cNvPr>
          <p:cNvSpPr>
            <a:spLocks xmlns:a="http://schemas.openxmlformats.org/drawingml/2006/main" noGrp="1"/>
          </p:cNvSpPr>
          <p:nvPr/>
        </p:nvSpPr>
        <p:spPr>
          <a:xfrm xmlns:a="http://schemas.openxmlformats.org/drawingml/2006/main">
            <a:off x="6572250" y="466725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087E84"/>
                </a:solidFill>
                <a:latin typeface="DejaVu Sans"/>
                <a:ea typeface="DejaVu Sans"/>
                <a:cs typeface="DejaVu Sans"/>
              </a:defRPr>
            </a:defPPr>
          </a:lstStyle>
          <a:p xmlns:a="http://schemas.openxmlformats.org/drawingml/2006/main">
            <a:pPr>
              <a:buNone/>
              <a:defRPr sz="2850" b="1">
                <a:solidFill>
                  <a:srgbClr val="087E84"/>
                </a:solidFill>
                <a:latin typeface="DejaVu Sans"/>
                <a:ea typeface="DejaVu Sans"/>
                <a:cs typeface="DejaVu Sans"/>
              </a:defRPr>
            </a:pPr>
            <a:r>
              <a:rPr sz="2850" b="1">
                <a:solidFill>
                  <a:srgbClr val="087E84"/>
                </a:solidFill>
                <a:latin typeface="DejaVu Sans"/>
                <a:ea typeface="DejaVu Sans"/>
                <a:cs typeface="DejaVu Sans"/>
              </a:rPr>
              <a:t>6</a:t>
            </a:r>
          </a:p>
        </p:txBody>
      </p:sp>
      <p:sp>
        <p:nvSpPr>
          <p:cNvPr id="14" name="text-13">
            <a:extLst xmlns:a="http://schemas.openxmlformats.org/drawingml/2006/main">
              <a:ext uri="{FF2B5EF4-FFF2-40B4-BE49-F238E27FC236}">
                <a16:creationId xmlns:a16="http://schemas.microsoft.com/office/drawing/2014/main" id="{6FB723D2-E8A0-4BBA-99AE-E5B0B6B7A5BB}"/>
              </a:ext>
            </a:extLst>
          </p:cNvPr>
          <p:cNvSpPr>
            <a:spLocks xmlns:a="http://schemas.openxmlformats.org/drawingml/2006/main" noGrp="1"/>
          </p:cNvSpPr>
          <p:nvPr/>
        </p:nvSpPr>
        <p:spPr>
          <a:xfrm xmlns:a="http://schemas.openxmlformats.org/drawingml/2006/main">
            <a:off x="7315200" y="4667250"/>
            <a:ext cx="4286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82C43"/>
                </a:solidFill>
                <a:latin typeface="DejaVu Sans"/>
                <a:ea typeface="DejaVu Sans"/>
                <a:cs typeface="DejaVu Sans"/>
              </a:defRPr>
            </a:defPPr>
          </a:lstStyle>
          <a:p xmlns:a="http://schemas.openxmlformats.org/drawingml/2006/main">
            <a:pPr>
              <a:buNone/>
              <a:defRPr sz="2325" b="0">
                <a:solidFill>
                  <a:srgbClr val="182C43"/>
                </a:solidFill>
                <a:latin typeface="DejaVu Sans"/>
                <a:ea typeface="DejaVu Sans"/>
                <a:cs typeface="DejaVu Sans"/>
              </a:defRPr>
            </a:pPr>
            <a:r>
              <a:rPr sz="2325" b="0">
                <a:solidFill>
                  <a:srgbClr val="182C43"/>
                </a:solidFill>
                <a:latin typeface="DejaVu Sans"/>
                <a:ea typeface="DejaVu Sans"/>
                <a:cs typeface="DejaVu Sans"/>
              </a:rPr>
              <a:t>How do we use one in Python?</a:t>
            </a:r>
          </a:p>
        </p:txBody>
      </p:sp>
      <p:sp>
        <p:nvSpPr>
          <p:cNvPr id="15" name="text-14">
            <a:extLst xmlns:a="http://schemas.openxmlformats.org/drawingml/2006/main">
              <a:ext uri="{FF2B5EF4-FFF2-40B4-BE49-F238E27FC236}">
                <a16:creationId xmlns:a16="http://schemas.microsoft.com/office/drawing/2014/main" id="{5780A1BF-A943-4538-8D1B-D11FC6C56F76}"/>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6" name="text-15">
            <a:extLst xmlns:a="http://schemas.openxmlformats.org/drawingml/2006/main">
              <a:ext uri="{FF2B5EF4-FFF2-40B4-BE49-F238E27FC236}">
                <a16:creationId xmlns:a16="http://schemas.microsoft.com/office/drawing/2014/main" id="{9335EEC7-AFD7-40DD-A0CE-81F019DB8152}"/>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05</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540534948"/>
      </p:ext>
    </p:extLst>
  </p:cSld>
</p:sld>
</file>

<file path=ppt/slides/slide6.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799656CE-442A-4641-91A8-BD9135ADBACD}"/>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What is a vector database?</a:t>
            </a:r>
          </a:p>
        </p:txBody>
      </p:sp>
      <p:sp>
        <p:nvSpPr>
          <p:cNvPr id="2" name="text-1">
            <a:extLst xmlns:a="http://schemas.openxmlformats.org/drawingml/2006/main">
              <a:ext uri="{FF2B5EF4-FFF2-40B4-BE49-F238E27FC236}">
                <a16:creationId xmlns:a16="http://schemas.microsoft.com/office/drawing/2014/main" id="{63B05C90-A0F6-4274-9769-A0A5B9579C97}"/>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A database that stores vectors and helps us find similar items</a:t>
            </a:r>
          </a:p>
        </p:txBody>
      </p:sp>
      <p:sp>
        <p:nvSpPr>
          <p:cNvPr id="3" name="text-2">
            <a:extLst xmlns:a="http://schemas.openxmlformats.org/drawingml/2006/main">
              <a:ext uri="{FF2B5EF4-FFF2-40B4-BE49-F238E27FC236}">
                <a16:creationId xmlns:a16="http://schemas.microsoft.com/office/drawing/2014/main" id="{02E0EC79-D595-48C4-9AF8-4FB5D2D978B6}"/>
              </a:ext>
            </a:extLst>
          </p:cNvPr>
          <p:cNvSpPr>
            <a:spLocks xmlns:a="http://schemas.openxmlformats.org/drawingml/2006/main" noGrp="1"/>
          </p:cNvSpPr>
          <p:nvPr/>
        </p:nvSpPr>
        <p:spPr>
          <a:xfrm xmlns:a="http://schemas.openxmlformats.org/drawingml/2006/main">
            <a:off x="666750" y="2543175"/>
            <a:ext cx="10668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82C43"/>
                </a:solidFill>
                <a:latin typeface="DejaVu Sans"/>
                <a:ea typeface="DejaVu Sans"/>
                <a:cs typeface="DejaVu Sans"/>
              </a:defRPr>
            </a:defPPr>
          </a:lstStyle>
          <a:p xmlns:a="http://schemas.openxmlformats.org/drawingml/2006/main">
            <a:pPr>
              <a:buNone/>
              <a:defRPr sz="3450" b="1">
                <a:solidFill>
                  <a:srgbClr val="182C43"/>
                </a:solidFill>
                <a:latin typeface="DejaVu Sans"/>
                <a:ea typeface="DejaVu Sans"/>
                <a:cs typeface="DejaVu Sans"/>
              </a:defRPr>
            </a:pPr>
            <a:r>
              <a:rPr sz="3450" b="1">
                <a:solidFill>
                  <a:srgbClr val="182C43"/>
                </a:solidFill>
                <a:latin typeface="DejaVu Sans"/>
                <a:ea typeface="DejaVu Sans"/>
                <a:cs typeface="DejaVu Sans"/>
              </a:rPr>
              <a:t>Save information. Find related information.</a:t>
            </a:r>
          </a:p>
        </p:txBody>
      </p:sp>
      <p:sp>
        <p:nvSpPr>
          <p:cNvPr id="4" name="text-3">
            <a:extLst xmlns:a="http://schemas.openxmlformats.org/drawingml/2006/main">
              <a:ext uri="{FF2B5EF4-FFF2-40B4-BE49-F238E27FC236}">
                <a16:creationId xmlns:a16="http://schemas.microsoft.com/office/drawing/2014/main" id="{A0169524-58AC-4534-BCAF-022CD049E1B7}"/>
              </a:ext>
            </a:extLst>
          </p:cNvPr>
          <p:cNvSpPr>
            <a:spLocks xmlns:a="http://schemas.openxmlformats.org/drawingml/2006/main" noGrp="1"/>
          </p:cNvSpPr>
          <p:nvPr/>
        </p:nvSpPr>
        <p:spPr>
          <a:xfrm xmlns:a="http://schemas.openxmlformats.org/drawingml/2006/main">
            <a:off x="666750" y="4762500"/>
            <a:ext cx="106203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596B79"/>
                </a:solidFill>
                <a:latin typeface="DejaVu Sans"/>
                <a:ea typeface="DejaVu Sans"/>
                <a:cs typeface="DejaVu Sans"/>
              </a:defRPr>
            </a:defPPr>
          </a:lstStyle>
          <a:p xmlns:a="http://schemas.openxmlformats.org/drawingml/2006/main">
            <a:pPr>
              <a:buNone/>
              <a:defRPr sz="2250" b="0">
                <a:solidFill>
                  <a:srgbClr val="596B79"/>
                </a:solidFill>
                <a:latin typeface="DejaVu Sans"/>
                <a:ea typeface="DejaVu Sans"/>
                <a:cs typeface="DejaVu Sans"/>
              </a:defRPr>
            </a:pPr>
            <a:r>
              <a:rPr sz="2250" b="0">
                <a:solidFill>
                  <a:srgbClr val="596B79"/>
                </a:solidFill>
                <a:latin typeface="DejaVu Sans"/>
                <a:ea typeface="DejaVu Sans"/>
                <a:cs typeface="DejaVu Sans"/>
              </a:rPr>
              <a:t>For our parcel app, it keeps policy vectors together with their saved text.</a:t>
            </a:r>
          </a:p>
        </p:txBody>
      </p:sp>
      <p:sp>
        <p:nvSpPr>
          <p:cNvPr id="5" name="text-4">
            <a:extLst xmlns:a="http://schemas.openxmlformats.org/drawingml/2006/main">
              <a:ext uri="{FF2B5EF4-FFF2-40B4-BE49-F238E27FC236}">
                <a16:creationId xmlns:a16="http://schemas.microsoft.com/office/drawing/2014/main" id="{77934CA7-BBF0-4A93-B23C-C3F003CE6300}"/>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6" name="text-5">
            <a:extLst xmlns:a="http://schemas.openxmlformats.org/drawingml/2006/main">
              <a:ext uri="{FF2B5EF4-FFF2-40B4-BE49-F238E27FC236}">
                <a16:creationId xmlns:a16="http://schemas.microsoft.com/office/drawing/2014/main" id="{F70F3C8B-9E89-4907-8447-F9060DE39E81}"/>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06</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361135272"/>
      </p:ext>
    </p:extLst>
  </p:cSld>
</p:sld>
</file>

<file path=ppt/slides/slide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A878F65-B6FD-42FB-A5E1-A9ECC1BF04B7}"/>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Think of a library catalogue</a:t>
            </a:r>
          </a:p>
        </p:txBody>
      </p:sp>
      <p:sp>
        <p:nvSpPr>
          <p:cNvPr id="2" name="text-1">
            <a:extLst xmlns:a="http://schemas.openxmlformats.org/drawingml/2006/main">
              <a:ext uri="{FF2B5EF4-FFF2-40B4-BE49-F238E27FC236}">
                <a16:creationId xmlns:a16="http://schemas.microsoft.com/office/drawing/2014/main" id="{2CD44C5F-0E67-4A2D-83C2-BF0E8E4B43BB}"/>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The catalogue helps you find the book you need</a:t>
            </a:r>
          </a:p>
        </p:txBody>
      </p:sp>
      <p:graphicFrame>
        <p:nvGraphicFramePr>
          <p:cNvPr id="3" name="">
            <a:extLst xmlns:a="http://schemas.openxmlformats.org/drawingml/2006/main">
              <a:ext uri="{FF2B5EF4-FFF2-40B4-BE49-F238E27FC236}">
                <a16:creationId xmlns:a16="http://schemas.microsoft.com/office/drawing/2014/main" id="{84D91734-32BF-45C9-ACCF-4E39737CC717}"/>
              </a:ext>
            </a:extLst>
          </p:cNvPr>
          <p:cNvGraphicFramePr/>
          <p:nvPr/>
        </p:nvGraphicFramePr>
        <p:xfrm>
          <a:off xmlns:a="http://schemas.openxmlformats.org/drawingml/2006/main" x="619125" y="2238375"/>
          <a:ext xmlns:a="http://schemas.openxmlformats.org/drawingml/2006/main" cx="10953750" cy="3048000"/>
        </p:xfrm>
        <a:graphic xmlns:a="http://schemas.openxmlformats.org/drawingml/2006/main">
          <a:graphicData uri="http://schemas.openxmlformats.org/drawingml/2006/table">
            <a:tbl>
              <a:tblPr/>
              <a:tblGrid>
                <a:gridCol w="4381500"/>
                <a:gridCol w="6572250"/>
              </a:tblGrid>
              <a:tr h="762000">
                <a:tc>
                  <a:txBody>
                    <a:bodyPr/>
                    <a:lstStyle/>
                    <a:p>
                      <a:r>
                        <a:rPr sz="2025" b="1">
                          <a:solidFill>
                            <a:srgbClr val="FFFFFF"/>
                          </a:solidFill>
                          <a:latin typeface="DejaVu Sans"/>
                          <a:ea typeface="DejaVu Sans"/>
                          <a:cs typeface="DejaVu Sans"/>
                        </a:rPr>
                        <a:t>A library</a:t>
                      </a:r>
                    </a:p>
                  </a:txBody>
                  <a:tcPr marL="171450" marR="171450" marT="152400" marB="95250">
                    <a:lnL w="9525">
                      <a:solidFill>
                        <a:srgbClr val="D7E1DF"/>
                      </a:solidFill>
                      <a:prstDash val="solid"/>
                    </a:lnL>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c>
                  <a:txBody>
                    <a:bodyPr/>
                    <a:lstStyle/>
                    <a:p>
                      <a:r>
                        <a:rPr sz="2025" b="1">
                          <a:solidFill>
                            <a:srgbClr val="FFFFFF"/>
                          </a:solidFill>
                          <a:latin typeface="DejaVu Sans"/>
                          <a:ea typeface="DejaVu Sans"/>
                          <a:cs typeface="DejaVu Sans"/>
                        </a:rPr>
                        <a:t>Our application</a:t>
                      </a:r>
                    </a:p>
                  </a:txBody>
                  <a:tcPr marL="171450" marR="171450" marT="152400" marB="95250">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r>
              <a:tr h="762000">
                <a:tc>
                  <a:txBody>
                    <a:bodyPr/>
                    <a:lstStyle/>
                    <a:p>
                      <a:r>
                        <a:rPr sz="2025">
                          <a:solidFill>
                            <a:srgbClr val="182C43"/>
                          </a:solidFill>
                          <a:latin typeface="DejaVu Sans"/>
                          <a:ea typeface="DejaVu Sans"/>
                          <a:cs typeface="DejaVu Sans"/>
                        </a:rPr>
                        <a:t>Book text</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Saved policy text</a:t>
                      </a:r>
                    </a:p>
                  </a:txBody>
                  <a:tcPr marL="171450" marR="171450" marT="152400" marB="95250">
                    <a:lnR w="9525">
                      <a:solidFill>
                        <a:srgbClr val="D7E1DF"/>
                      </a:solidFill>
                      <a:prstDash val="solid"/>
                    </a:lnR>
                    <a:lnB w="9525">
                      <a:solidFill>
                        <a:srgbClr val="D7E1DF"/>
                      </a:solidFill>
                      <a:prstDash val="solid"/>
                    </a:lnB>
                    <a:solidFill>
                      <a:srgbClr val="FFFFFF"/>
                    </a:solidFill>
                  </a:tcPr>
                </a:tc>
              </a:tr>
              <a:tr h="762000">
                <a:tc>
                  <a:txBody>
                    <a:bodyPr/>
                    <a:lstStyle/>
                    <a:p>
                      <a:r>
                        <a:rPr sz="2025">
                          <a:solidFill>
                            <a:srgbClr val="182C43"/>
                          </a:solidFill>
                          <a:latin typeface="DejaVu Sans"/>
                          <a:ea typeface="DejaVu Sans"/>
                          <a:cs typeface="DejaVu Sans"/>
                        </a:rPr>
                        <a:t>Catalogue number</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Policy ID: P2</a:t>
                      </a:r>
                    </a:p>
                  </a:txBody>
                  <a:tcPr marL="171450" marR="171450" marT="152400" marB="95250">
                    <a:lnR w="9525">
                      <a:solidFill>
                        <a:srgbClr val="D7E1DF"/>
                      </a:solidFill>
                      <a:prstDash val="solid"/>
                    </a:lnR>
                    <a:lnB w="9525">
                      <a:solidFill>
                        <a:srgbClr val="D7E1DF"/>
                      </a:solidFill>
                      <a:prstDash val="solid"/>
                    </a:lnB>
                    <a:solidFill>
                      <a:srgbClr val="FFFFFF"/>
                    </a:solidFill>
                  </a:tcPr>
                </a:tc>
              </a:tr>
              <a:tr h="762000">
                <a:tc>
                  <a:txBody>
                    <a:bodyPr/>
                    <a:lstStyle/>
                    <a:p>
                      <a:r>
                        <a:rPr sz="2025">
                          <a:solidFill>
                            <a:srgbClr val="182C43"/>
                          </a:solidFill>
                          <a:latin typeface="DejaVu Sans"/>
                          <a:ea typeface="DejaVu Sans"/>
                          <a:cs typeface="DejaVu Sans"/>
                        </a:rPr>
                        <a:t>Searchable catalogue</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Vector database</a:t>
                      </a:r>
                    </a:p>
                  </a:txBody>
                  <a:tcPr marL="171450" marR="171450" marT="152400" marB="95250">
                    <a:lnR w="9525">
                      <a:solidFill>
                        <a:srgbClr val="D7E1DF"/>
                      </a:solidFill>
                      <a:prstDash val="solid"/>
                    </a:lnR>
                    <a:lnB w="9525">
                      <a:solidFill>
                        <a:srgbClr val="D7E1DF"/>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50AEEC27-CD3D-47FA-9147-EE9193310C74}"/>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5" name="text-3">
            <a:extLst xmlns:a="http://schemas.openxmlformats.org/drawingml/2006/main">
              <a:ext uri="{FF2B5EF4-FFF2-40B4-BE49-F238E27FC236}">
                <a16:creationId xmlns:a16="http://schemas.microsoft.com/office/drawing/2014/main" id="{43A9E170-FA92-4E4C-AE44-611943FFEC90}"/>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07</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337827452"/>
      </p:ext>
    </p:extLst>
  </p:cSld>
</p:sld>
</file>

<file path=ppt/slides/slide8.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B34A0D8C-9E1B-416F-8F06-52DEF3C38AB3}"/>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What does one saved item contain?</a:t>
            </a:r>
          </a:p>
        </p:txBody>
      </p:sp>
      <p:sp>
        <p:nvSpPr>
          <p:cNvPr id="2" name="text-1">
            <a:extLst xmlns:a="http://schemas.openxmlformats.org/drawingml/2006/main">
              <a:ext uri="{FF2B5EF4-FFF2-40B4-BE49-F238E27FC236}">
                <a16:creationId xmlns:a16="http://schemas.microsoft.com/office/drawing/2014/main" id="{F019E3EC-0851-436A-BC8D-F8EBC16CFB2E}"/>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Keep the meaning of each field simple</a:t>
            </a:r>
          </a:p>
        </p:txBody>
      </p:sp>
      <p:sp>
        <p:nvSpPr>
          <p:cNvPr id="3" name="text-2">
            <a:extLst xmlns:a="http://schemas.openxmlformats.org/drawingml/2006/main">
              <a:ext uri="{FF2B5EF4-FFF2-40B4-BE49-F238E27FC236}">
                <a16:creationId xmlns:a16="http://schemas.microsoft.com/office/drawing/2014/main" id="{3258598D-D767-4230-BE30-3E0E8BE70769}"/>
              </a:ext>
            </a:extLst>
          </p:cNvPr>
          <p:cNvSpPr>
            <a:spLocks xmlns:a="http://schemas.openxmlformats.org/drawingml/2006/main" noGrp="1"/>
          </p:cNvSpPr>
          <p:nvPr/>
        </p:nvSpPr>
        <p:spPr>
          <a:xfrm xmlns:a="http://schemas.openxmlformats.org/drawingml/2006/main">
            <a:off x="666750" y="2381250"/>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E84"/>
                </a:solidFill>
                <a:latin typeface="DejaVu Sans"/>
                <a:ea typeface="DejaVu Sans"/>
                <a:cs typeface="DejaVu Sans"/>
              </a:defRPr>
            </a:defPPr>
          </a:lstStyle>
          <a:p xmlns:a="http://schemas.openxmlformats.org/drawingml/2006/main">
            <a:pPr>
              <a:buNone/>
              <a:defRPr sz="1800" b="1">
                <a:solidFill>
                  <a:srgbClr val="087E84"/>
                </a:solidFill>
                <a:latin typeface="DejaVu Sans"/>
                <a:ea typeface="DejaVu Sans"/>
                <a:cs typeface="DejaVu Sans"/>
              </a:defRPr>
            </a:pPr>
            <a:r>
              <a:rPr sz="1800" b="1">
                <a:solidFill>
                  <a:srgbClr val="087E84"/>
                </a:solidFill>
                <a:latin typeface="DejaVu Sans"/>
                <a:ea typeface="DejaVu Sans"/>
                <a:cs typeface="DejaVu Sans"/>
              </a:rPr>
              <a:t>ID</a:t>
            </a:r>
          </a:p>
        </p:txBody>
      </p:sp>
      <p:sp>
        <p:nvSpPr>
          <p:cNvPr id="4" name="text-3">
            <a:extLst xmlns:a="http://schemas.openxmlformats.org/drawingml/2006/main">
              <a:ext uri="{FF2B5EF4-FFF2-40B4-BE49-F238E27FC236}">
                <a16:creationId xmlns:a16="http://schemas.microsoft.com/office/drawing/2014/main" id="{7B060DDD-4931-4CAB-9793-39A814FAB891}"/>
              </a:ext>
            </a:extLst>
          </p:cNvPr>
          <p:cNvSpPr>
            <a:spLocks xmlns:a="http://schemas.openxmlformats.org/drawingml/2006/main" noGrp="1"/>
          </p:cNvSpPr>
          <p:nvPr/>
        </p:nvSpPr>
        <p:spPr>
          <a:xfrm xmlns:a="http://schemas.openxmlformats.org/drawingml/2006/main">
            <a:off x="3095625" y="2381250"/>
            <a:ext cx="83343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182C43"/>
                </a:solidFill>
                <a:latin typeface="DejaVu Sans"/>
                <a:ea typeface="DejaVu Sans"/>
                <a:cs typeface="DejaVu Sans"/>
              </a:defRPr>
            </a:defPPr>
          </a:lstStyle>
          <a:p xmlns:a="http://schemas.openxmlformats.org/drawingml/2006/main">
            <a:pPr>
              <a:buNone/>
              <a:defRPr sz="2400" b="0">
                <a:solidFill>
                  <a:srgbClr val="182C43"/>
                </a:solidFill>
                <a:latin typeface="DejaVu Sans"/>
                <a:ea typeface="DejaVu Sans"/>
                <a:cs typeface="DejaVu Sans"/>
              </a:defRPr>
            </a:pPr>
            <a:r>
              <a:rPr sz="2400" b="0">
                <a:solidFill>
                  <a:srgbClr val="182C43"/>
                </a:solidFill>
                <a:latin typeface="DejaVu Sans"/>
                <a:ea typeface="DejaVu Sans"/>
                <a:cs typeface="DejaVu Sans"/>
              </a:rPr>
              <a:t>P2</a:t>
            </a:r>
          </a:p>
        </p:txBody>
      </p:sp>
      <p:sp>
        <p:nvSpPr>
          <p:cNvPr id="5" name="text-4">
            <a:extLst xmlns:a="http://schemas.openxmlformats.org/drawingml/2006/main">
              <a:ext uri="{FF2B5EF4-FFF2-40B4-BE49-F238E27FC236}">
                <a16:creationId xmlns:a16="http://schemas.microsoft.com/office/drawing/2014/main" id="{050EDE69-D2CD-4985-A516-27CAC9BAD2B7}"/>
              </a:ext>
            </a:extLst>
          </p:cNvPr>
          <p:cNvSpPr>
            <a:spLocks xmlns:a="http://schemas.openxmlformats.org/drawingml/2006/main" noGrp="1"/>
          </p:cNvSpPr>
          <p:nvPr/>
        </p:nvSpPr>
        <p:spPr>
          <a:xfrm xmlns:a="http://schemas.openxmlformats.org/drawingml/2006/main">
            <a:off x="666750" y="3571875"/>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E84"/>
                </a:solidFill>
                <a:latin typeface="DejaVu Sans"/>
                <a:ea typeface="DejaVu Sans"/>
                <a:cs typeface="DejaVu Sans"/>
              </a:defRPr>
            </a:defPPr>
          </a:lstStyle>
          <a:p xmlns:a="http://schemas.openxmlformats.org/drawingml/2006/main">
            <a:pPr>
              <a:buNone/>
              <a:defRPr sz="1800" b="1">
                <a:solidFill>
                  <a:srgbClr val="087E84"/>
                </a:solidFill>
                <a:latin typeface="DejaVu Sans"/>
                <a:ea typeface="DejaVu Sans"/>
                <a:cs typeface="DejaVu Sans"/>
              </a:defRPr>
            </a:pPr>
            <a:r>
              <a:rPr sz="1800" b="1">
                <a:solidFill>
                  <a:srgbClr val="087E84"/>
                </a:solidFill>
                <a:latin typeface="DejaVu Sans"/>
                <a:ea typeface="DejaVu Sans"/>
                <a:cs typeface="DejaVu Sans"/>
              </a:rPr>
              <a:t>SAVED TEXT</a:t>
            </a:r>
          </a:p>
        </p:txBody>
      </p:sp>
      <p:sp>
        <p:nvSpPr>
          <p:cNvPr id="6" name="text-5">
            <a:extLst xmlns:a="http://schemas.openxmlformats.org/drawingml/2006/main">
              <a:ext uri="{FF2B5EF4-FFF2-40B4-BE49-F238E27FC236}">
                <a16:creationId xmlns:a16="http://schemas.microsoft.com/office/drawing/2014/main" id="{C1402AD8-F59B-4EC9-9357-38C4B1216A3B}"/>
              </a:ext>
            </a:extLst>
          </p:cNvPr>
          <p:cNvSpPr>
            <a:spLocks xmlns:a="http://schemas.openxmlformats.org/drawingml/2006/main" noGrp="1"/>
          </p:cNvSpPr>
          <p:nvPr/>
        </p:nvSpPr>
        <p:spPr>
          <a:xfrm xmlns:a="http://schemas.openxmlformats.org/drawingml/2006/main">
            <a:off x="3095625" y="3571875"/>
            <a:ext cx="83343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182C43"/>
                </a:solidFill>
                <a:latin typeface="DejaVu Sans"/>
                <a:ea typeface="DejaVu Sans"/>
                <a:cs typeface="DejaVu Sans"/>
              </a:defRPr>
            </a:defPPr>
          </a:lstStyle>
          <a:p xmlns:a="http://schemas.openxmlformats.org/drawingml/2006/main">
            <a:pPr>
              <a:buNone/>
              <a:defRPr sz="2250" b="0">
                <a:solidFill>
                  <a:srgbClr val="182C43"/>
                </a:solidFill>
                <a:latin typeface="DejaVu Sans"/>
                <a:ea typeface="DejaVu Sans"/>
                <a:cs typeface="DejaVu Sans"/>
              </a:defRPr>
            </a:pPr>
            <a:r>
              <a:rPr sz="2250" b="0">
                <a:solidFill>
                  <a:srgbClr val="182C43"/>
                </a:solidFill>
                <a:latin typeface="DejaVu Sans"/>
                <a:ea typeface="DejaVu Sans"/>
                <a:cs typeface="DejaVu Sans"/>
              </a:rPr>
              <a:t>Cash on delivery lets you pay when the parcel arrives.</a:t>
            </a:r>
          </a:p>
        </p:txBody>
      </p:sp>
      <p:sp>
        <p:nvSpPr>
          <p:cNvPr id="7" name="text-6">
            <a:extLst xmlns:a="http://schemas.openxmlformats.org/drawingml/2006/main">
              <a:ext uri="{FF2B5EF4-FFF2-40B4-BE49-F238E27FC236}">
                <a16:creationId xmlns:a16="http://schemas.microsoft.com/office/drawing/2014/main" id="{96748140-6023-4E38-AB48-21FA5E5EA5E0}"/>
              </a:ext>
            </a:extLst>
          </p:cNvPr>
          <p:cNvSpPr>
            <a:spLocks xmlns:a="http://schemas.openxmlformats.org/drawingml/2006/main" noGrp="1"/>
          </p:cNvSpPr>
          <p:nvPr/>
        </p:nvSpPr>
        <p:spPr>
          <a:xfrm xmlns:a="http://schemas.openxmlformats.org/drawingml/2006/main">
            <a:off x="666750" y="4762500"/>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E84"/>
                </a:solidFill>
                <a:latin typeface="DejaVu Sans"/>
                <a:ea typeface="DejaVu Sans"/>
                <a:cs typeface="DejaVu Sans"/>
              </a:defRPr>
            </a:defPPr>
          </a:lstStyle>
          <a:p xmlns:a="http://schemas.openxmlformats.org/drawingml/2006/main">
            <a:pPr>
              <a:buNone/>
              <a:defRPr sz="1800" b="1">
                <a:solidFill>
                  <a:srgbClr val="087E84"/>
                </a:solidFill>
                <a:latin typeface="DejaVu Sans"/>
                <a:ea typeface="DejaVu Sans"/>
                <a:cs typeface="DejaVu Sans"/>
              </a:defRPr>
            </a:pPr>
            <a:r>
              <a:rPr sz="1800" b="1">
                <a:solidFill>
                  <a:srgbClr val="087E84"/>
                </a:solidFill>
                <a:latin typeface="DejaVu Sans"/>
                <a:ea typeface="DejaVu Sans"/>
                <a:cs typeface="DejaVu Sans"/>
              </a:rPr>
              <a:t>VECTOR</a:t>
            </a:r>
          </a:p>
        </p:txBody>
      </p:sp>
      <p:sp>
        <p:nvSpPr>
          <p:cNvPr id="8" name="text-7">
            <a:extLst xmlns:a="http://schemas.openxmlformats.org/drawingml/2006/main">
              <a:ext uri="{FF2B5EF4-FFF2-40B4-BE49-F238E27FC236}">
                <a16:creationId xmlns:a16="http://schemas.microsoft.com/office/drawing/2014/main" id="{A4FC5EE6-7ACC-4139-AE93-0009EA742230}"/>
              </a:ext>
            </a:extLst>
          </p:cNvPr>
          <p:cNvSpPr>
            <a:spLocks xmlns:a="http://schemas.openxmlformats.org/drawingml/2006/main" noGrp="1"/>
          </p:cNvSpPr>
          <p:nvPr/>
        </p:nvSpPr>
        <p:spPr>
          <a:xfrm xmlns:a="http://schemas.openxmlformats.org/drawingml/2006/main">
            <a:off x="3095625" y="4762500"/>
            <a:ext cx="833437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182C43"/>
                </a:solidFill>
                <a:latin typeface="DejaVu Sans"/>
                <a:ea typeface="DejaVu Sans"/>
                <a:cs typeface="DejaVu Sans"/>
              </a:defRPr>
            </a:defPPr>
          </a:lstStyle>
          <a:p xmlns:a="http://schemas.openxmlformats.org/drawingml/2006/main">
            <a:pPr>
              <a:buNone/>
              <a:defRPr sz="2400" b="0">
                <a:solidFill>
                  <a:srgbClr val="182C43"/>
                </a:solidFill>
                <a:latin typeface="DejaVu Sans"/>
                <a:ea typeface="DejaVu Sans"/>
                <a:cs typeface="DejaVu Sans"/>
              </a:defRPr>
            </a:pPr>
            <a:r>
              <a:rPr sz="2400" b="0">
                <a:solidFill>
                  <a:srgbClr val="182C43"/>
                </a:solidFill>
                <a:latin typeface="DejaVu Sans"/>
                <a:ea typeface="DejaVu Sans"/>
                <a:cs typeface="DejaVu Sans"/>
              </a:rPr>
              <a:t>[0.12, -0.08, ...]  (illustrative)</a:t>
            </a:r>
          </a:p>
        </p:txBody>
      </p:sp>
      <p:sp>
        <p:nvSpPr>
          <p:cNvPr id="9" name="text-8">
            <a:extLst xmlns:a="http://schemas.openxmlformats.org/drawingml/2006/main">
              <a:ext uri="{FF2B5EF4-FFF2-40B4-BE49-F238E27FC236}">
                <a16:creationId xmlns:a16="http://schemas.microsoft.com/office/drawing/2014/main" id="{ED882DB3-AF30-4CDD-9AC3-26768AF0A652}"/>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0" name="text-9">
            <a:extLst xmlns:a="http://schemas.openxmlformats.org/drawingml/2006/main">
              <a:ext uri="{FF2B5EF4-FFF2-40B4-BE49-F238E27FC236}">
                <a16:creationId xmlns:a16="http://schemas.microsoft.com/office/drawing/2014/main" id="{38443704-7E4F-4577-A37E-E524CDAB9997}"/>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08</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640563965"/>
      </p:ext>
    </p:extLst>
  </p:cSld>
</p:sld>
</file>

<file path=ppt/slides/slide9.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83DF5982-96AD-405A-8CF6-22E0111D1E58}"/>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Why do we need a vector database?</a:t>
            </a:r>
          </a:p>
        </p:txBody>
      </p:sp>
      <p:sp>
        <p:nvSpPr>
          <p:cNvPr id="2" name="text-1">
            <a:extLst xmlns:a="http://schemas.openxmlformats.org/drawingml/2006/main">
              <a:ext uri="{FF2B5EF4-FFF2-40B4-BE49-F238E27FC236}">
                <a16:creationId xmlns:a16="http://schemas.microsoft.com/office/drawing/2014/main" id="{F041E2DF-8D2D-464A-9734-B92D71616F12}"/>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Our parcel company now has more information</a:t>
            </a:r>
          </a:p>
        </p:txBody>
      </p:sp>
      <p:sp>
        <p:nvSpPr>
          <p:cNvPr id="3" name="text-2">
            <a:extLst xmlns:a="http://schemas.openxmlformats.org/drawingml/2006/main">
              <a:ext uri="{FF2B5EF4-FFF2-40B4-BE49-F238E27FC236}">
                <a16:creationId xmlns:a16="http://schemas.microsoft.com/office/drawing/2014/main" id="{4A28EF42-53FE-416E-B7AF-AFD1CBBD199F}"/>
              </a:ext>
            </a:extLst>
          </p:cNvPr>
          <p:cNvSpPr>
            <a:spLocks xmlns:a="http://schemas.openxmlformats.org/drawingml/2006/main" noGrp="1"/>
          </p:cNvSpPr>
          <p:nvPr/>
        </p:nvSpPr>
        <p:spPr>
          <a:xfrm xmlns:a="http://schemas.openxmlformats.org/drawingml/2006/main">
            <a:off x="666750" y="2333625"/>
            <a:ext cx="95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87E84"/>
                </a:solidFill>
                <a:latin typeface="DejaVu Sans"/>
                <a:ea typeface="DejaVu Sans"/>
                <a:cs typeface="DejaVu Sans"/>
              </a:defRPr>
            </a:defPPr>
          </a:lstStyle>
          <a:p xmlns:a="http://schemas.openxmlformats.org/drawingml/2006/main">
            <a:pPr>
              <a:buNone/>
              <a:defRPr sz="3150" b="1">
                <a:solidFill>
                  <a:srgbClr val="087E84"/>
                </a:solidFill>
                <a:latin typeface="DejaVu Sans"/>
                <a:ea typeface="DejaVu Sans"/>
                <a:cs typeface="DejaVu Sans"/>
              </a:defRPr>
            </a:pPr>
            <a:r>
              <a:rPr sz="3150" b="1">
                <a:solidFill>
                  <a:srgbClr val="087E84"/>
                </a:solidFill>
                <a:latin typeface="DejaVu Sans"/>
                <a:ea typeface="DejaVu Sans"/>
                <a:cs typeface="DejaVu Sans"/>
              </a:rPr>
              <a:t>01</a:t>
            </a:r>
          </a:p>
        </p:txBody>
      </p:sp>
      <p:sp>
        <p:nvSpPr>
          <p:cNvPr id="4" name="text-3">
            <a:extLst xmlns:a="http://schemas.openxmlformats.org/drawingml/2006/main">
              <a:ext uri="{FF2B5EF4-FFF2-40B4-BE49-F238E27FC236}">
                <a16:creationId xmlns:a16="http://schemas.microsoft.com/office/drawing/2014/main" id="{0A16C808-9019-4375-9B35-78B85E5AC17C}"/>
              </a:ext>
            </a:extLst>
          </p:cNvPr>
          <p:cNvSpPr>
            <a:spLocks xmlns:a="http://schemas.openxmlformats.org/drawingml/2006/main" noGrp="1"/>
          </p:cNvSpPr>
          <p:nvPr/>
        </p:nvSpPr>
        <p:spPr>
          <a:xfrm xmlns:a="http://schemas.openxmlformats.org/drawingml/2006/main">
            <a:off x="2095500" y="238125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82C43"/>
                </a:solidFill>
                <a:latin typeface="DejaVu Sans"/>
                <a:ea typeface="DejaVu Sans"/>
                <a:cs typeface="DejaVu Sans"/>
              </a:defRPr>
            </a:defPPr>
          </a:lstStyle>
          <a:p xmlns:a="http://schemas.openxmlformats.org/drawingml/2006/main">
            <a:pPr>
              <a:buNone/>
              <a:defRPr sz="2700" b="1">
                <a:solidFill>
                  <a:srgbClr val="182C43"/>
                </a:solidFill>
                <a:latin typeface="DejaVu Sans"/>
                <a:ea typeface="DejaVu Sans"/>
                <a:cs typeface="DejaVu Sans"/>
              </a:defRPr>
            </a:pPr>
            <a:r>
              <a:rPr sz="2700" b="1">
                <a:solidFill>
                  <a:srgbClr val="182C43"/>
                </a:solidFill>
                <a:latin typeface="DejaVu Sans"/>
                <a:ea typeface="DejaVu Sans"/>
                <a:cs typeface="DejaVu Sans"/>
              </a:rPr>
              <a:t>Reuse saved vectors</a:t>
            </a:r>
          </a:p>
        </p:txBody>
      </p:sp>
      <p:sp>
        <p:nvSpPr>
          <p:cNvPr id="5" name="text-4">
            <a:extLst xmlns:a="http://schemas.openxmlformats.org/drawingml/2006/main">
              <a:ext uri="{FF2B5EF4-FFF2-40B4-BE49-F238E27FC236}">
                <a16:creationId xmlns:a16="http://schemas.microsoft.com/office/drawing/2014/main" id="{4E713174-8845-4A66-8410-AA53C20B14C8}"/>
              </a:ext>
            </a:extLst>
          </p:cNvPr>
          <p:cNvSpPr>
            <a:spLocks xmlns:a="http://schemas.openxmlformats.org/drawingml/2006/main" noGrp="1"/>
          </p:cNvSpPr>
          <p:nvPr/>
        </p:nvSpPr>
        <p:spPr>
          <a:xfrm xmlns:a="http://schemas.openxmlformats.org/drawingml/2006/main">
            <a:off x="666750" y="3486150"/>
            <a:ext cx="95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87E84"/>
                </a:solidFill>
                <a:latin typeface="DejaVu Sans"/>
                <a:ea typeface="DejaVu Sans"/>
                <a:cs typeface="DejaVu Sans"/>
              </a:defRPr>
            </a:defPPr>
          </a:lstStyle>
          <a:p xmlns:a="http://schemas.openxmlformats.org/drawingml/2006/main">
            <a:pPr>
              <a:buNone/>
              <a:defRPr sz="3150" b="1">
                <a:solidFill>
                  <a:srgbClr val="087E84"/>
                </a:solidFill>
                <a:latin typeface="DejaVu Sans"/>
                <a:ea typeface="DejaVu Sans"/>
                <a:cs typeface="DejaVu Sans"/>
              </a:defRPr>
            </a:pPr>
            <a:r>
              <a:rPr sz="3150" b="1">
                <a:solidFill>
                  <a:srgbClr val="087E84"/>
                </a:solidFill>
                <a:latin typeface="DejaVu Sans"/>
                <a:ea typeface="DejaVu Sans"/>
                <a:cs typeface="DejaVu Sans"/>
              </a:rPr>
              <a:t>02</a:t>
            </a:r>
          </a:p>
        </p:txBody>
      </p:sp>
      <p:sp>
        <p:nvSpPr>
          <p:cNvPr id="6" name="text-5">
            <a:extLst xmlns:a="http://schemas.openxmlformats.org/drawingml/2006/main">
              <a:ext uri="{FF2B5EF4-FFF2-40B4-BE49-F238E27FC236}">
                <a16:creationId xmlns:a16="http://schemas.microsoft.com/office/drawing/2014/main" id="{7493A7BC-21F5-45BF-8BCF-629FAFC29678}"/>
              </a:ext>
            </a:extLst>
          </p:cNvPr>
          <p:cNvSpPr>
            <a:spLocks xmlns:a="http://schemas.openxmlformats.org/drawingml/2006/main" noGrp="1"/>
          </p:cNvSpPr>
          <p:nvPr/>
        </p:nvSpPr>
        <p:spPr>
          <a:xfrm xmlns:a="http://schemas.openxmlformats.org/drawingml/2006/main">
            <a:off x="2095500" y="3533775"/>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82C43"/>
                </a:solidFill>
                <a:latin typeface="DejaVu Sans"/>
                <a:ea typeface="DejaVu Sans"/>
                <a:cs typeface="DejaVu Sans"/>
              </a:defRPr>
            </a:defPPr>
          </a:lstStyle>
          <a:p xmlns:a="http://schemas.openxmlformats.org/drawingml/2006/main">
            <a:pPr>
              <a:buNone/>
              <a:defRPr sz="2700" b="1">
                <a:solidFill>
                  <a:srgbClr val="182C43"/>
                </a:solidFill>
                <a:latin typeface="DejaVu Sans"/>
                <a:ea typeface="DejaVu Sans"/>
                <a:cs typeface="DejaVu Sans"/>
              </a:defRPr>
            </a:pPr>
            <a:r>
              <a:rPr sz="2700" b="1">
                <a:solidFill>
                  <a:srgbClr val="182C43"/>
                </a:solidFill>
                <a:latin typeface="DejaVu Sans"/>
                <a:ea typeface="DejaVu Sans"/>
                <a:cs typeface="DejaVu Sans"/>
              </a:rPr>
              <a:t>Manage policies in one place</a:t>
            </a:r>
          </a:p>
        </p:txBody>
      </p:sp>
      <p:sp>
        <p:nvSpPr>
          <p:cNvPr id="7" name="text-6">
            <a:extLst xmlns:a="http://schemas.openxmlformats.org/drawingml/2006/main">
              <a:ext uri="{FF2B5EF4-FFF2-40B4-BE49-F238E27FC236}">
                <a16:creationId xmlns:a16="http://schemas.microsoft.com/office/drawing/2014/main" id="{BE1D471A-3470-4E01-ADA0-8A7833F1A02C}"/>
              </a:ext>
            </a:extLst>
          </p:cNvPr>
          <p:cNvSpPr>
            <a:spLocks xmlns:a="http://schemas.openxmlformats.org/drawingml/2006/main" noGrp="1"/>
          </p:cNvSpPr>
          <p:nvPr/>
        </p:nvSpPr>
        <p:spPr>
          <a:xfrm xmlns:a="http://schemas.openxmlformats.org/drawingml/2006/main">
            <a:off x="666750" y="4638675"/>
            <a:ext cx="95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87E84"/>
                </a:solidFill>
                <a:latin typeface="DejaVu Sans"/>
                <a:ea typeface="DejaVu Sans"/>
                <a:cs typeface="DejaVu Sans"/>
              </a:defRPr>
            </a:defPPr>
          </a:lstStyle>
          <a:p xmlns:a="http://schemas.openxmlformats.org/drawingml/2006/main">
            <a:pPr>
              <a:buNone/>
              <a:defRPr sz="3150" b="1">
                <a:solidFill>
                  <a:srgbClr val="087E84"/>
                </a:solidFill>
                <a:latin typeface="DejaVu Sans"/>
                <a:ea typeface="DejaVu Sans"/>
                <a:cs typeface="DejaVu Sans"/>
              </a:defRPr>
            </a:pPr>
            <a:r>
              <a:rPr sz="3150" b="1">
                <a:solidFill>
                  <a:srgbClr val="087E84"/>
                </a:solidFill>
                <a:latin typeface="DejaVu Sans"/>
                <a:ea typeface="DejaVu Sans"/>
                <a:cs typeface="DejaVu Sans"/>
              </a:rPr>
              <a:t>03</a:t>
            </a:r>
          </a:p>
        </p:txBody>
      </p:sp>
      <p:sp>
        <p:nvSpPr>
          <p:cNvPr id="8" name="text-7">
            <a:extLst xmlns:a="http://schemas.openxmlformats.org/drawingml/2006/main">
              <a:ext uri="{FF2B5EF4-FFF2-40B4-BE49-F238E27FC236}">
                <a16:creationId xmlns:a16="http://schemas.microsoft.com/office/drawing/2014/main" id="{C0F572E4-5A65-4B7B-AD24-B7D62669D433}"/>
              </a:ext>
            </a:extLst>
          </p:cNvPr>
          <p:cNvSpPr>
            <a:spLocks xmlns:a="http://schemas.openxmlformats.org/drawingml/2006/main" noGrp="1"/>
          </p:cNvSpPr>
          <p:nvPr/>
        </p:nvSpPr>
        <p:spPr>
          <a:xfrm xmlns:a="http://schemas.openxmlformats.org/drawingml/2006/main">
            <a:off x="2095500" y="4686300"/>
            <a:ext cx="9334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182C43"/>
                </a:solidFill>
                <a:latin typeface="DejaVu Sans"/>
                <a:ea typeface="DejaVu Sans"/>
                <a:cs typeface="DejaVu Sans"/>
              </a:defRPr>
            </a:defPPr>
          </a:lstStyle>
          <a:p xmlns:a="http://schemas.openxmlformats.org/drawingml/2006/main">
            <a:pPr>
              <a:buNone/>
              <a:defRPr sz="2700" b="1">
                <a:solidFill>
                  <a:srgbClr val="182C43"/>
                </a:solidFill>
                <a:latin typeface="DejaVu Sans"/>
                <a:ea typeface="DejaVu Sans"/>
                <a:cs typeface="DejaVu Sans"/>
              </a:defRPr>
            </a:pPr>
            <a:r>
              <a:rPr sz="2700" b="1">
                <a:solidFill>
                  <a:srgbClr val="182C43"/>
                </a:solidFill>
                <a:latin typeface="DejaVu Sans"/>
                <a:ea typeface="DejaVu Sans"/>
                <a:cs typeface="DejaVu Sans"/>
              </a:rPr>
              <a:t>Find related policies as the data grows</a:t>
            </a:r>
          </a:p>
        </p:txBody>
      </p:sp>
      <p:sp>
        <p:nvSpPr>
          <p:cNvPr id="9" name="text-8">
            <a:extLst xmlns:a="http://schemas.openxmlformats.org/drawingml/2006/main">
              <a:ext uri="{FF2B5EF4-FFF2-40B4-BE49-F238E27FC236}">
                <a16:creationId xmlns:a16="http://schemas.microsoft.com/office/drawing/2014/main" id="{3513E107-B3A0-49C5-AC75-1A81BCFC0660}"/>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0" name="text-9">
            <a:extLst xmlns:a="http://schemas.openxmlformats.org/drawingml/2006/main">
              <a:ext uri="{FF2B5EF4-FFF2-40B4-BE49-F238E27FC236}">
                <a16:creationId xmlns:a16="http://schemas.microsoft.com/office/drawing/2014/main" id="{D2F74944-5D0A-4D51-A555-CB2E37287A8A}"/>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09</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200447699"/>
      </p:ext>
    </p:extLst>
  </p:cSld>
</p:sld>
</file>

<file path=ppt/slides/slide10.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553CB609-11EC-4EAE-A415-C49D0C5CE12E}"/>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Customers use different words</a:t>
            </a:r>
          </a:p>
        </p:txBody>
      </p:sp>
      <p:sp>
        <p:nvSpPr>
          <p:cNvPr id="2" name="text-1">
            <a:extLst xmlns:a="http://schemas.openxmlformats.org/drawingml/2006/main">
              <a:ext uri="{FF2B5EF4-FFF2-40B4-BE49-F238E27FC236}">
                <a16:creationId xmlns:a16="http://schemas.microsoft.com/office/drawing/2014/main" id="{CFBB9C14-AE64-49E3-8FE4-0BEEB7668444}"/>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A meaning search can connect related wording</a:t>
            </a:r>
          </a:p>
        </p:txBody>
      </p:sp>
      <p:sp>
        <p:nvSpPr>
          <p:cNvPr id="3" name="text-2">
            <a:extLst xmlns:a="http://schemas.openxmlformats.org/drawingml/2006/main">
              <a:ext uri="{FF2B5EF4-FFF2-40B4-BE49-F238E27FC236}">
                <a16:creationId xmlns:a16="http://schemas.microsoft.com/office/drawing/2014/main" id="{40989966-8D03-456B-9537-2A7F3D505A5B}"/>
              </a:ext>
            </a:extLst>
          </p:cNvPr>
          <p:cNvSpPr>
            <a:spLocks xmlns:a="http://schemas.openxmlformats.org/drawingml/2006/main" noGrp="1"/>
          </p:cNvSpPr>
          <p:nvPr/>
        </p:nvSpPr>
        <p:spPr>
          <a:xfrm xmlns:a="http://schemas.openxmlformats.org/drawingml/2006/main">
            <a:off x="666750" y="22955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87E84"/>
                </a:solidFill>
                <a:latin typeface="DejaVu Sans"/>
                <a:ea typeface="DejaVu Sans"/>
                <a:cs typeface="DejaVu Sans"/>
              </a:defRPr>
            </a:defPPr>
          </a:lstStyle>
          <a:p xmlns:a="http://schemas.openxmlformats.org/drawingml/2006/main">
            <a:pPr>
              <a:buNone/>
              <a:defRPr sz="1500" b="1">
                <a:solidFill>
                  <a:srgbClr val="087E84"/>
                </a:solidFill>
                <a:latin typeface="DejaVu Sans"/>
                <a:ea typeface="DejaVu Sans"/>
                <a:cs typeface="DejaVu Sans"/>
              </a:defRPr>
            </a:pPr>
            <a:r>
              <a:rPr sz="1500" b="1">
                <a:solidFill>
                  <a:srgbClr val="087E84"/>
                </a:solidFill>
                <a:latin typeface="DejaVu Sans"/>
                <a:ea typeface="DejaVu Sans"/>
                <a:cs typeface="DejaVu Sans"/>
              </a:rPr>
              <a:t>CUSTOMER</a:t>
            </a:r>
          </a:p>
        </p:txBody>
      </p:sp>
      <p:sp>
        <p:nvSpPr>
          <p:cNvPr id="4" name="text-3">
            <a:extLst xmlns:a="http://schemas.openxmlformats.org/drawingml/2006/main">
              <a:ext uri="{FF2B5EF4-FFF2-40B4-BE49-F238E27FC236}">
                <a16:creationId xmlns:a16="http://schemas.microsoft.com/office/drawing/2014/main" id="{C96D7948-83EC-4723-986F-837A066F11CB}"/>
              </a:ext>
            </a:extLst>
          </p:cNvPr>
          <p:cNvSpPr>
            <a:spLocks xmlns:a="http://schemas.openxmlformats.org/drawingml/2006/main" noGrp="1"/>
          </p:cNvSpPr>
          <p:nvPr/>
        </p:nvSpPr>
        <p:spPr>
          <a:xfrm xmlns:a="http://schemas.openxmlformats.org/drawingml/2006/main">
            <a:off x="666750" y="2781300"/>
            <a:ext cx="10668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82C43"/>
                </a:solidFill>
                <a:latin typeface="DejaVu Sans"/>
                <a:ea typeface="DejaVu Sans"/>
                <a:cs typeface="DejaVu Sans"/>
              </a:defRPr>
            </a:defPPr>
          </a:lstStyle>
          <a:p xmlns:a="http://schemas.openxmlformats.org/drawingml/2006/main">
            <a:pPr>
              <a:buNone/>
              <a:defRPr sz="2925" b="1">
                <a:solidFill>
                  <a:srgbClr val="182C43"/>
                </a:solidFill>
                <a:latin typeface="DejaVu Sans"/>
                <a:ea typeface="DejaVu Sans"/>
                <a:cs typeface="DejaVu Sans"/>
              </a:defRPr>
            </a:pPr>
            <a:r>
              <a:rPr sz="2925" b="1">
                <a:solidFill>
                  <a:srgbClr val="182C43"/>
                </a:solidFill>
                <a:latin typeface="DejaVu Sans"/>
                <a:ea typeface="DejaVu Sans"/>
                <a:cs typeface="DejaVu Sans"/>
              </a:rPr>
              <a:t>“Can I give cash when the package comes?”</a:t>
            </a:r>
          </a:p>
        </p:txBody>
      </p:sp>
      <p:sp>
        <p:nvSpPr>
          <p:cNvPr id="5" name="text-4">
            <a:extLst xmlns:a="http://schemas.openxmlformats.org/drawingml/2006/main">
              <a:ext uri="{FF2B5EF4-FFF2-40B4-BE49-F238E27FC236}">
                <a16:creationId xmlns:a16="http://schemas.microsoft.com/office/drawing/2014/main" id="{48890681-4826-42E5-BB11-7F48C2E3BEED}"/>
              </a:ext>
            </a:extLst>
          </p:cNvPr>
          <p:cNvSpPr>
            <a:spLocks xmlns:a="http://schemas.openxmlformats.org/drawingml/2006/main" noGrp="1"/>
          </p:cNvSpPr>
          <p:nvPr/>
        </p:nvSpPr>
        <p:spPr>
          <a:xfrm xmlns:a="http://schemas.openxmlformats.org/drawingml/2006/main">
            <a:off x="666750" y="4362450"/>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96B79"/>
                </a:solidFill>
                <a:latin typeface="DejaVu Sans"/>
                <a:ea typeface="DejaVu Sans"/>
                <a:cs typeface="DejaVu Sans"/>
              </a:defRPr>
            </a:defPPr>
          </a:lstStyle>
          <a:p xmlns:a="http://schemas.openxmlformats.org/drawingml/2006/main">
            <a:pPr>
              <a:buNone/>
              <a:defRPr sz="1725" b="0">
                <a:solidFill>
                  <a:srgbClr val="596B79"/>
                </a:solidFill>
                <a:latin typeface="DejaVu Sans"/>
                <a:ea typeface="DejaVu Sans"/>
                <a:cs typeface="DejaVu Sans"/>
              </a:defRPr>
            </a:pPr>
            <a:r>
              <a:rPr sz="1725" b="0">
                <a:solidFill>
                  <a:srgbClr val="596B79"/>
                </a:solidFill>
                <a:latin typeface="DejaVu Sans"/>
                <a:ea typeface="DejaVu Sans"/>
                <a:cs typeface="DejaVu Sans"/>
              </a:rPr>
              <a:t>Different words can refer to the same policy</a:t>
            </a:r>
          </a:p>
        </p:txBody>
      </p:sp>
      <p:sp>
        <p:nvSpPr>
          <p:cNvPr id="6" name="text-5">
            <a:extLst xmlns:a="http://schemas.openxmlformats.org/drawingml/2006/main">
              <a:ext uri="{FF2B5EF4-FFF2-40B4-BE49-F238E27FC236}">
                <a16:creationId xmlns:a16="http://schemas.microsoft.com/office/drawing/2014/main" id="{A5D3A688-4CAC-4B48-ABB3-AEB394637EEA}"/>
              </a:ext>
            </a:extLst>
          </p:cNvPr>
          <p:cNvSpPr>
            <a:spLocks xmlns:a="http://schemas.openxmlformats.org/drawingml/2006/main" noGrp="1"/>
          </p:cNvSpPr>
          <p:nvPr/>
        </p:nvSpPr>
        <p:spPr>
          <a:xfrm xmlns:a="http://schemas.openxmlformats.org/drawingml/2006/main">
            <a:off x="666750" y="4924425"/>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84"/>
                </a:solidFill>
                <a:latin typeface="DejaVu Sans"/>
                <a:ea typeface="DejaVu Sans"/>
                <a:cs typeface="DejaVu Sans"/>
              </a:defRPr>
            </a:defPPr>
          </a:lstStyle>
          <a:p xmlns:a="http://schemas.openxmlformats.org/drawingml/2006/main">
            <a:pPr>
              <a:buNone/>
              <a:defRPr sz="2400" b="1">
                <a:solidFill>
                  <a:srgbClr val="087E84"/>
                </a:solidFill>
                <a:latin typeface="DejaVu Sans"/>
                <a:ea typeface="DejaVu Sans"/>
                <a:cs typeface="DejaVu Sans"/>
              </a:defRPr>
            </a:pPr>
            <a:r>
              <a:rPr sz="2400" b="1">
                <a:solidFill>
                  <a:srgbClr val="087E84"/>
                </a:solidFill>
                <a:latin typeface="DejaVu Sans"/>
                <a:ea typeface="DejaVu Sans"/>
                <a:cs typeface="DejaVu Sans"/>
              </a:rPr>
              <a:t>Cash on delivery lets you pay when the parcel arrives.</a:t>
            </a:r>
          </a:p>
        </p:txBody>
      </p:sp>
      <p:sp>
        <p:nvSpPr>
          <p:cNvPr id="7" name="text-6">
            <a:extLst xmlns:a="http://schemas.openxmlformats.org/drawingml/2006/main">
              <a:ext uri="{FF2B5EF4-FFF2-40B4-BE49-F238E27FC236}">
                <a16:creationId xmlns:a16="http://schemas.microsoft.com/office/drawing/2014/main" id="{F2D4E486-5644-45EE-81EA-5A5035000666}"/>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8" name="text-7">
            <a:extLst xmlns:a="http://schemas.openxmlformats.org/drawingml/2006/main">
              <a:ext uri="{FF2B5EF4-FFF2-40B4-BE49-F238E27FC236}">
                <a16:creationId xmlns:a16="http://schemas.microsoft.com/office/drawing/2014/main" id="{FA7CA28D-AB1F-45DB-835B-40F2F03A2E7C}"/>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10</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989534368"/>
      </p:ext>
    </p:extLst>
  </p:cSld>
</p:sld>
</file>

<file path=ppt/slides/slide1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F033909-FB2C-41F6-9D39-849EF9CB5DDC}"/>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A small list can still be enough</a:t>
            </a:r>
          </a:p>
        </p:txBody>
      </p:sp>
      <p:sp>
        <p:nvSpPr>
          <p:cNvPr id="2" name="text-1">
            <a:extLst xmlns:a="http://schemas.openxmlformats.org/drawingml/2006/main">
              <a:ext uri="{FF2B5EF4-FFF2-40B4-BE49-F238E27FC236}">
                <a16:creationId xmlns:a16="http://schemas.microsoft.com/office/drawing/2014/main" id="{0AD6F189-BCC6-4238-AF67-9B88F7F1D671}"/>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We are adding useful storage features</a:t>
            </a:r>
          </a:p>
        </p:txBody>
      </p:sp>
      <p:sp>
        <p:nvSpPr>
          <p:cNvPr id="3" name="text-2">
            <a:extLst xmlns:a="http://schemas.openxmlformats.org/drawingml/2006/main">
              <a:ext uri="{FF2B5EF4-FFF2-40B4-BE49-F238E27FC236}">
                <a16:creationId xmlns:a16="http://schemas.microsoft.com/office/drawing/2014/main" id="{99C546C0-3D22-402A-84E4-B69C34EFD6A1}"/>
              </a:ext>
            </a:extLst>
          </p:cNvPr>
          <p:cNvSpPr>
            <a:spLocks xmlns:a="http://schemas.openxmlformats.org/drawingml/2006/main" noGrp="1"/>
          </p:cNvSpPr>
          <p:nvPr/>
        </p:nvSpPr>
        <p:spPr>
          <a:xfrm xmlns:a="http://schemas.openxmlformats.org/drawingml/2006/main">
            <a:off x="666750" y="2647950"/>
            <a:ext cx="49530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182C43"/>
                </a:solidFill>
                <a:latin typeface="DejaVu Sans"/>
                <a:ea typeface="DejaVu Sans"/>
                <a:cs typeface="DejaVu Sans"/>
              </a:defRPr>
            </a:defPPr>
          </a:lstStyle>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Three classroom policies</a:t>
            </a:r>
          </a:p>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A list is fine for learning similarity.</a:t>
            </a:r>
          </a:p>
        </p:txBody>
      </p:sp>
      <p:sp>
        <p:nvSpPr>
          <p:cNvPr id="4" name="text-3">
            <a:extLst xmlns:a="http://schemas.openxmlformats.org/drawingml/2006/main">
              <a:ext uri="{FF2B5EF4-FFF2-40B4-BE49-F238E27FC236}">
                <a16:creationId xmlns:a16="http://schemas.microsoft.com/office/drawing/2014/main" id="{5BF2F9A4-9ABE-4FE3-AAA3-3905795B5D4A}"/>
              </a:ext>
            </a:extLst>
          </p:cNvPr>
          <p:cNvSpPr>
            <a:spLocks xmlns:a="http://schemas.openxmlformats.org/drawingml/2006/main" noGrp="1"/>
          </p:cNvSpPr>
          <p:nvPr/>
        </p:nvSpPr>
        <p:spPr>
          <a:xfrm xmlns:a="http://schemas.openxmlformats.org/drawingml/2006/main">
            <a:off x="6524625" y="2647950"/>
            <a:ext cx="5000625"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182C43"/>
                </a:solidFill>
                <a:latin typeface="DejaVu Sans"/>
                <a:ea typeface="DejaVu Sans"/>
                <a:cs typeface="DejaVu Sans"/>
              </a:defRPr>
            </a:defPPr>
          </a:lstStyle>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A growing knowledge collection</a:t>
            </a:r>
          </a:p>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A database helps with saving and searching.</a:t>
            </a:r>
          </a:p>
        </p:txBody>
      </p:sp>
      <p:sp>
        <p:nvSpPr>
          <p:cNvPr id="5" name="text-4">
            <a:extLst xmlns:a="http://schemas.openxmlformats.org/drawingml/2006/main">
              <a:ext uri="{FF2B5EF4-FFF2-40B4-BE49-F238E27FC236}">
                <a16:creationId xmlns:a16="http://schemas.microsoft.com/office/drawing/2014/main" id="{2628D98B-398D-4332-BEAF-A12506BD653C}"/>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6" name="text-5">
            <a:extLst xmlns:a="http://schemas.openxmlformats.org/drawingml/2006/main">
              <a:ext uri="{FF2B5EF4-FFF2-40B4-BE49-F238E27FC236}">
                <a16:creationId xmlns:a16="http://schemas.microsoft.com/office/drawing/2014/main" id="{00217935-BA55-4466-94C2-A4F1931CB7A6}"/>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11</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2068674707"/>
      </p:ext>
    </p:extLst>
  </p:cSld>
</p:sld>
</file>

<file path=ppt/slides/slide1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E4AA608-6851-4AC6-AF1A-A577C701F5E6}"/>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How does it work?</a:t>
            </a:r>
          </a:p>
        </p:txBody>
      </p:sp>
      <p:sp>
        <p:nvSpPr>
          <p:cNvPr id="2" name="text-1">
            <a:extLst xmlns:a="http://schemas.openxmlformats.org/drawingml/2006/main">
              <a:ext uri="{FF2B5EF4-FFF2-40B4-BE49-F238E27FC236}">
                <a16:creationId xmlns:a16="http://schemas.microsoft.com/office/drawing/2014/main" id="{32A3E84A-359D-429E-8B1C-1BA8EA0BB1B1}"/>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Only two stages to remember</a:t>
            </a:r>
          </a:p>
        </p:txBody>
      </p:sp>
      <p:sp>
        <p:nvSpPr>
          <p:cNvPr id="3" name="text-2">
            <a:extLst xmlns:a="http://schemas.openxmlformats.org/drawingml/2006/main">
              <a:ext uri="{FF2B5EF4-FFF2-40B4-BE49-F238E27FC236}">
                <a16:creationId xmlns:a16="http://schemas.microsoft.com/office/drawing/2014/main" id="{93FB8A18-DE5D-4F2B-B58D-FEDEBE94DD4C}"/>
              </a:ext>
            </a:extLst>
          </p:cNvPr>
          <p:cNvSpPr>
            <a:spLocks xmlns:a="http://schemas.openxmlformats.org/drawingml/2006/main" noGrp="1"/>
          </p:cNvSpPr>
          <p:nvPr/>
        </p:nvSpPr>
        <p:spPr>
          <a:xfrm xmlns:a="http://schemas.openxmlformats.org/drawingml/2006/main">
            <a:off x="666750" y="2647950"/>
            <a:ext cx="49530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182C43"/>
                </a:solidFill>
                <a:latin typeface="DejaVu Sans"/>
                <a:ea typeface="DejaVu Sans"/>
                <a:cs typeface="DejaVu Sans"/>
              </a:defRPr>
            </a:defPPr>
          </a:lstStyle>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1. SAVE</a:t>
            </a:r>
          </a:p>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Prepare the information once.</a:t>
            </a:r>
          </a:p>
        </p:txBody>
      </p:sp>
      <p:sp>
        <p:nvSpPr>
          <p:cNvPr id="4" name="text-3">
            <a:extLst xmlns:a="http://schemas.openxmlformats.org/drawingml/2006/main">
              <a:ext uri="{FF2B5EF4-FFF2-40B4-BE49-F238E27FC236}">
                <a16:creationId xmlns:a16="http://schemas.microsoft.com/office/drawing/2014/main" id="{BA470463-5BDC-467C-84A4-A074DE086F35}"/>
              </a:ext>
            </a:extLst>
          </p:cNvPr>
          <p:cNvSpPr>
            <a:spLocks xmlns:a="http://schemas.openxmlformats.org/drawingml/2006/main" noGrp="1"/>
          </p:cNvSpPr>
          <p:nvPr/>
        </p:nvSpPr>
        <p:spPr>
          <a:xfrm xmlns:a="http://schemas.openxmlformats.org/drawingml/2006/main">
            <a:off x="6524625" y="2647950"/>
            <a:ext cx="5000625"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182C43"/>
                </a:solidFill>
                <a:latin typeface="DejaVu Sans"/>
                <a:ea typeface="DejaVu Sans"/>
                <a:cs typeface="DejaVu Sans"/>
              </a:defRPr>
            </a:defPPr>
          </a:lstStyle>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2. SEARCH</a:t>
            </a:r>
          </a:p>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Find useful information for each question.</a:t>
            </a:r>
          </a:p>
        </p:txBody>
      </p:sp>
      <p:sp>
        <p:nvSpPr>
          <p:cNvPr id="5" name="text-4">
            <a:extLst xmlns:a="http://schemas.openxmlformats.org/drawingml/2006/main">
              <a:ext uri="{FF2B5EF4-FFF2-40B4-BE49-F238E27FC236}">
                <a16:creationId xmlns:a16="http://schemas.microsoft.com/office/drawing/2014/main" id="{A6E73F11-C8DF-4B92-9475-7B5AECE52914}"/>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6" name="text-5">
            <a:extLst xmlns:a="http://schemas.openxmlformats.org/drawingml/2006/main">
              <a:ext uri="{FF2B5EF4-FFF2-40B4-BE49-F238E27FC236}">
                <a16:creationId xmlns:a16="http://schemas.microsoft.com/office/drawing/2014/main" id="{20A0CF7D-49B9-4BF8-B049-8312170DE2B2}"/>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12</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912272375"/>
      </p:ext>
    </p:extLst>
  </p:cSld>
</p:sld>
</file>

<file path=ppt/slides/slide1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408C402-B4A6-41B2-BFCF-4AC4A8217E80}"/>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Stage 1: save the policies</a:t>
            </a:r>
          </a:p>
        </p:txBody>
      </p:sp>
      <p:sp>
        <p:nvSpPr>
          <p:cNvPr id="2" name="text-1">
            <a:extLst xmlns:a="http://schemas.openxmlformats.org/drawingml/2006/main">
              <a:ext uri="{FF2B5EF4-FFF2-40B4-BE49-F238E27FC236}">
                <a16:creationId xmlns:a16="http://schemas.microsoft.com/office/drawing/2014/main" id="{A9655694-E749-4AFE-BDF7-F66CCB344CE1}"/>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Step 1 of 3</a:t>
            </a:r>
          </a:p>
        </p:txBody>
      </p:sp>
      <p:sp>
        <p:nvSpPr>
          <p:cNvPr id="3" name="text-2">
            <a:extLst xmlns:a="http://schemas.openxmlformats.org/drawingml/2006/main">
              <a:ext uri="{FF2B5EF4-FFF2-40B4-BE49-F238E27FC236}">
                <a16:creationId xmlns:a16="http://schemas.microsoft.com/office/drawing/2014/main" id="{48AA1CBB-818F-4344-96D1-2C01471F3BF0}"/>
              </a:ext>
            </a:extLst>
          </p:cNvPr>
          <p:cNvSpPr>
            <a:spLocks xmlns:a="http://schemas.openxmlformats.org/drawingml/2006/main" noGrp="1"/>
          </p:cNvSpPr>
          <p:nvPr/>
        </p:nvSpPr>
        <p:spPr>
          <a:xfrm xmlns:a="http://schemas.openxmlformats.org/drawingml/2006/main">
            <a:off x="666750" y="2381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182C43"/>
                </a:solidFill>
                <a:latin typeface="DejaVu Sans"/>
                <a:ea typeface="DejaVu Sans"/>
                <a:cs typeface="DejaVu Sans"/>
              </a:defRPr>
            </a:defPPr>
          </a:lstStyle>
          <a:p xmlns:a="http://schemas.openxmlformats.org/drawingml/2006/main">
            <a:pPr>
              <a:buNone/>
              <a:defRPr sz="2400" b="0">
                <a:solidFill>
                  <a:srgbClr val="182C43"/>
                </a:solidFill>
                <a:latin typeface="DejaVu Sans"/>
                <a:ea typeface="DejaVu Sans"/>
                <a:cs typeface="DejaVu Sans"/>
              </a:defRPr>
            </a:pPr>
            <a:r>
              <a:rPr sz="2400" b="0">
                <a:solidFill>
                  <a:srgbClr val="182C43"/>
                </a:solidFill>
                <a:latin typeface="DejaVu Sans"/>
                <a:ea typeface="DejaVu Sans"/>
                <a:cs typeface="DejaVu Sans"/>
              </a:rPr>
              <a:t>P1  Standard delivery takes 3 to 5 working days.</a:t>
            </a:r>
          </a:p>
        </p:txBody>
      </p:sp>
      <p:sp>
        <p:nvSpPr>
          <p:cNvPr id="4" name="text-3">
            <a:extLst xmlns:a="http://schemas.openxmlformats.org/drawingml/2006/main">
              <a:ext uri="{FF2B5EF4-FFF2-40B4-BE49-F238E27FC236}">
                <a16:creationId xmlns:a16="http://schemas.microsoft.com/office/drawing/2014/main" id="{A6A51996-5705-4AA2-936C-E635BE3E9D8A}"/>
              </a:ext>
            </a:extLst>
          </p:cNvPr>
          <p:cNvSpPr>
            <a:spLocks xmlns:a="http://schemas.openxmlformats.org/drawingml/2006/main" noGrp="1"/>
          </p:cNvSpPr>
          <p:nvPr/>
        </p:nvSpPr>
        <p:spPr>
          <a:xfrm xmlns:a="http://schemas.openxmlformats.org/drawingml/2006/main">
            <a:off x="666750" y="3552825"/>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182C43"/>
                </a:solidFill>
                <a:latin typeface="DejaVu Sans"/>
                <a:ea typeface="DejaVu Sans"/>
                <a:cs typeface="DejaVu Sans"/>
              </a:defRPr>
            </a:defPPr>
          </a:lstStyle>
          <a:p xmlns:a="http://schemas.openxmlformats.org/drawingml/2006/main">
            <a:pPr>
              <a:buNone/>
              <a:defRPr sz="2400" b="1">
                <a:solidFill>
                  <a:srgbClr val="182C43"/>
                </a:solidFill>
                <a:latin typeface="DejaVu Sans"/>
                <a:ea typeface="DejaVu Sans"/>
                <a:cs typeface="DejaVu Sans"/>
              </a:defRPr>
            </a:pPr>
            <a:r>
              <a:rPr sz="2400" b="1">
                <a:solidFill>
                  <a:srgbClr val="182C43"/>
                </a:solidFill>
                <a:latin typeface="DejaVu Sans"/>
                <a:ea typeface="DejaVu Sans"/>
                <a:cs typeface="DejaVu Sans"/>
              </a:rPr>
              <a:t>P2  Cash on delivery lets you pay when the parcel arrives.</a:t>
            </a:r>
          </a:p>
        </p:txBody>
      </p:sp>
      <p:sp>
        <p:nvSpPr>
          <p:cNvPr id="5" name="text-4">
            <a:extLst xmlns:a="http://schemas.openxmlformats.org/drawingml/2006/main">
              <a:ext uri="{FF2B5EF4-FFF2-40B4-BE49-F238E27FC236}">
                <a16:creationId xmlns:a16="http://schemas.microsoft.com/office/drawing/2014/main" id="{D854F76D-9032-41EE-82D4-C9479A3221FE}"/>
              </a:ext>
            </a:extLst>
          </p:cNvPr>
          <p:cNvSpPr>
            <a:spLocks xmlns:a="http://schemas.openxmlformats.org/drawingml/2006/main" noGrp="1"/>
          </p:cNvSpPr>
          <p:nvPr/>
        </p:nvSpPr>
        <p:spPr>
          <a:xfrm xmlns:a="http://schemas.openxmlformats.org/drawingml/2006/main">
            <a:off x="666750" y="47244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0">
                <a:solidFill>
                  <a:srgbClr val="182C43"/>
                </a:solidFill>
                <a:latin typeface="DejaVu Sans"/>
                <a:ea typeface="DejaVu Sans"/>
                <a:cs typeface="DejaVu Sans"/>
              </a:defRPr>
            </a:defPPr>
          </a:lstStyle>
          <a:p xmlns:a="http://schemas.openxmlformats.org/drawingml/2006/main">
            <a:pPr>
              <a:buNone/>
              <a:defRPr sz="2400" b="0">
                <a:solidFill>
                  <a:srgbClr val="182C43"/>
                </a:solidFill>
                <a:latin typeface="DejaVu Sans"/>
                <a:ea typeface="DejaVu Sans"/>
                <a:cs typeface="DejaVu Sans"/>
              </a:defRPr>
            </a:pPr>
            <a:r>
              <a:rPr sz="2400" b="0">
                <a:solidFill>
                  <a:srgbClr val="182C43"/>
                </a:solidFill>
                <a:latin typeface="DejaVu Sans"/>
                <a:ea typeface="DejaVu Sans"/>
                <a:cs typeface="DejaVu Sans"/>
              </a:rPr>
              <a:t>P3  For a damaged parcel, contact support with photos.</a:t>
            </a:r>
          </a:p>
        </p:txBody>
      </p:sp>
      <p:sp>
        <p:nvSpPr>
          <p:cNvPr id="6" name="text-5">
            <a:extLst xmlns:a="http://schemas.openxmlformats.org/drawingml/2006/main">
              <a:ext uri="{FF2B5EF4-FFF2-40B4-BE49-F238E27FC236}">
                <a16:creationId xmlns:a16="http://schemas.microsoft.com/office/drawing/2014/main" id="{D23C804E-55A4-4F6F-819D-903378C6A3A4}"/>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7" name="text-6">
            <a:extLst xmlns:a="http://schemas.openxmlformats.org/drawingml/2006/main">
              <a:ext uri="{FF2B5EF4-FFF2-40B4-BE49-F238E27FC236}">
                <a16:creationId xmlns:a16="http://schemas.microsoft.com/office/drawing/2014/main" id="{998DB96E-AB1A-44EA-8AD4-96F8642031C5}"/>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13</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240121609"/>
      </p:ext>
    </p:extLst>
  </p:cSld>
</p:sld>
</file>

<file path=ppt/slides/slide1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B7F4ABD2-6AFB-49C5-8625-0D2B4896AF96}"/>
              </a:ext>
            </a:extLst>
          </p:cNvPr>
          <p:cNvCxnSpPr>
            <a:stCxn xmlns:a="http://schemas.openxmlformats.org/drawingml/2006/main" id="4" idx="3"/>
            <a:endCxn xmlns:a="http://schemas.openxmlformats.org/drawingml/2006/main" id="5" idx="1"/>
          </p:cNvCxnSpPr>
          <p:nvPr/>
        </p:nvCxnSpPr>
        <p:spPr>
          <a:xfrm xmlns:a="http://schemas.openxmlformats.org/drawingml/2006/main">
            <a:off x="7715250" y="3738563"/>
            <a:ext cx="619125"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6E438ED3-9EF0-4D13-8A05-F988F380C840}"/>
              </a:ext>
            </a:extLst>
          </p:cNvPr>
          <p:cNvCxnSpPr>
            <a:stCxn xmlns:a="http://schemas.openxmlformats.org/drawingml/2006/main" id="3" idx="3"/>
            <a:endCxn xmlns:a="http://schemas.openxmlformats.org/drawingml/2006/main" id="4" idx="1"/>
          </p:cNvCxnSpPr>
          <p:nvPr/>
        </p:nvCxnSpPr>
        <p:spPr>
          <a:xfrm xmlns:a="http://schemas.openxmlformats.org/drawingml/2006/main">
            <a:off x="3857625" y="3738563"/>
            <a:ext cx="619125"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10" name="text-0">
            <a:extLst xmlns:a="http://schemas.openxmlformats.org/drawingml/2006/main">
              <a:ext uri="{FF2B5EF4-FFF2-40B4-BE49-F238E27FC236}">
                <a16:creationId xmlns:a16="http://schemas.microsoft.com/office/drawing/2014/main" id="{D57948BF-65E6-4292-8A21-1CA6863552F6}"/>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The embedding model creates the vectors</a:t>
            </a:r>
          </a:p>
        </p:txBody>
      </p:sp>
      <p:sp>
        <p:nvSpPr>
          <p:cNvPr id="2" name="text-1">
            <a:extLst xmlns:a="http://schemas.openxmlformats.org/drawingml/2006/main">
              <a:ext uri="{FF2B5EF4-FFF2-40B4-BE49-F238E27FC236}">
                <a16:creationId xmlns:a16="http://schemas.microsoft.com/office/drawing/2014/main" id="{5F29379C-D599-435D-A70F-6E0BD9BD8A0A}"/>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Stage 1, step 2 of 3</a:t>
            </a:r>
          </a:p>
        </p:txBody>
      </p:sp>
      <p:sp>
        <p:nvSpPr>
          <p:cNvPr id="3" name="diagram-2">
            <a:extLst xmlns:a="http://schemas.openxmlformats.org/drawingml/2006/main">
              <a:ext uri="{FF2B5EF4-FFF2-40B4-BE49-F238E27FC236}">
                <a16:creationId xmlns:a16="http://schemas.microsoft.com/office/drawing/2014/main" id="{F7CAECF1-5EEF-48AD-8BE0-DCF49AABCCD5}"/>
              </a:ext>
            </a:extLst>
          </p:cNvPr>
          <p:cNvSpPr>
            <a:spLocks xmlns:a="http://schemas.openxmlformats.org/drawingml/2006/main" noGrp="1"/>
          </p:cNvSpPr>
          <p:nvPr/>
        </p:nvSpPr>
        <p:spPr>
          <a:xfrm xmlns:a="http://schemas.openxmlformats.org/drawingml/2006/main">
            <a:off x="619125" y="3048000"/>
            <a:ext cx="323850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Policy sentence</a:t>
            </a:r>
          </a:p>
        </p:txBody>
      </p:sp>
      <p:sp>
        <p:nvSpPr>
          <p:cNvPr id="4" name="diagram-3">
            <a:extLst xmlns:a="http://schemas.openxmlformats.org/drawingml/2006/main">
              <a:ext uri="{FF2B5EF4-FFF2-40B4-BE49-F238E27FC236}">
                <a16:creationId xmlns:a16="http://schemas.microsoft.com/office/drawing/2014/main" id="{0A5E459E-EEC6-4C80-9EE3-189DACC69A47}"/>
              </a:ext>
            </a:extLst>
          </p:cNvPr>
          <p:cNvSpPr>
            <a:spLocks xmlns:a="http://schemas.openxmlformats.org/drawingml/2006/main" noGrp="1"/>
          </p:cNvSpPr>
          <p:nvPr/>
        </p:nvSpPr>
        <p:spPr>
          <a:xfrm xmlns:a="http://schemas.openxmlformats.org/drawingml/2006/main">
            <a:off x="4476750" y="3048000"/>
            <a:ext cx="323850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Embedding model</a:t>
            </a:r>
          </a:p>
        </p:txBody>
      </p:sp>
      <p:sp>
        <p:nvSpPr>
          <p:cNvPr id="5" name="diagram-4">
            <a:extLst xmlns:a="http://schemas.openxmlformats.org/drawingml/2006/main">
              <a:ext uri="{FF2B5EF4-FFF2-40B4-BE49-F238E27FC236}">
                <a16:creationId xmlns:a16="http://schemas.microsoft.com/office/drawing/2014/main" id="{116F5723-E3CE-4A7B-B20C-41E597731356}"/>
              </a:ext>
            </a:extLst>
          </p:cNvPr>
          <p:cNvSpPr>
            <a:spLocks xmlns:a="http://schemas.openxmlformats.org/drawingml/2006/main" noGrp="1"/>
          </p:cNvSpPr>
          <p:nvPr/>
        </p:nvSpPr>
        <p:spPr>
          <a:xfrm xmlns:a="http://schemas.openxmlformats.org/drawingml/2006/main">
            <a:off x="8334375" y="3048000"/>
            <a:ext cx="323850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A vector of numbers</a:t>
            </a:r>
          </a:p>
        </p:txBody>
      </p:sp>
      <p:sp>
        <p:nvSpPr>
          <p:cNvPr id="8" name="text-7">
            <a:extLst xmlns:a="http://schemas.openxmlformats.org/drawingml/2006/main">
              <a:ext uri="{FF2B5EF4-FFF2-40B4-BE49-F238E27FC236}">
                <a16:creationId xmlns:a16="http://schemas.microsoft.com/office/drawing/2014/main" id="{4174F8A4-061A-432C-BB2D-3B571D77E677}"/>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9" name="text-8">
            <a:extLst xmlns:a="http://schemas.openxmlformats.org/drawingml/2006/main">
              <a:ext uri="{FF2B5EF4-FFF2-40B4-BE49-F238E27FC236}">
                <a16:creationId xmlns:a16="http://schemas.microsoft.com/office/drawing/2014/main" id="{EBFAB2BD-A96E-4397-B3CD-159AB13688AD}"/>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14</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48504826"/>
      </p:ext>
    </p:extLst>
  </p:cSld>
</p:sld>
</file>

<file path=ppt/slides/slide1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4A6A26EB-3042-4D08-8A60-C9D56E471947}"/>
              </a:ext>
            </a:extLst>
          </p:cNvPr>
          <p:cNvCxnSpPr>
            <a:stCxn xmlns:a="http://schemas.openxmlformats.org/drawingml/2006/main" id="5" idx="3"/>
            <a:endCxn xmlns:a="http://schemas.openxmlformats.org/drawingml/2006/main" id="6" idx="1"/>
          </p:cNvCxnSpPr>
          <p:nvPr/>
        </p:nvCxnSpPr>
        <p:spPr>
          <a:xfrm xmlns:a="http://schemas.openxmlformats.org/drawingml/2006/main" flipV="1">
            <a:off x="5429250" y="4238625"/>
            <a:ext cx="2238375" cy="1095375"/>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05CC0609-6885-43A4-B4FB-CDD94FDE3FC0}"/>
              </a:ext>
            </a:extLst>
          </p:cNvPr>
          <p:cNvCxnSpPr>
            <a:stCxn xmlns:a="http://schemas.openxmlformats.org/drawingml/2006/main" id="4" idx="3"/>
            <a:endCxn xmlns:a="http://schemas.openxmlformats.org/drawingml/2006/main" id="6" idx="1"/>
          </p:cNvCxnSpPr>
          <p:nvPr/>
        </p:nvCxnSpPr>
        <p:spPr>
          <a:xfrm xmlns:a="http://schemas.openxmlformats.org/drawingml/2006/main">
            <a:off x="5429250" y="4143375"/>
            <a:ext cx="2238375" cy="9525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5D4C8E7A-C61D-4FED-A6F6-6B27643AE7B6}"/>
              </a:ext>
            </a:extLst>
          </p:cNvPr>
          <p:cNvCxnSpPr>
            <a:stCxn xmlns:a="http://schemas.openxmlformats.org/drawingml/2006/main" id="3" idx="3"/>
            <a:endCxn xmlns:a="http://schemas.openxmlformats.org/drawingml/2006/main" id="6" idx="1"/>
          </p:cNvCxnSpPr>
          <p:nvPr/>
        </p:nvCxnSpPr>
        <p:spPr>
          <a:xfrm xmlns:a="http://schemas.openxmlformats.org/drawingml/2006/main">
            <a:off x="5429250" y="2952750"/>
            <a:ext cx="2238375" cy="1285875"/>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12" name="text-0">
            <a:extLst xmlns:a="http://schemas.openxmlformats.org/drawingml/2006/main">
              <a:ext uri="{FF2B5EF4-FFF2-40B4-BE49-F238E27FC236}">
                <a16:creationId xmlns:a16="http://schemas.microsoft.com/office/drawing/2014/main" id="{62D4CF9E-A454-4909-871C-455B3D32B127}"/>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The database saves the records</a:t>
            </a:r>
          </a:p>
        </p:txBody>
      </p:sp>
      <p:sp>
        <p:nvSpPr>
          <p:cNvPr id="2" name="text-1">
            <a:extLst xmlns:a="http://schemas.openxmlformats.org/drawingml/2006/main">
              <a:ext uri="{FF2B5EF4-FFF2-40B4-BE49-F238E27FC236}">
                <a16:creationId xmlns:a16="http://schemas.microsoft.com/office/drawing/2014/main" id="{E7F99B54-F213-475E-B66D-B889AA611BA4}"/>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Stage 1, step 3 of 3</a:t>
            </a:r>
          </a:p>
        </p:txBody>
      </p:sp>
      <p:sp>
        <p:nvSpPr>
          <p:cNvPr id="3" name="diagram-2">
            <a:extLst xmlns:a="http://schemas.openxmlformats.org/drawingml/2006/main">
              <a:ext uri="{FF2B5EF4-FFF2-40B4-BE49-F238E27FC236}">
                <a16:creationId xmlns:a16="http://schemas.microsoft.com/office/drawing/2014/main" id="{E9F005BC-904D-46D7-925F-E6912C96F966}"/>
              </a:ext>
            </a:extLst>
          </p:cNvPr>
          <p:cNvSpPr>
            <a:spLocks xmlns:a="http://schemas.openxmlformats.org/drawingml/2006/main" noGrp="1"/>
          </p:cNvSpPr>
          <p:nvPr/>
        </p:nvSpPr>
        <p:spPr>
          <a:xfrm xmlns:a="http://schemas.openxmlformats.org/drawingml/2006/main">
            <a:off x="666750" y="2524125"/>
            <a:ext cx="4762500" cy="8572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buNone/>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P1</a:t>
            </a:r>
          </a:p>
          <a:p xmlns:a="http://schemas.openxmlformats.org/drawingml/2006/main">
            <a:pPr algn="ctr">
              <a:buNone/>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Delivery policy + vector</a:t>
            </a:r>
          </a:p>
        </p:txBody>
      </p:sp>
      <p:sp>
        <p:nvSpPr>
          <p:cNvPr id="4" name="diagram-3">
            <a:extLst xmlns:a="http://schemas.openxmlformats.org/drawingml/2006/main">
              <a:ext uri="{FF2B5EF4-FFF2-40B4-BE49-F238E27FC236}">
                <a16:creationId xmlns:a16="http://schemas.microsoft.com/office/drawing/2014/main" id="{D6076DE0-8FE6-489D-BF6F-34150F7C554C}"/>
              </a:ext>
            </a:extLst>
          </p:cNvPr>
          <p:cNvSpPr>
            <a:spLocks xmlns:a="http://schemas.openxmlformats.org/drawingml/2006/main" noGrp="1"/>
          </p:cNvSpPr>
          <p:nvPr/>
        </p:nvSpPr>
        <p:spPr>
          <a:xfrm xmlns:a="http://schemas.openxmlformats.org/drawingml/2006/main">
            <a:off x="666750" y="3714750"/>
            <a:ext cx="4762500" cy="8572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buNone/>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P2</a:t>
            </a:r>
          </a:p>
          <a:p xmlns:a="http://schemas.openxmlformats.org/drawingml/2006/main">
            <a:pPr algn="ctr">
              <a:buNone/>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Payment policy + vector</a:t>
            </a:r>
          </a:p>
        </p:txBody>
      </p:sp>
      <p:sp>
        <p:nvSpPr>
          <p:cNvPr id="5" name="diagram-4">
            <a:extLst xmlns:a="http://schemas.openxmlformats.org/drawingml/2006/main">
              <a:ext uri="{FF2B5EF4-FFF2-40B4-BE49-F238E27FC236}">
                <a16:creationId xmlns:a16="http://schemas.microsoft.com/office/drawing/2014/main" id="{D6577358-00A7-490D-9D00-52D8FF8495FA}"/>
              </a:ext>
            </a:extLst>
          </p:cNvPr>
          <p:cNvSpPr>
            <a:spLocks xmlns:a="http://schemas.openxmlformats.org/drawingml/2006/main" noGrp="1"/>
          </p:cNvSpPr>
          <p:nvPr/>
        </p:nvSpPr>
        <p:spPr>
          <a:xfrm xmlns:a="http://schemas.openxmlformats.org/drawingml/2006/main">
            <a:off x="666750" y="4905375"/>
            <a:ext cx="4762500" cy="8572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buNone/>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P3</a:t>
            </a:r>
          </a:p>
          <a:p xmlns:a="http://schemas.openxmlformats.org/drawingml/2006/main">
            <a:pPr algn="ctr">
              <a:buNone/>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Damage policy + vector</a:t>
            </a:r>
          </a:p>
        </p:txBody>
      </p:sp>
      <p:sp>
        <p:nvSpPr>
          <p:cNvPr id="6" name="diagram-5">
            <a:extLst xmlns:a="http://schemas.openxmlformats.org/drawingml/2006/main">
              <a:ext uri="{FF2B5EF4-FFF2-40B4-BE49-F238E27FC236}">
                <a16:creationId xmlns:a16="http://schemas.microsoft.com/office/drawing/2014/main" id="{3DCDC2F4-6A6B-4BD6-9843-4354BA0894CF}"/>
              </a:ext>
            </a:extLst>
          </p:cNvPr>
          <p:cNvSpPr>
            <a:spLocks xmlns:a="http://schemas.openxmlformats.org/drawingml/2006/main" noGrp="1"/>
          </p:cNvSpPr>
          <p:nvPr/>
        </p:nvSpPr>
        <p:spPr>
          <a:xfrm xmlns:a="http://schemas.openxmlformats.org/drawingml/2006/main">
            <a:off x="7667625" y="3286125"/>
            <a:ext cx="3714750" cy="1905000"/>
          </a:xfrm>
          <a:prstGeom xmlns:a="http://schemas.openxmlformats.org/drawingml/2006/main" prst="rect">
            <a:avLst/>
          </a:prstGeom>
          <a:solidFill xmlns:a="http://schemas.openxmlformats.org/drawingml/2006/main">
            <a:srgbClr val="F1E7D5"/>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325">
                <a:solidFill>
                  <a:srgbClr val="182C43"/>
                </a:solidFill>
                <a:latin typeface="DejaVu Sans"/>
                <a:ea typeface="DejaVu Sans"/>
                <a:cs typeface="DejaVu Sans"/>
              </a:defRPr>
            </a:defPPr>
          </a:lstStyle>
          <a:p xmlns:a="http://schemas.openxmlformats.org/drawingml/2006/main">
            <a:pPr algn="ctr">
              <a:buNone/>
              <a:defRPr sz="2325">
                <a:solidFill>
                  <a:srgbClr val="182C43"/>
                </a:solidFill>
                <a:latin typeface="DejaVu Sans"/>
                <a:ea typeface="DejaVu Sans"/>
                <a:cs typeface="DejaVu Sans"/>
              </a:defRPr>
            </a:pPr>
            <a:r>
              <a:rPr sz="2325">
                <a:solidFill>
                  <a:srgbClr val="182C43"/>
                </a:solidFill>
                <a:latin typeface="DejaVu Sans"/>
                <a:ea typeface="DejaVu Sans"/>
                <a:cs typeface="DejaVu Sans"/>
              </a:rPr>
              <a:t>PARCEL POLICIES</a:t>
            </a:r>
          </a:p>
          <a:p xmlns:a="http://schemas.openxmlformats.org/drawingml/2006/main">
            <a:pPr algn="ctr">
              <a:buNone/>
              <a:defRPr sz="2325">
                <a:solidFill>
                  <a:srgbClr val="182C43"/>
                </a:solidFill>
                <a:latin typeface="DejaVu Sans"/>
                <a:ea typeface="DejaVu Sans"/>
                <a:cs typeface="DejaVu Sans"/>
              </a:defRPr>
            </a:pPr>
            <a:r>
              <a:rPr sz="2325">
                <a:solidFill>
                  <a:srgbClr val="182C43"/>
                </a:solidFill>
                <a:latin typeface="DejaVu Sans"/>
                <a:ea typeface="DejaVu Sans"/>
                <a:cs typeface="DejaVu Sans"/>
              </a:rPr>
              <a:t>One saved collection</a:t>
            </a:r>
          </a:p>
        </p:txBody>
      </p:sp>
      <p:sp>
        <p:nvSpPr>
          <p:cNvPr id="10" name="text-9">
            <a:extLst xmlns:a="http://schemas.openxmlformats.org/drawingml/2006/main">
              <a:ext uri="{FF2B5EF4-FFF2-40B4-BE49-F238E27FC236}">
                <a16:creationId xmlns:a16="http://schemas.microsoft.com/office/drawing/2014/main" id="{A2C597A0-B471-46AA-A1DD-92495FF7DC5E}"/>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1" name="text-10">
            <a:extLst xmlns:a="http://schemas.openxmlformats.org/drawingml/2006/main">
              <a:ext uri="{FF2B5EF4-FFF2-40B4-BE49-F238E27FC236}">
                <a16:creationId xmlns:a16="http://schemas.microsoft.com/office/drawing/2014/main" id="{5EEBCF2C-BC91-4927-9FCE-C98ADC3C18D2}"/>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15</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466450734"/>
      </p:ext>
    </p:extLst>
  </p:cSld>
</p:sld>
</file>

<file path=ppt/slides/slide16.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AD9359AB-0C17-471F-94D3-ACC0F73CF6A3}"/>
              </a:ext>
            </a:extLst>
          </p:cNvPr>
          <p:cNvCxnSpPr>
            <a:stCxn xmlns:a="http://schemas.openxmlformats.org/drawingml/2006/main" id="4" idx="3"/>
            <a:endCxn xmlns:a="http://schemas.openxmlformats.org/drawingml/2006/main" id="5" idx="1"/>
          </p:cNvCxnSpPr>
          <p:nvPr/>
        </p:nvCxnSpPr>
        <p:spPr>
          <a:xfrm xmlns:a="http://schemas.openxmlformats.org/drawingml/2006/main">
            <a:off x="7715250" y="3738563"/>
            <a:ext cx="619125"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A9D251FC-16C4-4B5B-8704-9CB58C0D7BDE}"/>
              </a:ext>
            </a:extLst>
          </p:cNvPr>
          <p:cNvCxnSpPr>
            <a:stCxn xmlns:a="http://schemas.openxmlformats.org/drawingml/2006/main" id="3" idx="3"/>
            <a:endCxn xmlns:a="http://schemas.openxmlformats.org/drawingml/2006/main" id="4" idx="1"/>
          </p:cNvCxnSpPr>
          <p:nvPr/>
        </p:nvCxnSpPr>
        <p:spPr>
          <a:xfrm xmlns:a="http://schemas.openxmlformats.org/drawingml/2006/main">
            <a:off x="3857625" y="3738563"/>
            <a:ext cx="619125"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10" name="text-0">
            <a:extLst xmlns:a="http://schemas.openxmlformats.org/drawingml/2006/main">
              <a:ext uri="{FF2B5EF4-FFF2-40B4-BE49-F238E27FC236}">
                <a16:creationId xmlns:a16="http://schemas.microsoft.com/office/drawing/2014/main" id="{64D8553E-E4EA-4635-86C8-6E62B333757F}"/>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Stage 2: a new customer question</a:t>
            </a:r>
          </a:p>
        </p:txBody>
      </p:sp>
      <p:sp>
        <p:nvSpPr>
          <p:cNvPr id="2" name="text-1">
            <a:extLst xmlns:a="http://schemas.openxmlformats.org/drawingml/2006/main">
              <a:ext uri="{FF2B5EF4-FFF2-40B4-BE49-F238E27FC236}">
                <a16:creationId xmlns:a16="http://schemas.microsoft.com/office/drawing/2014/main" id="{48CCD30E-D195-4F9B-A820-20A47088C586}"/>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Step 1 of 3</a:t>
            </a:r>
          </a:p>
        </p:txBody>
      </p:sp>
      <p:sp>
        <p:nvSpPr>
          <p:cNvPr id="3" name="diagram-2">
            <a:extLst xmlns:a="http://schemas.openxmlformats.org/drawingml/2006/main">
              <a:ext uri="{FF2B5EF4-FFF2-40B4-BE49-F238E27FC236}">
                <a16:creationId xmlns:a16="http://schemas.microsoft.com/office/drawing/2014/main" id="{6C969F91-47D5-48D4-9D3E-B76B7FE3AFBF}"/>
              </a:ext>
            </a:extLst>
          </p:cNvPr>
          <p:cNvSpPr>
            <a:spLocks xmlns:a="http://schemas.openxmlformats.org/drawingml/2006/main" noGrp="1"/>
          </p:cNvSpPr>
          <p:nvPr/>
        </p:nvSpPr>
        <p:spPr>
          <a:xfrm xmlns:a="http://schemas.openxmlformats.org/drawingml/2006/main">
            <a:off x="619125" y="3048000"/>
            <a:ext cx="323850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Can I give cash on arrival?</a:t>
            </a:r>
          </a:p>
        </p:txBody>
      </p:sp>
      <p:sp>
        <p:nvSpPr>
          <p:cNvPr id="4" name="diagram-3">
            <a:extLst xmlns:a="http://schemas.openxmlformats.org/drawingml/2006/main">
              <a:ext uri="{FF2B5EF4-FFF2-40B4-BE49-F238E27FC236}">
                <a16:creationId xmlns:a16="http://schemas.microsoft.com/office/drawing/2014/main" id="{18E8E5A0-F23E-4A9F-92E3-65C47D7C549D}"/>
              </a:ext>
            </a:extLst>
          </p:cNvPr>
          <p:cNvSpPr>
            <a:spLocks xmlns:a="http://schemas.openxmlformats.org/drawingml/2006/main" noGrp="1"/>
          </p:cNvSpPr>
          <p:nvPr/>
        </p:nvSpPr>
        <p:spPr>
          <a:xfrm xmlns:a="http://schemas.openxmlformats.org/drawingml/2006/main">
            <a:off x="4476750" y="3048000"/>
            <a:ext cx="323850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Same embedding model</a:t>
            </a:r>
          </a:p>
        </p:txBody>
      </p:sp>
      <p:sp>
        <p:nvSpPr>
          <p:cNvPr id="5" name="diagram-4">
            <a:extLst xmlns:a="http://schemas.openxmlformats.org/drawingml/2006/main">
              <a:ext uri="{FF2B5EF4-FFF2-40B4-BE49-F238E27FC236}">
                <a16:creationId xmlns:a16="http://schemas.microsoft.com/office/drawing/2014/main" id="{0DB06C14-30A5-4AC0-B872-9C03B922DD22}"/>
              </a:ext>
            </a:extLst>
          </p:cNvPr>
          <p:cNvSpPr>
            <a:spLocks xmlns:a="http://schemas.openxmlformats.org/drawingml/2006/main" noGrp="1"/>
          </p:cNvSpPr>
          <p:nvPr/>
        </p:nvSpPr>
        <p:spPr>
          <a:xfrm xmlns:a="http://schemas.openxmlformats.org/drawingml/2006/main">
            <a:off x="8334375" y="3048000"/>
            <a:ext cx="323850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A question vector</a:t>
            </a:r>
          </a:p>
        </p:txBody>
      </p:sp>
      <p:sp>
        <p:nvSpPr>
          <p:cNvPr id="8" name="text-7">
            <a:extLst xmlns:a="http://schemas.openxmlformats.org/drawingml/2006/main">
              <a:ext uri="{FF2B5EF4-FFF2-40B4-BE49-F238E27FC236}">
                <a16:creationId xmlns:a16="http://schemas.microsoft.com/office/drawing/2014/main" id="{0B729BA7-4CEC-4F50-974B-DDB857907558}"/>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9" name="text-8">
            <a:extLst xmlns:a="http://schemas.openxmlformats.org/drawingml/2006/main">
              <a:ext uri="{FF2B5EF4-FFF2-40B4-BE49-F238E27FC236}">
                <a16:creationId xmlns:a16="http://schemas.microsoft.com/office/drawing/2014/main" id="{D62F0D87-2D32-4850-8465-4D1A0F435F03}"/>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16</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947481360"/>
      </p:ext>
    </p:extLst>
  </p:cSld>
</p:sld>
</file>

<file path=ppt/slides/slide1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08966B06-6A12-4AA3-8110-CA22B3D5E728}"/>
              </a:ext>
            </a:extLst>
          </p:cNvPr>
          <p:cNvCxnSpPr>
            <a:stCxn xmlns:a="http://schemas.openxmlformats.org/drawingml/2006/main" id="3" idx="3"/>
            <a:endCxn xmlns:a="http://schemas.openxmlformats.org/drawingml/2006/main" id="6" idx="1"/>
          </p:cNvCxnSpPr>
          <p:nvPr/>
        </p:nvCxnSpPr>
        <p:spPr>
          <a:xfrm xmlns:a="http://schemas.openxmlformats.org/drawingml/2006/main">
            <a:off x="4667250" y="4000500"/>
            <a:ext cx="2667000" cy="1595438"/>
          </a:xfrm>
          <a:prstGeom xmlns:a="http://schemas.openxmlformats.org/drawingml/2006/main" prst="straightConnector1">
            <a:avLst/>
          </a:prstGeom>
          <a:ln xmlns:a="http://schemas.openxmlformats.org/drawingml/2006/main" w="14288">
            <a:solidFill>
              <a:srgbClr val="9DA8AD"/>
            </a:solidFill>
            <a:prstDash val="dash"/>
            <a:tailEnd type="arrow" w="med" len="med"/>
          </a:ln>
        </p:spPr>
      </p:cxnSp>
      <p:cxnSp>
        <p:nvCxnSpPr>
          <p:cNvPr id="8" name="">
            <a:extLst xmlns:a="http://schemas.openxmlformats.org/drawingml/2006/main">
              <a:ext uri="{FF2B5EF4-FFF2-40B4-BE49-F238E27FC236}">
                <a16:creationId xmlns:a16="http://schemas.microsoft.com/office/drawing/2014/main" id="{D68B19C9-825F-4DEC-9930-92AFEE1E2657}"/>
              </a:ext>
            </a:extLst>
          </p:cNvPr>
          <p:cNvCxnSpPr>
            <a:stCxn xmlns:a="http://schemas.openxmlformats.org/drawingml/2006/main" id="3" idx="3"/>
            <a:endCxn xmlns:a="http://schemas.openxmlformats.org/drawingml/2006/main" id="5" idx="1"/>
          </p:cNvCxnSpPr>
          <p:nvPr/>
        </p:nvCxnSpPr>
        <p:spPr>
          <a:xfrm xmlns:a="http://schemas.openxmlformats.org/drawingml/2006/main">
            <a:off x="4667250" y="4000500"/>
            <a:ext cx="2667000" cy="166688"/>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189D753E-50B4-426B-8799-B052E2866D38}"/>
              </a:ext>
            </a:extLst>
          </p:cNvPr>
          <p:cNvCxnSpPr>
            <a:stCxn xmlns:a="http://schemas.openxmlformats.org/drawingml/2006/main" id="3" idx="3"/>
            <a:endCxn xmlns:a="http://schemas.openxmlformats.org/drawingml/2006/main" id="4" idx="1"/>
          </p:cNvCxnSpPr>
          <p:nvPr/>
        </p:nvCxnSpPr>
        <p:spPr>
          <a:xfrm xmlns:a="http://schemas.openxmlformats.org/drawingml/2006/main" flipV="1">
            <a:off x="4667250" y="2738438"/>
            <a:ext cx="2667000" cy="1262063"/>
          </a:xfrm>
          <a:prstGeom xmlns:a="http://schemas.openxmlformats.org/drawingml/2006/main" prst="straightConnector1">
            <a:avLst/>
          </a:prstGeom>
          <a:ln xmlns:a="http://schemas.openxmlformats.org/drawingml/2006/main" w="14288">
            <a:solidFill>
              <a:srgbClr val="9DA8AD"/>
            </a:solidFill>
            <a:prstDash val="dash"/>
            <a:tailEnd type="arrow" w="med" len="med"/>
          </a:ln>
        </p:spPr>
      </p:cxnSp>
      <p:sp>
        <p:nvSpPr>
          <p:cNvPr id="13" name="text-0">
            <a:extLst xmlns:a="http://schemas.openxmlformats.org/drawingml/2006/main">
              <a:ext uri="{FF2B5EF4-FFF2-40B4-BE49-F238E27FC236}">
                <a16:creationId xmlns:a16="http://schemas.microsoft.com/office/drawing/2014/main" id="{CF0ED699-7DCB-411B-AC29-C5D5DB9C1A1D}"/>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The database compares nearby vectors</a:t>
            </a:r>
          </a:p>
        </p:txBody>
      </p:sp>
      <p:sp>
        <p:nvSpPr>
          <p:cNvPr id="2" name="text-1">
            <a:extLst xmlns:a="http://schemas.openxmlformats.org/drawingml/2006/main">
              <a:ext uri="{FF2B5EF4-FFF2-40B4-BE49-F238E27FC236}">
                <a16:creationId xmlns:a16="http://schemas.microsoft.com/office/drawing/2014/main" id="{5DF9A3A8-43B8-4085-A8C4-D85ED21405D1}"/>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Stage 2, step 2 of 3</a:t>
            </a:r>
          </a:p>
        </p:txBody>
      </p:sp>
      <p:sp>
        <p:nvSpPr>
          <p:cNvPr id="3" name="diagram-2">
            <a:extLst xmlns:a="http://schemas.openxmlformats.org/drawingml/2006/main">
              <a:ext uri="{FF2B5EF4-FFF2-40B4-BE49-F238E27FC236}">
                <a16:creationId xmlns:a16="http://schemas.microsoft.com/office/drawing/2014/main" id="{76A79FC5-FB79-42C2-8079-861E28FA8399}"/>
              </a:ext>
            </a:extLst>
          </p:cNvPr>
          <p:cNvSpPr>
            <a:spLocks xmlns:a="http://schemas.openxmlformats.org/drawingml/2006/main" noGrp="1"/>
          </p:cNvSpPr>
          <p:nvPr/>
        </p:nvSpPr>
        <p:spPr>
          <a:xfrm xmlns:a="http://schemas.openxmlformats.org/drawingml/2006/main">
            <a:off x="666750" y="3381375"/>
            <a:ext cx="4000500" cy="1238250"/>
          </a:xfrm>
          <a:prstGeom xmlns:a="http://schemas.openxmlformats.org/drawingml/2006/main" prst="rect">
            <a:avLst/>
          </a:prstGeom>
          <a:solidFill xmlns:a="http://schemas.openxmlformats.org/drawingml/2006/main">
            <a:srgbClr val="F1E7D5"/>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325">
                <a:solidFill>
                  <a:srgbClr val="182C43"/>
                </a:solidFill>
                <a:latin typeface="DejaVu Sans"/>
                <a:ea typeface="DejaVu Sans"/>
                <a:cs typeface="DejaVu Sans"/>
              </a:defRPr>
            </a:defPPr>
          </a:lstStyle>
          <a:p xmlns:a="http://schemas.openxmlformats.org/drawingml/2006/main">
            <a:pPr algn="ctr">
              <a:buNone/>
              <a:defRPr sz="2325">
                <a:solidFill>
                  <a:srgbClr val="182C43"/>
                </a:solidFill>
                <a:latin typeface="DejaVu Sans"/>
                <a:ea typeface="DejaVu Sans"/>
                <a:cs typeface="DejaVu Sans"/>
              </a:defRPr>
            </a:pPr>
            <a:r>
              <a:rPr sz="2325">
                <a:solidFill>
                  <a:srgbClr val="182C43"/>
                </a:solidFill>
                <a:latin typeface="DejaVu Sans"/>
                <a:ea typeface="DejaVu Sans"/>
                <a:cs typeface="DejaVu Sans"/>
              </a:rPr>
              <a:t>Question vector</a:t>
            </a:r>
          </a:p>
          <a:p xmlns:a="http://schemas.openxmlformats.org/drawingml/2006/main">
            <a:pPr algn="ctr">
              <a:buNone/>
              <a:defRPr sz="2325">
                <a:solidFill>
                  <a:srgbClr val="182C43"/>
                </a:solidFill>
                <a:latin typeface="DejaVu Sans"/>
                <a:ea typeface="DejaVu Sans"/>
                <a:cs typeface="DejaVu Sans"/>
              </a:defRPr>
            </a:pPr>
            <a:r>
              <a:rPr sz="2325">
                <a:solidFill>
                  <a:srgbClr val="182C43"/>
                </a:solidFill>
                <a:latin typeface="DejaVu Sans"/>
                <a:ea typeface="DejaVu Sans"/>
                <a:cs typeface="DejaVu Sans"/>
              </a:rPr>
              <a:t>“Pay on arrival?”</a:t>
            </a:r>
          </a:p>
        </p:txBody>
      </p:sp>
      <p:sp>
        <p:nvSpPr>
          <p:cNvPr id="4" name="diagram-3">
            <a:extLst xmlns:a="http://schemas.openxmlformats.org/drawingml/2006/main">
              <a:ext uri="{FF2B5EF4-FFF2-40B4-BE49-F238E27FC236}">
                <a16:creationId xmlns:a16="http://schemas.microsoft.com/office/drawing/2014/main" id="{5C8C7DAB-6AA9-43F2-B171-8200424C247D}"/>
              </a:ext>
            </a:extLst>
          </p:cNvPr>
          <p:cNvSpPr>
            <a:spLocks xmlns:a="http://schemas.openxmlformats.org/drawingml/2006/main" noGrp="1"/>
          </p:cNvSpPr>
          <p:nvPr/>
        </p:nvSpPr>
        <p:spPr>
          <a:xfrm xmlns:a="http://schemas.openxmlformats.org/drawingml/2006/main">
            <a:off x="7334250" y="2333625"/>
            <a:ext cx="4048125" cy="809625"/>
          </a:xfrm>
          <a:prstGeom xmlns:a="http://schemas.openxmlformats.org/drawingml/2006/main" prst="rect">
            <a:avLst/>
          </a:prstGeom>
          <a:solidFill xmlns:a="http://schemas.openxmlformats.org/drawingml/2006/main">
            <a:srgbClr val="EFF1EF"/>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P1  Delivery time</a:t>
            </a:r>
          </a:p>
        </p:txBody>
      </p:sp>
      <p:sp>
        <p:nvSpPr>
          <p:cNvPr id="5" name="diagram-4">
            <a:extLst xmlns:a="http://schemas.openxmlformats.org/drawingml/2006/main">
              <a:ext uri="{FF2B5EF4-FFF2-40B4-BE49-F238E27FC236}">
                <a16:creationId xmlns:a16="http://schemas.microsoft.com/office/drawing/2014/main" id="{1AD42B8F-AE02-465E-B4B5-CEAEFBCB7F96}"/>
              </a:ext>
            </a:extLst>
          </p:cNvPr>
          <p:cNvSpPr>
            <a:spLocks xmlns:a="http://schemas.openxmlformats.org/drawingml/2006/main" noGrp="1"/>
          </p:cNvSpPr>
          <p:nvPr/>
        </p:nvSpPr>
        <p:spPr>
          <a:xfrm xmlns:a="http://schemas.openxmlformats.org/drawingml/2006/main">
            <a:off x="7334250" y="3762375"/>
            <a:ext cx="4048125" cy="8096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P2  Pay when it arrives</a:t>
            </a:r>
          </a:p>
        </p:txBody>
      </p:sp>
      <p:sp>
        <p:nvSpPr>
          <p:cNvPr id="6" name="diagram-5">
            <a:extLst xmlns:a="http://schemas.openxmlformats.org/drawingml/2006/main">
              <a:ext uri="{FF2B5EF4-FFF2-40B4-BE49-F238E27FC236}">
                <a16:creationId xmlns:a16="http://schemas.microsoft.com/office/drawing/2014/main" id="{8940BEFD-888A-4472-AF15-354509441E18}"/>
              </a:ext>
            </a:extLst>
          </p:cNvPr>
          <p:cNvSpPr>
            <a:spLocks xmlns:a="http://schemas.openxmlformats.org/drawingml/2006/main" noGrp="1"/>
          </p:cNvSpPr>
          <p:nvPr/>
        </p:nvSpPr>
        <p:spPr>
          <a:xfrm xmlns:a="http://schemas.openxmlformats.org/drawingml/2006/main">
            <a:off x="7334250" y="5191125"/>
            <a:ext cx="4048125" cy="809625"/>
          </a:xfrm>
          <a:prstGeom xmlns:a="http://schemas.openxmlformats.org/drawingml/2006/main" prst="rect">
            <a:avLst/>
          </a:prstGeom>
          <a:solidFill xmlns:a="http://schemas.openxmlformats.org/drawingml/2006/main">
            <a:srgbClr val="EFF1EF"/>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P3  Damaged parcel</a:t>
            </a:r>
          </a:p>
        </p:txBody>
      </p:sp>
      <p:sp>
        <p:nvSpPr>
          <p:cNvPr id="10" name="text-9">
            <a:extLst xmlns:a="http://schemas.openxmlformats.org/drawingml/2006/main">
              <a:ext uri="{FF2B5EF4-FFF2-40B4-BE49-F238E27FC236}">
                <a16:creationId xmlns:a16="http://schemas.microsoft.com/office/drawing/2014/main" id="{010AEC1E-04D8-4521-ABDD-033454F5DD07}"/>
              </a:ext>
            </a:extLst>
          </p:cNvPr>
          <p:cNvSpPr>
            <a:spLocks xmlns:a="http://schemas.openxmlformats.org/drawingml/2006/main" noGrp="1"/>
          </p:cNvSpPr>
          <p:nvPr/>
        </p:nvSpPr>
        <p:spPr>
          <a:xfrm xmlns:a="http://schemas.openxmlformats.org/drawingml/2006/main">
            <a:off x="666750" y="60007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96B79"/>
                </a:solidFill>
                <a:latin typeface="DejaVu Sans"/>
                <a:ea typeface="DejaVu Sans"/>
                <a:cs typeface="DejaVu Sans"/>
              </a:defRPr>
            </a:defPPr>
          </a:lstStyle>
          <a:p xmlns:a="http://schemas.openxmlformats.org/drawingml/2006/main">
            <a:pPr>
              <a:buNone/>
              <a:defRPr sz="1500" b="0">
                <a:solidFill>
                  <a:srgbClr val="596B79"/>
                </a:solidFill>
                <a:latin typeface="DejaVu Sans"/>
                <a:ea typeface="DejaVu Sans"/>
                <a:cs typeface="DejaVu Sans"/>
              </a:defRPr>
            </a:pPr>
            <a:r>
              <a:rPr sz="1500" b="0">
                <a:solidFill>
                  <a:srgbClr val="596B79"/>
                </a:solidFill>
                <a:latin typeface="DejaVu Sans"/>
                <a:ea typeface="DejaVu Sans"/>
                <a:cs typeface="DejaVu Sans"/>
              </a:rPr>
              <a:t>Illustration of a match, not measured vector positions</a:t>
            </a:r>
          </a:p>
        </p:txBody>
      </p:sp>
      <p:sp>
        <p:nvSpPr>
          <p:cNvPr id="11" name="text-10">
            <a:extLst xmlns:a="http://schemas.openxmlformats.org/drawingml/2006/main">
              <a:ext uri="{FF2B5EF4-FFF2-40B4-BE49-F238E27FC236}">
                <a16:creationId xmlns:a16="http://schemas.microsoft.com/office/drawing/2014/main" id="{C41E2FB7-2903-4B57-8E6D-737867414798}"/>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2" name="text-11">
            <a:extLst xmlns:a="http://schemas.openxmlformats.org/drawingml/2006/main">
              <a:ext uri="{FF2B5EF4-FFF2-40B4-BE49-F238E27FC236}">
                <a16:creationId xmlns:a16="http://schemas.microsoft.com/office/drawing/2014/main" id="{B8B4B4A5-63C0-4A98-BA17-A27169E95F8D}"/>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17</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605963581"/>
      </p:ext>
    </p:extLst>
  </p:cSld>
</p:sld>
</file>

<file path=ppt/slides/slide18.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1FAE9D9-D726-4A02-9CCA-A07D4A1C33E8}"/>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The search returns the saved sentence</a:t>
            </a:r>
          </a:p>
        </p:txBody>
      </p:sp>
      <p:sp>
        <p:nvSpPr>
          <p:cNvPr id="2" name="text-1">
            <a:extLst xmlns:a="http://schemas.openxmlformats.org/drawingml/2006/main">
              <a:ext uri="{FF2B5EF4-FFF2-40B4-BE49-F238E27FC236}">
                <a16:creationId xmlns:a16="http://schemas.microsoft.com/office/drawing/2014/main" id="{2B3A59E2-6902-4734-9DF8-82A738C8B1A4}"/>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Stage 2, step 3 of 3</a:t>
            </a:r>
          </a:p>
        </p:txBody>
      </p:sp>
      <p:sp>
        <p:nvSpPr>
          <p:cNvPr id="3" name="text-2">
            <a:extLst xmlns:a="http://schemas.openxmlformats.org/drawingml/2006/main">
              <a:ext uri="{FF2B5EF4-FFF2-40B4-BE49-F238E27FC236}">
                <a16:creationId xmlns:a16="http://schemas.microsoft.com/office/drawing/2014/main" id="{F8C8AA87-EEC3-49D0-91F3-EC577894F6A1}"/>
              </a:ext>
            </a:extLst>
          </p:cNvPr>
          <p:cNvSpPr>
            <a:spLocks xmlns:a="http://schemas.openxmlformats.org/drawingml/2006/main" noGrp="1"/>
          </p:cNvSpPr>
          <p:nvPr/>
        </p:nvSpPr>
        <p:spPr>
          <a:xfrm xmlns:a="http://schemas.openxmlformats.org/drawingml/2006/main">
            <a:off x="666750" y="22955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87E84"/>
                </a:solidFill>
                <a:latin typeface="DejaVu Sans"/>
                <a:ea typeface="DejaVu Sans"/>
                <a:cs typeface="DejaVu Sans"/>
              </a:defRPr>
            </a:defPPr>
          </a:lstStyle>
          <a:p xmlns:a="http://schemas.openxmlformats.org/drawingml/2006/main">
            <a:pPr>
              <a:buNone/>
              <a:defRPr sz="1500" b="1">
                <a:solidFill>
                  <a:srgbClr val="087E84"/>
                </a:solidFill>
                <a:latin typeface="DejaVu Sans"/>
                <a:ea typeface="DejaVu Sans"/>
                <a:cs typeface="DejaVu Sans"/>
              </a:defRPr>
            </a:pPr>
            <a:r>
              <a:rPr sz="1500" b="1">
                <a:solidFill>
                  <a:srgbClr val="087E84"/>
                </a:solidFill>
                <a:latin typeface="DejaVu Sans"/>
                <a:ea typeface="DejaVu Sans"/>
                <a:cs typeface="DejaVu Sans"/>
              </a:rPr>
              <a:t>CUSTOMER</a:t>
            </a:r>
          </a:p>
        </p:txBody>
      </p:sp>
      <p:sp>
        <p:nvSpPr>
          <p:cNvPr id="4" name="text-3">
            <a:extLst xmlns:a="http://schemas.openxmlformats.org/drawingml/2006/main">
              <a:ext uri="{FF2B5EF4-FFF2-40B4-BE49-F238E27FC236}">
                <a16:creationId xmlns:a16="http://schemas.microsoft.com/office/drawing/2014/main" id="{33652619-E305-4F2A-B0BB-682FB3639763}"/>
              </a:ext>
            </a:extLst>
          </p:cNvPr>
          <p:cNvSpPr>
            <a:spLocks xmlns:a="http://schemas.openxmlformats.org/drawingml/2006/main" noGrp="1"/>
          </p:cNvSpPr>
          <p:nvPr/>
        </p:nvSpPr>
        <p:spPr>
          <a:xfrm xmlns:a="http://schemas.openxmlformats.org/drawingml/2006/main">
            <a:off x="666750" y="2781300"/>
            <a:ext cx="10668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82C43"/>
                </a:solidFill>
                <a:latin typeface="DejaVu Sans"/>
                <a:ea typeface="DejaVu Sans"/>
                <a:cs typeface="DejaVu Sans"/>
              </a:defRPr>
            </a:defPPr>
          </a:lstStyle>
          <a:p xmlns:a="http://schemas.openxmlformats.org/drawingml/2006/main">
            <a:pPr>
              <a:buNone/>
              <a:defRPr sz="2925" b="1">
                <a:solidFill>
                  <a:srgbClr val="182C43"/>
                </a:solidFill>
                <a:latin typeface="DejaVu Sans"/>
                <a:ea typeface="DejaVu Sans"/>
                <a:cs typeface="DejaVu Sans"/>
              </a:defRPr>
            </a:pPr>
            <a:r>
              <a:rPr sz="2925" b="1">
                <a:solidFill>
                  <a:srgbClr val="182C43"/>
                </a:solidFill>
                <a:latin typeface="DejaVu Sans"/>
                <a:ea typeface="DejaVu Sans"/>
                <a:cs typeface="DejaVu Sans"/>
              </a:rPr>
              <a:t>“Can I give cash on arrival?”</a:t>
            </a:r>
          </a:p>
        </p:txBody>
      </p:sp>
      <p:sp>
        <p:nvSpPr>
          <p:cNvPr id="5" name="text-4">
            <a:extLst xmlns:a="http://schemas.openxmlformats.org/drawingml/2006/main">
              <a:ext uri="{FF2B5EF4-FFF2-40B4-BE49-F238E27FC236}">
                <a16:creationId xmlns:a16="http://schemas.microsoft.com/office/drawing/2014/main" id="{6FFC4474-8524-4F48-98A0-C055B38C6EF1}"/>
              </a:ext>
            </a:extLst>
          </p:cNvPr>
          <p:cNvSpPr>
            <a:spLocks xmlns:a="http://schemas.openxmlformats.org/drawingml/2006/main" noGrp="1"/>
          </p:cNvSpPr>
          <p:nvPr/>
        </p:nvSpPr>
        <p:spPr>
          <a:xfrm xmlns:a="http://schemas.openxmlformats.org/drawingml/2006/main">
            <a:off x="666750" y="4362450"/>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96B79"/>
                </a:solidFill>
                <a:latin typeface="DejaVu Sans"/>
                <a:ea typeface="DejaVu Sans"/>
                <a:cs typeface="DejaVu Sans"/>
              </a:defRPr>
            </a:defPPr>
          </a:lstStyle>
          <a:p xmlns:a="http://schemas.openxmlformats.org/drawingml/2006/main">
            <a:pPr>
              <a:buNone/>
              <a:defRPr sz="1725" b="0">
                <a:solidFill>
                  <a:srgbClr val="596B79"/>
                </a:solidFill>
                <a:latin typeface="DejaVu Sans"/>
                <a:ea typeface="DejaVu Sans"/>
                <a:cs typeface="DejaVu Sans"/>
              </a:defRPr>
            </a:pPr>
            <a:r>
              <a:rPr sz="1725" b="0">
                <a:solidFill>
                  <a:srgbClr val="596B79"/>
                </a:solidFill>
                <a:latin typeface="DejaVu Sans"/>
                <a:ea typeface="DejaVu Sans"/>
                <a:cs typeface="DejaVu Sans"/>
              </a:rPr>
              <a:t>Retrieved text, rather than a newly written answer</a:t>
            </a:r>
          </a:p>
        </p:txBody>
      </p:sp>
      <p:sp>
        <p:nvSpPr>
          <p:cNvPr id="6" name="text-5">
            <a:extLst xmlns:a="http://schemas.openxmlformats.org/drawingml/2006/main">
              <a:ext uri="{FF2B5EF4-FFF2-40B4-BE49-F238E27FC236}">
                <a16:creationId xmlns:a16="http://schemas.microsoft.com/office/drawing/2014/main" id="{0E503DEF-75BE-4D34-B335-7DA83EB9FDB3}"/>
              </a:ext>
            </a:extLst>
          </p:cNvPr>
          <p:cNvSpPr>
            <a:spLocks xmlns:a="http://schemas.openxmlformats.org/drawingml/2006/main" noGrp="1"/>
          </p:cNvSpPr>
          <p:nvPr/>
        </p:nvSpPr>
        <p:spPr>
          <a:xfrm xmlns:a="http://schemas.openxmlformats.org/drawingml/2006/main">
            <a:off x="666750" y="4924425"/>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84"/>
                </a:solidFill>
                <a:latin typeface="DejaVu Sans"/>
                <a:ea typeface="DejaVu Sans"/>
                <a:cs typeface="DejaVu Sans"/>
              </a:defRPr>
            </a:defPPr>
          </a:lstStyle>
          <a:p xmlns:a="http://schemas.openxmlformats.org/drawingml/2006/main">
            <a:pPr>
              <a:buNone/>
              <a:defRPr sz="2400" b="1">
                <a:solidFill>
                  <a:srgbClr val="087E84"/>
                </a:solidFill>
                <a:latin typeface="DejaVu Sans"/>
                <a:ea typeface="DejaVu Sans"/>
                <a:cs typeface="DejaVu Sans"/>
              </a:defRPr>
            </a:pPr>
            <a:r>
              <a:rPr sz="2400" b="1">
                <a:solidFill>
                  <a:srgbClr val="087E84"/>
                </a:solidFill>
                <a:latin typeface="DejaVu Sans"/>
                <a:ea typeface="DejaVu Sans"/>
                <a:cs typeface="DejaVu Sans"/>
              </a:rPr>
              <a:t>Cash on delivery lets you pay when the parcel arrives.</a:t>
            </a:r>
          </a:p>
        </p:txBody>
      </p:sp>
      <p:sp>
        <p:nvSpPr>
          <p:cNvPr id="7" name="text-6">
            <a:extLst xmlns:a="http://schemas.openxmlformats.org/drawingml/2006/main">
              <a:ext uri="{FF2B5EF4-FFF2-40B4-BE49-F238E27FC236}">
                <a16:creationId xmlns:a16="http://schemas.microsoft.com/office/drawing/2014/main" id="{7B6D9D47-FFA0-4F8B-9E07-5DEE356E348E}"/>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8" name="text-7">
            <a:extLst xmlns:a="http://schemas.openxmlformats.org/drawingml/2006/main">
              <a:ext uri="{FF2B5EF4-FFF2-40B4-BE49-F238E27FC236}">
                <a16:creationId xmlns:a16="http://schemas.microsoft.com/office/drawing/2014/main" id="{E50911EC-EFE7-46EB-824E-9A68ED2EABD7}"/>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18</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533828576"/>
      </p:ext>
    </p:extLst>
  </p:cSld>
</p:sld>
</file>

<file path=ppt/slides/slide19.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BF71AB1D-5E75-4CAF-AE3F-D98BFB277064}"/>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Embedding model, database and LLM</a:t>
            </a:r>
          </a:p>
        </p:txBody>
      </p:sp>
      <p:sp>
        <p:nvSpPr>
          <p:cNvPr id="2" name="text-1">
            <a:extLst xmlns:a="http://schemas.openxmlformats.org/drawingml/2006/main">
              <a:ext uri="{FF2B5EF4-FFF2-40B4-BE49-F238E27FC236}">
                <a16:creationId xmlns:a16="http://schemas.microsoft.com/office/drawing/2014/main" id="{E4DB5749-C26E-4A87-A65C-D99BF47D4AB5}"/>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Three jobs that students already recognize</a:t>
            </a:r>
          </a:p>
        </p:txBody>
      </p:sp>
      <p:graphicFrame>
        <p:nvGraphicFramePr>
          <p:cNvPr id="3" name="">
            <a:extLst xmlns:a="http://schemas.openxmlformats.org/drawingml/2006/main">
              <a:ext uri="{FF2B5EF4-FFF2-40B4-BE49-F238E27FC236}">
                <a16:creationId xmlns:a16="http://schemas.microsoft.com/office/drawing/2014/main" id="{D713AF3B-47A8-4302-BC48-2ED113B1637F}"/>
              </a:ext>
            </a:extLst>
          </p:cNvPr>
          <p:cNvGraphicFramePr/>
          <p:nvPr/>
        </p:nvGraphicFramePr>
        <p:xfrm>
          <a:off xmlns:a="http://schemas.openxmlformats.org/drawingml/2006/main" x="619125" y="2238375"/>
          <a:ext xmlns:a="http://schemas.openxmlformats.org/drawingml/2006/main" cx="10953750" cy="3048000"/>
        </p:xfrm>
        <a:graphic xmlns:a="http://schemas.openxmlformats.org/drawingml/2006/main">
          <a:graphicData uri="http://schemas.openxmlformats.org/drawingml/2006/table">
            <a:tbl>
              <a:tblPr/>
              <a:tblGrid>
                <a:gridCol w="4000500"/>
                <a:gridCol w="6953250"/>
              </a:tblGrid>
              <a:tr h="762000">
                <a:tc>
                  <a:txBody>
                    <a:bodyPr/>
                    <a:lstStyle/>
                    <a:p>
                      <a:r>
                        <a:rPr sz="2025" b="1">
                          <a:solidFill>
                            <a:srgbClr val="FFFFFF"/>
                          </a:solidFill>
                          <a:latin typeface="DejaVu Sans"/>
                          <a:ea typeface="DejaVu Sans"/>
                          <a:cs typeface="DejaVu Sans"/>
                        </a:rPr>
                        <a:t>Component</a:t>
                      </a:r>
                    </a:p>
                  </a:txBody>
                  <a:tcPr marL="171450" marR="171450" marT="152400" marB="95250">
                    <a:lnL w="9525">
                      <a:solidFill>
                        <a:srgbClr val="D7E1DF"/>
                      </a:solidFill>
                      <a:prstDash val="solid"/>
                    </a:lnL>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c>
                  <a:txBody>
                    <a:bodyPr/>
                    <a:lstStyle/>
                    <a:p>
                      <a:r>
                        <a:rPr sz="2025" b="1">
                          <a:solidFill>
                            <a:srgbClr val="FFFFFF"/>
                          </a:solidFill>
                          <a:latin typeface="DejaVu Sans"/>
                          <a:ea typeface="DejaVu Sans"/>
                          <a:cs typeface="DejaVu Sans"/>
                        </a:rPr>
                        <a:t>Job</a:t>
                      </a:r>
                    </a:p>
                  </a:txBody>
                  <a:tcPr marL="171450" marR="171450" marT="152400" marB="95250">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r>
              <a:tr h="762000">
                <a:tc>
                  <a:txBody>
                    <a:bodyPr/>
                    <a:lstStyle/>
                    <a:p>
                      <a:r>
                        <a:rPr sz="2025">
                          <a:solidFill>
                            <a:srgbClr val="182C43"/>
                          </a:solidFill>
                          <a:latin typeface="DejaVu Sans"/>
                          <a:ea typeface="DejaVu Sans"/>
                          <a:cs typeface="DejaVu Sans"/>
                        </a:rPr>
                        <a:t>Embedding model</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Turns text into vectors</a:t>
                      </a:r>
                    </a:p>
                  </a:txBody>
                  <a:tcPr marL="171450" marR="171450" marT="152400" marB="95250">
                    <a:lnR w="9525">
                      <a:solidFill>
                        <a:srgbClr val="D7E1DF"/>
                      </a:solidFill>
                      <a:prstDash val="solid"/>
                    </a:lnR>
                    <a:lnB w="9525">
                      <a:solidFill>
                        <a:srgbClr val="D7E1DF"/>
                      </a:solidFill>
                      <a:prstDash val="solid"/>
                    </a:lnB>
                    <a:solidFill>
                      <a:srgbClr val="FFFFFF"/>
                    </a:solidFill>
                  </a:tcPr>
                </a:tc>
              </a:tr>
              <a:tr h="762000">
                <a:tc>
                  <a:txBody>
                    <a:bodyPr/>
                    <a:lstStyle/>
                    <a:p>
                      <a:r>
                        <a:rPr sz="2025">
                          <a:solidFill>
                            <a:srgbClr val="182C43"/>
                          </a:solidFill>
                          <a:latin typeface="DejaVu Sans"/>
                          <a:ea typeface="DejaVu Sans"/>
                          <a:cs typeface="DejaVu Sans"/>
                        </a:rPr>
                        <a:t>Vector database</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Stores records and finds nearby vectors</a:t>
                      </a:r>
                    </a:p>
                  </a:txBody>
                  <a:tcPr marL="171450" marR="171450" marT="152400" marB="95250">
                    <a:lnR w="9525">
                      <a:solidFill>
                        <a:srgbClr val="D7E1DF"/>
                      </a:solidFill>
                      <a:prstDash val="solid"/>
                    </a:lnR>
                    <a:lnB w="9525">
                      <a:solidFill>
                        <a:srgbClr val="D7E1DF"/>
                      </a:solidFill>
                      <a:prstDash val="solid"/>
                    </a:lnB>
                    <a:solidFill>
                      <a:srgbClr val="FFFFFF"/>
                    </a:solidFill>
                  </a:tcPr>
                </a:tc>
              </a:tr>
              <a:tr h="762000">
                <a:tc>
                  <a:txBody>
                    <a:bodyPr/>
                    <a:lstStyle/>
                    <a:p>
                      <a:r>
                        <a:rPr sz="2025">
                          <a:solidFill>
                            <a:srgbClr val="182C43"/>
                          </a:solidFill>
                          <a:latin typeface="DejaVu Sans"/>
                          <a:ea typeface="DejaVu Sans"/>
                          <a:cs typeface="DejaVu Sans"/>
                        </a:rPr>
                        <a:t>Groq LLM</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Can explain retrieved information to the user</a:t>
                      </a:r>
                    </a:p>
                  </a:txBody>
                  <a:tcPr marL="171450" marR="171450" marT="152400" marB="95250">
                    <a:lnR w="9525">
                      <a:solidFill>
                        <a:srgbClr val="D7E1DF"/>
                      </a:solidFill>
                      <a:prstDash val="solid"/>
                    </a:lnR>
                    <a:lnB w="9525">
                      <a:solidFill>
                        <a:srgbClr val="D7E1DF"/>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C04B86E8-16D0-49B3-AA35-F28DF5A79E3D}"/>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5" name="text-3">
            <a:extLst xmlns:a="http://schemas.openxmlformats.org/drawingml/2006/main">
              <a:ext uri="{FF2B5EF4-FFF2-40B4-BE49-F238E27FC236}">
                <a16:creationId xmlns:a16="http://schemas.microsoft.com/office/drawing/2014/main" id="{9B77D25C-480E-4892-86FE-86941181708D}"/>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19</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510723773"/>
      </p:ext>
    </p:extLst>
  </p:cSld>
</p:sld>
</file>

<file path=ppt/slides/slide20.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743545A-0996-4127-91C9-EC0D4CE64F22}"/>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Your turn: predict the policy</a:t>
            </a:r>
          </a:p>
        </p:txBody>
      </p:sp>
      <p:sp>
        <p:nvSpPr>
          <p:cNvPr id="2" name="text-1">
            <a:extLst xmlns:a="http://schemas.openxmlformats.org/drawingml/2006/main">
              <a:ext uri="{FF2B5EF4-FFF2-40B4-BE49-F238E27FC236}">
                <a16:creationId xmlns:a16="http://schemas.microsoft.com/office/drawing/2014/main" id="{9BA58D20-BE65-4E6F-9C70-04B472EAE383}"/>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A 30-second classroom pause</a:t>
            </a:r>
          </a:p>
        </p:txBody>
      </p:sp>
      <p:sp>
        <p:nvSpPr>
          <p:cNvPr id="3" name="text-2">
            <a:extLst xmlns:a="http://schemas.openxmlformats.org/drawingml/2006/main">
              <a:ext uri="{FF2B5EF4-FFF2-40B4-BE49-F238E27FC236}">
                <a16:creationId xmlns:a16="http://schemas.microsoft.com/office/drawing/2014/main" id="{BC7DD5F8-4576-42FC-9630-F28C27F8DC33}"/>
              </a:ext>
            </a:extLst>
          </p:cNvPr>
          <p:cNvSpPr>
            <a:spLocks xmlns:a="http://schemas.openxmlformats.org/drawingml/2006/main" noGrp="1"/>
          </p:cNvSpPr>
          <p:nvPr/>
        </p:nvSpPr>
        <p:spPr>
          <a:xfrm xmlns:a="http://schemas.openxmlformats.org/drawingml/2006/main">
            <a:off x="666750" y="22955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87E84"/>
                </a:solidFill>
                <a:latin typeface="DejaVu Sans"/>
                <a:ea typeface="DejaVu Sans"/>
                <a:cs typeface="DejaVu Sans"/>
              </a:defRPr>
            </a:defPPr>
          </a:lstStyle>
          <a:p xmlns:a="http://schemas.openxmlformats.org/drawingml/2006/main">
            <a:pPr>
              <a:buNone/>
              <a:defRPr sz="1500" b="1">
                <a:solidFill>
                  <a:srgbClr val="087E84"/>
                </a:solidFill>
                <a:latin typeface="DejaVu Sans"/>
                <a:ea typeface="DejaVu Sans"/>
                <a:cs typeface="DejaVu Sans"/>
              </a:defRPr>
            </a:pPr>
            <a:r>
              <a:rPr sz="1500" b="1">
                <a:solidFill>
                  <a:srgbClr val="087E84"/>
                </a:solidFill>
                <a:latin typeface="DejaVu Sans"/>
                <a:ea typeface="DejaVu Sans"/>
                <a:cs typeface="DejaVu Sans"/>
              </a:rPr>
              <a:t>CUSTOMER</a:t>
            </a:r>
          </a:p>
        </p:txBody>
      </p:sp>
      <p:sp>
        <p:nvSpPr>
          <p:cNvPr id="4" name="text-3">
            <a:extLst xmlns:a="http://schemas.openxmlformats.org/drawingml/2006/main">
              <a:ext uri="{FF2B5EF4-FFF2-40B4-BE49-F238E27FC236}">
                <a16:creationId xmlns:a16="http://schemas.microsoft.com/office/drawing/2014/main" id="{10430720-2451-410A-8887-94DF9B0682EA}"/>
              </a:ext>
            </a:extLst>
          </p:cNvPr>
          <p:cNvSpPr>
            <a:spLocks xmlns:a="http://schemas.openxmlformats.org/drawingml/2006/main" noGrp="1"/>
          </p:cNvSpPr>
          <p:nvPr/>
        </p:nvSpPr>
        <p:spPr>
          <a:xfrm xmlns:a="http://schemas.openxmlformats.org/drawingml/2006/main">
            <a:off x="666750" y="2781300"/>
            <a:ext cx="10668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82C43"/>
                </a:solidFill>
                <a:latin typeface="DejaVu Sans"/>
                <a:ea typeface="DejaVu Sans"/>
                <a:cs typeface="DejaVu Sans"/>
              </a:defRPr>
            </a:defPPr>
          </a:lstStyle>
          <a:p xmlns:a="http://schemas.openxmlformats.org/drawingml/2006/main">
            <a:pPr>
              <a:buNone/>
              <a:defRPr sz="2925" b="1">
                <a:solidFill>
                  <a:srgbClr val="182C43"/>
                </a:solidFill>
                <a:latin typeface="DejaVu Sans"/>
                <a:ea typeface="DejaVu Sans"/>
                <a:cs typeface="DejaVu Sans"/>
              </a:defRPr>
            </a:pPr>
            <a:r>
              <a:rPr sz="2925" b="1">
                <a:solidFill>
                  <a:srgbClr val="182C43"/>
                </a:solidFill>
                <a:latin typeface="DejaVu Sans"/>
                <a:ea typeface="DejaVu Sans"/>
                <a:cs typeface="DejaVu Sans"/>
              </a:rPr>
              <a:t>“My parcel is broken. What should I do?”</a:t>
            </a:r>
          </a:p>
        </p:txBody>
      </p:sp>
      <p:sp>
        <p:nvSpPr>
          <p:cNvPr id="5" name="text-4">
            <a:extLst xmlns:a="http://schemas.openxmlformats.org/drawingml/2006/main">
              <a:ext uri="{FF2B5EF4-FFF2-40B4-BE49-F238E27FC236}">
                <a16:creationId xmlns:a16="http://schemas.microsoft.com/office/drawing/2014/main" id="{AF458298-296A-448D-93FB-99E8D00B7CA4}"/>
              </a:ext>
            </a:extLst>
          </p:cNvPr>
          <p:cNvSpPr>
            <a:spLocks xmlns:a="http://schemas.openxmlformats.org/drawingml/2006/main" noGrp="1"/>
          </p:cNvSpPr>
          <p:nvPr/>
        </p:nvSpPr>
        <p:spPr>
          <a:xfrm xmlns:a="http://schemas.openxmlformats.org/drawingml/2006/main">
            <a:off x="666750" y="4362450"/>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96B79"/>
                </a:solidFill>
                <a:latin typeface="DejaVu Sans"/>
                <a:ea typeface="DejaVu Sans"/>
                <a:cs typeface="DejaVu Sans"/>
              </a:defRPr>
            </a:defPPr>
          </a:lstStyle>
          <a:p xmlns:a="http://schemas.openxmlformats.org/drawingml/2006/main">
            <a:pPr>
              <a:buNone/>
              <a:defRPr sz="1725" b="0">
                <a:solidFill>
                  <a:srgbClr val="596B79"/>
                </a:solidFill>
                <a:latin typeface="DejaVu Sans"/>
                <a:ea typeface="DejaVu Sans"/>
                <a:cs typeface="DejaVu Sans"/>
              </a:defRPr>
            </a:pPr>
            <a:r>
              <a:rPr sz="1725" b="0">
                <a:solidFill>
                  <a:srgbClr val="596B79"/>
                </a:solidFill>
                <a:latin typeface="DejaVu Sans"/>
                <a:ea typeface="DejaVu Sans"/>
                <a:cs typeface="DejaVu Sans"/>
              </a:rPr>
              <a:t>Choose P1, P2 or P3 before the next slide</a:t>
            </a:r>
          </a:p>
        </p:txBody>
      </p:sp>
      <p:sp>
        <p:nvSpPr>
          <p:cNvPr id="6" name="text-5">
            <a:extLst xmlns:a="http://schemas.openxmlformats.org/drawingml/2006/main">
              <a:ext uri="{FF2B5EF4-FFF2-40B4-BE49-F238E27FC236}">
                <a16:creationId xmlns:a16="http://schemas.microsoft.com/office/drawing/2014/main" id="{616BFFCF-87A6-4FA8-A2B9-9A1AB913392E}"/>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7" name="text-6">
            <a:extLst xmlns:a="http://schemas.openxmlformats.org/drawingml/2006/main">
              <a:ext uri="{FF2B5EF4-FFF2-40B4-BE49-F238E27FC236}">
                <a16:creationId xmlns:a16="http://schemas.microsoft.com/office/drawing/2014/main" id="{07B214FF-F4D7-4C97-8CC7-04F5B83814E6}"/>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20</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367407521"/>
      </p:ext>
    </p:extLst>
  </p:cSld>
</p:sld>
</file>

<file path=ppt/slides/slide2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03E71C1-0132-4751-A4B7-280BA5817BD6}"/>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The useful evidence is P3</a:t>
            </a:r>
          </a:p>
        </p:txBody>
      </p:sp>
      <p:sp>
        <p:nvSpPr>
          <p:cNvPr id="2" name="text-1">
            <a:extLst xmlns:a="http://schemas.openxmlformats.org/drawingml/2006/main">
              <a:ext uri="{FF2B5EF4-FFF2-40B4-BE49-F238E27FC236}">
                <a16:creationId xmlns:a16="http://schemas.microsoft.com/office/drawing/2014/main" id="{0BED26EC-3272-468B-A133-8BC1808AB112}"/>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The words differ, but the topic is related</a:t>
            </a:r>
          </a:p>
        </p:txBody>
      </p:sp>
      <p:sp>
        <p:nvSpPr>
          <p:cNvPr id="3" name="text-2">
            <a:extLst xmlns:a="http://schemas.openxmlformats.org/drawingml/2006/main">
              <a:ext uri="{FF2B5EF4-FFF2-40B4-BE49-F238E27FC236}">
                <a16:creationId xmlns:a16="http://schemas.microsoft.com/office/drawing/2014/main" id="{165CDD4E-4FF0-449D-8C16-AA9F31D4D67A}"/>
              </a:ext>
            </a:extLst>
          </p:cNvPr>
          <p:cNvSpPr>
            <a:spLocks xmlns:a="http://schemas.openxmlformats.org/drawingml/2006/main" noGrp="1"/>
          </p:cNvSpPr>
          <p:nvPr/>
        </p:nvSpPr>
        <p:spPr>
          <a:xfrm xmlns:a="http://schemas.openxmlformats.org/drawingml/2006/main">
            <a:off x="666750" y="22955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87E84"/>
                </a:solidFill>
                <a:latin typeface="DejaVu Sans"/>
                <a:ea typeface="DejaVu Sans"/>
                <a:cs typeface="DejaVu Sans"/>
              </a:defRPr>
            </a:defPPr>
          </a:lstStyle>
          <a:p xmlns:a="http://schemas.openxmlformats.org/drawingml/2006/main">
            <a:pPr>
              <a:buNone/>
              <a:defRPr sz="1500" b="1">
                <a:solidFill>
                  <a:srgbClr val="087E84"/>
                </a:solidFill>
                <a:latin typeface="DejaVu Sans"/>
                <a:ea typeface="DejaVu Sans"/>
                <a:cs typeface="DejaVu Sans"/>
              </a:defRPr>
            </a:pPr>
            <a:r>
              <a:rPr sz="1500" b="1">
                <a:solidFill>
                  <a:srgbClr val="087E84"/>
                </a:solidFill>
                <a:latin typeface="DejaVu Sans"/>
                <a:ea typeface="DejaVu Sans"/>
                <a:cs typeface="DejaVu Sans"/>
              </a:rPr>
              <a:t>CUSTOMER</a:t>
            </a:r>
          </a:p>
        </p:txBody>
      </p:sp>
      <p:sp>
        <p:nvSpPr>
          <p:cNvPr id="4" name="text-3">
            <a:extLst xmlns:a="http://schemas.openxmlformats.org/drawingml/2006/main">
              <a:ext uri="{FF2B5EF4-FFF2-40B4-BE49-F238E27FC236}">
                <a16:creationId xmlns:a16="http://schemas.microsoft.com/office/drawing/2014/main" id="{804BAFE5-1B25-461C-96AD-83DD3497918D}"/>
              </a:ext>
            </a:extLst>
          </p:cNvPr>
          <p:cNvSpPr>
            <a:spLocks xmlns:a="http://schemas.openxmlformats.org/drawingml/2006/main" noGrp="1"/>
          </p:cNvSpPr>
          <p:nvPr/>
        </p:nvSpPr>
        <p:spPr>
          <a:xfrm xmlns:a="http://schemas.openxmlformats.org/drawingml/2006/main">
            <a:off x="666750" y="2781300"/>
            <a:ext cx="10668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82C43"/>
                </a:solidFill>
                <a:latin typeface="DejaVu Sans"/>
                <a:ea typeface="DejaVu Sans"/>
                <a:cs typeface="DejaVu Sans"/>
              </a:defRPr>
            </a:defPPr>
          </a:lstStyle>
          <a:p xmlns:a="http://schemas.openxmlformats.org/drawingml/2006/main">
            <a:pPr>
              <a:buNone/>
              <a:defRPr sz="2925" b="1">
                <a:solidFill>
                  <a:srgbClr val="182C43"/>
                </a:solidFill>
                <a:latin typeface="DejaVu Sans"/>
                <a:ea typeface="DejaVu Sans"/>
                <a:cs typeface="DejaVu Sans"/>
              </a:defRPr>
            </a:pPr>
            <a:r>
              <a:rPr sz="2925" b="1">
                <a:solidFill>
                  <a:srgbClr val="182C43"/>
                </a:solidFill>
                <a:latin typeface="DejaVu Sans"/>
                <a:ea typeface="DejaVu Sans"/>
                <a:cs typeface="DejaVu Sans"/>
              </a:rPr>
              <a:t>“My parcel is broken. What should I do?”</a:t>
            </a:r>
          </a:p>
        </p:txBody>
      </p:sp>
      <p:sp>
        <p:nvSpPr>
          <p:cNvPr id="5" name="text-4">
            <a:extLst xmlns:a="http://schemas.openxmlformats.org/drawingml/2006/main">
              <a:ext uri="{FF2B5EF4-FFF2-40B4-BE49-F238E27FC236}">
                <a16:creationId xmlns:a16="http://schemas.microsoft.com/office/drawing/2014/main" id="{64AF3C5B-40F8-4039-A7ED-1FC9825AD9A2}"/>
              </a:ext>
            </a:extLst>
          </p:cNvPr>
          <p:cNvSpPr>
            <a:spLocks xmlns:a="http://schemas.openxmlformats.org/drawingml/2006/main" noGrp="1"/>
          </p:cNvSpPr>
          <p:nvPr/>
        </p:nvSpPr>
        <p:spPr>
          <a:xfrm xmlns:a="http://schemas.openxmlformats.org/drawingml/2006/main">
            <a:off x="666750" y="4362450"/>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96B79"/>
                </a:solidFill>
                <a:latin typeface="DejaVu Sans"/>
                <a:ea typeface="DejaVu Sans"/>
                <a:cs typeface="DejaVu Sans"/>
              </a:defRPr>
            </a:defPPr>
          </a:lstStyle>
          <a:p xmlns:a="http://schemas.openxmlformats.org/drawingml/2006/main">
            <a:pPr>
              <a:buNone/>
              <a:defRPr sz="1725" b="0">
                <a:solidFill>
                  <a:srgbClr val="596B79"/>
                </a:solidFill>
                <a:latin typeface="DejaVu Sans"/>
                <a:ea typeface="DejaVu Sans"/>
                <a:cs typeface="DejaVu Sans"/>
              </a:defRPr>
            </a:pPr>
            <a:r>
              <a:rPr sz="1725" b="0">
                <a:solidFill>
                  <a:srgbClr val="596B79"/>
                </a:solidFill>
                <a:latin typeface="DejaVu Sans"/>
                <a:ea typeface="DejaVu Sans"/>
                <a:cs typeface="DejaVu Sans"/>
              </a:rPr>
              <a:t>We retrieve the existing damage policy</a:t>
            </a:r>
          </a:p>
        </p:txBody>
      </p:sp>
      <p:sp>
        <p:nvSpPr>
          <p:cNvPr id="6" name="text-5">
            <a:extLst xmlns:a="http://schemas.openxmlformats.org/drawingml/2006/main">
              <a:ext uri="{FF2B5EF4-FFF2-40B4-BE49-F238E27FC236}">
                <a16:creationId xmlns:a16="http://schemas.microsoft.com/office/drawing/2014/main" id="{9F80E499-B33B-4B99-BBF1-652769C9FC13}"/>
              </a:ext>
            </a:extLst>
          </p:cNvPr>
          <p:cNvSpPr>
            <a:spLocks xmlns:a="http://schemas.openxmlformats.org/drawingml/2006/main" noGrp="1"/>
          </p:cNvSpPr>
          <p:nvPr/>
        </p:nvSpPr>
        <p:spPr>
          <a:xfrm xmlns:a="http://schemas.openxmlformats.org/drawingml/2006/main">
            <a:off x="666750" y="4924425"/>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84"/>
                </a:solidFill>
                <a:latin typeface="DejaVu Sans"/>
                <a:ea typeface="DejaVu Sans"/>
                <a:cs typeface="DejaVu Sans"/>
              </a:defRPr>
            </a:defPPr>
          </a:lstStyle>
          <a:p xmlns:a="http://schemas.openxmlformats.org/drawingml/2006/main">
            <a:pPr>
              <a:buNone/>
              <a:defRPr sz="2400" b="1">
                <a:solidFill>
                  <a:srgbClr val="087E84"/>
                </a:solidFill>
                <a:latin typeface="DejaVu Sans"/>
                <a:ea typeface="DejaVu Sans"/>
                <a:cs typeface="DejaVu Sans"/>
              </a:defRPr>
            </a:pPr>
            <a:r>
              <a:rPr sz="2400" b="1">
                <a:solidFill>
                  <a:srgbClr val="087E84"/>
                </a:solidFill>
                <a:latin typeface="DejaVu Sans"/>
                <a:ea typeface="DejaVu Sans"/>
                <a:cs typeface="DejaVu Sans"/>
              </a:rPr>
              <a:t>For a damaged parcel, contact support with photos.</a:t>
            </a:r>
          </a:p>
        </p:txBody>
      </p:sp>
      <p:sp>
        <p:nvSpPr>
          <p:cNvPr id="7" name="text-6">
            <a:extLst xmlns:a="http://schemas.openxmlformats.org/drawingml/2006/main">
              <a:ext uri="{FF2B5EF4-FFF2-40B4-BE49-F238E27FC236}">
                <a16:creationId xmlns:a16="http://schemas.microsoft.com/office/drawing/2014/main" id="{81999284-A3BD-4B9B-A86F-62D3AB5E4537}"/>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8" name="text-7">
            <a:extLst xmlns:a="http://schemas.openxmlformats.org/drawingml/2006/main">
              <a:ext uri="{FF2B5EF4-FFF2-40B4-BE49-F238E27FC236}">
                <a16:creationId xmlns:a16="http://schemas.microsoft.com/office/drawing/2014/main" id="{D3D2F793-D3F9-42A4-8FAE-08D524CBAF97}"/>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21</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152742557"/>
      </p:ext>
    </p:extLst>
  </p:cSld>
</p:sld>
</file>

<file path=ppt/slides/slide2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6B02D31-04B1-446F-B934-4FE8F6CAE816}"/>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Use cases of vector databases</a:t>
            </a:r>
          </a:p>
        </p:txBody>
      </p:sp>
      <p:sp>
        <p:nvSpPr>
          <p:cNvPr id="2" name="text-1">
            <a:extLst xmlns:a="http://schemas.openxmlformats.org/drawingml/2006/main">
              <a:ext uri="{FF2B5EF4-FFF2-40B4-BE49-F238E27FC236}">
                <a16:creationId xmlns:a16="http://schemas.microsoft.com/office/drawing/2014/main" id="{149A0E68-0CA6-4112-906E-7FA1F6CE4BC4}"/>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Real applications students can recognize</a:t>
            </a:r>
          </a:p>
        </p:txBody>
      </p:sp>
      <p:graphicFrame>
        <p:nvGraphicFramePr>
          <p:cNvPr id="3" name="">
            <a:extLst xmlns:a="http://schemas.openxmlformats.org/drawingml/2006/main">
              <a:ext uri="{FF2B5EF4-FFF2-40B4-BE49-F238E27FC236}">
                <a16:creationId xmlns:a16="http://schemas.microsoft.com/office/drawing/2014/main" id="{4EBB178F-6BE5-4D45-ACD6-17EAF7332D14}"/>
              </a:ext>
            </a:extLst>
          </p:cNvPr>
          <p:cNvGraphicFramePr/>
          <p:nvPr/>
        </p:nvGraphicFramePr>
        <p:xfrm>
          <a:off xmlns:a="http://schemas.openxmlformats.org/drawingml/2006/main" x="619125" y="2238375"/>
          <a:ext xmlns:a="http://schemas.openxmlformats.org/drawingml/2006/main" cx="10953750" cy="3762375"/>
        </p:xfrm>
        <a:graphic xmlns:a="http://schemas.openxmlformats.org/drawingml/2006/main">
          <a:graphicData uri="http://schemas.openxmlformats.org/drawingml/2006/table">
            <a:tbl>
              <a:tblPr/>
              <a:tblGrid>
                <a:gridCol w="4000500"/>
                <a:gridCol w="6953250"/>
              </a:tblGrid>
              <a:tr h="752475">
                <a:tc>
                  <a:txBody>
                    <a:bodyPr/>
                    <a:lstStyle/>
                    <a:p>
                      <a:r>
                        <a:rPr sz="2025" b="1">
                          <a:solidFill>
                            <a:srgbClr val="FFFFFF"/>
                          </a:solidFill>
                          <a:latin typeface="DejaVu Sans"/>
                          <a:ea typeface="DejaVu Sans"/>
                          <a:cs typeface="DejaVu Sans"/>
                        </a:rPr>
                        <a:t>Use case</a:t>
                      </a:r>
                    </a:p>
                  </a:txBody>
                  <a:tcPr marL="171450" marR="171450" marT="152400" marB="95250">
                    <a:lnL w="9525">
                      <a:solidFill>
                        <a:srgbClr val="D7E1DF"/>
                      </a:solidFill>
                      <a:prstDash val="solid"/>
                    </a:lnL>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c>
                  <a:txBody>
                    <a:bodyPr/>
                    <a:lstStyle/>
                    <a:p>
                      <a:r>
                        <a:rPr sz="2025" b="1">
                          <a:solidFill>
                            <a:srgbClr val="FFFFFF"/>
                          </a:solidFill>
                          <a:latin typeface="DejaVu Sans"/>
                          <a:ea typeface="DejaVu Sans"/>
                          <a:cs typeface="DejaVu Sans"/>
                        </a:rPr>
                        <a:t>What a person wants to find</a:t>
                      </a:r>
                    </a:p>
                  </a:txBody>
                  <a:tcPr marL="171450" marR="171450" marT="152400" marB="95250">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r>
              <a:tr h="752475">
                <a:tc>
                  <a:txBody>
                    <a:bodyPr/>
                    <a:lstStyle/>
                    <a:p>
                      <a:r>
                        <a:rPr sz="2025">
                          <a:solidFill>
                            <a:srgbClr val="182C43"/>
                          </a:solidFill>
                          <a:latin typeface="DejaVu Sans"/>
                          <a:ea typeface="DejaVu Sans"/>
                          <a:cs typeface="DejaVu Sans"/>
                        </a:rPr>
                        <a:t>Customer support</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Find a return policy from a customer question</a:t>
                      </a:r>
                    </a:p>
                  </a:txBody>
                  <a:tcPr marL="171450" marR="171450" marT="152400" marB="95250">
                    <a:lnR w="9525">
                      <a:solidFill>
                        <a:srgbClr val="D7E1DF"/>
                      </a:solidFill>
                      <a:prstDash val="solid"/>
                    </a:lnR>
                    <a:lnB w="9525">
                      <a:solidFill>
                        <a:srgbClr val="D7E1DF"/>
                      </a:solidFill>
                      <a:prstDash val="solid"/>
                    </a:lnB>
                    <a:solidFill>
                      <a:srgbClr val="FFFFFF"/>
                    </a:solidFill>
                  </a:tcPr>
                </a:tc>
              </a:tr>
              <a:tr h="752475">
                <a:tc>
                  <a:txBody>
                    <a:bodyPr/>
                    <a:lstStyle/>
                    <a:p>
                      <a:r>
                        <a:rPr sz="2025">
                          <a:solidFill>
                            <a:srgbClr val="182C43"/>
                          </a:solidFill>
                          <a:latin typeface="DejaVu Sans"/>
                          <a:ea typeface="DejaVu Sans"/>
                          <a:cs typeface="DejaVu Sans"/>
                        </a:rPr>
                        <a:t>College helpdesk</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Find the admission rule a student needs</a:t>
                      </a:r>
                    </a:p>
                  </a:txBody>
                  <a:tcPr marL="171450" marR="171450" marT="152400" marB="95250">
                    <a:lnR w="9525">
                      <a:solidFill>
                        <a:srgbClr val="D7E1DF"/>
                      </a:solidFill>
                      <a:prstDash val="solid"/>
                    </a:lnR>
                    <a:lnB w="9525">
                      <a:solidFill>
                        <a:srgbClr val="D7E1DF"/>
                      </a:solidFill>
                      <a:prstDash val="solid"/>
                    </a:lnB>
                    <a:solidFill>
                      <a:srgbClr val="FFFFFF"/>
                    </a:solidFill>
                  </a:tcPr>
                </a:tc>
              </a:tr>
              <a:tr h="752475">
                <a:tc>
                  <a:txBody>
                    <a:bodyPr/>
                    <a:lstStyle/>
                    <a:p>
                      <a:r>
                        <a:rPr sz="2025">
                          <a:solidFill>
                            <a:srgbClr val="182C43"/>
                          </a:solidFill>
                          <a:latin typeface="DejaVu Sans"/>
                          <a:ea typeface="DejaVu Sans"/>
                          <a:cs typeface="DejaVu Sans"/>
                        </a:rPr>
                        <a:t>Company knowledge</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Find a relevant passage in internal documents</a:t>
                      </a:r>
                    </a:p>
                  </a:txBody>
                  <a:tcPr marL="171450" marR="171450" marT="152400" marB="95250">
                    <a:lnR w="9525">
                      <a:solidFill>
                        <a:srgbClr val="D7E1DF"/>
                      </a:solidFill>
                      <a:prstDash val="solid"/>
                    </a:lnR>
                    <a:lnB w="9525">
                      <a:solidFill>
                        <a:srgbClr val="D7E1DF"/>
                      </a:solidFill>
                      <a:prstDash val="solid"/>
                    </a:lnB>
                    <a:solidFill>
                      <a:srgbClr val="FFFFFF"/>
                    </a:solidFill>
                  </a:tcPr>
                </a:tc>
              </a:tr>
              <a:tr h="752475">
                <a:tc>
                  <a:txBody>
                    <a:bodyPr/>
                    <a:lstStyle/>
                    <a:p>
                      <a:r>
                        <a:rPr sz="2025">
                          <a:solidFill>
                            <a:srgbClr val="182C43"/>
                          </a:solidFill>
                          <a:latin typeface="DejaVu Sans"/>
                          <a:ea typeface="DejaVu Sans"/>
                          <a:cs typeface="DejaVu Sans"/>
                        </a:rPr>
                        <a:t>Product discovery</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Find products described in natural language</a:t>
                      </a:r>
                    </a:p>
                  </a:txBody>
                  <a:tcPr marL="171450" marR="171450" marT="152400" marB="95250">
                    <a:lnR w="9525">
                      <a:solidFill>
                        <a:srgbClr val="D7E1DF"/>
                      </a:solidFill>
                      <a:prstDash val="solid"/>
                    </a:lnR>
                    <a:lnB w="9525">
                      <a:solidFill>
                        <a:srgbClr val="D7E1DF"/>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EBAA07B8-CA6E-4BDD-8B13-3EED2854F50A}"/>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5" name="text-3">
            <a:extLst xmlns:a="http://schemas.openxmlformats.org/drawingml/2006/main">
              <a:ext uri="{FF2B5EF4-FFF2-40B4-BE49-F238E27FC236}">
                <a16:creationId xmlns:a16="http://schemas.microsoft.com/office/drawing/2014/main" id="{3FA50A5D-A2AE-43E3-87B6-F2E09BC6EC47}"/>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22</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49015099"/>
      </p:ext>
    </p:extLst>
  </p:cSld>
</p:sld>
</file>

<file path=ppt/slides/slide2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09BB915-E5AE-44CC-AD5A-1DC46FFB9617}"/>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An online shop example</a:t>
            </a:r>
          </a:p>
        </p:txBody>
      </p:sp>
      <p:sp>
        <p:nvSpPr>
          <p:cNvPr id="2" name="text-1">
            <a:extLst xmlns:a="http://schemas.openxmlformats.org/drawingml/2006/main">
              <a:ext uri="{FF2B5EF4-FFF2-40B4-BE49-F238E27FC236}">
                <a16:creationId xmlns:a16="http://schemas.microsoft.com/office/drawing/2014/main" id="{F6B060F4-5ABB-4C95-A6CA-6D04063B5E75}"/>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A practical use beyond the parcel company</a:t>
            </a:r>
          </a:p>
        </p:txBody>
      </p:sp>
      <p:sp>
        <p:nvSpPr>
          <p:cNvPr id="3" name="text-2">
            <a:extLst xmlns:a="http://schemas.openxmlformats.org/drawingml/2006/main">
              <a:ext uri="{FF2B5EF4-FFF2-40B4-BE49-F238E27FC236}">
                <a16:creationId xmlns:a16="http://schemas.microsoft.com/office/drawing/2014/main" id="{B4C33DF3-5F40-4FD4-A3EF-1530A1830892}"/>
              </a:ext>
            </a:extLst>
          </p:cNvPr>
          <p:cNvSpPr>
            <a:spLocks xmlns:a="http://schemas.openxmlformats.org/drawingml/2006/main" noGrp="1"/>
          </p:cNvSpPr>
          <p:nvPr/>
        </p:nvSpPr>
        <p:spPr>
          <a:xfrm xmlns:a="http://schemas.openxmlformats.org/drawingml/2006/main">
            <a:off x="666750" y="22955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87E84"/>
                </a:solidFill>
                <a:latin typeface="DejaVu Sans"/>
                <a:ea typeface="DejaVu Sans"/>
                <a:cs typeface="DejaVu Sans"/>
              </a:defRPr>
            </a:defPPr>
          </a:lstStyle>
          <a:p xmlns:a="http://schemas.openxmlformats.org/drawingml/2006/main">
            <a:pPr>
              <a:buNone/>
              <a:defRPr sz="1500" b="1">
                <a:solidFill>
                  <a:srgbClr val="087E84"/>
                </a:solidFill>
                <a:latin typeface="DejaVu Sans"/>
                <a:ea typeface="DejaVu Sans"/>
                <a:cs typeface="DejaVu Sans"/>
              </a:defRPr>
            </a:pPr>
            <a:r>
              <a:rPr sz="1500" b="1">
                <a:solidFill>
                  <a:srgbClr val="087E84"/>
                </a:solidFill>
                <a:latin typeface="DejaVu Sans"/>
                <a:ea typeface="DejaVu Sans"/>
                <a:cs typeface="DejaVu Sans"/>
              </a:rPr>
              <a:t>CUSTOMER</a:t>
            </a:r>
          </a:p>
        </p:txBody>
      </p:sp>
      <p:sp>
        <p:nvSpPr>
          <p:cNvPr id="4" name="text-3">
            <a:extLst xmlns:a="http://schemas.openxmlformats.org/drawingml/2006/main">
              <a:ext uri="{FF2B5EF4-FFF2-40B4-BE49-F238E27FC236}">
                <a16:creationId xmlns:a16="http://schemas.microsoft.com/office/drawing/2014/main" id="{CB59A7B9-06E3-4057-8D4B-9D4BEB80B8BB}"/>
              </a:ext>
            </a:extLst>
          </p:cNvPr>
          <p:cNvSpPr>
            <a:spLocks xmlns:a="http://schemas.openxmlformats.org/drawingml/2006/main" noGrp="1"/>
          </p:cNvSpPr>
          <p:nvPr/>
        </p:nvSpPr>
        <p:spPr>
          <a:xfrm xmlns:a="http://schemas.openxmlformats.org/drawingml/2006/main">
            <a:off x="666750" y="2781300"/>
            <a:ext cx="10668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925" b="1">
                <a:solidFill>
                  <a:srgbClr val="182C43"/>
                </a:solidFill>
                <a:latin typeface="DejaVu Sans"/>
                <a:ea typeface="DejaVu Sans"/>
                <a:cs typeface="DejaVu Sans"/>
              </a:defRPr>
            </a:defPPr>
          </a:lstStyle>
          <a:p xmlns:a="http://schemas.openxmlformats.org/drawingml/2006/main">
            <a:pPr>
              <a:buNone/>
              <a:defRPr sz="2925" b="1">
                <a:solidFill>
                  <a:srgbClr val="182C43"/>
                </a:solidFill>
                <a:latin typeface="DejaVu Sans"/>
                <a:ea typeface="DejaVu Sans"/>
                <a:cs typeface="DejaVu Sans"/>
              </a:defRPr>
            </a:pPr>
            <a:r>
              <a:rPr sz="2925" b="1">
                <a:solidFill>
                  <a:srgbClr val="182C43"/>
                </a:solidFill>
                <a:latin typeface="DejaVu Sans"/>
                <a:ea typeface="DejaVu Sans"/>
                <a:cs typeface="DejaVu Sans"/>
              </a:rPr>
              <a:t>“The shirt is too small. Can I exchange it?”</a:t>
            </a:r>
          </a:p>
        </p:txBody>
      </p:sp>
      <p:sp>
        <p:nvSpPr>
          <p:cNvPr id="5" name="text-4">
            <a:extLst xmlns:a="http://schemas.openxmlformats.org/drawingml/2006/main">
              <a:ext uri="{FF2B5EF4-FFF2-40B4-BE49-F238E27FC236}">
                <a16:creationId xmlns:a16="http://schemas.microsoft.com/office/drawing/2014/main" id="{03C1EA98-EF68-4A9E-AEC4-8071792DE1A1}"/>
              </a:ext>
            </a:extLst>
          </p:cNvPr>
          <p:cNvSpPr>
            <a:spLocks xmlns:a="http://schemas.openxmlformats.org/drawingml/2006/main" noGrp="1"/>
          </p:cNvSpPr>
          <p:nvPr/>
        </p:nvSpPr>
        <p:spPr>
          <a:xfrm xmlns:a="http://schemas.openxmlformats.org/drawingml/2006/main">
            <a:off x="666750" y="4362450"/>
            <a:ext cx="1057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96B79"/>
                </a:solidFill>
                <a:latin typeface="DejaVu Sans"/>
                <a:ea typeface="DejaVu Sans"/>
                <a:cs typeface="DejaVu Sans"/>
              </a:defRPr>
            </a:defPPr>
          </a:lstStyle>
          <a:p xmlns:a="http://schemas.openxmlformats.org/drawingml/2006/main">
            <a:pPr>
              <a:buNone/>
              <a:defRPr sz="1725" b="0">
                <a:solidFill>
                  <a:srgbClr val="596B79"/>
                </a:solidFill>
                <a:latin typeface="DejaVu Sans"/>
                <a:ea typeface="DejaVu Sans"/>
                <a:cs typeface="DejaVu Sans"/>
              </a:defRPr>
            </a:pPr>
            <a:r>
              <a:rPr sz="1725" b="0">
                <a:solidFill>
                  <a:srgbClr val="596B79"/>
                </a:solidFill>
                <a:latin typeface="DejaVu Sans"/>
                <a:ea typeface="DejaVu Sans"/>
                <a:cs typeface="DejaVu Sans"/>
              </a:rPr>
              <a:t>Illustrative shop policy, stored by the business</a:t>
            </a:r>
          </a:p>
        </p:txBody>
      </p:sp>
      <p:sp>
        <p:nvSpPr>
          <p:cNvPr id="6" name="text-5">
            <a:extLst xmlns:a="http://schemas.openxmlformats.org/drawingml/2006/main">
              <a:ext uri="{FF2B5EF4-FFF2-40B4-BE49-F238E27FC236}">
                <a16:creationId xmlns:a16="http://schemas.microsoft.com/office/drawing/2014/main" id="{103C02FA-E70D-4A0C-8F83-2610DCBE7F52}"/>
              </a:ext>
            </a:extLst>
          </p:cNvPr>
          <p:cNvSpPr>
            <a:spLocks xmlns:a="http://schemas.openxmlformats.org/drawingml/2006/main" noGrp="1"/>
          </p:cNvSpPr>
          <p:nvPr/>
        </p:nvSpPr>
        <p:spPr>
          <a:xfrm xmlns:a="http://schemas.openxmlformats.org/drawingml/2006/main">
            <a:off x="666750" y="4924425"/>
            <a:ext cx="10668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87E84"/>
                </a:solidFill>
                <a:latin typeface="DejaVu Sans"/>
                <a:ea typeface="DejaVu Sans"/>
                <a:cs typeface="DejaVu Sans"/>
              </a:defRPr>
            </a:defPPr>
          </a:lstStyle>
          <a:p xmlns:a="http://schemas.openxmlformats.org/drawingml/2006/main">
            <a:pPr>
              <a:buNone/>
              <a:defRPr sz="2400" b="1">
                <a:solidFill>
                  <a:srgbClr val="087E84"/>
                </a:solidFill>
                <a:latin typeface="DejaVu Sans"/>
                <a:ea typeface="DejaVu Sans"/>
                <a:cs typeface="DejaVu Sans"/>
              </a:defRPr>
            </a:pPr>
            <a:r>
              <a:rPr sz="2400" b="1">
                <a:solidFill>
                  <a:srgbClr val="087E84"/>
                </a:solidFill>
                <a:latin typeface="DejaVu Sans"/>
                <a:ea typeface="DejaVu Sans"/>
                <a:cs typeface="DejaVu Sans"/>
              </a:rPr>
              <a:t>Unused clothing can be exchanged within the shop’s stated exchange period.</a:t>
            </a:r>
          </a:p>
        </p:txBody>
      </p:sp>
      <p:sp>
        <p:nvSpPr>
          <p:cNvPr id="7" name="text-6">
            <a:extLst xmlns:a="http://schemas.openxmlformats.org/drawingml/2006/main">
              <a:ext uri="{FF2B5EF4-FFF2-40B4-BE49-F238E27FC236}">
                <a16:creationId xmlns:a16="http://schemas.microsoft.com/office/drawing/2014/main" id="{7C69DE10-C89F-4689-B45E-AC00C958F94A}"/>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8" name="text-7">
            <a:extLst xmlns:a="http://schemas.openxmlformats.org/drawingml/2006/main">
              <a:ext uri="{FF2B5EF4-FFF2-40B4-BE49-F238E27FC236}">
                <a16:creationId xmlns:a16="http://schemas.microsoft.com/office/drawing/2014/main" id="{29A136FE-40B1-4DA5-9DCE-1B1935D09AAF}"/>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23</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933268861"/>
      </p:ext>
    </p:extLst>
  </p:cSld>
</p:sld>
</file>

<file path=ppt/slides/slide2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C6FDEFB-70C1-400A-A8FB-EE6DC8C3E3F2}"/>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Some commonly used options</a:t>
            </a:r>
          </a:p>
        </p:txBody>
      </p:sp>
      <p:sp>
        <p:nvSpPr>
          <p:cNvPr id="2" name="text-1">
            <a:extLst xmlns:a="http://schemas.openxmlformats.org/drawingml/2006/main">
              <a:ext uri="{FF2B5EF4-FFF2-40B4-BE49-F238E27FC236}">
                <a16:creationId xmlns:a16="http://schemas.microsoft.com/office/drawing/2014/main" id="{4BEFEC00-6FB6-4503-9574-6FED28173E2A}"/>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Recognize the names. Learn one tool today.</a:t>
            </a:r>
          </a:p>
        </p:txBody>
      </p:sp>
      <p:graphicFrame>
        <p:nvGraphicFramePr>
          <p:cNvPr id="3" name="">
            <a:extLst xmlns:a="http://schemas.openxmlformats.org/drawingml/2006/main">
              <a:ext uri="{FF2B5EF4-FFF2-40B4-BE49-F238E27FC236}">
                <a16:creationId xmlns:a16="http://schemas.microsoft.com/office/drawing/2014/main" id="{C8684AA9-412F-464C-857D-C19C1C5F3630}"/>
              </a:ext>
            </a:extLst>
          </p:cNvPr>
          <p:cNvGraphicFramePr/>
          <p:nvPr/>
        </p:nvGraphicFramePr>
        <p:xfrm>
          <a:off xmlns:a="http://schemas.openxmlformats.org/drawingml/2006/main" x="619125" y="2238375"/>
          <a:ext xmlns:a="http://schemas.openxmlformats.org/drawingml/2006/main" cx="10953750" cy="3762375"/>
        </p:xfrm>
        <a:graphic xmlns:a="http://schemas.openxmlformats.org/drawingml/2006/main">
          <a:graphicData uri="http://schemas.openxmlformats.org/drawingml/2006/table">
            <a:tbl>
              <a:tblPr/>
              <a:tblGrid>
                <a:gridCol w="4000500"/>
                <a:gridCol w="6953250"/>
              </a:tblGrid>
              <a:tr h="752475">
                <a:tc>
                  <a:txBody>
                    <a:bodyPr/>
                    <a:lstStyle/>
                    <a:p>
                      <a:r>
                        <a:rPr sz="2025" b="1">
                          <a:solidFill>
                            <a:srgbClr val="FFFFFF"/>
                          </a:solidFill>
                          <a:latin typeface="DejaVu Sans"/>
                          <a:ea typeface="DejaVu Sans"/>
                          <a:cs typeface="DejaVu Sans"/>
                        </a:rPr>
                        <a:t>Vector database</a:t>
                      </a:r>
                    </a:p>
                  </a:txBody>
                  <a:tcPr marL="171450" marR="171450" marT="152400" marB="95250">
                    <a:lnL w="9525">
                      <a:solidFill>
                        <a:srgbClr val="D7E1DF"/>
                      </a:solidFill>
                      <a:prstDash val="solid"/>
                    </a:lnL>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c>
                  <a:txBody>
                    <a:bodyPr/>
                    <a:lstStyle/>
                    <a:p>
                      <a:r>
                        <a:rPr sz="2025" b="1">
                          <a:solidFill>
                            <a:srgbClr val="FFFFFF"/>
                          </a:solidFill>
                          <a:latin typeface="DejaVu Sans"/>
                          <a:ea typeface="DejaVu Sans"/>
                          <a:cs typeface="DejaVu Sans"/>
                        </a:rPr>
                        <a:t>A simple way to recognize it</a:t>
                      </a:r>
                    </a:p>
                  </a:txBody>
                  <a:tcPr marL="171450" marR="171450" marT="152400" marB="95250">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r>
              <a:tr h="752475">
                <a:tc>
                  <a:txBody>
                    <a:bodyPr/>
                    <a:lstStyle/>
                    <a:p>
                      <a:r>
                        <a:rPr sz="2025">
                          <a:solidFill>
                            <a:srgbClr val="182C43"/>
                          </a:solidFill>
                          <a:latin typeface="DejaVu Sans"/>
                          <a:ea typeface="DejaVu Sans"/>
                          <a:cs typeface="DejaVu Sans"/>
                        </a:rPr>
                        <a:t>Chroma</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Local development and hosted options</a:t>
                      </a:r>
                    </a:p>
                  </a:txBody>
                  <a:tcPr marL="171450" marR="171450" marT="152400" marB="95250">
                    <a:lnR w="9525">
                      <a:solidFill>
                        <a:srgbClr val="D7E1DF"/>
                      </a:solidFill>
                      <a:prstDash val="solid"/>
                    </a:lnR>
                    <a:lnB w="9525">
                      <a:solidFill>
                        <a:srgbClr val="D7E1DF"/>
                      </a:solidFill>
                      <a:prstDash val="solid"/>
                    </a:lnB>
                    <a:solidFill>
                      <a:srgbClr val="FFFFFF"/>
                    </a:solidFill>
                  </a:tcPr>
                </a:tc>
              </a:tr>
              <a:tr h="752475">
                <a:tc>
                  <a:txBody>
                    <a:bodyPr/>
                    <a:lstStyle/>
                    <a:p>
                      <a:r>
                        <a:rPr sz="2025">
                          <a:solidFill>
                            <a:srgbClr val="182C43"/>
                          </a:solidFill>
                          <a:latin typeface="DejaVu Sans"/>
                          <a:ea typeface="DejaVu Sans"/>
                          <a:cs typeface="DejaVu Sans"/>
                        </a:rPr>
                        <a:t>Pinecone</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A managed vector database service</a:t>
                      </a:r>
                    </a:p>
                  </a:txBody>
                  <a:tcPr marL="171450" marR="171450" marT="152400" marB="95250">
                    <a:lnR w="9525">
                      <a:solidFill>
                        <a:srgbClr val="D7E1DF"/>
                      </a:solidFill>
                      <a:prstDash val="solid"/>
                    </a:lnR>
                    <a:lnB w="9525">
                      <a:solidFill>
                        <a:srgbClr val="D7E1DF"/>
                      </a:solidFill>
                      <a:prstDash val="solid"/>
                    </a:lnB>
                    <a:solidFill>
                      <a:srgbClr val="FFFFFF"/>
                    </a:solidFill>
                  </a:tcPr>
                </a:tc>
              </a:tr>
              <a:tr h="752475">
                <a:tc>
                  <a:txBody>
                    <a:bodyPr/>
                    <a:lstStyle/>
                    <a:p>
                      <a:r>
                        <a:rPr sz="2025">
                          <a:solidFill>
                            <a:srgbClr val="182C43"/>
                          </a:solidFill>
                          <a:latin typeface="DejaVu Sans"/>
                          <a:ea typeface="DejaVu Sans"/>
                          <a:cs typeface="DejaVu Sans"/>
                        </a:rPr>
                        <a:t>Qdrant</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Open-source and managed options</a:t>
                      </a:r>
                    </a:p>
                  </a:txBody>
                  <a:tcPr marL="171450" marR="171450" marT="152400" marB="95250">
                    <a:lnR w="9525">
                      <a:solidFill>
                        <a:srgbClr val="D7E1DF"/>
                      </a:solidFill>
                      <a:prstDash val="solid"/>
                    </a:lnR>
                    <a:lnB w="9525">
                      <a:solidFill>
                        <a:srgbClr val="D7E1DF"/>
                      </a:solidFill>
                      <a:prstDash val="solid"/>
                    </a:lnB>
                    <a:solidFill>
                      <a:srgbClr val="FFFFFF"/>
                    </a:solidFill>
                  </a:tcPr>
                </a:tc>
              </a:tr>
              <a:tr h="752475">
                <a:tc>
                  <a:txBody>
                    <a:bodyPr/>
                    <a:lstStyle/>
                    <a:p>
                      <a:r>
                        <a:rPr sz="2025">
                          <a:solidFill>
                            <a:srgbClr val="182C43"/>
                          </a:solidFill>
                          <a:latin typeface="DejaVu Sans"/>
                          <a:ea typeface="DejaVu Sans"/>
                          <a:cs typeface="DejaVu Sans"/>
                        </a:rPr>
                        <a:t>Weaviate</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Open-source and managed options</a:t>
                      </a:r>
                    </a:p>
                  </a:txBody>
                  <a:tcPr marL="171450" marR="171450" marT="152400" marB="95250">
                    <a:lnR w="9525">
                      <a:solidFill>
                        <a:srgbClr val="D7E1DF"/>
                      </a:solidFill>
                      <a:prstDash val="solid"/>
                    </a:lnR>
                    <a:lnB w="9525">
                      <a:solidFill>
                        <a:srgbClr val="D7E1DF"/>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0DAAF4F7-038A-4AC3-9ED5-1DF5FA048578}"/>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5" name="text-3">
            <a:extLst xmlns:a="http://schemas.openxmlformats.org/drawingml/2006/main">
              <a:ext uri="{FF2B5EF4-FFF2-40B4-BE49-F238E27FC236}">
                <a16:creationId xmlns:a16="http://schemas.microsoft.com/office/drawing/2014/main" id="{B22F0CC6-556A-4006-8081-01DA8E9C4731}"/>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24</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966540572"/>
      </p:ext>
    </p:extLst>
  </p:cSld>
</p:sld>
</file>

<file path=ppt/slides/slide2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D1E10081-0CB6-40F5-97AA-8ED5DBA528EF}"/>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Our demo: a saved parcel policy search</a:t>
            </a:r>
          </a:p>
        </p:txBody>
      </p:sp>
      <p:sp>
        <p:nvSpPr>
          <p:cNvPr id="2" name="text-1">
            <a:extLst xmlns:a="http://schemas.openxmlformats.org/drawingml/2006/main">
              <a:ext uri="{FF2B5EF4-FFF2-40B4-BE49-F238E27FC236}">
                <a16:creationId xmlns:a16="http://schemas.microsoft.com/office/drawing/2014/main" id="{FADDDA0B-90EE-466E-894E-CA6690BB8EDD}"/>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Python + LangChain + local Chroma</a:t>
            </a:r>
          </a:p>
        </p:txBody>
      </p:sp>
      <p:sp>
        <p:nvSpPr>
          <p:cNvPr id="3" name="text-2">
            <a:extLst xmlns:a="http://schemas.openxmlformats.org/drawingml/2006/main">
              <a:ext uri="{FF2B5EF4-FFF2-40B4-BE49-F238E27FC236}">
                <a16:creationId xmlns:a16="http://schemas.microsoft.com/office/drawing/2014/main" id="{405E504F-DBBD-4BFE-9744-70BD80A7123E}"/>
              </a:ext>
            </a:extLst>
          </p:cNvPr>
          <p:cNvSpPr>
            <a:spLocks xmlns:a="http://schemas.openxmlformats.org/drawingml/2006/main" noGrp="1"/>
          </p:cNvSpPr>
          <p:nvPr/>
        </p:nvSpPr>
        <p:spPr>
          <a:xfrm xmlns:a="http://schemas.openxmlformats.org/drawingml/2006/main">
            <a:off x="666750" y="2381250"/>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87E84"/>
                </a:solidFill>
                <a:latin typeface="DejaVu Sans"/>
                <a:ea typeface="DejaVu Sans"/>
                <a:cs typeface="DejaVu Sans"/>
              </a:defRPr>
            </a:defPPr>
          </a:lstStyle>
          <a:p xmlns:a="http://schemas.openxmlformats.org/drawingml/2006/main">
            <a:pPr>
              <a:buNone/>
              <a:defRPr sz="3150" b="1">
                <a:solidFill>
                  <a:srgbClr val="087E84"/>
                </a:solidFill>
                <a:latin typeface="DejaVu Sans"/>
                <a:ea typeface="DejaVu Sans"/>
                <a:cs typeface="DejaVu Sans"/>
              </a:defRPr>
            </a:pPr>
            <a:r>
              <a:rPr sz="3150" b="1">
                <a:solidFill>
                  <a:srgbClr val="087E84"/>
                </a:solidFill>
                <a:latin typeface="DejaVu Sans"/>
                <a:ea typeface="DejaVu Sans"/>
                <a:cs typeface="DejaVu Sans"/>
              </a:rPr>
              <a:t>01</a:t>
            </a:r>
          </a:p>
        </p:txBody>
      </p:sp>
      <p:sp>
        <p:nvSpPr>
          <p:cNvPr id="4" name="text-3">
            <a:extLst xmlns:a="http://schemas.openxmlformats.org/drawingml/2006/main">
              <a:ext uri="{FF2B5EF4-FFF2-40B4-BE49-F238E27FC236}">
                <a16:creationId xmlns:a16="http://schemas.microsoft.com/office/drawing/2014/main" id="{B6DEACC1-F381-44E1-978F-04194355C00D}"/>
              </a:ext>
            </a:extLst>
          </p:cNvPr>
          <p:cNvSpPr>
            <a:spLocks xmlns:a="http://schemas.openxmlformats.org/drawingml/2006/main" noGrp="1"/>
          </p:cNvSpPr>
          <p:nvPr/>
        </p:nvSpPr>
        <p:spPr>
          <a:xfrm xmlns:a="http://schemas.openxmlformats.org/drawingml/2006/main">
            <a:off x="2190750" y="2457450"/>
            <a:ext cx="895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82C43"/>
                </a:solidFill>
                <a:latin typeface="DejaVu Sans"/>
                <a:ea typeface="DejaVu Sans"/>
                <a:cs typeface="DejaVu Sans"/>
              </a:defRPr>
            </a:defPPr>
          </a:lstStyle>
          <a:p xmlns:a="http://schemas.openxmlformats.org/drawingml/2006/main">
            <a:pPr>
              <a:buNone/>
              <a:defRPr sz="2850" b="1">
                <a:solidFill>
                  <a:srgbClr val="182C43"/>
                </a:solidFill>
                <a:latin typeface="DejaVu Sans"/>
                <a:ea typeface="DejaVu Sans"/>
                <a:cs typeface="DejaVu Sans"/>
              </a:defRPr>
            </a:pPr>
            <a:r>
              <a:rPr sz="2850" b="1">
                <a:solidFill>
                  <a:srgbClr val="182C43"/>
                </a:solidFill>
                <a:latin typeface="DejaVu Sans"/>
                <a:ea typeface="DejaVu Sans"/>
                <a:cs typeface="DejaVu Sans"/>
              </a:rPr>
              <a:t>Same three policies</a:t>
            </a:r>
          </a:p>
        </p:txBody>
      </p:sp>
      <p:sp>
        <p:nvSpPr>
          <p:cNvPr id="5" name="text-4">
            <a:extLst xmlns:a="http://schemas.openxmlformats.org/drawingml/2006/main">
              <a:ext uri="{FF2B5EF4-FFF2-40B4-BE49-F238E27FC236}">
                <a16:creationId xmlns:a16="http://schemas.microsoft.com/office/drawing/2014/main" id="{D4581FE1-19E8-47C1-87F5-A66BAD5F74F5}"/>
              </a:ext>
            </a:extLst>
          </p:cNvPr>
          <p:cNvSpPr>
            <a:spLocks xmlns:a="http://schemas.openxmlformats.org/drawingml/2006/main" noGrp="1"/>
          </p:cNvSpPr>
          <p:nvPr/>
        </p:nvSpPr>
        <p:spPr>
          <a:xfrm xmlns:a="http://schemas.openxmlformats.org/drawingml/2006/main">
            <a:off x="666750" y="3476625"/>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87E84"/>
                </a:solidFill>
                <a:latin typeface="DejaVu Sans"/>
                <a:ea typeface="DejaVu Sans"/>
                <a:cs typeface="DejaVu Sans"/>
              </a:defRPr>
            </a:defPPr>
          </a:lstStyle>
          <a:p xmlns:a="http://schemas.openxmlformats.org/drawingml/2006/main">
            <a:pPr>
              <a:buNone/>
              <a:defRPr sz="3150" b="1">
                <a:solidFill>
                  <a:srgbClr val="087E84"/>
                </a:solidFill>
                <a:latin typeface="DejaVu Sans"/>
                <a:ea typeface="DejaVu Sans"/>
                <a:cs typeface="DejaVu Sans"/>
              </a:defRPr>
            </a:pPr>
            <a:r>
              <a:rPr sz="3150" b="1">
                <a:solidFill>
                  <a:srgbClr val="087E84"/>
                </a:solidFill>
                <a:latin typeface="DejaVu Sans"/>
                <a:ea typeface="DejaVu Sans"/>
                <a:cs typeface="DejaVu Sans"/>
              </a:rPr>
              <a:t>02</a:t>
            </a:r>
          </a:p>
        </p:txBody>
      </p:sp>
      <p:sp>
        <p:nvSpPr>
          <p:cNvPr id="6" name="text-5">
            <a:extLst xmlns:a="http://schemas.openxmlformats.org/drawingml/2006/main">
              <a:ext uri="{FF2B5EF4-FFF2-40B4-BE49-F238E27FC236}">
                <a16:creationId xmlns:a16="http://schemas.microsoft.com/office/drawing/2014/main" id="{142019E7-67C5-4446-B8F7-21A50C5CD5AD}"/>
              </a:ext>
            </a:extLst>
          </p:cNvPr>
          <p:cNvSpPr>
            <a:spLocks xmlns:a="http://schemas.openxmlformats.org/drawingml/2006/main" noGrp="1"/>
          </p:cNvSpPr>
          <p:nvPr/>
        </p:nvSpPr>
        <p:spPr>
          <a:xfrm xmlns:a="http://schemas.openxmlformats.org/drawingml/2006/main">
            <a:off x="2190750" y="3552825"/>
            <a:ext cx="895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82C43"/>
                </a:solidFill>
                <a:latin typeface="DejaVu Sans"/>
                <a:ea typeface="DejaVu Sans"/>
                <a:cs typeface="DejaVu Sans"/>
              </a:defRPr>
            </a:defPPr>
          </a:lstStyle>
          <a:p xmlns:a="http://schemas.openxmlformats.org/drawingml/2006/main">
            <a:pPr>
              <a:buNone/>
              <a:defRPr sz="2850" b="1">
                <a:solidFill>
                  <a:srgbClr val="182C43"/>
                </a:solidFill>
                <a:latin typeface="DejaVu Sans"/>
                <a:ea typeface="DejaVu Sans"/>
                <a:cs typeface="DejaVu Sans"/>
              </a:defRPr>
            </a:pPr>
            <a:r>
              <a:rPr sz="2850" b="1">
                <a:solidFill>
                  <a:srgbClr val="182C43"/>
                </a:solidFill>
                <a:latin typeface="DejaVu Sans"/>
                <a:ea typeface="DejaVu Sans"/>
                <a:cs typeface="DejaVu Sans"/>
              </a:rPr>
              <a:t>One question</a:t>
            </a:r>
          </a:p>
        </p:txBody>
      </p:sp>
      <p:sp>
        <p:nvSpPr>
          <p:cNvPr id="7" name="text-6">
            <a:extLst xmlns:a="http://schemas.openxmlformats.org/drawingml/2006/main">
              <a:ext uri="{FF2B5EF4-FFF2-40B4-BE49-F238E27FC236}">
                <a16:creationId xmlns:a16="http://schemas.microsoft.com/office/drawing/2014/main" id="{1053B5FE-C243-4E3C-BA2F-61AF7CE5EB8B}"/>
              </a:ext>
            </a:extLst>
          </p:cNvPr>
          <p:cNvSpPr>
            <a:spLocks xmlns:a="http://schemas.openxmlformats.org/drawingml/2006/main" noGrp="1"/>
          </p:cNvSpPr>
          <p:nvPr/>
        </p:nvSpPr>
        <p:spPr>
          <a:xfrm xmlns:a="http://schemas.openxmlformats.org/drawingml/2006/main">
            <a:off x="666750" y="4572000"/>
            <a:ext cx="104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87E84"/>
                </a:solidFill>
                <a:latin typeface="DejaVu Sans"/>
                <a:ea typeface="DejaVu Sans"/>
                <a:cs typeface="DejaVu Sans"/>
              </a:defRPr>
            </a:defPPr>
          </a:lstStyle>
          <a:p xmlns:a="http://schemas.openxmlformats.org/drawingml/2006/main">
            <a:pPr>
              <a:buNone/>
              <a:defRPr sz="3150" b="1">
                <a:solidFill>
                  <a:srgbClr val="087E84"/>
                </a:solidFill>
                <a:latin typeface="DejaVu Sans"/>
                <a:ea typeface="DejaVu Sans"/>
                <a:cs typeface="DejaVu Sans"/>
              </a:defRPr>
            </a:pPr>
            <a:r>
              <a:rPr sz="3150" b="1">
                <a:solidFill>
                  <a:srgbClr val="087E84"/>
                </a:solidFill>
                <a:latin typeface="DejaVu Sans"/>
                <a:ea typeface="DejaVu Sans"/>
                <a:cs typeface="DejaVu Sans"/>
              </a:rPr>
              <a:t>03</a:t>
            </a:r>
          </a:p>
        </p:txBody>
      </p:sp>
      <p:sp>
        <p:nvSpPr>
          <p:cNvPr id="8" name="text-7">
            <a:extLst xmlns:a="http://schemas.openxmlformats.org/drawingml/2006/main">
              <a:ext uri="{FF2B5EF4-FFF2-40B4-BE49-F238E27FC236}">
                <a16:creationId xmlns:a16="http://schemas.microsoft.com/office/drawing/2014/main" id="{C98A26AB-F827-43D7-A2FA-816ECB2B4248}"/>
              </a:ext>
            </a:extLst>
          </p:cNvPr>
          <p:cNvSpPr>
            <a:spLocks xmlns:a="http://schemas.openxmlformats.org/drawingml/2006/main" noGrp="1"/>
          </p:cNvSpPr>
          <p:nvPr/>
        </p:nvSpPr>
        <p:spPr>
          <a:xfrm xmlns:a="http://schemas.openxmlformats.org/drawingml/2006/main">
            <a:off x="2190750" y="4648200"/>
            <a:ext cx="895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850" b="1">
                <a:solidFill>
                  <a:srgbClr val="182C43"/>
                </a:solidFill>
                <a:latin typeface="DejaVu Sans"/>
                <a:ea typeface="DejaVu Sans"/>
                <a:cs typeface="DejaVu Sans"/>
              </a:defRPr>
            </a:defPPr>
          </a:lstStyle>
          <a:p xmlns:a="http://schemas.openxmlformats.org/drawingml/2006/main">
            <a:pPr>
              <a:buNone/>
              <a:defRPr sz="2850" b="1">
                <a:solidFill>
                  <a:srgbClr val="182C43"/>
                </a:solidFill>
                <a:latin typeface="DejaVu Sans"/>
                <a:ea typeface="DejaVu Sans"/>
                <a:cs typeface="DejaVu Sans"/>
              </a:defRPr>
            </a:pPr>
            <a:r>
              <a:rPr sz="2850" b="1">
                <a:solidFill>
                  <a:srgbClr val="182C43"/>
                </a:solidFill>
                <a:latin typeface="DejaVu Sans"/>
                <a:ea typeface="DejaVu Sans"/>
                <a:cs typeface="DejaVu Sans"/>
              </a:rPr>
              <a:t>One saved matching policy</a:t>
            </a:r>
          </a:p>
        </p:txBody>
      </p:sp>
      <p:sp>
        <p:nvSpPr>
          <p:cNvPr id="9" name="text-8">
            <a:extLst xmlns:a="http://schemas.openxmlformats.org/drawingml/2006/main">
              <a:ext uri="{FF2B5EF4-FFF2-40B4-BE49-F238E27FC236}">
                <a16:creationId xmlns:a16="http://schemas.microsoft.com/office/drawing/2014/main" id="{12128804-139A-42D1-94D0-570EE834C949}"/>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0" name="text-9">
            <a:extLst xmlns:a="http://schemas.openxmlformats.org/drawingml/2006/main">
              <a:ext uri="{FF2B5EF4-FFF2-40B4-BE49-F238E27FC236}">
                <a16:creationId xmlns:a16="http://schemas.microsoft.com/office/drawing/2014/main" id="{A2568088-80AC-4F76-ABC7-7A8055F258E0}"/>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25</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792189912"/>
      </p:ext>
    </p:extLst>
  </p:cSld>
</p:sld>
</file>

<file path=ppt/slides/slide26.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216DC08-BA74-4F81-B9CF-8761EC5AA342}"/>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Demo step 1: install the packages</a:t>
            </a:r>
          </a:p>
        </p:txBody>
      </p:sp>
      <p:sp>
        <p:nvSpPr>
          <p:cNvPr id="2" name="text-1">
            <a:extLst xmlns:a="http://schemas.openxmlformats.org/drawingml/2006/main">
              <a:ext uri="{FF2B5EF4-FFF2-40B4-BE49-F238E27FC236}">
                <a16:creationId xmlns:a16="http://schemas.microsoft.com/office/drawing/2014/main" id="{29A48B4A-4DEF-40B9-9594-6FEB5A731926}"/>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Use the same Python environment as the notebook</a:t>
            </a:r>
          </a:p>
        </p:txBody>
      </p:sp>
      <p:sp>
        <p:nvSpPr>
          <p:cNvPr id="3" name="code-background">
            <a:extLst xmlns:a="http://schemas.openxmlformats.org/drawingml/2006/main">
              <a:ext uri="{FF2B5EF4-FFF2-40B4-BE49-F238E27FC236}">
                <a16:creationId xmlns:a16="http://schemas.microsoft.com/office/drawing/2014/main" id="{B4728D60-AFDF-4F00-AAB4-AB1F4AD0FB0A}"/>
              </a:ext>
            </a:extLst>
          </p:cNvPr>
          <p:cNvSpPr>
            <a:spLocks xmlns:a="http://schemas.openxmlformats.org/drawingml/2006/main" noGrp="1"/>
          </p:cNvSpPr>
          <p:nvPr/>
        </p:nvSpPr>
        <p:spPr>
          <a:xfrm xmlns:a="http://schemas.openxmlformats.org/drawingml/2006/main">
            <a:off x="619125" y="2209800"/>
            <a:ext cx="10953750" cy="3238500"/>
          </a:xfrm>
          <a:prstGeom xmlns:a="http://schemas.openxmlformats.org/drawingml/2006/main" prst="rect">
            <a:avLst/>
          </a:prstGeom>
          <a:solidFill xmlns:a="http://schemas.openxmlformats.org/drawingml/2006/main">
            <a:srgbClr val="182C43"/>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316A04CA-1698-4360-9075-92FF55537594}"/>
              </a:ext>
            </a:extLst>
          </p:cNvPr>
          <p:cNvSpPr>
            <a:spLocks xmlns:a="http://schemas.openxmlformats.org/drawingml/2006/main" noGrp="1"/>
          </p:cNvSpPr>
          <p:nvPr/>
        </p:nvSpPr>
        <p:spPr>
          <a:xfrm xmlns:a="http://schemas.openxmlformats.org/drawingml/2006/main">
            <a:off x="819150" y="2447925"/>
            <a:ext cx="105537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latin typeface="DejaVu Sans Mono"/>
                <a:ea typeface="DejaVu Sans Mono"/>
                <a:cs typeface="DejaVu Sans Mono"/>
              </a:defRPr>
            </a:defPPr>
          </a:lstStyle>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%pip install langchain-chroma langchain-google-genai</a:t>
            </a:r>
          </a:p>
        </p:txBody>
      </p:sp>
      <p:sp>
        <p:nvSpPr>
          <p:cNvPr id="5" name="text-4">
            <a:extLst xmlns:a="http://schemas.openxmlformats.org/drawingml/2006/main">
              <a:ext uri="{FF2B5EF4-FFF2-40B4-BE49-F238E27FC236}">
                <a16:creationId xmlns:a16="http://schemas.microsoft.com/office/drawing/2014/main" id="{EFA39963-DF3A-49E2-8EA8-7681C9472EC2}"/>
              </a:ext>
            </a:extLst>
          </p:cNvPr>
          <p:cNvSpPr>
            <a:spLocks xmlns:a="http://schemas.openxmlformats.org/drawingml/2006/main" noGrp="1"/>
          </p:cNvSpPr>
          <p:nvPr/>
        </p:nvSpPr>
        <p:spPr>
          <a:xfrm xmlns:a="http://schemas.openxmlformats.org/drawingml/2006/main">
            <a:off x="666750" y="5724525"/>
            <a:ext cx="10668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87E84"/>
                </a:solidFill>
                <a:latin typeface="DejaVu Sans"/>
                <a:ea typeface="DejaVu Sans"/>
                <a:cs typeface="DejaVu Sans"/>
              </a:defRPr>
            </a:defPPr>
          </a:lstStyle>
          <a:p xmlns:a="http://schemas.openxmlformats.org/drawingml/2006/main">
            <a:pPr>
              <a:buNone/>
              <a:defRPr sz="1950" b="1">
                <a:solidFill>
                  <a:srgbClr val="087E84"/>
                </a:solidFill>
                <a:latin typeface="DejaVu Sans"/>
                <a:ea typeface="DejaVu Sans"/>
                <a:cs typeface="DejaVu Sans"/>
              </a:defRPr>
            </a:pPr>
            <a:r>
              <a:rPr sz="1950" b="1">
                <a:solidFill>
                  <a:srgbClr val="087E84"/>
                </a:solidFill>
                <a:latin typeface="DejaVu Sans"/>
                <a:ea typeface="DejaVu Sans"/>
                <a:cs typeface="DejaVu Sans"/>
              </a:rPr>
              <a:t>In VS Code terminal, use python -m pip install instead of %pip.</a:t>
            </a:r>
          </a:p>
        </p:txBody>
      </p:sp>
      <p:sp>
        <p:nvSpPr>
          <p:cNvPr id="6" name="text-5">
            <a:extLst xmlns:a="http://schemas.openxmlformats.org/drawingml/2006/main">
              <a:ext uri="{FF2B5EF4-FFF2-40B4-BE49-F238E27FC236}">
                <a16:creationId xmlns:a16="http://schemas.microsoft.com/office/drawing/2014/main" id="{8CC91C13-BEDE-4AEC-BB2B-CFEBA4141C6D}"/>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7" name="text-6">
            <a:extLst xmlns:a="http://schemas.openxmlformats.org/drawingml/2006/main">
              <a:ext uri="{FF2B5EF4-FFF2-40B4-BE49-F238E27FC236}">
                <a16:creationId xmlns:a16="http://schemas.microsoft.com/office/drawing/2014/main" id="{38AEAD9E-C0D7-44E9-8D7E-031674B01D80}"/>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26</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352156062"/>
      </p:ext>
    </p:extLst>
  </p:cSld>
</p:sld>
</file>

<file path=ppt/slides/slide2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6814EA8-7FCC-45F9-9C95-BC327677F0B8}"/>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Demo step 2: prepare the embedding model</a:t>
            </a:r>
          </a:p>
        </p:txBody>
      </p:sp>
      <p:sp>
        <p:nvSpPr>
          <p:cNvPr id="2" name="text-1">
            <a:extLst xmlns:a="http://schemas.openxmlformats.org/drawingml/2006/main">
              <a:ext uri="{FF2B5EF4-FFF2-40B4-BE49-F238E27FC236}">
                <a16:creationId xmlns:a16="http://schemas.microsoft.com/office/drawing/2014/main" id="{6C672978-2FC4-4FAF-9EB8-48185C1FAFB2}"/>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The same provider and model as Module 5</a:t>
            </a:r>
          </a:p>
        </p:txBody>
      </p:sp>
      <p:sp>
        <p:nvSpPr>
          <p:cNvPr id="3" name="code-background">
            <a:extLst xmlns:a="http://schemas.openxmlformats.org/drawingml/2006/main">
              <a:ext uri="{FF2B5EF4-FFF2-40B4-BE49-F238E27FC236}">
                <a16:creationId xmlns:a16="http://schemas.microsoft.com/office/drawing/2014/main" id="{01B4E4CB-AC62-437B-B5FF-5E4DE6A41CC4}"/>
              </a:ext>
            </a:extLst>
          </p:cNvPr>
          <p:cNvSpPr>
            <a:spLocks xmlns:a="http://schemas.openxmlformats.org/drawingml/2006/main" noGrp="1"/>
          </p:cNvSpPr>
          <p:nvPr/>
        </p:nvSpPr>
        <p:spPr>
          <a:xfrm xmlns:a="http://schemas.openxmlformats.org/drawingml/2006/main">
            <a:off x="619125" y="2209800"/>
            <a:ext cx="10953750" cy="3238500"/>
          </a:xfrm>
          <a:prstGeom xmlns:a="http://schemas.openxmlformats.org/drawingml/2006/main" prst="rect">
            <a:avLst/>
          </a:prstGeom>
          <a:solidFill xmlns:a="http://schemas.openxmlformats.org/drawingml/2006/main">
            <a:srgbClr val="182C43"/>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3E7E2D39-B5AD-4DEE-B843-E4631BA9B4D7}"/>
              </a:ext>
            </a:extLst>
          </p:cNvPr>
          <p:cNvSpPr>
            <a:spLocks xmlns:a="http://schemas.openxmlformats.org/drawingml/2006/main" noGrp="1"/>
          </p:cNvSpPr>
          <p:nvPr/>
        </p:nvSpPr>
        <p:spPr>
          <a:xfrm xmlns:a="http://schemas.openxmlformats.org/drawingml/2006/main">
            <a:off x="819150" y="2447925"/>
            <a:ext cx="105537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latin typeface="DejaVu Sans Mono"/>
                <a:ea typeface="DejaVu Sans Mono"/>
                <a:cs typeface="DejaVu Sans Mono"/>
              </a:defRPr>
            </a:defPPr>
          </a:lstStyle>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from langchain_google_genai import (</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GoogleGenerativeAIEmbeddings</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a:t>
            </a:r>
          </a:p>
          <a:p xmlns:a="http://schemas.openxmlformats.org/drawingml/2006/main">
            <a:r>
              <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embeddings = GoogleGenerativeAIEmbeddings(</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model="gemini-embedding-001"</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a:t>
            </a:r>
          </a:p>
        </p:txBody>
      </p:sp>
      <p:sp>
        <p:nvSpPr>
          <p:cNvPr id="5" name="text-4">
            <a:extLst xmlns:a="http://schemas.openxmlformats.org/drawingml/2006/main">
              <a:ext uri="{FF2B5EF4-FFF2-40B4-BE49-F238E27FC236}">
                <a16:creationId xmlns:a16="http://schemas.microsoft.com/office/drawing/2014/main" id="{6661DDDF-3D3F-4C55-A9B4-B93DBA2A1F6A}"/>
              </a:ext>
            </a:extLst>
          </p:cNvPr>
          <p:cNvSpPr>
            <a:spLocks xmlns:a="http://schemas.openxmlformats.org/drawingml/2006/main" noGrp="1"/>
          </p:cNvSpPr>
          <p:nvPr/>
        </p:nvSpPr>
        <p:spPr>
          <a:xfrm xmlns:a="http://schemas.openxmlformats.org/drawingml/2006/main">
            <a:off x="666750" y="5724525"/>
            <a:ext cx="10668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87E84"/>
                </a:solidFill>
                <a:latin typeface="DejaVu Sans"/>
                <a:ea typeface="DejaVu Sans"/>
                <a:cs typeface="DejaVu Sans"/>
              </a:defRPr>
            </a:defPPr>
          </a:lstStyle>
          <a:p xmlns:a="http://schemas.openxmlformats.org/drawingml/2006/main">
            <a:pPr>
              <a:buNone/>
              <a:defRPr sz="1950" b="1">
                <a:solidFill>
                  <a:srgbClr val="087E84"/>
                </a:solidFill>
                <a:latin typeface="DejaVu Sans"/>
                <a:ea typeface="DejaVu Sans"/>
                <a:cs typeface="DejaVu Sans"/>
              </a:defRPr>
            </a:pPr>
            <a:r>
              <a:rPr sz="1950" b="1">
                <a:solidFill>
                  <a:srgbClr val="087E84"/>
                </a:solidFill>
                <a:latin typeface="DejaVu Sans"/>
                <a:ea typeface="DejaVu Sans"/>
                <a:cs typeface="DejaVu Sans"/>
              </a:rPr>
              <a:t>Enter your Google key privately before this cell.</a:t>
            </a:r>
          </a:p>
        </p:txBody>
      </p:sp>
      <p:sp>
        <p:nvSpPr>
          <p:cNvPr id="6" name="text-5">
            <a:extLst xmlns:a="http://schemas.openxmlformats.org/drawingml/2006/main">
              <a:ext uri="{FF2B5EF4-FFF2-40B4-BE49-F238E27FC236}">
                <a16:creationId xmlns:a16="http://schemas.microsoft.com/office/drawing/2014/main" id="{E34A003D-80CE-47C3-9E22-3A2328867FFE}"/>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7" name="text-6">
            <a:extLst xmlns:a="http://schemas.openxmlformats.org/drawingml/2006/main">
              <a:ext uri="{FF2B5EF4-FFF2-40B4-BE49-F238E27FC236}">
                <a16:creationId xmlns:a16="http://schemas.microsoft.com/office/drawing/2014/main" id="{D15CDDA7-3140-49BC-ADEE-CCA46C95E25A}"/>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27</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921644176"/>
      </p:ext>
    </p:extLst>
  </p:cSld>
</p:sld>
</file>

<file path=ppt/slides/slide28.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3C9CC810-9B93-414D-9714-FBCA07DBB8B8}"/>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Demo step 3: keep our three policies</a:t>
            </a:r>
          </a:p>
        </p:txBody>
      </p:sp>
      <p:sp>
        <p:nvSpPr>
          <p:cNvPr id="2" name="text-1">
            <a:extLst xmlns:a="http://schemas.openxmlformats.org/drawingml/2006/main">
              <a:ext uri="{FF2B5EF4-FFF2-40B4-BE49-F238E27FC236}">
                <a16:creationId xmlns:a16="http://schemas.microsoft.com/office/drawing/2014/main" id="{BF9A6229-32C5-4207-A8E8-1A65CB522C74}"/>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Each sentence is one short document</a:t>
            </a:r>
          </a:p>
        </p:txBody>
      </p:sp>
      <p:sp>
        <p:nvSpPr>
          <p:cNvPr id="3" name="code-background">
            <a:extLst xmlns:a="http://schemas.openxmlformats.org/drawingml/2006/main">
              <a:ext uri="{FF2B5EF4-FFF2-40B4-BE49-F238E27FC236}">
                <a16:creationId xmlns:a16="http://schemas.microsoft.com/office/drawing/2014/main" id="{1B18369E-C7A5-4712-95C8-ABA0A671FA70}"/>
              </a:ext>
            </a:extLst>
          </p:cNvPr>
          <p:cNvSpPr>
            <a:spLocks xmlns:a="http://schemas.openxmlformats.org/drawingml/2006/main" noGrp="1"/>
          </p:cNvSpPr>
          <p:nvPr/>
        </p:nvSpPr>
        <p:spPr>
          <a:xfrm xmlns:a="http://schemas.openxmlformats.org/drawingml/2006/main">
            <a:off x="619125" y="2209800"/>
            <a:ext cx="10953750" cy="3238500"/>
          </a:xfrm>
          <a:prstGeom xmlns:a="http://schemas.openxmlformats.org/drawingml/2006/main" prst="rect">
            <a:avLst/>
          </a:prstGeom>
          <a:solidFill xmlns:a="http://schemas.openxmlformats.org/drawingml/2006/main">
            <a:srgbClr val="182C43"/>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3814BADA-D00E-4684-BABC-D4086BDF796A}"/>
              </a:ext>
            </a:extLst>
          </p:cNvPr>
          <p:cNvSpPr>
            <a:spLocks xmlns:a="http://schemas.openxmlformats.org/drawingml/2006/main" noGrp="1"/>
          </p:cNvSpPr>
          <p:nvPr/>
        </p:nvSpPr>
        <p:spPr>
          <a:xfrm xmlns:a="http://schemas.openxmlformats.org/drawingml/2006/main">
            <a:off x="819150" y="2447925"/>
            <a:ext cx="105537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latin typeface="DejaVu Sans Mono"/>
                <a:ea typeface="DejaVu Sans Mono"/>
                <a:cs typeface="DejaVu Sans Mono"/>
              </a:defRPr>
            </a:defPPr>
          </a:lstStyle>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policies = [</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"Standard delivery takes 3 to 5 working days.",</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"Cash on delivery lets you pay when the parcel arrives.",</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"For a damaged parcel, contact support with photos.",</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a:t>
            </a:r>
          </a:p>
        </p:txBody>
      </p:sp>
      <p:sp>
        <p:nvSpPr>
          <p:cNvPr id="5" name="text-4">
            <a:extLst xmlns:a="http://schemas.openxmlformats.org/drawingml/2006/main">
              <a:ext uri="{FF2B5EF4-FFF2-40B4-BE49-F238E27FC236}">
                <a16:creationId xmlns:a16="http://schemas.microsoft.com/office/drawing/2014/main" id="{6CD64ECF-8B6C-45E1-9A4B-4F13BDD92620}"/>
              </a:ext>
            </a:extLst>
          </p:cNvPr>
          <p:cNvSpPr>
            <a:spLocks xmlns:a="http://schemas.openxmlformats.org/drawingml/2006/main" noGrp="1"/>
          </p:cNvSpPr>
          <p:nvPr/>
        </p:nvSpPr>
        <p:spPr>
          <a:xfrm xmlns:a="http://schemas.openxmlformats.org/drawingml/2006/main">
            <a:off x="666750" y="5724525"/>
            <a:ext cx="10668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87E84"/>
                </a:solidFill>
                <a:latin typeface="DejaVu Sans"/>
                <a:ea typeface="DejaVu Sans"/>
                <a:cs typeface="DejaVu Sans"/>
              </a:defRPr>
            </a:defPPr>
          </a:lstStyle>
          <a:p xmlns:a="http://schemas.openxmlformats.org/drawingml/2006/main">
            <a:pPr>
              <a:buNone/>
              <a:defRPr sz="1950" b="1">
                <a:solidFill>
                  <a:srgbClr val="087E84"/>
                </a:solidFill>
                <a:latin typeface="DejaVu Sans"/>
                <a:ea typeface="DejaVu Sans"/>
                <a:cs typeface="DejaVu Sans"/>
              </a:defRPr>
            </a:pPr>
            <a:r>
              <a:rPr sz="1950" b="1">
                <a:solidFill>
                  <a:srgbClr val="087E84"/>
                </a:solidFill>
                <a:latin typeface="DejaVu Sans"/>
                <a:ea typeface="DejaVu Sans"/>
                <a:cs typeface="DejaVu Sans"/>
              </a:rPr>
              <a:t>These are the exact sentences students searched in Module 5.</a:t>
            </a:r>
          </a:p>
        </p:txBody>
      </p:sp>
      <p:sp>
        <p:nvSpPr>
          <p:cNvPr id="6" name="text-5">
            <a:extLst xmlns:a="http://schemas.openxmlformats.org/drawingml/2006/main">
              <a:ext uri="{FF2B5EF4-FFF2-40B4-BE49-F238E27FC236}">
                <a16:creationId xmlns:a16="http://schemas.microsoft.com/office/drawing/2014/main" id="{BB75E390-8533-4513-9E51-11B0B106D2F3}"/>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7" name="text-6">
            <a:extLst xmlns:a="http://schemas.openxmlformats.org/drawingml/2006/main">
              <a:ext uri="{FF2B5EF4-FFF2-40B4-BE49-F238E27FC236}">
                <a16:creationId xmlns:a16="http://schemas.microsoft.com/office/drawing/2014/main" id="{FC456C75-B48E-4A0A-B2EE-1AFD91B1A957}"/>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28</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227262303"/>
      </p:ext>
    </p:extLst>
  </p:cSld>
</p:sld>
</file>

<file path=ppt/slides/slide29.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5E75C9AF-918D-41A6-8755-DC6D928427CC}"/>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Demo step 4: open the database</a:t>
            </a:r>
          </a:p>
        </p:txBody>
      </p:sp>
      <p:sp>
        <p:nvSpPr>
          <p:cNvPr id="2" name="text-1">
            <a:extLst xmlns:a="http://schemas.openxmlformats.org/drawingml/2006/main">
              <a:ext uri="{FF2B5EF4-FFF2-40B4-BE49-F238E27FC236}">
                <a16:creationId xmlns:a16="http://schemas.microsoft.com/office/drawing/2014/main" id="{BCC14034-4F9C-4140-82A8-856D160E31B9}"/>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A saved group of parcel policies</a:t>
            </a:r>
          </a:p>
        </p:txBody>
      </p:sp>
      <p:sp>
        <p:nvSpPr>
          <p:cNvPr id="3" name="code-background">
            <a:extLst xmlns:a="http://schemas.openxmlformats.org/drawingml/2006/main">
              <a:ext uri="{FF2B5EF4-FFF2-40B4-BE49-F238E27FC236}">
                <a16:creationId xmlns:a16="http://schemas.microsoft.com/office/drawing/2014/main" id="{F4910D48-BDFF-40E5-8A65-8D7561E385B4}"/>
              </a:ext>
            </a:extLst>
          </p:cNvPr>
          <p:cNvSpPr>
            <a:spLocks xmlns:a="http://schemas.openxmlformats.org/drawingml/2006/main" noGrp="1"/>
          </p:cNvSpPr>
          <p:nvPr/>
        </p:nvSpPr>
        <p:spPr>
          <a:xfrm xmlns:a="http://schemas.openxmlformats.org/drawingml/2006/main">
            <a:off x="619125" y="2209800"/>
            <a:ext cx="10953750" cy="3238500"/>
          </a:xfrm>
          <a:prstGeom xmlns:a="http://schemas.openxmlformats.org/drawingml/2006/main" prst="rect">
            <a:avLst/>
          </a:prstGeom>
          <a:solidFill xmlns:a="http://schemas.openxmlformats.org/drawingml/2006/main">
            <a:srgbClr val="182C43"/>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64826C11-7074-4707-A39A-F0C758183EA4}"/>
              </a:ext>
            </a:extLst>
          </p:cNvPr>
          <p:cNvSpPr>
            <a:spLocks xmlns:a="http://schemas.openxmlformats.org/drawingml/2006/main" noGrp="1"/>
          </p:cNvSpPr>
          <p:nvPr/>
        </p:nvSpPr>
        <p:spPr>
          <a:xfrm xmlns:a="http://schemas.openxmlformats.org/drawingml/2006/main">
            <a:off x="819150" y="2447925"/>
            <a:ext cx="105537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latin typeface="DejaVu Sans Mono"/>
                <a:ea typeface="DejaVu Sans Mono"/>
                <a:cs typeface="DejaVu Sans Mono"/>
              </a:defRPr>
            </a:defPPr>
          </a:lstStyle>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from langchain_chroma import Chroma</a:t>
            </a:r>
          </a:p>
          <a:p xmlns:a="http://schemas.openxmlformats.org/drawingml/2006/main">
            <a:r>
              <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db = Chroma(</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collection_name="parcel_easy_06",</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embedding_function=embeddings,</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persist_directory="./parcel_easy_db",</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collection_configuration={"hnsw": {"space": "cosine"}},</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a:t>
            </a:r>
          </a:p>
        </p:txBody>
      </p:sp>
      <p:sp>
        <p:nvSpPr>
          <p:cNvPr id="5" name="text-4">
            <a:extLst xmlns:a="http://schemas.openxmlformats.org/drawingml/2006/main">
              <a:ext uri="{FF2B5EF4-FFF2-40B4-BE49-F238E27FC236}">
                <a16:creationId xmlns:a16="http://schemas.microsoft.com/office/drawing/2014/main" id="{AAAAA2D8-B361-41A4-BE7F-2A63D3BCAFF8}"/>
              </a:ext>
            </a:extLst>
          </p:cNvPr>
          <p:cNvSpPr>
            <a:spLocks xmlns:a="http://schemas.openxmlformats.org/drawingml/2006/main" noGrp="1"/>
          </p:cNvSpPr>
          <p:nvPr/>
        </p:nvSpPr>
        <p:spPr>
          <a:xfrm xmlns:a="http://schemas.openxmlformats.org/drawingml/2006/main">
            <a:off x="666750" y="5724525"/>
            <a:ext cx="10668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87E84"/>
                </a:solidFill>
                <a:latin typeface="DejaVu Sans"/>
                <a:ea typeface="DejaVu Sans"/>
                <a:cs typeface="DejaVu Sans"/>
              </a:defRPr>
            </a:defPPr>
          </a:lstStyle>
          <a:p xmlns:a="http://schemas.openxmlformats.org/drawingml/2006/main">
            <a:pPr>
              <a:buNone/>
              <a:defRPr sz="1950" b="1">
                <a:solidFill>
                  <a:srgbClr val="087E84"/>
                </a:solidFill>
                <a:latin typeface="DejaVu Sans"/>
                <a:ea typeface="DejaVu Sans"/>
                <a:cs typeface="DejaVu Sans"/>
              </a:defRPr>
            </a:pPr>
            <a:r>
              <a:rPr sz="1950" b="1">
                <a:solidFill>
                  <a:srgbClr val="087E84"/>
                </a:solidFill>
                <a:latin typeface="DejaVu Sans"/>
                <a:ea typeface="DejaVu Sans"/>
                <a:cs typeface="DejaVu Sans"/>
              </a:rPr>
              <a:t>Give the collection a name. Choose a folder. Select cosine.</a:t>
            </a:r>
          </a:p>
        </p:txBody>
      </p:sp>
      <p:sp>
        <p:nvSpPr>
          <p:cNvPr id="6" name="text-5">
            <a:extLst xmlns:a="http://schemas.openxmlformats.org/drawingml/2006/main">
              <a:ext uri="{FF2B5EF4-FFF2-40B4-BE49-F238E27FC236}">
                <a16:creationId xmlns:a16="http://schemas.microsoft.com/office/drawing/2014/main" id="{C25D9921-DE3F-467B-BABD-7F2906774702}"/>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7" name="text-6">
            <a:extLst xmlns:a="http://schemas.openxmlformats.org/drawingml/2006/main">
              <a:ext uri="{FF2B5EF4-FFF2-40B4-BE49-F238E27FC236}">
                <a16:creationId xmlns:a16="http://schemas.microsoft.com/office/drawing/2014/main" id="{1F38347D-56AB-4714-8493-02F82D66BB8B}"/>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29</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613317181"/>
      </p:ext>
    </p:extLst>
  </p:cSld>
</p:sld>
</file>

<file path=ppt/slides/slide30.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B25BEE3-E1A0-4119-829E-4CC047B4709F}"/>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Demo step 5: save the policies</a:t>
            </a:r>
          </a:p>
        </p:txBody>
      </p:sp>
      <p:sp>
        <p:nvSpPr>
          <p:cNvPr id="2" name="text-1">
            <a:extLst xmlns:a="http://schemas.openxmlformats.org/drawingml/2006/main">
              <a:ext uri="{FF2B5EF4-FFF2-40B4-BE49-F238E27FC236}">
                <a16:creationId xmlns:a16="http://schemas.microsoft.com/office/drawing/2014/main" id="{C3629570-9BB5-400C-A4DE-41F8105095C0}"/>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LangChain asks the model for vectors, then Chroma saves them</a:t>
            </a:r>
          </a:p>
        </p:txBody>
      </p:sp>
      <p:sp>
        <p:nvSpPr>
          <p:cNvPr id="3" name="code-background">
            <a:extLst xmlns:a="http://schemas.openxmlformats.org/drawingml/2006/main">
              <a:ext uri="{FF2B5EF4-FFF2-40B4-BE49-F238E27FC236}">
                <a16:creationId xmlns:a16="http://schemas.microsoft.com/office/drawing/2014/main" id="{5C74BC5F-3536-4EC8-B646-439A7EFD0E3F}"/>
              </a:ext>
            </a:extLst>
          </p:cNvPr>
          <p:cNvSpPr>
            <a:spLocks xmlns:a="http://schemas.openxmlformats.org/drawingml/2006/main" noGrp="1"/>
          </p:cNvSpPr>
          <p:nvPr/>
        </p:nvSpPr>
        <p:spPr>
          <a:xfrm xmlns:a="http://schemas.openxmlformats.org/drawingml/2006/main">
            <a:off x="619125" y="2209800"/>
            <a:ext cx="10953750" cy="3238500"/>
          </a:xfrm>
          <a:prstGeom xmlns:a="http://schemas.openxmlformats.org/drawingml/2006/main" prst="rect">
            <a:avLst/>
          </a:prstGeom>
          <a:solidFill xmlns:a="http://schemas.openxmlformats.org/drawingml/2006/main">
            <a:srgbClr val="182C43"/>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2E62575C-0FC6-4804-8059-4604BE93F530}"/>
              </a:ext>
            </a:extLst>
          </p:cNvPr>
          <p:cNvSpPr>
            <a:spLocks xmlns:a="http://schemas.openxmlformats.org/drawingml/2006/main" noGrp="1"/>
          </p:cNvSpPr>
          <p:nvPr/>
        </p:nvSpPr>
        <p:spPr>
          <a:xfrm xmlns:a="http://schemas.openxmlformats.org/drawingml/2006/main">
            <a:off x="819150" y="2447925"/>
            <a:ext cx="105537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latin typeface="DejaVu Sans Mono"/>
                <a:ea typeface="DejaVu Sans Mono"/>
                <a:cs typeface="DejaVu Sans Mono"/>
              </a:defRPr>
            </a:defPPr>
          </a:lstStyle>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db.add_texts(</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texts=policies,</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ids=["P1", "P2", "P3"]</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a:t>
            </a:r>
          </a:p>
        </p:txBody>
      </p:sp>
      <p:sp>
        <p:nvSpPr>
          <p:cNvPr id="5" name="text-4">
            <a:extLst xmlns:a="http://schemas.openxmlformats.org/drawingml/2006/main">
              <a:ext uri="{FF2B5EF4-FFF2-40B4-BE49-F238E27FC236}">
                <a16:creationId xmlns:a16="http://schemas.microsoft.com/office/drawing/2014/main" id="{BC3C09A2-A2F6-402A-9AE6-40CA5A7C4418}"/>
              </a:ext>
            </a:extLst>
          </p:cNvPr>
          <p:cNvSpPr>
            <a:spLocks xmlns:a="http://schemas.openxmlformats.org/drawingml/2006/main" noGrp="1"/>
          </p:cNvSpPr>
          <p:nvPr/>
        </p:nvSpPr>
        <p:spPr>
          <a:xfrm xmlns:a="http://schemas.openxmlformats.org/drawingml/2006/main">
            <a:off x="666750" y="5724525"/>
            <a:ext cx="10668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87E84"/>
                </a:solidFill>
                <a:latin typeface="DejaVu Sans"/>
                <a:ea typeface="DejaVu Sans"/>
                <a:cs typeface="DejaVu Sans"/>
              </a:defRPr>
            </a:defPPr>
          </a:lstStyle>
          <a:p xmlns:a="http://schemas.openxmlformats.org/drawingml/2006/main">
            <a:pPr>
              <a:buNone/>
              <a:defRPr sz="1950" b="1">
                <a:solidFill>
                  <a:srgbClr val="087E84"/>
                </a:solidFill>
                <a:latin typeface="DejaVu Sans"/>
                <a:ea typeface="DejaVu Sans"/>
                <a:cs typeface="DejaVu Sans"/>
              </a:defRPr>
            </a:pPr>
            <a:r>
              <a:rPr sz="1950" b="1">
                <a:solidFill>
                  <a:srgbClr val="087E84"/>
                </a:solidFill>
                <a:latin typeface="DejaVu Sans"/>
                <a:ea typeface="DejaVu Sans"/>
                <a:cs typeface="DejaVu Sans"/>
              </a:rPr>
              <a:t>Run this when first saving the policies. The IDs identify the records.</a:t>
            </a:r>
          </a:p>
        </p:txBody>
      </p:sp>
      <p:sp>
        <p:nvSpPr>
          <p:cNvPr id="6" name="text-5">
            <a:extLst xmlns:a="http://schemas.openxmlformats.org/drawingml/2006/main">
              <a:ext uri="{FF2B5EF4-FFF2-40B4-BE49-F238E27FC236}">
                <a16:creationId xmlns:a16="http://schemas.microsoft.com/office/drawing/2014/main" id="{A8C49937-18D5-43FC-8124-3CCA9B8F3075}"/>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7" name="text-6">
            <a:extLst xmlns:a="http://schemas.openxmlformats.org/drawingml/2006/main">
              <a:ext uri="{FF2B5EF4-FFF2-40B4-BE49-F238E27FC236}">
                <a16:creationId xmlns:a16="http://schemas.microsoft.com/office/drawing/2014/main" id="{10D7DF55-9D81-408B-A893-B5942E2AB42D}"/>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30</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624778266"/>
      </p:ext>
    </p:extLst>
  </p:cSld>
</p:sld>
</file>

<file path=ppt/slides/slide3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DC7C96F-E4A0-4806-AE58-EE31FF157207}"/>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Demo step 6: ask a question</a:t>
            </a:r>
          </a:p>
        </p:txBody>
      </p:sp>
      <p:sp>
        <p:nvSpPr>
          <p:cNvPr id="2" name="text-1">
            <a:extLst xmlns:a="http://schemas.openxmlformats.org/drawingml/2006/main">
              <a:ext uri="{FF2B5EF4-FFF2-40B4-BE49-F238E27FC236}">
                <a16:creationId xmlns:a16="http://schemas.microsoft.com/office/drawing/2014/main" id="{4DDA2D81-82CA-46DB-B0E5-D927116B0EA5}"/>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k=1 asks for one candidate</a:t>
            </a:r>
          </a:p>
        </p:txBody>
      </p:sp>
      <p:sp>
        <p:nvSpPr>
          <p:cNvPr id="3" name="code-background">
            <a:extLst xmlns:a="http://schemas.openxmlformats.org/drawingml/2006/main">
              <a:ext uri="{FF2B5EF4-FFF2-40B4-BE49-F238E27FC236}">
                <a16:creationId xmlns:a16="http://schemas.microsoft.com/office/drawing/2014/main" id="{210AC939-E75A-4D06-B337-5A3121FA7947}"/>
              </a:ext>
            </a:extLst>
          </p:cNvPr>
          <p:cNvSpPr>
            <a:spLocks xmlns:a="http://schemas.openxmlformats.org/drawingml/2006/main" noGrp="1"/>
          </p:cNvSpPr>
          <p:nvPr/>
        </p:nvSpPr>
        <p:spPr>
          <a:xfrm xmlns:a="http://schemas.openxmlformats.org/drawingml/2006/main">
            <a:off x="619125" y="2209800"/>
            <a:ext cx="10953750" cy="3238500"/>
          </a:xfrm>
          <a:prstGeom xmlns:a="http://schemas.openxmlformats.org/drawingml/2006/main" prst="rect">
            <a:avLst/>
          </a:prstGeom>
          <a:solidFill xmlns:a="http://schemas.openxmlformats.org/drawingml/2006/main">
            <a:srgbClr val="182C43"/>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D6513A57-5321-46B0-BBCE-58724A868DCA}"/>
              </a:ext>
            </a:extLst>
          </p:cNvPr>
          <p:cNvSpPr>
            <a:spLocks xmlns:a="http://schemas.openxmlformats.org/drawingml/2006/main" noGrp="1"/>
          </p:cNvSpPr>
          <p:nvPr/>
        </p:nvSpPr>
        <p:spPr>
          <a:xfrm xmlns:a="http://schemas.openxmlformats.org/drawingml/2006/main">
            <a:off x="819150" y="2447925"/>
            <a:ext cx="105537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latin typeface="DejaVu Sans Mono"/>
                <a:ea typeface="DejaVu Sans Mono"/>
                <a:cs typeface="DejaVu Sans Mono"/>
              </a:defRPr>
            </a:defPPr>
          </a:lstStyle>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results = db.similarity_search(</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"Can I give cash to the rider?",</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k=1</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a:t>
            </a:r>
          </a:p>
          <a:p xmlns:a="http://schemas.openxmlformats.org/drawingml/2006/main">
            <a:r>
              <a:t/>
            </a:r>
          </a:p>
          <a:p xmlns:a="http://schemas.openxmlformats.org/drawingml/2006/main">
            <a:pPr>
              <a:buNone/>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print(results[0].page_content)</a:t>
            </a:r>
          </a:p>
        </p:txBody>
      </p:sp>
      <p:sp>
        <p:nvSpPr>
          <p:cNvPr id="5" name="text-4">
            <a:extLst xmlns:a="http://schemas.openxmlformats.org/drawingml/2006/main">
              <a:ext uri="{FF2B5EF4-FFF2-40B4-BE49-F238E27FC236}">
                <a16:creationId xmlns:a16="http://schemas.microsoft.com/office/drawing/2014/main" id="{C5E0C040-3861-4A8F-9935-F85BDF0EF6CC}"/>
              </a:ext>
            </a:extLst>
          </p:cNvPr>
          <p:cNvSpPr>
            <a:spLocks xmlns:a="http://schemas.openxmlformats.org/drawingml/2006/main" noGrp="1"/>
          </p:cNvSpPr>
          <p:nvPr/>
        </p:nvSpPr>
        <p:spPr>
          <a:xfrm xmlns:a="http://schemas.openxmlformats.org/drawingml/2006/main">
            <a:off x="666750" y="5724525"/>
            <a:ext cx="10668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87E84"/>
                </a:solidFill>
                <a:latin typeface="DejaVu Sans"/>
                <a:ea typeface="DejaVu Sans"/>
                <a:cs typeface="DejaVu Sans"/>
              </a:defRPr>
            </a:defPPr>
          </a:lstStyle>
          <a:p xmlns:a="http://schemas.openxmlformats.org/drawingml/2006/main">
            <a:pPr>
              <a:buNone/>
              <a:defRPr sz="1950" b="1">
                <a:solidFill>
                  <a:srgbClr val="087E84"/>
                </a:solidFill>
                <a:latin typeface="DejaVu Sans"/>
                <a:ea typeface="DejaVu Sans"/>
                <a:cs typeface="DejaVu Sans"/>
              </a:defRPr>
            </a:pPr>
            <a:r>
              <a:rPr sz="1950" b="1">
                <a:solidFill>
                  <a:srgbClr val="087E84"/>
                </a:solidFill>
                <a:latin typeface="DejaVu Sans"/>
                <a:ea typeface="DejaVu Sans"/>
                <a:cs typeface="DejaVu Sans"/>
              </a:rPr>
              <a:t>Expected relevant text: the saved cash-on-delivery policy.</a:t>
            </a:r>
          </a:p>
        </p:txBody>
      </p:sp>
      <p:sp>
        <p:nvSpPr>
          <p:cNvPr id="6" name="text-5">
            <a:extLst xmlns:a="http://schemas.openxmlformats.org/drawingml/2006/main">
              <a:ext uri="{FF2B5EF4-FFF2-40B4-BE49-F238E27FC236}">
                <a16:creationId xmlns:a16="http://schemas.microsoft.com/office/drawing/2014/main" id="{F5536AC5-E3E8-4F22-B8AE-3692E81D0934}"/>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7" name="text-6">
            <a:extLst xmlns:a="http://schemas.openxmlformats.org/drawingml/2006/main">
              <a:ext uri="{FF2B5EF4-FFF2-40B4-BE49-F238E27FC236}">
                <a16:creationId xmlns:a16="http://schemas.microsoft.com/office/drawing/2014/main" id="{C396E246-32A3-41E3-BF3F-AA2E08DAE009}"/>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31</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670838349"/>
      </p:ext>
    </p:extLst>
  </p:cSld>
</p:sld>
</file>

<file path=ppt/slides/slide3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BB811665-B341-47D0-8C8A-35844D6EC576}"/>
              </a:ext>
            </a:extLst>
          </p:cNvPr>
          <p:cNvCxnSpPr>
            <a:stCxn xmlns:a="http://schemas.openxmlformats.org/drawingml/2006/main" id="11" idx="3"/>
            <a:endCxn xmlns:a="http://schemas.openxmlformats.org/drawingml/2006/main" id="12" idx="1"/>
          </p:cNvCxnSpPr>
          <p:nvPr/>
        </p:nvCxnSpPr>
        <p:spPr>
          <a:xfrm xmlns:a="http://schemas.openxmlformats.org/drawingml/2006/main">
            <a:off x="7429500" y="5248275"/>
            <a:ext cx="104775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F057200C-5758-4749-9EA3-CF2E1EC246DF}"/>
              </a:ext>
            </a:extLst>
          </p:cNvPr>
          <p:cNvCxnSpPr>
            <a:stCxn xmlns:a="http://schemas.openxmlformats.org/drawingml/2006/main" id="10" idx="3"/>
            <a:endCxn xmlns:a="http://schemas.openxmlformats.org/drawingml/2006/main" id="11" idx="1"/>
          </p:cNvCxnSpPr>
          <p:nvPr/>
        </p:nvCxnSpPr>
        <p:spPr>
          <a:xfrm xmlns:a="http://schemas.openxmlformats.org/drawingml/2006/main">
            <a:off x="3524250" y="5248275"/>
            <a:ext cx="104775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D8AFEA40-4117-4593-8E27-26D87E9FC0F5}"/>
              </a:ext>
            </a:extLst>
          </p:cNvPr>
          <p:cNvCxnSpPr>
            <a:stCxn xmlns:a="http://schemas.openxmlformats.org/drawingml/2006/main" id="5" idx="3"/>
            <a:endCxn xmlns:a="http://schemas.openxmlformats.org/drawingml/2006/main" id="6" idx="1"/>
          </p:cNvCxnSpPr>
          <p:nvPr/>
        </p:nvCxnSpPr>
        <p:spPr>
          <a:xfrm xmlns:a="http://schemas.openxmlformats.org/drawingml/2006/main">
            <a:off x="7429500" y="3343275"/>
            <a:ext cx="104775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1508E6F4-D300-476D-9504-77C1DF6C81F1}"/>
              </a:ext>
            </a:extLst>
          </p:cNvPr>
          <p:cNvCxnSpPr>
            <a:stCxn xmlns:a="http://schemas.openxmlformats.org/drawingml/2006/main" id="4" idx="3"/>
            <a:endCxn xmlns:a="http://schemas.openxmlformats.org/drawingml/2006/main" id="5" idx="1"/>
          </p:cNvCxnSpPr>
          <p:nvPr/>
        </p:nvCxnSpPr>
        <p:spPr>
          <a:xfrm xmlns:a="http://schemas.openxmlformats.org/drawingml/2006/main">
            <a:off x="3524250" y="3343275"/>
            <a:ext cx="104775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17" name="text-0">
            <a:extLst xmlns:a="http://schemas.openxmlformats.org/drawingml/2006/main">
              <a:ext uri="{FF2B5EF4-FFF2-40B4-BE49-F238E27FC236}">
                <a16:creationId xmlns:a16="http://schemas.microsoft.com/office/drawing/2014/main" id="{9F7B575F-335A-4157-A98C-8F5CF6508739}"/>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What happened inside those two calls?</a:t>
            </a:r>
          </a:p>
        </p:txBody>
      </p:sp>
      <p:sp>
        <p:nvSpPr>
          <p:cNvPr id="2" name="text-1">
            <a:extLst xmlns:a="http://schemas.openxmlformats.org/drawingml/2006/main">
              <a:ext uri="{FF2B5EF4-FFF2-40B4-BE49-F238E27FC236}">
                <a16:creationId xmlns:a16="http://schemas.microsoft.com/office/drawing/2014/main" id="{AC273667-44CA-4DED-8AE7-C567C2AE82FC}"/>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The code is short because LangChain connects the steps</a:t>
            </a:r>
          </a:p>
        </p:txBody>
      </p:sp>
      <p:sp>
        <p:nvSpPr>
          <p:cNvPr id="3" name="text-2">
            <a:extLst xmlns:a="http://schemas.openxmlformats.org/drawingml/2006/main">
              <a:ext uri="{FF2B5EF4-FFF2-40B4-BE49-F238E27FC236}">
                <a16:creationId xmlns:a16="http://schemas.microsoft.com/office/drawing/2014/main" id="{A27FAC4A-EE0F-4B80-89A9-03282C33BA40}"/>
              </a:ext>
            </a:extLst>
          </p:cNvPr>
          <p:cNvSpPr>
            <a:spLocks xmlns:a="http://schemas.openxmlformats.org/drawingml/2006/main" noGrp="1"/>
          </p:cNvSpPr>
          <p:nvPr/>
        </p:nvSpPr>
        <p:spPr>
          <a:xfrm xmlns:a="http://schemas.openxmlformats.org/drawingml/2006/main">
            <a:off x="666750" y="2305050"/>
            <a:ext cx="1076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087E84"/>
                </a:solidFill>
                <a:latin typeface="DejaVu Sans Mono"/>
                <a:ea typeface="DejaVu Sans Mono"/>
                <a:cs typeface="DejaVu Sans Mono"/>
              </a:defRPr>
            </a:defPPr>
          </a:lstStyle>
          <a:p xmlns:a="http://schemas.openxmlformats.org/drawingml/2006/main">
            <a:pPr>
              <a:buNone/>
              <a:defRPr sz="2175" b="1">
                <a:solidFill>
                  <a:srgbClr val="087E84"/>
                </a:solidFill>
                <a:latin typeface="DejaVu Sans Mono"/>
                <a:ea typeface="DejaVu Sans Mono"/>
                <a:cs typeface="DejaVu Sans Mono"/>
              </a:defRPr>
            </a:pPr>
            <a:r>
              <a:rPr sz="2175" b="1">
                <a:solidFill>
                  <a:srgbClr val="087E84"/>
                </a:solidFill>
                <a:latin typeface="DejaVu Sans Mono"/>
                <a:ea typeface="DejaVu Sans Mono"/>
                <a:cs typeface="DejaVu Sans Mono"/>
              </a:rPr>
              <a:t>add_texts()</a:t>
            </a:r>
          </a:p>
        </p:txBody>
      </p:sp>
      <p:sp>
        <p:nvSpPr>
          <p:cNvPr id="4" name="diagram-3">
            <a:extLst xmlns:a="http://schemas.openxmlformats.org/drawingml/2006/main">
              <a:ext uri="{FF2B5EF4-FFF2-40B4-BE49-F238E27FC236}">
                <a16:creationId xmlns:a16="http://schemas.microsoft.com/office/drawing/2014/main" id="{FFF75C42-FA99-474A-866A-F458D398C14F}"/>
              </a:ext>
            </a:extLst>
          </p:cNvPr>
          <p:cNvSpPr>
            <a:spLocks xmlns:a="http://schemas.openxmlformats.org/drawingml/2006/main" noGrp="1"/>
          </p:cNvSpPr>
          <p:nvPr/>
        </p:nvSpPr>
        <p:spPr>
          <a:xfrm xmlns:a="http://schemas.openxmlformats.org/drawingml/2006/main">
            <a:off x="666750" y="2914650"/>
            <a:ext cx="2857500" cy="8572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buNone/>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Policy text</a:t>
            </a:r>
          </a:p>
        </p:txBody>
      </p:sp>
      <p:sp>
        <p:nvSpPr>
          <p:cNvPr id="5" name="diagram-4">
            <a:extLst xmlns:a="http://schemas.openxmlformats.org/drawingml/2006/main">
              <a:ext uri="{FF2B5EF4-FFF2-40B4-BE49-F238E27FC236}">
                <a16:creationId xmlns:a16="http://schemas.microsoft.com/office/drawing/2014/main" id="{01186C8E-5F7F-422F-9376-54F6891B08FD}"/>
              </a:ext>
            </a:extLst>
          </p:cNvPr>
          <p:cNvSpPr>
            <a:spLocks xmlns:a="http://schemas.openxmlformats.org/drawingml/2006/main" noGrp="1"/>
          </p:cNvSpPr>
          <p:nvPr/>
        </p:nvSpPr>
        <p:spPr>
          <a:xfrm xmlns:a="http://schemas.openxmlformats.org/drawingml/2006/main">
            <a:off x="4572000" y="2914650"/>
            <a:ext cx="2857500" cy="8572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buNone/>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Model creates vectors</a:t>
            </a:r>
          </a:p>
        </p:txBody>
      </p:sp>
      <p:sp>
        <p:nvSpPr>
          <p:cNvPr id="6" name="diagram-5">
            <a:extLst xmlns:a="http://schemas.openxmlformats.org/drawingml/2006/main">
              <a:ext uri="{FF2B5EF4-FFF2-40B4-BE49-F238E27FC236}">
                <a16:creationId xmlns:a16="http://schemas.microsoft.com/office/drawing/2014/main" id="{0E27C040-13D6-49F0-98B6-8DAC7AA40437}"/>
              </a:ext>
            </a:extLst>
          </p:cNvPr>
          <p:cNvSpPr>
            <a:spLocks xmlns:a="http://schemas.openxmlformats.org/drawingml/2006/main" noGrp="1"/>
          </p:cNvSpPr>
          <p:nvPr/>
        </p:nvSpPr>
        <p:spPr>
          <a:xfrm xmlns:a="http://schemas.openxmlformats.org/drawingml/2006/main">
            <a:off x="8477250" y="2914650"/>
            <a:ext cx="2857500" cy="8572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buNone/>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Chroma saves records</a:t>
            </a:r>
          </a:p>
        </p:txBody>
      </p:sp>
      <p:sp>
        <p:nvSpPr>
          <p:cNvPr id="9" name="text-8">
            <a:extLst xmlns:a="http://schemas.openxmlformats.org/drawingml/2006/main">
              <a:ext uri="{FF2B5EF4-FFF2-40B4-BE49-F238E27FC236}">
                <a16:creationId xmlns:a16="http://schemas.microsoft.com/office/drawing/2014/main" id="{0F3A9925-8518-41A6-AF4F-BF842678F7AA}"/>
              </a:ext>
            </a:extLst>
          </p:cNvPr>
          <p:cNvSpPr>
            <a:spLocks xmlns:a="http://schemas.openxmlformats.org/drawingml/2006/main" noGrp="1"/>
          </p:cNvSpPr>
          <p:nvPr/>
        </p:nvSpPr>
        <p:spPr>
          <a:xfrm xmlns:a="http://schemas.openxmlformats.org/drawingml/2006/main">
            <a:off x="666750" y="4191000"/>
            <a:ext cx="1076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087E84"/>
                </a:solidFill>
                <a:latin typeface="DejaVu Sans Mono"/>
                <a:ea typeface="DejaVu Sans Mono"/>
                <a:cs typeface="DejaVu Sans Mono"/>
              </a:defRPr>
            </a:defPPr>
          </a:lstStyle>
          <a:p xmlns:a="http://schemas.openxmlformats.org/drawingml/2006/main">
            <a:pPr>
              <a:buNone/>
              <a:defRPr sz="2175" b="1">
                <a:solidFill>
                  <a:srgbClr val="087E84"/>
                </a:solidFill>
                <a:latin typeface="DejaVu Sans Mono"/>
                <a:ea typeface="DejaVu Sans Mono"/>
                <a:cs typeface="DejaVu Sans Mono"/>
              </a:defRPr>
            </a:pPr>
            <a:r>
              <a:rPr sz="2175" b="1">
                <a:solidFill>
                  <a:srgbClr val="087E84"/>
                </a:solidFill>
                <a:latin typeface="DejaVu Sans Mono"/>
                <a:ea typeface="DejaVu Sans Mono"/>
                <a:cs typeface="DejaVu Sans Mono"/>
              </a:rPr>
              <a:t>similarity_search()</a:t>
            </a:r>
          </a:p>
        </p:txBody>
      </p:sp>
      <p:sp>
        <p:nvSpPr>
          <p:cNvPr id="10" name="diagram-9">
            <a:extLst xmlns:a="http://schemas.openxmlformats.org/drawingml/2006/main">
              <a:ext uri="{FF2B5EF4-FFF2-40B4-BE49-F238E27FC236}">
                <a16:creationId xmlns:a16="http://schemas.microsoft.com/office/drawing/2014/main" id="{A07C37E6-330A-469D-B758-586D17F4B1C2}"/>
              </a:ext>
            </a:extLst>
          </p:cNvPr>
          <p:cNvSpPr>
            <a:spLocks xmlns:a="http://schemas.openxmlformats.org/drawingml/2006/main" noGrp="1"/>
          </p:cNvSpPr>
          <p:nvPr/>
        </p:nvSpPr>
        <p:spPr>
          <a:xfrm xmlns:a="http://schemas.openxmlformats.org/drawingml/2006/main">
            <a:off x="666750" y="4819650"/>
            <a:ext cx="2857500" cy="8572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buNone/>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New question</a:t>
            </a:r>
          </a:p>
        </p:txBody>
      </p:sp>
      <p:sp>
        <p:nvSpPr>
          <p:cNvPr id="11" name="diagram-10">
            <a:extLst xmlns:a="http://schemas.openxmlformats.org/drawingml/2006/main">
              <a:ext uri="{FF2B5EF4-FFF2-40B4-BE49-F238E27FC236}">
                <a16:creationId xmlns:a16="http://schemas.microsoft.com/office/drawing/2014/main" id="{82A1AE7B-1161-424F-B2BB-1CBF78DA6B22}"/>
              </a:ext>
            </a:extLst>
          </p:cNvPr>
          <p:cNvSpPr>
            <a:spLocks xmlns:a="http://schemas.openxmlformats.org/drawingml/2006/main" noGrp="1"/>
          </p:cNvSpPr>
          <p:nvPr/>
        </p:nvSpPr>
        <p:spPr>
          <a:xfrm xmlns:a="http://schemas.openxmlformats.org/drawingml/2006/main">
            <a:off x="4572000" y="4819650"/>
            <a:ext cx="2857500" cy="8572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buNone/>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Model creates vector</a:t>
            </a:r>
          </a:p>
        </p:txBody>
      </p:sp>
      <p:sp>
        <p:nvSpPr>
          <p:cNvPr id="12" name="diagram-11">
            <a:extLst xmlns:a="http://schemas.openxmlformats.org/drawingml/2006/main">
              <a:ext uri="{FF2B5EF4-FFF2-40B4-BE49-F238E27FC236}">
                <a16:creationId xmlns:a16="http://schemas.microsoft.com/office/drawing/2014/main" id="{0AEA553E-3FB2-4833-B694-E503DCF721AE}"/>
              </a:ext>
            </a:extLst>
          </p:cNvPr>
          <p:cNvSpPr>
            <a:spLocks xmlns:a="http://schemas.openxmlformats.org/drawingml/2006/main" noGrp="1"/>
          </p:cNvSpPr>
          <p:nvPr/>
        </p:nvSpPr>
        <p:spPr>
          <a:xfrm xmlns:a="http://schemas.openxmlformats.org/drawingml/2006/main">
            <a:off x="8477250" y="4819650"/>
            <a:ext cx="2857500" cy="8572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buNone/>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Chroma finds text</a:t>
            </a:r>
          </a:p>
        </p:txBody>
      </p:sp>
      <p:sp>
        <p:nvSpPr>
          <p:cNvPr id="15" name="text-14">
            <a:extLst xmlns:a="http://schemas.openxmlformats.org/drawingml/2006/main">
              <a:ext uri="{FF2B5EF4-FFF2-40B4-BE49-F238E27FC236}">
                <a16:creationId xmlns:a16="http://schemas.microsoft.com/office/drawing/2014/main" id="{9CC1506E-E816-4166-944A-347044F2BA5B}"/>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6" name="text-15">
            <a:extLst xmlns:a="http://schemas.openxmlformats.org/drawingml/2006/main">
              <a:ext uri="{FF2B5EF4-FFF2-40B4-BE49-F238E27FC236}">
                <a16:creationId xmlns:a16="http://schemas.microsoft.com/office/drawing/2014/main" id="{6E5E9303-4F5A-485B-A272-D9F9C96D2A2C}"/>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32</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2022816382"/>
      </p:ext>
    </p:extLst>
  </p:cSld>
</p:sld>
</file>

<file path=ppt/slides/slide3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5E02AA7-213D-4D7A-8348-930DDAC19798}"/>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Tomorrow: open the same saved collection</a:t>
            </a:r>
          </a:p>
        </p:txBody>
      </p:sp>
      <p:sp>
        <p:nvSpPr>
          <p:cNvPr id="2" name="text-1">
            <a:extLst xmlns:a="http://schemas.openxmlformats.org/drawingml/2006/main">
              <a:ext uri="{FF2B5EF4-FFF2-40B4-BE49-F238E27FC236}">
                <a16:creationId xmlns:a16="http://schemas.microsoft.com/office/drawing/2014/main" id="{3C2CB6C7-8A77-4B3F-A54A-6C1EACDA2A9F}"/>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Reuse step 4, then run step 6</a:t>
            </a:r>
          </a:p>
        </p:txBody>
      </p:sp>
      <p:sp>
        <p:nvSpPr>
          <p:cNvPr id="3" name="text-2">
            <a:extLst xmlns:a="http://schemas.openxmlformats.org/drawingml/2006/main">
              <a:ext uri="{FF2B5EF4-FFF2-40B4-BE49-F238E27FC236}">
                <a16:creationId xmlns:a16="http://schemas.microsoft.com/office/drawing/2014/main" id="{361C2C31-BBAE-40BA-9221-05B1AD7BFE63}"/>
              </a:ext>
            </a:extLst>
          </p:cNvPr>
          <p:cNvSpPr>
            <a:spLocks xmlns:a="http://schemas.openxmlformats.org/drawingml/2006/main" noGrp="1"/>
          </p:cNvSpPr>
          <p:nvPr/>
        </p:nvSpPr>
        <p:spPr>
          <a:xfrm xmlns:a="http://schemas.openxmlformats.org/drawingml/2006/main">
            <a:off x="666750" y="2647950"/>
            <a:ext cx="49530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182C43"/>
                </a:solidFill>
                <a:latin typeface="DejaVu Sans"/>
                <a:ea typeface="DejaVu Sans"/>
                <a:cs typeface="DejaVu Sans"/>
              </a:defRPr>
            </a:defPPr>
          </a:lstStyle>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Skip the save cell</a:t>
            </a:r>
          </a:p>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The policy vectors are already in the folder.</a:t>
            </a:r>
          </a:p>
        </p:txBody>
      </p:sp>
      <p:sp>
        <p:nvSpPr>
          <p:cNvPr id="4" name="text-3">
            <a:extLst xmlns:a="http://schemas.openxmlformats.org/drawingml/2006/main">
              <a:ext uri="{FF2B5EF4-FFF2-40B4-BE49-F238E27FC236}">
                <a16:creationId xmlns:a16="http://schemas.microsoft.com/office/drawing/2014/main" id="{3BB49A1F-7A28-4779-9774-7D6620EBC78D}"/>
              </a:ext>
            </a:extLst>
          </p:cNvPr>
          <p:cNvSpPr>
            <a:spLocks xmlns:a="http://schemas.openxmlformats.org/drawingml/2006/main" noGrp="1"/>
          </p:cNvSpPr>
          <p:nvPr/>
        </p:nvSpPr>
        <p:spPr>
          <a:xfrm xmlns:a="http://schemas.openxmlformats.org/drawingml/2006/main">
            <a:off x="6524625" y="2647950"/>
            <a:ext cx="5000625"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182C43"/>
                </a:solidFill>
                <a:latin typeface="DejaVu Sans"/>
                <a:ea typeface="DejaVu Sans"/>
                <a:cs typeface="DejaVu Sans"/>
              </a:defRPr>
            </a:defPPr>
          </a:lstStyle>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Ask a new question</a:t>
            </a:r>
          </a:p>
          <a:p xmlns:a="http://schemas.openxmlformats.org/drawingml/2006/main">
            <a:pPr>
              <a:buNone/>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Only that question needs a new embedding.</a:t>
            </a:r>
          </a:p>
        </p:txBody>
      </p:sp>
      <p:sp>
        <p:nvSpPr>
          <p:cNvPr id="5" name="text-4">
            <a:extLst xmlns:a="http://schemas.openxmlformats.org/drawingml/2006/main">
              <a:ext uri="{FF2B5EF4-FFF2-40B4-BE49-F238E27FC236}">
                <a16:creationId xmlns:a16="http://schemas.microsoft.com/office/drawing/2014/main" id="{FB78A92F-F454-41BD-B025-FAFA36A6BCB1}"/>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6" name="text-5">
            <a:extLst xmlns:a="http://schemas.openxmlformats.org/drawingml/2006/main">
              <a:ext uri="{FF2B5EF4-FFF2-40B4-BE49-F238E27FC236}">
                <a16:creationId xmlns:a16="http://schemas.microsoft.com/office/drawing/2014/main" id="{415172A4-D959-4D04-A726-8CE7C382FAB9}"/>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33</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484027661"/>
      </p:ext>
    </p:extLst>
  </p:cSld>
</p:sld>
</file>

<file path=ppt/slides/slide3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042ED34A-D4F9-4384-9103-4061A4301B82}"/>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Three experiments for students</a:t>
            </a:r>
          </a:p>
        </p:txBody>
      </p:sp>
      <p:sp>
        <p:nvSpPr>
          <p:cNvPr id="2" name="text-1">
            <a:extLst xmlns:a="http://schemas.openxmlformats.org/drawingml/2006/main">
              <a:ext uri="{FF2B5EF4-FFF2-40B4-BE49-F238E27FC236}">
                <a16:creationId xmlns:a16="http://schemas.microsoft.com/office/drawing/2014/main" id="{0C8B9DE0-3F59-42BF-ADF0-BCE1E53218CC}"/>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Predict first, then inspect the retrieved text</a:t>
            </a:r>
          </a:p>
        </p:txBody>
      </p:sp>
      <p:sp>
        <p:nvSpPr>
          <p:cNvPr id="3" name="text-2">
            <a:extLst xmlns:a="http://schemas.openxmlformats.org/drawingml/2006/main">
              <a:ext uri="{FF2B5EF4-FFF2-40B4-BE49-F238E27FC236}">
                <a16:creationId xmlns:a16="http://schemas.microsoft.com/office/drawing/2014/main" id="{A2EEC2FC-B8AC-49BF-B7B6-D4607547024D}"/>
              </a:ext>
            </a:extLst>
          </p:cNvPr>
          <p:cNvSpPr>
            <a:spLocks xmlns:a="http://schemas.openxmlformats.org/drawingml/2006/main" noGrp="1"/>
          </p:cNvSpPr>
          <p:nvPr/>
        </p:nvSpPr>
        <p:spPr>
          <a:xfrm xmlns:a="http://schemas.openxmlformats.org/drawingml/2006/main">
            <a:off x="666750" y="2476500"/>
            <a:ext cx="714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87E84"/>
                </a:solidFill>
                <a:latin typeface="DejaVu Sans"/>
                <a:ea typeface="DejaVu Sans"/>
                <a:cs typeface="DejaVu Sans"/>
              </a:defRPr>
            </a:defPPr>
          </a:lstStyle>
          <a:p xmlns:a="http://schemas.openxmlformats.org/drawingml/2006/main">
            <a:pPr>
              <a:buNone/>
              <a:defRPr sz="3150" b="1">
                <a:solidFill>
                  <a:srgbClr val="087E84"/>
                </a:solidFill>
                <a:latin typeface="DejaVu Sans"/>
                <a:ea typeface="DejaVu Sans"/>
                <a:cs typeface="DejaVu Sans"/>
              </a:defRPr>
            </a:pPr>
            <a:r>
              <a:rPr sz="3150" b="1">
                <a:solidFill>
                  <a:srgbClr val="087E84"/>
                </a:solidFill>
                <a:latin typeface="DejaVu Sans"/>
                <a:ea typeface="DejaVu Sans"/>
                <a:cs typeface="DejaVu Sans"/>
              </a:rPr>
              <a:t>1</a:t>
            </a:r>
          </a:p>
        </p:txBody>
      </p:sp>
      <p:sp>
        <p:nvSpPr>
          <p:cNvPr id="4" name="text-3">
            <a:extLst xmlns:a="http://schemas.openxmlformats.org/drawingml/2006/main">
              <a:ext uri="{FF2B5EF4-FFF2-40B4-BE49-F238E27FC236}">
                <a16:creationId xmlns:a16="http://schemas.microsoft.com/office/drawing/2014/main" id="{BB358E70-C747-466C-9AD3-397BFAE81C8C}"/>
              </a:ext>
            </a:extLst>
          </p:cNvPr>
          <p:cNvSpPr>
            <a:spLocks xmlns:a="http://schemas.openxmlformats.org/drawingml/2006/main" noGrp="1"/>
          </p:cNvSpPr>
          <p:nvPr/>
        </p:nvSpPr>
        <p:spPr>
          <a:xfrm xmlns:a="http://schemas.openxmlformats.org/drawingml/2006/main">
            <a:off x="1809750" y="2552700"/>
            <a:ext cx="952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182C43"/>
                </a:solidFill>
                <a:latin typeface="DejaVu Sans"/>
                <a:ea typeface="DejaVu Sans"/>
                <a:cs typeface="DejaVu Sans"/>
              </a:defRPr>
            </a:defPPr>
          </a:lstStyle>
          <a:p xmlns:a="http://schemas.openxmlformats.org/drawingml/2006/main">
            <a:pPr>
              <a:buNone/>
              <a:defRPr sz="2550" b="0">
                <a:solidFill>
                  <a:srgbClr val="182C43"/>
                </a:solidFill>
                <a:latin typeface="DejaVu Sans"/>
                <a:ea typeface="DejaVu Sans"/>
                <a:cs typeface="DejaVu Sans"/>
              </a:defRPr>
            </a:pPr>
            <a:r>
              <a:rPr sz="2550" b="0">
                <a:solidFill>
                  <a:srgbClr val="182C43"/>
                </a:solidFill>
                <a:latin typeface="DejaVu Sans"/>
                <a:ea typeface="DejaVu Sans"/>
                <a:cs typeface="DejaVu Sans"/>
              </a:rPr>
              <a:t>“My parcel arrived broken.”</a:t>
            </a:r>
          </a:p>
        </p:txBody>
      </p:sp>
      <p:sp>
        <p:nvSpPr>
          <p:cNvPr id="5" name="text-4">
            <a:extLst xmlns:a="http://schemas.openxmlformats.org/drawingml/2006/main">
              <a:ext uri="{FF2B5EF4-FFF2-40B4-BE49-F238E27FC236}">
                <a16:creationId xmlns:a16="http://schemas.microsoft.com/office/drawing/2014/main" id="{3263CB68-367C-4341-85F0-877D91F63A3A}"/>
              </a:ext>
            </a:extLst>
          </p:cNvPr>
          <p:cNvSpPr>
            <a:spLocks xmlns:a="http://schemas.openxmlformats.org/drawingml/2006/main" noGrp="1"/>
          </p:cNvSpPr>
          <p:nvPr/>
        </p:nvSpPr>
        <p:spPr>
          <a:xfrm xmlns:a="http://schemas.openxmlformats.org/drawingml/2006/main">
            <a:off x="666750" y="3638550"/>
            <a:ext cx="714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87E84"/>
                </a:solidFill>
                <a:latin typeface="DejaVu Sans"/>
                <a:ea typeface="DejaVu Sans"/>
                <a:cs typeface="DejaVu Sans"/>
              </a:defRPr>
            </a:defPPr>
          </a:lstStyle>
          <a:p xmlns:a="http://schemas.openxmlformats.org/drawingml/2006/main">
            <a:pPr>
              <a:buNone/>
              <a:defRPr sz="3150" b="1">
                <a:solidFill>
                  <a:srgbClr val="087E84"/>
                </a:solidFill>
                <a:latin typeface="DejaVu Sans"/>
                <a:ea typeface="DejaVu Sans"/>
                <a:cs typeface="DejaVu Sans"/>
              </a:defRPr>
            </a:pPr>
            <a:r>
              <a:rPr sz="3150" b="1">
                <a:solidFill>
                  <a:srgbClr val="087E84"/>
                </a:solidFill>
                <a:latin typeface="DejaVu Sans"/>
                <a:ea typeface="DejaVu Sans"/>
                <a:cs typeface="DejaVu Sans"/>
              </a:rPr>
              <a:t>2</a:t>
            </a:r>
          </a:p>
        </p:txBody>
      </p:sp>
      <p:sp>
        <p:nvSpPr>
          <p:cNvPr id="6" name="text-5">
            <a:extLst xmlns:a="http://schemas.openxmlformats.org/drawingml/2006/main">
              <a:ext uri="{FF2B5EF4-FFF2-40B4-BE49-F238E27FC236}">
                <a16:creationId xmlns:a16="http://schemas.microsoft.com/office/drawing/2014/main" id="{9D0DDE75-3B7F-40DF-BFCE-7C7747CDB2F9}"/>
              </a:ext>
            </a:extLst>
          </p:cNvPr>
          <p:cNvSpPr>
            <a:spLocks xmlns:a="http://schemas.openxmlformats.org/drawingml/2006/main" noGrp="1"/>
          </p:cNvSpPr>
          <p:nvPr/>
        </p:nvSpPr>
        <p:spPr>
          <a:xfrm xmlns:a="http://schemas.openxmlformats.org/drawingml/2006/main">
            <a:off x="1809750" y="3714750"/>
            <a:ext cx="952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182C43"/>
                </a:solidFill>
                <a:latin typeface="DejaVu Sans"/>
                <a:ea typeface="DejaVu Sans"/>
                <a:cs typeface="DejaVu Sans"/>
              </a:defRPr>
            </a:defPPr>
          </a:lstStyle>
          <a:p xmlns:a="http://schemas.openxmlformats.org/drawingml/2006/main">
            <a:pPr>
              <a:buNone/>
              <a:defRPr sz="2550" b="0">
                <a:solidFill>
                  <a:srgbClr val="182C43"/>
                </a:solidFill>
                <a:latin typeface="DejaVu Sans"/>
                <a:ea typeface="DejaVu Sans"/>
                <a:cs typeface="DejaVu Sans"/>
              </a:defRPr>
            </a:pPr>
            <a:r>
              <a:rPr sz="2550" b="0">
                <a:solidFill>
                  <a:srgbClr val="182C43"/>
                </a:solidFill>
                <a:latin typeface="DejaVu Sans"/>
                <a:ea typeface="DejaVu Sans"/>
                <a:cs typeface="DejaVu Sans"/>
              </a:rPr>
              <a:t>“How long does standard delivery take?”</a:t>
            </a:r>
          </a:p>
        </p:txBody>
      </p:sp>
      <p:sp>
        <p:nvSpPr>
          <p:cNvPr id="7" name="text-6">
            <a:extLst xmlns:a="http://schemas.openxmlformats.org/drawingml/2006/main">
              <a:ext uri="{FF2B5EF4-FFF2-40B4-BE49-F238E27FC236}">
                <a16:creationId xmlns:a16="http://schemas.microsoft.com/office/drawing/2014/main" id="{61EB9DA9-C8F4-4B82-9635-E518B5927B1E}"/>
              </a:ext>
            </a:extLst>
          </p:cNvPr>
          <p:cNvSpPr>
            <a:spLocks xmlns:a="http://schemas.openxmlformats.org/drawingml/2006/main" noGrp="1"/>
          </p:cNvSpPr>
          <p:nvPr/>
        </p:nvSpPr>
        <p:spPr>
          <a:xfrm xmlns:a="http://schemas.openxmlformats.org/drawingml/2006/main">
            <a:off x="666750" y="4800600"/>
            <a:ext cx="714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087E84"/>
                </a:solidFill>
                <a:latin typeface="DejaVu Sans"/>
                <a:ea typeface="DejaVu Sans"/>
                <a:cs typeface="DejaVu Sans"/>
              </a:defRPr>
            </a:defPPr>
          </a:lstStyle>
          <a:p xmlns:a="http://schemas.openxmlformats.org/drawingml/2006/main">
            <a:pPr>
              <a:buNone/>
              <a:defRPr sz="3150" b="1">
                <a:solidFill>
                  <a:srgbClr val="087E84"/>
                </a:solidFill>
                <a:latin typeface="DejaVu Sans"/>
                <a:ea typeface="DejaVu Sans"/>
                <a:cs typeface="DejaVu Sans"/>
              </a:defRPr>
            </a:pPr>
            <a:r>
              <a:rPr sz="3150" b="1">
                <a:solidFill>
                  <a:srgbClr val="087E84"/>
                </a:solidFill>
                <a:latin typeface="DejaVu Sans"/>
                <a:ea typeface="DejaVu Sans"/>
                <a:cs typeface="DejaVu Sans"/>
              </a:rPr>
              <a:t>3</a:t>
            </a:r>
          </a:p>
        </p:txBody>
      </p:sp>
      <p:sp>
        <p:nvSpPr>
          <p:cNvPr id="8" name="text-7">
            <a:extLst xmlns:a="http://schemas.openxmlformats.org/drawingml/2006/main">
              <a:ext uri="{FF2B5EF4-FFF2-40B4-BE49-F238E27FC236}">
                <a16:creationId xmlns:a16="http://schemas.microsoft.com/office/drawing/2014/main" id="{F69B2CD2-2F62-47D6-9C4C-BC201918F045}"/>
              </a:ext>
            </a:extLst>
          </p:cNvPr>
          <p:cNvSpPr>
            <a:spLocks xmlns:a="http://schemas.openxmlformats.org/drawingml/2006/main" noGrp="1"/>
          </p:cNvSpPr>
          <p:nvPr/>
        </p:nvSpPr>
        <p:spPr>
          <a:xfrm xmlns:a="http://schemas.openxmlformats.org/drawingml/2006/main">
            <a:off x="1809750" y="4876800"/>
            <a:ext cx="952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0">
                <a:solidFill>
                  <a:srgbClr val="182C43"/>
                </a:solidFill>
                <a:latin typeface="DejaVu Sans"/>
                <a:ea typeface="DejaVu Sans"/>
                <a:cs typeface="DejaVu Sans"/>
              </a:defRPr>
            </a:defPPr>
          </a:lstStyle>
          <a:p xmlns:a="http://schemas.openxmlformats.org/drawingml/2006/main">
            <a:pPr>
              <a:buNone/>
              <a:defRPr sz="2550" b="0">
                <a:solidFill>
                  <a:srgbClr val="182C43"/>
                </a:solidFill>
                <a:latin typeface="DejaVu Sans"/>
                <a:ea typeface="DejaVu Sans"/>
                <a:cs typeface="DejaVu Sans"/>
              </a:defRPr>
            </a:pPr>
            <a:r>
              <a:rPr sz="2550" b="0">
                <a:solidFill>
                  <a:srgbClr val="182C43"/>
                </a:solidFill>
                <a:latin typeface="DejaVu Sans"/>
                <a:ea typeface="DejaVu Sans"/>
                <a:cs typeface="DejaVu Sans"/>
              </a:rPr>
              <a:t>“What is your refund period?”</a:t>
            </a:r>
          </a:p>
        </p:txBody>
      </p:sp>
      <p:sp>
        <p:nvSpPr>
          <p:cNvPr id="9" name="text-8">
            <a:extLst xmlns:a="http://schemas.openxmlformats.org/drawingml/2006/main">
              <a:ext uri="{FF2B5EF4-FFF2-40B4-BE49-F238E27FC236}">
                <a16:creationId xmlns:a16="http://schemas.microsoft.com/office/drawing/2014/main" id="{F9E9CD5D-C93C-4B3A-A83E-C82E68C90174}"/>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0" name="text-9">
            <a:extLst xmlns:a="http://schemas.openxmlformats.org/drawingml/2006/main">
              <a:ext uri="{FF2B5EF4-FFF2-40B4-BE49-F238E27FC236}">
                <a16:creationId xmlns:a16="http://schemas.microsoft.com/office/drawing/2014/main" id="{A1755190-BA6F-4DCD-9401-F20CABF02127}"/>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34</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2086423480"/>
      </p:ext>
    </p:extLst>
  </p:cSld>
</p:sld>
</file>

<file path=ppt/slides/slide3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04404E60-77EE-424E-8A0F-B23767100820}"/>
              </a:ext>
            </a:extLst>
          </p:cNvPr>
          <p:cNvCxnSpPr>
            <a:stCxn xmlns:a="http://schemas.openxmlformats.org/drawingml/2006/main" id="4" idx="3"/>
            <a:endCxn xmlns:a="http://schemas.openxmlformats.org/drawingml/2006/main" id="5" idx="1"/>
          </p:cNvCxnSpPr>
          <p:nvPr/>
        </p:nvCxnSpPr>
        <p:spPr>
          <a:xfrm xmlns:a="http://schemas.openxmlformats.org/drawingml/2006/main">
            <a:off x="7715250" y="3738563"/>
            <a:ext cx="619125"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890FBA04-5744-4981-AC46-4F5D3C6F63A9}"/>
              </a:ext>
            </a:extLst>
          </p:cNvPr>
          <p:cNvCxnSpPr>
            <a:stCxn xmlns:a="http://schemas.openxmlformats.org/drawingml/2006/main" id="3" idx="3"/>
            <a:endCxn xmlns:a="http://schemas.openxmlformats.org/drawingml/2006/main" id="4" idx="1"/>
          </p:cNvCxnSpPr>
          <p:nvPr/>
        </p:nvCxnSpPr>
        <p:spPr>
          <a:xfrm xmlns:a="http://schemas.openxmlformats.org/drawingml/2006/main">
            <a:off x="3857625" y="3738563"/>
            <a:ext cx="619125"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10" name="text-0">
            <a:extLst xmlns:a="http://schemas.openxmlformats.org/drawingml/2006/main">
              <a:ext uri="{FF2B5EF4-FFF2-40B4-BE49-F238E27FC236}">
                <a16:creationId xmlns:a16="http://schemas.microsoft.com/office/drawing/2014/main" id="{522EBD94-D9B3-40EA-A002-AC8E699AF6CE}"/>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Where does this fit in our assistant?</a:t>
            </a:r>
          </a:p>
        </p:txBody>
      </p:sp>
      <p:sp>
        <p:nvSpPr>
          <p:cNvPr id="2" name="text-1">
            <a:extLst xmlns:a="http://schemas.openxmlformats.org/drawingml/2006/main">
              <a:ext uri="{FF2B5EF4-FFF2-40B4-BE49-F238E27FC236}">
                <a16:creationId xmlns:a16="http://schemas.microsoft.com/office/drawing/2014/main" id="{A23434B5-E06E-4CE7-91A0-FE1D6A95912F}"/>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The familiar policy-search tool can use Chroma</a:t>
            </a:r>
          </a:p>
        </p:txBody>
      </p:sp>
      <p:sp>
        <p:nvSpPr>
          <p:cNvPr id="3" name="diagram-2">
            <a:extLst xmlns:a="http://schemas.openxmlformats.org/drawingml/2006/main">
              <a:ext uri="{FF2B5EF4-FFF2-40B4-BE49-F238E27FC236}">
                <a16:creationId xmlns:a16="http://schemas.microsoft.com/office/drawing/2014/main" id="{E34A91D7-52DF-4EFF-A797-67D0BB2D1C41}"/>
              </a:ext>
            </a:extLst>
          </p:cNvPr>
          <p:cNvSpPr>
            <a:spLocks xmlns:a="http://schemas.openxmlformats.org/drawingml/2006/main" noGrp="1"/>
          </p:cNvSpPr>
          <p:nvPr/>
        </p:nvSpPr>
        <p:spPr>
          <a:xfrm xmlns:a="http://schemas.openxmlformats.org/drawingml/2006/main">
            <a:off x="619125" y="3048000"/>
            <a:ext cx="323850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Customer question</a:t>
            </a:r>
          </a:p>
        </p:txBody>
      </p:sp>
      <p:sp>
        <p:nvSpPr>
          <p:cNvPr id="4" name="diagram-3">
            <a:extLst xmlns:a="http://schemas.openxmlformats.org/drawingml/2006/main">
              <a:ext uri="{FF2B5EF4-FFF2-40B4-BE49-F238E27FC236}">
                <a16:creationId xmlns:a16="http://schemas.microsoft.com/office/drawing/2014/main" id="{48FDD384-6741-4226-9C17-530A8B94BA79}"/>
              </a:ext>
            </a:extLst>
          </p:cNvPr>
          <p:cNvSpPr>
            <a:spLocks xmlns:a="http://schemas.openxmlformats.org/drawingml/2006/main" noGrp="1"/>
          </p:cNvSpPr>
          <p:nvPr/>
        </p:nvSpPr>
        <p:spPr>
          <a:xfrm xmlns:a="http://schemas.openxmlformats.org/drawingml/2006/main">
            <a:off x="4476750" y="3048000"/>
            <a:ext cx="323850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Policy-search tool uses Chroma</a:t>
            </a:r>
          </a:p>
        </p:txBody>
      </p:sp>
      <p:sp>
        <p:nvSpPr>
          <p:cNvPr id="5" name="diagram-4">
            <a:extLst xmlns:a="http://schemas.openxmlformats.org/drawingml/2006/main">
              <a:ext uri="{FF2B5EF4-FFF2-40B4-BE49-F238E27FC236}">
                <a16:creationId xmlns:a16="http://schemas.microsoft.com/office/drawing/2014/main" id="{90A8333E-9566-4D82-A5BB-3482074C6496}"/>
              </a:ext>
            </a:extLst>
          </p:cNvPr>
          <p:cNvSpPr>
            <a:spLocks xmlns:a="http://schemas.openxmlformats.org/drawingml/2006/main" noGrp="1"/>
          </p:cNvSpPr>
          <p:nvPr/>
        </p:nvSpPr>
        <p:spPr>
          <a:xfrm xmlns:a="http://schemas.openxmlformats.org/drawingml/2006/main">
            <a:off x="8334375" y="3048000"/>
            <a:ext cx="323850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buNone/>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Groq explains the evidence</a:t>
            </a:r>
          </a:p>
        </p:txBody>
      </p:sp>
      <p:sp>
        <p:nvSpPr>
          <p:cNvPr id="8" name="text-7">
            <a:extLst xmlns:a="http://schemas.openxmlformats.org/drawingml/2006/main">
              <a:ext uri="{FF2B5EF4-FFF2-40B4-BE49-F238E27FC236}">
                <a16:creationId xmlns:a16="http://schemas.microsoft.com/office/drawing/2014/main" id="{41F24380-2680-4112-A221-AB1949D6963A}"/>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9" name="text-8">
            <a:extLst xmlns:a="http://schemas.openxmlformats.org/drawingml/2006/main">
              <a:ext uri="{FF2B5EF4-FFF2-40B4-BE49-F238E27FC236}">
                <a16:creationId xmlns:a16="http://schemas.microsoft.com/office/drawing/2014/main" id="{AFB139DD-671D-44D2-BD19-FA33534544AE}"/>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35</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1412543199"/>
      </p:ext>
    </p:extLst>
  </p:cSld>
</p:sld>
</file>

<file path=ppt/slides/slide36.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B42F394-D34C-4F30-86A1-1FD999BDAC39}"/>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buNone/>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The idea to remember</a:t>
            </a:r>
          </a:p>
        </p:txBody>
      </p:sp>
      <p:sp>
        <p:nvSpPr>
          <p:cNvPr id="2" name="text-1">
            <a:extLst xmlns:a="http://schemas.openxmlformats.org/drawingml/2006/main">
              <a:ext uri="{FF2B5EF4-FFF2-40B4-BE49-F238E27FC236}">
                <a16:creationId xmlns:a16="http://schemas.microsoft.com/office/drawing/2014/main" id="{8EC1C1CA-AA67-4508-B1FB-CB7E6457B948}"/>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buNone/>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Our same parcel project now keeps its searchable knowledge</a:t>
            </a:r>
          </a:p>
        </p:txBody>
      </p:sp>
      <p:sp>
        <p:nvSpPr>
          <p:cNvPr id="3" name="text-2">
            <a:extLst xmlns:a="http://schemas.openxmlformats.org/drawingml/2006/main">
              <a:ext uri="{FF2B5EF4-FFF2-40B4-BE49-F238E27FC236}">
                <a16:creationId xmlns:a16="http://schemas.microsoft.com/office/drawing/2014/main" id="{81DB3FDA-2230-4CE8-B566-9C3BB32C0B73}"/>
              </a:ext>
            </a:extLst>
          </p:cNvPr>
          <p:cNvSpPr>
            <a:spLocks xmlns:a="http://schemas.openxmlformats.org/drawingml/2006/main" noGrp="1"/>
          </p:cNvSpPr>
          <p:nvPr/>
        </p:nvSpPr>
        <p:spPr>
          <a:xfrm xmlns:a="http://schemas.openxmlformats.org/drawingml/2006/main">
            <a:off x="666750" y="2543175"/>
            <a:ext cx="10668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82C43"/>
                </a:solidFill>
                <a:latin typeface="DejaVu Sans"/>
                <a:ea typeface="DejaVu Sans"/>
                <a:cs typeface="DejaVu Sans"/>
              </a:defRPr>
            </a:defPPr>
          </a:lstStyle>
          <a:p xmlns:a="http://schemas.openxmlformats.org/drawingml/2006/main">
            <a:pPr>
              <a:buNone/>
              <a:defRPr sz="3450" b="1">
                <a:solidFill>
                  <a:srgbClr val="182C43"/>
                </a:solidFill>
                <a:latin typeface="DejaVu Sans"/>
                <a:ea typeface="DejaVu Sans"/>
                <a:cs typeface="DejaVu Sans"/>
              </a:defRPr>
            </a:pPr>
            <a:r>
              <a:rPr sz="3450" b="1">
                <a:solidFill>
                  <a:srgbClr val="182C43"/>
                </a:solidFill>
                <a:latin typeface="DejaVu Sans"/>
                <a:ea typeface="DejaVu Sans"/>
                <a:cs typeface="DejaVu Sans"/>
              </a:rPr>
              <a:t>The model creates vectors.</a:t>
            </a:r>
          </a:p>
          <a:p xmlns:a="http://schemas.openxmlformats.org/drawingml/2006/main">
            <a:pPr>
              <a:buNone/>
              <a:defRPr sz="3450" b="1">
                <a:solidFill>
                  <a:srgbClr val="182C43"/>
                </a:solidFill>
                <a:latin typeface="DejaVu Sans"/>
                <a:ea typeface="DejaVu Sans"/>
                <a:cs typeface="DejaVu Sans"/>
              </a:defRPr>
            </a:pPr>
            <a:r>
              <a:rPr sz="3450" b="1">
                <a:solidFill>
                  <a:srgbClr val="182C43"/>
                </a:solidFill>
                <a:latin typeface="DejaVu Sans"/>
                <a:ea typeface="DejaVu Sans"/>
                <a:cs typeface="DejaVu Sans"/>
              </a:rPr>
              <a:t>The database saves and searches them.</a:t>
            </a:r>
          </a:p>
        </p:txBody>
      </p:sp>
      <p:sp>
        <p:nvSpPr>
          <p:cNvPr id="4" name="text-3">
            <a:extLst xmlns:a="http://schemas.openxmlformats.org/drawingml/2006/main">
              <a:ext uri="{FF2B5EF4-FFF2-40B4-BE49-F238E27FC236}">
                <a16:creationId xmlns:a16="http://schemas.microsoft.com/office/drawing/2014/main" id="{664C5A66-07B2-43B7-AA3B-BBFE8F9A30F9}"/>
              </a:ext>
            </a:extLst>
          </p:cNvPr>
          <p:cNvSpPr>
            <a:spLocks xmlns:a="http://schemas.openxmlformats.org/drawingml/2006/main" noGrp="1"/>
          </p:cNvSpPr>
          <p:nvPr/>
        </p:nvSpPr>
        <p:spPr>
          <a:xfrm xmlns:a="http://schemas.openxmlformats.org/drawingml/2006/main">
            <a:off x="666750" y="4762500"/>
            <a:ext cx="106203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596B79"/>
                </a:solidFill>
                <a:latin typeface="DejaVu Sans"/>
                <a:ea typeface="DejaVu Sans"/>
                <a:cs typeface="DejaVu Sans"/>
              </a:defRPr>
            </a:defPPr>
          </a:lstStyle>
          <a:p xmlns:a="http://schemas.openxmlformats.org/drawingml/2006/main">
            <a:pPr>
              <a:buNone/>
              <a:defRPr sz="2250" b="0">
                <a:solidFill>
                  <a:srgbClr val="596B79"/>
                </a:solidFill>
                <a:latin typeface="DejaVu Sans"/>
                <a:ea typeface="DejaVu Sans"/>
                <a:cs typeface="DejaVu Sans"/>
              </a:defRPr>
            </a:pPr>
            <a:r>
              <a:rPr sz="2250" b="0">
                <a:solidFill>
                  <a:srgbClr val="596B79"/>
                </a:solidFill>
                <a:latin typeface="DejaVu Sans"/>
                <a:ea typeface="DejaVu Sans"/>
                <a:cs typeface="DejaVu Sans"/>
              </a:rPr>
              <a:t>Today’s practical result: three saved policies and a working semantic query.</a:t>
            </a:r>
          </a:p>
        </p:txBody>
      </p:sp>
      <p:sp>
        <p:nvSpPr>
          <p:cNvPr id="5" name="text-4">
            <a:extLst xmlns:a="http://schemas.openxmlformats.org/drawingml/2006/main">
              <a:ext uri="{FF2B5EF4-FFF2-40B4-BE49-F238E27FC236}">
                <a16:creationId xmlns:a16="http://schemas.microsoft.com/office/drawing/2014/main" id="{428A8B33-00F4-47EF-8916-61EE134210D8}"/>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6" name="text-5">
            <a:extLst xmlns:a="http://schemas.openxmlformats.org/drawingml/2006/main">
              <a:ext uri="{FF2B5EF4-FFF2-40B4-BE49-F238E27FC236}">
                <a16:creationId xmlns:a16="http://schemas.microsoft.com/office/drawing/2014/main" id="{68E87BD7-A5A9-420F-A7C3-DDDCB5CA8907}"/>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buNone/>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36</a:t>
            </a:r>
            <a:r>
              <a:rPr sz="1125" b="0">
                <a:solidFill>
                  <a:srgbClr val="596B79"/>
                </a:solidFill>
                <a:latin typeface="DejaVu Sans"/>
                <a:ea typeface="DejaVu Sans"/>
                <a:cs typeface="DejaVu Sans"/>
              </a:rPr>
              <a:t>/56</a:t>
            </a:r>
          </a:p>
        </p:txBody>
      </p:sp>
    </p:spTree>
    <p:extLst>
      <p:ext uri="{BB962C8B-B14F-4D97-AF65-F5344CB8AC3E}">
        <p14:creationId xmlns:p14="http://schemas.microsoft.com/office/powerpoint/2010/main" val="339660664"/>
      </p:ext>
    </p:extLst>
  </p:cSld>
</p:sld>
</file>

<file path=ppt/slides/slide3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551F8FBF-E570-4C97-BA25-4A20F507C1AA}"/>
              </a:ext>
            </a:extLst>
          </p:cNvPr>
          <p:cNvCxnSpPr>
            <a:stCxn xmlns:a="http://schemas.openxmlformats.org/drawingml/2006/main" id="4" idx="3"/>
            <a:endCxn xmlns:a="http://schemas.openxmlformats.org/drawingml/2006/main" id="5" idx="1"/>
          </p:cNvCxnSpPr>
          <p:nvPr/>
        </p:nvCxnSpPr>
        <p:spPr>
          <a:xfrm xmlns:a="http://schemas.openxmlformats.org/drawingml/2006/main">
            <a:off x="7477125" y="3738563"/>
            <a:ext cx="114300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6" name="">
            <a:extLst xmlns:a="http://schemas.openxmlformats.org/drawingml/2006/main">
              <a:ext uri="{FF2B5EF4-FFF2-40B4-BE49-F238E27FC236}">
                <a16:creationId xmlns:a16="http://schemas.microsoft.com/office/drawing/2014/main" id="{A8AE94EE-D71E-4AFA-A1B3-743152415FA1}"/>
              </a:ext>
            </a:extLst>
          </p:cNvPr>
          <p:cNvCxnSpPr>
            <a:stCxn xmlns:a="http://schemas.openxmlformats.org/drawingml/2006/main" id="3" idx="3"/>
            <a:endCxn xmlns:a="http://schemas.openxmlformats.org/drawingml/2006/main" id="4" idx="1"/>
          </p:cNvCxnSpPr>
          <p:nvPr/>
        </p:nvCxnSpPr>
        <p:spPr>
          <a:xfrm xmlns:a="http://schemas.openxmlformats.org/drawingml/2006/main">
            <a:off x="3381375" y="3738563"/>
            <a:ext cx="114300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11" name="text-0">
            <a:extLst xmlns:a="http://schemas.openxmlformats.org/drawingml/2006/main">
              <a:ext uri="{FF2B5EF4-FFF2-40B4-BE49-F238E27FC236}">
                <a16:creationId xmlns:a16="http://schemas.microsoft.com/office/drawing/2014/main" id="{5A21761A-0C43-4758-9A1A-506B5F528D68}"/>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Now the company has more documents</a:t>
            </a:r>
          </a:p>
        </p:txBody>
      </p:sp>
      <p:sp>
        <p:nvSpPr>
          <p:cNvPr id="2" name="text-1">
            <a:extLst xmlns:a="http://schemas.openxmlformats.org/drawingml/2006/main">
              <a:ext uri="{FF2B5EF4-FFF2-40B4-BE49-F238E27FC236}">
                <a16:creationId xmlns:a16="http://schemas.microsoft.com/office/drawing/2014/main" id="{DF6A44A9-2216-40C3-8EF0-5B53E9793F6F}"/>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Part B: the same idea, more information</a:t>
            </a:r>
          </a:p>
        </p:txBody>
      </p:sp>
      <p:sp>
        <p:nvSpPr>
          <p:cNvPr id="3" name="diagram-2">
            <a:extLst xmlns:a="http://schemas.openxmlformats.org/drawingml/2006/main">
              <a:ext uri="{FF2B5EF4-FFF2-40B4-BE49-F238E27FC236}">
                <a16:creationId xmlns:a16="http://schemas.microsoft.com/office/drawing/2014/main" id="{D2CD4460-B67C-4439-89F7-588B380F6672}"/>
              </a:ext>
            </a:extLst>
          </p:cNvPr>
          <p:cNvSpPr>
            <a:spLocks xmlns:a="http://schemas.openxmlformats.org/drawingml/2006/main" noGrp="1"/>
          </p:cNvSpPr>
          <p:nvPr/>
        </p:nvSpPr>
        <p:spPr>
          <a:xfrm xmlns:a="http://schemas.openxmlformats.org/drawingml/2006/main">
            <a:off x="619125" y="3048000"/>
            <a:ext cx="276225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3 policies</a:t>
            </a:r>
          </a:p>
        </p:txBody>
      </p:sp>
      <p:sp>
        <p:nvSpPr>
          <p:cNvPr id="4" name="diagram-3">
            <a:extLst xmlns:a="http://schemas.openxmlformats.org/drawingml/2006/main">
              <a:ext uri="{FF2B5EF4-FFF2-40B4-BE49-F238E27FC236}">
                <a16:creationId xmlns:a16="http://schemas.microsoft.com/office/drawing/2014/main" id="{053F0993-6DFB-4DA8-9A05-E2DEDB717075}"/>
              </a:ext>
            </a:extLst>
          </p:cNvPr>
          <p:cNvSpPr>
            <a:spLocks xmlns:a="http://schemas.openxmlformats.org/drawingml/2006/main" noGrp="1"/>
          </p:cNvSpPr>
          <p:nvPr/>
        </p:nvSpPr>
        <p:spPr>
          <a:xfrm xmlns:a="http://schemas.openxmlformats.org/drawingml/2006/main">
            <a:off x="4524375" y="3048000"/>
            <a:ext cx="2952750" cy="138112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12 document files</a:t>
            </a:r>
          </a:p>
        </p:txBody>
      </p:sp>
      <p:sp>
        <p:nvSpPr>
          <p:cNvPr id="5" name="diagram-4">
            <a:extLst xmlns:a="http://schemas.openxmlformats.org/drawingml/2006/main">
              <a:ext uri="{FF2B5EF4-FFF2-40B4-BE49-F238E27FC236}">
                <a16:creationId xmlns:a16="http://schemas.microsoft.com/office/drawing/2014/main" id="{CE90FCF9-EA8B-48AF-BD3B-769A769C91FB}"/>
              </a:ext>
            </a:extLst>
          </p:cNvPr>
          <p:cNvSpPr>
            <a:spLocks xmlns:a="http://schemas.openxmlformats.org/drawingml/2006/main" noGrp="1"/>
          </p:cNvSpPr>
          <p:nvPr/>
        </p:nvSpPr>
        <p:spPr>
          <a:xfrm xmlns:a="http://schemas.openxmlformats.org/drawingml/2006/main">
            <a:off x="8620125" y="3048000"/>
            <a:ext cx="2952750" cy="1381125"/>
          </a:xfrm>
          <a:prstGeom xmlns:a="http://schemas.openxmlformats.org/drawingml/2006/main" prst="rect">
            <a:avLst/>
          </a:prstGeom>
          <a:solidFill xmlns:a="http://schemas.openxmlformats.org/drawingml/2006/main">
            <a:srgbClr val="F1E7D5"/>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10,000 documents</a:t>
            </a:r>
          </a:p>
          <a:p xmlns:a="http://schemas.openxmlformats.org/drawingml/2006/main">
            <a:pPr algn="ctr">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A possible future</a:t>
            </a:r>
          </a:p>
        </p:txBody>
      </p:sp>
      <p:sp>
        <p:nvSpPr>
          <p:cNvPr id="8" name="text-7">
            <a:extLst xmlns:a="http://schemas.openxmlformats.org/drawingml/2006/main">
              <a:ext uri="{FF2B5EF4-FFF2-40B4-BE49-F238E27FC236}">
                <a16:creationId xmlns:a16="http://schemas.microsoft.com/office/drawing/2014/main" id="{901F7357-8856-486C-9BD1-C20E6E64D2E5}"/>
              </a:ext>
            </a:extLst>
          </p:cNvPr>
          <p:cNvSpPr>
            <a:spLocks xmlns:a="http://schemas.openxmlformats.org/drawingml/2006/main" noGrp="1"/>
          </p:cNvSpPr>
          <p:nvPr/>
        </p:nvSpPr>
        <p:spPr>
          <a:xfrm xmlns:a="http://schemas.openxmlformats.org/drawingml/2006/main">
            <a:off x="666750" y="54292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96B79"/>
                </a:solidFill>
                <a:latin typeface="DejaVu Sans"/>
                <a:ea typeface="DejaVu Sans"/>
                <a:cs typeface="DejaVu Sans"/>
              </a:defRPr>
            </a:defPPr>
          </a:lstStyle>
          <a:p xmlns:a="http://schemas.openxmlformats.org/drawingml/2006/main">
            <a:pPr>
              <a:defRPr sz="1800" b="0">
                <a:solidFill>
                  <a:srgbClr val="596B79"/>
                </a:solidFill>
                <a:latin typeface="DejaVu Sans"/>
                <a:ea typeface="DejaVu Sans"/>
                <a:cs typeface="DejaVu Sans"/>
              </a:defRPr>
            </a:pPr>
            <a:r>
              <a:rPr sz="1800" b="0">
                <a:solidFill>
                  <a:srgbClr val="596B79"/>
                </a:solidFill>
                <a:latin typeface="DejaVu Sans"/>
                <a:ea typeface="DejaVu Sans"/>
                <a:cs typeface="DejaVu Sans"/>
              </a:rPr>
              <a:t>The first two sizes appear in our exercises. The future size is illustrative.</a:t>
            </a:r>
          </a:p>
        </p:txBody>
      </p:sp>
      <p:sp>
        <p:nvSpPr>
          <p:cNvPr id="9" name="text-8">
            <a:extLst xmlns:a="http://schemas.openxmlformats.org/drawingml/2006/main">
              <a:ext uri="{FF2B5EF4-FFF2-40B4-BE49-F238E27FC236}">
                <a16:creationId xmlns:a16="http://schemas.microsoft.com/office/drawing/2014/main" id="{3CCB793D-56FC-4651-B80C-79A30118C265}"/>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0" name="text-9">
            <a:extLst xmlns:a="http://schemas.openxmlformats.org/drawingml/2006/main">
              <a:ext uri="{FF2B5EF4-FFF2-40B4-BE49-F238E27FC236}">
                <a16:creationId xmlns:a16="http://schemas.microsoft.com/office/drawing/2014/main" id="{B0AA72C1-B5B9-4781-A347-E56A80CA48DA}"/>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37/56</a:t>
            </a:r>
          </a:p>
        </p:txBody>
      </p:sp>
    </p:spTree>
    <p:extLst>
      <p:ext uri="{BB962C8B-B14F-4D97-AF65-F5344CB8AC3E}">
        <p14:creationId xmlns:p14="http://schemas.microsoft.com/office/powerpoint/2010/main" val="1839280045"/>
      </p:ext>
    </p:extLst>
  </p:cSld>
</p:sld>
</file>

<file path=ppt/slides/slide38.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598218CE-1E47-435A-BDDC-4D04E7B7D1A5}"/>
              </a:ext>
            </a:extLst>
          </p:cNvPr>
          <p:cNvCxnSpPr>
            <a:stCxn xmlns:a="http://schemas.openxmlformats.org/drawingml/2006/main" id="7" idx="3"/>
            <a:endCxn xmlns:a="http://schemas.openxmlformats.org/drawingml/2006/main" id="8" idx="1"/>
          </p:cNvCxnSpPr>
          <p:nvPr/>
        </p:nvCxnSpPr>
        <p:spPr>
          <a:xfrm xmlns:a="http://schemas.openxmlformats.org/drawingml/2006/main">
            <a:off x="7524750" y="5191125"/>
            <a:ext cx="1000125"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F20D9217-28DD-4C03-A38B-02BCD000DFE2}"/>
              </a:ext>
            </a:extLst>
          </p:cNvPr>
          <p:cNvCxnSpPr>
            <a:stCxn xmlns:a="http://schemas.openxmlformats.org/drawingml/2006/main" id="6" idx="3"/>
            <a:endCxn xmlns:a="http://schemas.openxmlformats.org/drawingml/2006/main" id="7" idx="1"/>
          </p:cNvCxnSpPr>
          <p:nvPr/>
        </p:nvCxnSpPr>
        <p:spPr>
          <a:xfrm xmlns:a="http://schemas.openxmlformats.org/drawingml/2006/main">
            <a:off x="3619500" y="5191125"/>
            <a:ext cx="904875"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5" name="">
            <a:extLst xmlns:a="http://schemas.openxmlformats.org/drawingml/2006/main">
              <a:ext uri="{FF2B5EF4-FFF2-40B4-BE49-F238E27FC236}">
                <a16:creationId xmlns:a16="http://schemas.microsoft.com/office/drawing/2014/main" id="{69399F96-7151-4A96-AF3A-E417C2F2AAED}"/>
              </a:ext>
            </a:extLst>
          </p:cNvPr>
          <p:cNvCxnSpPr>
            <a:stCxn xmlns:a="http://schemas.openxmlformats.org/drawingml/2006/main" id="3" idx="3"/>
            <a:endCxn xmlns:a="http://schemas.openxmlformats.org/drawingml/2006/main" id="4" idx="1"/>
          </p:cNvCxnSpPr>
          <p:nvPr/>
        </p:nvCxnSpPr>
        <p:spPr>
          <a:xfrm xmlns:a="http://schemas.openxmlformats.org/drawingml/2006/main">
            <a:off x="5429250" y="3095625"/>
            <a:ext cx="219075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14" name="text-0">
            <a:extLst xmlns:a="http://schemas.openxmlformats.org/drawingml/2006/main">
              <a:ext uri="{FF2B5EF4-FFF2-40B4-BE49-F238E27FC236}">
                <a16:creationId xmlns:a16="http://schemas.microsoft.com/office/drawing/2014/main" id="{63E7F7F3-660E-477E-B9A8-FF596D8C44BE}"/>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A large upload can be awkward</a:t>
            </a:r>
          </a:p>
        </p:txBody>
      </p:sp>
      <p:sp>
        <p:nvSpPr>
          <p:cNvPr id="2" name="text-1">
            <a:extLst xmlns:a="http://schemas.openxmlformats.org/drawingml/2006/main">
              <a:ext uri="{FF2B5EF4-FFF2-40B4-BE49-F238E27FC236}">
                <a16:creationId xmlns:a16="http://schemas.microsoft.com/office/drawing/2014/main" id="{D3A9E2FD-8B62-4540-891E-F86FAE68513B}"/>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Imagine preparing 10,000 policy documents</a:t>
            </a:r>
          </a:p>
        </p:txBody>
      </p:sp>
      <p:sp>
        <p:nvSpPr>
          <p:cNvPr id="3" name="diagram-2">
            <a:extLst xmlns:a="http://schemas.openxmlformats.org/drawingml/2006/main">
              <a:ext uri="{FF2B5EF4-FFF2-40B4-BE49-F238E27FC236}">
                <a16:creationId xmlns:a16="http://schemas.microsoft.com/office/drawing/2014/main" id="{D785CF1E-0012-4BE1-8ADF-186B64AA09C8}"/>
              </a:ext>
            </a:extLst>
          </p:cNvPr>
          <p:cNvSpPr>
            <a:spLocks xmlns:a="http://schemas.openxmlformats.org/drawingml/2006/main" noGrp="1"/>
          </p:cNvSpPr>
          <p:nvPr/>
        </p:nvSpPr>
        <p:spPr>
          <a:xfrm xmlns:a="http://schemas.openxmlformats.org/drawingml/2006/main">
            <a:off x="619125" y="2476500"/>
            <a:ext cx="4810125" cy="1238250"/>
          </a:xfrm>
          <a:prstGeom xmlns:a="http://schemas.openxmlformats.org/drawingml/2006/main" prst="rect">
            <a:avLst/>
          </a:prstGeom>
          <a:solidFill xmlns:a="http://schemas.openxmlformats.org/drawingml/2006/main">
            <a:srgbClr val="F1E7D5"/>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10,000 documents</a:t>
            </a:r>
          </a:p>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One very large request</a:t>
            </a:r>
          </a:p>
        </p:txBody>
      </p:sp>
      <p:sp>
        <p:nvSpPr>
          <p:cNvPr id="4" name="diagram-3">
            <a:extLst xmlns:a="http://schemas.openxmlformats.org/drawingml/2006/main">
              <a:ext uri="{FF2B5EF4-FFF2-40B4-BE49-F238E27FC236}">
                <a16:creationId xmlns:a16="http://schemas.microsoft.com/office/drawing/2014/main" id="{63417818-C8F0-4080-BD01-8572879F4F1D}"/>
              </a:ext>
            </a:extLst>
          </p:cNvPr>
          <p:cNvSpPr>
            <a:spLocks xmlns:a="http://schemas.openxmlformats.org/drawingml/2006/main" noGrp="1"/>
          </p:cNvSpPr>
          <p:nvPr/>
        </p:nvSpPr>
        <p:spPr>
          <a:xfrm xmlns:a="http://schemas.openxmlformats.org/drawingml/2006/main">
            <a:off x="7620000" y="2476500"/>
            <a:ext cx="3905250" cy="1238250"/>
          </a:xfrm>
          <a:prstGeom xmlns:a="http://schemas.openxmlformats.org/drawingml/2006/main" prst="rect">
            <a:avLst/>
          </a:prstGeom>
          <a:solidFill xmlns:a="http://schemas.openxmlformats.org/drawingml/2006/main">
            <a:srgbClr val="F1E7D5"/>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May exceed limits</a:t>
            </a:r>
          </a:p>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or be harder to retry</a:t>
            </a:r>
          </a:p>
        </p:txBody>
      </p:sp>
      <p:sp>
        <p:nvSpPr>
          <p:cNvPr id="6" name="diagram-5">
            <a:extLst xmlns:a="http://schemas.openxmlformats.org/drawingml/2006/main">
              <a:ext uri="{FF2B5EF4-FFF2-40B4-BE49-F238E27FC236}">
                <a16:creationId xmlns:a16="http://schemas.microsoft.com/office/drawing/2014/main" id="{CE8EAB0B-B7EF-4629-A4C5-1D5D398979C5}"/>
              </a:ext>
            </a:extLst>
          </p:cNvPr>
          <p:cNvSpPr>
            <a:spLocks xmlns:a="http://schemas.openxmlformats.org/drawingml/2006/main" noGrp="1"/>
          </p:cNvSpPr>
          <p:nvPr/>
        </p:nvSpPr>
        <p:spPr>
          <a:xfrm xmlns:a="http://schemas.openxmlformats.org/drawingml/2006/main">
            <a:off x="619125" y="4667250"/>
            <a:ext cx="3000375" cy="1047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A smaller group</a:t>
            </a:r>
          </a:p>
        </p:txBody>
      </p:sp>
      <p:sp>
        <p:nvSpPr>
          <p:cNvPr id="7" name="diagram-6">
            <a:extLst xmlns:a="http://schemas.openxmlformats.org/drawingml/2006/main">
              <a:ext uri="{FF2B5EF4-FFF2-40B4-BE49-F238E27FC236}">
                <a16:creationId xmlns:a16="http://schemas.microsoft.com/office/drawing/2014/main" id="{7E993DCC-CCCF-4585-9DB6-0F181FA13B93}"/>
              </a:ext>
            </a:extLst>
          </p:cNvPr>
          <p:cNvSpPr>
            <a:spLocks xmlns:a="http://schemas.openxmlformats.org/drawingml/2006/main" noGrp="1"/>
          </p:cNvSpPr>
          <p:nvPr/>
        </p:nvSpPr>
        <p:spPr>
          <a:xfrm xmlns:a="http://schemas.openxmlformats.org/drawingml/2006/main">
            <a:off x="4524375" y="4667250"/>
            <a:ext cx="3000375" cy="1047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Embedding model</a:t>
            </a:r>
          </a:p>
        </p:txBody>
      </p:sp>
      <p:sp>
        <p:nvSpPr>
          <p:cNvPr id="8" name="diagram-7">
            <a:extLst xmlns:a="http://schemas.openxmlformats.org/drawingml/2006/main">
              <a:ext uri="{FF2B5EF4-FFF2-40B4-BE49-F238E27FC236}">
                <a16:creationId xmlns:a16="http://schemas.microsoft.com/office/drawing/2014/main" id="{39265A43-B328-4325-AF48-CB9D8161E5AA}"/>
              </a:ext>
            </a:extLst>
          </p:cNvPr>
          <p:cNvSpPr>
            <a:spLocks xmlns:a="http://schemas.openxmlformats.org/drawingml/2006/main" noGrp="1"/>
          </p:cNvSpPr>
          <p:nvPr/>
        </p:nvSpPr>
        <p:spPr>
          <a:xfrm xmlns:a="http://schemas.openxmlformats.org/drawingml/2006/main">
            <a:off x="8524875" y="4667250"/>
            <a:ext cx="3000375" cy="1047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Saved collection</a:t>
            </a:r>
          </a:p>
        </p:txBody>
      </p:sp>
      <p:sp>
        <p:nvSpPr>
          <p:cNvPr id="11" name="text-10">
            <a:extLst xmlns:a="http://schemas.openxmlformats.org/drawingml/2006/main">
              <a:ext uri="{FF2B5EF4-FFF2-40B4-BE49-F238E27FC236}">
                <a16:creationId xmlns:a16="http://schemas.microsoft.com/office/drawing/2014/main" id="{512DCD6F-99B4-49CC-889E-C72EAD314E59}"/>
              </a:ext>
            </a:extLst>
          </p:cNvPr>
          <p:cNvSpPr>
            <a:spLocks xmlns:a="http://schemas.openxmlformats.org/drawingml/2006/main" noGrp="1"/>
          </p:cNvSpPr>
          <p:nvPr/>
        </p:nvSpPr>
        <p:spPr>
          <a:xfrm xmlns:a="http://schemas.openxmlformats.org/drawingml/2006/main">
            <a:off x="666750" y="59912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596B79"/>
                </a:solidFill>
                <a:latin typeface="DejaVu Sans"/>
                <a:ea typeface="DejaVu Sans"/>
                <a:cs typeface="DejaVu Sans"/>
              </a:defRPr>
            </a:defPPr>
          </a:lstStyle>
          <a:p xmlns:a="http://schemas.openxmlformats.org/drawingml/2006/main">
            <a:pPr>
              <a:defRPr sz="1650" b="0">
                <a:solidFill>
                  <a:srgbClr val="596B79"/>
                </a:solidFill>
                <a:latin typeface="DejaVu Sans"/>
                <a:ea typeface="DejaVu Sans"/>
                <a:cs typeface="DejaVu Sans"/>
              </a:defRPr>
            </a:pPr>
            <a:r>
              <a:rPr sz="1650" b="0">
                <a:solidFill>
                  <a:srgbClr val="596B79"/>
                </a:solidFill>
                <a:latin typeface="DejaVu Sans"/>
                <a:ea typeface="DejaVu Sans"/>
                <a:cs typeface="DejaVu Sans"/>
              </a:rPr>
              <a:t>Illustrative workload. Choose group sizes to fit the actual limits.</a:t>
            </a:r>
          </a:p>
        </p:txBody>
      </p:sp>
      <p:sp>
        <p:nvSpPr>
          <p:cNvPr id="12" name="text-11">
            <a:extLst xmlns:a="http://schemas.openxmlformats.org/drawingml/2006/main">
              <a:ext uri="{FF2B5EF4-FFF2-40B4-BE49-F238E27FC236}">
                <a16:creationId xmlns:a16="http://schemas.microsoft.com/office/drawing/2014/main" id="{2CC89045-9CF1-46BA-882C-6E8AAA3847E5}"/>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3" name="text-12">
            <a:extLst xmlns:a="http://schemas.openxmlformats.org/drawingml/2006/main">
              <a:ext uri="{FF2B5EF4-FFF2-40B4-BE49-F238E27FC236}">
                <a16:creationId xmlns:a16="http://schemas.microsoft.com/office/drawing/2014/main" id="{AD1EFABA-B244-4538-B36A-9C53C1F9A463}"/>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38/56</a:t>
            </a:r>
          </a:p>
        </p:txBody>
      </p:sp>
    </p:spTree>
    <p:extLst>
      <p:ext uri="{BB962C8B-B14F-4D97-AF65-F5344CB8AC3E}">
        <p14:creationId xmlns:p14="http://schemas.microsoft.com/office/powerpoint/2010/main" val="1422983401"/>
      </p:ext>
    </p:extLst>
  </p:cSld>
</p:sld>
</file>

<file path=ppt/slides/slide39.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1" name="text-0">
            <a:extLst xmlns:a="http://schemas.openxmlformats.org/drawingml/2006/main">
              <a:ext uri="{FF2B5EF4-FFF2-40B4-BE49-F238E27FC236}">
                <a16:creationId xmlns:a16="http://schemas.microsoft.com/office/drawing/2014/main" id="{5E375A13-1D3D-4084-B0DF-6E3AED4E4A57}"/>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A batch is just a small group</a:t>
            </a:r>
          </a:p>
        </p:txBody>
      </p:sp>
      <p:sp>
        <p:nvSpPr>
          <p:cNvPr id="2" name="text-1">
            <a:extLst xmlns:a="http://schemas.openxmlformats.org/drawingml/2006/main">
              <a:ext uri="{FF2B5EF4-FFF2-40B4-BE49-F238E27FC236}">
                <a16:creationId xmlns:a16="http://schemas.microsoft.com/office/drawing/2014/main" id="{466A6C43-16D7-4D6B-B370-183B3A8B6BC4}"/>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Our practice: 12 files, four records per group</a:t>
            </a:r>
          </a:p>
        </p:txBody>
      </p:sp>
      <p:sp>
        <p:nvSpPr>
          <p:cNvPr id="3" name="text-2">
            <a:extLst xmlns:a="http://schemas.openxmlformats.org/drawingml/2006/main">
              <a:ext uri="{FF2B5EF4-FFF2-40B4-BE49-F238E27FC236}">
                <a16:creationId xmlns:a16="http://schemas.microsoft.com/office/drawing/2014/main" id="{C4F304D5-62D9-48E3-9E8A-BD32CC256E75}"/>
              </a:ext>
            </a:extLst>
          </p:cNvPr>
          <p:cNvSpPr>
            <a:spLocks xmlns:a="http://schemas.openxmlformats.org/drawingml/2006/main" noGrp="1"/>
          </p:cNvSpPr>
          <p:nvPr/>
        </p:nvSpPr>
        <p:spPr>
          <a:xfrm xmlns:a="http://schemas.openxmlformats.org/drawingml/2006/main">
            <a:off x="619125" y="2524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87E84"/>
                </a:solidFill>
                <a:latin typeface="DejaVu Sans"/>
                <a:ea typeface="DejaVu Sans"/>
                <a:cs typeface="DejaVu Sans"/>
              </a:defRPr>
            </a:defPPr>
          </a:lstStyle>
          <a:p xmlns:a="http://schemas.openxmlformats.org/drawingml/2006/main">
            <a:pPr>
              <a:defRPr sz="2100" b="1">
                <a:solidFill>
                  <a:srgbClr val="087E84"/>
                </a:solidFill>
                <a:latin typeface="DejaVu Sans"/>
                <a:ea typeface="DejaVu Sans"/>
                <a:cs typeface="DejaVu Sans"/>
              </a:defRPr>
            </a:pPr>
            <a:r>
              <a:rPr sz="2100" b="1">
                <a:solidFill>
                  <a:srgbClr val="087E84"/>
                </a:solidFill>
                <a:latin typeface="DejaVu Sans"/>
                <a:ea typeface="DejaVu Sans"/>
                <a:cs typeface="DejaVu Sans"/>
              </a:rPr>
              <a:t>Group 1</a:t>
            </a:r>
          </a:p>
        </p:txBody>
      </p:sp>
      <p:sp>
        <p:nvSpPr>
          <p:cNvPr id="4" name="diagram-3">
            <a:extLst xmlns:a="http://schemas.openxmlformats.org/drawingml/2006/main">
              <a:ext uri="{FF2B5EF4-FFF2-40B4-BE49-F238E27FC236}">
                <a16:creationId xmlns:a16="http://schemas.microsoft.com/office/drawing/2014/main" id="{88643668-4A2E-4AC1-BAED-1F436362D675}"/>
              </a:ext>
            </a:extLst>
          </p:cNvPr>
          <p:cNvSpPr>
            <a:spLocks xmlns:a="http://schemas.openxmlformats.org/drawingml/2006/main" noGrp="1"/>
          </p:cNvSpPr>
          <p:nvPr/>
        </p:nvSpPr>
        <p:spPr>
          <a:xfrm xmlns:a="http://schemas.openxmlformats.org/drawingml/2006/main">
            <a:off x="2667000" y="2381250"/>
            <a:ext cx="1619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P01</a:t>
            </a:r>
          </a:p>
        </p:txBody>
      </p:sp>
      <p:sp>
        <p:nvSpPr>
          <p:cNvPr id="5" name="diagram-4">
            <a:extLst xmlns:a="http://schemas.openxmlformats.org/drawingml/2006/main">
              <a:ext uri="{FF2B5EF4-FFF2-40B4-BE49-F238E27FC236}">
                <a16:creationId xmlns:a16="http://schemas.microsoft.com/office/drawing/2014/main" id="{9E831725-A1A0-4146-8127-F4B3A9CE062B}"/>
              </a:ext>
            </a:extLst>
          </p:cNvPr>
          <p:cNvSpPr>
            <a:spLocks xmlns:a="http://schemas.openxmlformats.org/drawingml/2006/main" noGrp="1"/>
          </p:cNvSpPr>
          <p:nvPr/>
        </p:nvSpPr>
        <p:spPr>
          <a:xfrm xmlns:a="http://schemas.openxmlformats.org/drawingml/2006/main">
            <a:off x="4762500" y="2381250"/>
            <a:ext cx="1619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P02</a:t>
            </a:r>
          </a:p>
        </p:txBody>
      </p:sp>
      <p:sp>
        <p:nvSpPr>
          <p:cNvPr id="6" name="diagram-5">
            <a:extLst xmlns:a="http://schemas.openxmlformats.org/drawingml/2006/main">
              <a:ext uri="{FF2B5EF4-FFF2-40B4-BE49-F238E27FC236}">
                <a16:creationId xmlns:a16="http://schemas.microsoft.com/office/drawing/2014/main" id="{2299B931-A7C6-44D0-B392-EAFB806840DF}"/>
              </a:ext>
            </a:extLst>
          </p:cNvPr>
          <p:cNvSpPr>
            <a:spLocks xmlns:a="http://schemas.openxmlformats.org/drawingml/2006/main" noGrp="1"/>
          </p:cNvSpPr>
          <p:nvPr/>
        </p:nvSpPr>
        <p:spPr>
          <a:xfrm xmlns:a="http://schemas.openxmlformats.org/drawingml/2006/main">
            <a:off x="6858000" y="2381250"/>
            <a:ext cx="1619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P03</a:t>
            </a:r>
          </a:p>
        </p:txBody>
      </p:sp>
      <p:sp>
        <p:nvSpPr>
          <p:cNvPr id="7" name="diagram-6">
            <a:extLst xmlns:a="http://schemas.openxmlformats.org/drawingml/2006/main">
              <a:ext uri="{FF2B5EF4-FFF2-40B4-BE49-F238E27FC236}">
                <a16:creationId xmlns:a16="http://schemas.microsoft.com/office/drawing/2014/main" id="{4CDC8619-D478-461F-A680-DD0C6D3E657B}"/>
              </a:ext>
            </a:extLst>
          </p:cNvPr>
          <p:cNvSpPr>
            <a:spLocks xmlns:a="http://schemas.openxmlformats.org/drawingml/2006/main" noGrp="1"/>
          </p:cNvSpPr>
          <p:nvPr/>
        </p:nvSpPr>
        <p:spPr>
          <a:xfrm xmlns:a="http://schemas.openxmlformats.org/drawingml/2006/main">
            <a:off x="8953500" y="2381250"/>
            <a:ext cx="1619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P04</a:t>
            </a:r>
          </a:p>
        </p:txBody>
      </p:sp>
      <p:sp>
        <p:nvSpPr>
          <p:cNvPr id="8" name="text-7">
            <a:extLst xmlns:a="http://schemas.openxmlformats.org/drawingml/2006/main">
              <a:ext uri="{FF2B5EF4-FFF2-40B4-BE49-F238E27FC236}">
                <a16:creationId xmlns:a16="http://schemas.microsoft.com/office/drawing/2014/main" id="{7F7A4376-85A9-4D8E-9161-D76BE1709ECA}"/>
              </a:ext>
            </a:extLst>
          </p:cNvPr>
          <p:cNvSpPr>
            <a:spLocks xmlns:a="http://schemas.openxmlformats.org/drawingml/2006/main" noGrp="1"/>
          </p:cNvSpPr>
          <p:nvPr/>
        </p:nvSpPr>
        <p:spPr>
          <a:xfrm xmlns:a="http://schemas.openxmlformats.org/drawingml/2006/main">
            <a:off x="619125" y="3714750"/>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87E84"/>
                </a:solidFill>
                <a:latin typeface="DejaVu Sans"/>
                <a:ea typeface="DejaVu Sans"/>
                <a:cs typeface="DejaVu Sans"/>
              </a:defRPr>
            </a:defPPr>
          </a:lstStyle>
          <a:p xmlns:a="http://schemas.openxmlformats.org/drawingml/2006/main">
            <a:pPr>
              <a:defRPr sz="2100" b="1">
                <a:solidFill>
                  <a:srgbClr val="087E84"/>
                </a:solidFill>
                <a:latin typeface="DejaVu Sans"/>
                <a:ea typeface="DejaVu Sans"/>
                <a:cs typeface="DejaVu Sans"/>
              </a:defRPr>
            </a:pPr>
            <a:r>
              <a:rPr sz="2100" b="1">
                <a:solidFill>
                  <a:srgbClr val="087E84"/>
                </a:solidFill>
                <a:latin typeface="DejaVu Sans"/>
                <a:ea typeface="DejaVu Sans"/>
                <a:cs typeface="DejaVu Sans"/>
              </a:rPr>
              <a:t>Group 2</a:t>
            </a:r>
          </a:p>
        </p:txBody>
      </p:sp>
      <p:sp>
        <p:nvSpPr>
          <p:cNvPr id="9" name="diagram-8">
            <a:extLst xmlns:a="http://schemas.openxmlformats.org/drawingml/2006/main">
              <a:ext uri="{FF2B5EF4-FFF2-40B4-BE49-F238E27FC236}">
                <a16:creationId xmlns:a16="http://schemas.microsoft.com/office/drawing/2014/main" id="{42FADA1A-1F43-46D0-8F55-C4F822E21EFD}"/>
              </a:ext>
            </a:extLst>
          </p:cNvPr>
          <p:cNvSpPr>
            <a:spLocks xmlns:a="http://schemas.openxmlformats.org/drawingml/2006/main" noGrp="1"/>
          </p:cNvSpPr>
          <p:nvPr/>
        </p:nvSpPr>
        <p:spPr>
          <a:xfrm xmlns:a="http://schemas.openxmlformats.org/drawingml/2006/main">
            <a:off x="2667000" y="3571875"/>
            <a:ext cx="1619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P05</a:t>
            </a:r>
          </a:p>
        </p:txBody>
      </p:sp>
      <p:sp>
        <p:nvSpPr>
          <p:cNvPr id="10" name="diagram-9">
            <a:extLst xmlns:a="http://schemas.openxmlformats.org/drawingml/2006/main">
              <a:ext uri="{FF2B5EF4-FFF2-40B4-BE49-F238E27FC236}">
                <a16:creationId xmlns:a16="http://schemas.microsoft.com/office/drawing/2014/main" id="{45AB1036-D298-4102-A17A-295A07C5D08E}"/>
              </a:ext>
            </a:extLst>
          </p:cNvPr>
          <p:cNvSpPr>
            <a:spLocks xmlns:a="http://schemas.openxmlformats.org/drawingml/2006/main" noGrp="1"/>
          </p:cNvSpPr>
          <p:nvPr/>
        </p:nvSpPr>
        <p:spPr>
          <a:xfrm xmlns:a="http://schemas.openxmlformats.org/drawingml/2006/main">
            <a:off x="4762500" y="3571875"/>
            <a:ext cx="1619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P06</a:t>
            </a:r>
          </a:p>
        </p:txBody>
      </p:sp>
      <p:sp>
        <p:nvSpPr>
          <p:cNvPr id="11" name="diagram-10">
            <a:extLst xmlns:a="http://schemas.openxmlformats.org/drawingml/2006/main">
              <a:ext uri="{FF2B5EF4-FFF2-40B4-BE49-F238E27FC236}">
                <a16:creationId xmlns:a16="http://schemas.microsoft.com/office/drawing/2014/main" id="{46F4DA55-1FD1-4712-BE92-D894F1400E16}"/>
              </a:ext>
            </a:extLst>
          </p:cNvPr>
          <p:cNvSpPr>
            <a:spLocks xmlns:a="http://schemas.openxmlformats.org/drawingml/2006/main" noGrp="1"/>
          </p:cNvSpPr>
          <p:nvPr/>
        </p:nvSpPr>
        <p:spPr>
          <a:xfrm xmlns:a="http://schemas.openxmlformats.org/drawingml/2006/main">
            <a:off x="6858000" y="3571875"/>
            <a:ext cx="1619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P07</a:t>
            </a:r>
          </a:p>
        </p:txBody>
      </p:sp>
      <p:sp>
        <p:nvSpPr>
          <p:cNvPr id="12" name="diagram-11">
            <a:extLst xmlns:a="http://schemas.openxmlformats.org/drawingml/2006/main">
              <a:ext uri="{FF2B5EF4-FFF2-40B4-BE49-F238E27FC236}">
                <a16:creationId xmlns:a16="http://schemas.microsoft.com/office/drawing/2014/main" id="{C003DE13-6DC3-41E9-AB45-E11F6F876FC0}"/>
              </a:ext>
            </a:extLst>
          </p:cNvPr>
          <p:cNvSpPr>
            <a:spLocks xmlns:a="http://schemas.openxmlformats.org/drawingml/2006/main" noGrp="1"/>
          </p:cNvSpPr>
          <p:nvPr/>
        </p:nvSpPr>
        <p:spPr>
          <a:xfrm xmlns:a="http://schemas.openxmlformats.org/drawingml/2006/main">
            <a:off x="8953500" y="3571875"/>
            <a:ext cx="1619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P08</a:t>
            </a:r>
          </a:p>
        </p:txBody>
      </p:sp>
      <p:sp>
        <p:nvSpPr>
          <p:cNvPr id="13" name="text-12">
            <a:extLst xmlns:a="http://schemas.openxmlformats.org/drawingml/2006/main">
              <a:ext uri="{FF2B5EF4-FFF2-40B4-BE49-F238E27FC236}">
                <a16:creationId xmlns:a16="http://schemas.microsoft.com/office/drawing/2014/main" id="{21942636-C7BD-4038-836C-D9839C22FF16}"/>
              </a:ext>
            </a:extLst>
          </p:cNvPr>
          <p:cNvSpPr>
            <a:spLocks xmlns:a="http://schemas.openxmlformats.org/drawingml/2006/main" noGrp="1"/>
          </p:cNvSpPr>
          <p:nvPr/>
        </p:nvSpPr>
        <p:spPr>
          <a:xfrm xmlns:a="http://schemas.openxmlformats.org/drawingml/2006/main">
            <a:off x="619125" y="490537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87E84"/>
                </a:solidFill>
                <a:latin typeface="DejaVu Sans"/>
                <a:ea typeface="DejaVu Sans"/>
                <a:cs typeface="DejaVu Sans"/>
              </a:defRPr>
            </a:defPPr>
          </a:lstStyle>
          <a:p xmlns:a="http://schemas.openxmlformats.org/drawingml/2006/main">
            <a:pPr>
              <a:defRPr sz="2100" b="1">
                <a:solidFill>
                  <a:srgbClr val="087E84"/>
                </a:solidFill>
                <a:latin typeface="DejaVu Sans"/>
                <a:ea typeface="DejaVu Sans"/>
                <a:cs typeface="DejaVu Sans"/>
              </a:defRPr>
            </a:pPr>
            <a:r>
              <a:rPr sz="2100" b="1">
                <a:solidFill>
                  <a:srgbClr val="087E84"/>
                </a:solidFill>
                <a:latin typeface="DejaVu Sans"/>
                <a:ea typeface="DejaVu Sans"/>
                <a:cs typeface="DejaVu Sans"/>
              </a:rPr>
              <a:t>Group 3</a:t>
            </a:r>
          </a:p>
        </p:txBody>
      </p:sp>
      <p:sp>
        <p:nvSpPr>
          <p:cNvPr id="14" name="diagram-13">
            <a:extLst xmlns:a="http://schemas.openxmlformats.org/drawingml/2006/main">
              <a:ext uri="{FF2B5EF4-FFF2-40B4-BE49-F238E27FC236}">
                <a16:creationId xmlns:a16="http://schemas.microsoft.com/office/drawing/2014/main" id="{A167276D-7E30-4EF5-BD90-E51AD15D6BB5}"/>
              </a:ext>
            </a:extLst>
          </p:cNvPr>
          <p:cNvSpPr>
            <a:spLocks xmlns:a="http://schemas.openxmlformats.org/drawingml/2006/main" noGrp="1"/>
          </p:cNvSpPr>
          <p:nvPr/>
        </p:nvSpPr>
        <p:spPr>
          <a:xfrm xmlns:a="http://schemas.openxmlformats.org/drawingml/2006/main">
            <a:off x="2667000" y="4762500"/>
            <a:ext cx="1619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P09</a:t>
            </a:r>
          </a:p>
        </p:txBody>
      </p:sp>
      <p:sp>
        <p:nvSpPr>
          <p:cNvPr id="15" name="diagram-14">
            <a:extLst xmlns:a="http://schemas.openxmlformats.org/drawingml/2006/main">
              <a:ext uri="{FF2B5EF4-FFF2-40B4-BE49-F238E27FC236}">
                <a16:creationId xmlns:a16="http://schemas.microsoft.com/office/drawing/2014/main" id="{C246CE6E-6C9C-403A-9DE1-07AFF7B1F308}"/>
              </a:ext>
            </a:extLst>
          </p:cNvPr>
          <p:cNvSpPr>
            <a:spLocks xmlns:a="http://schemas.openxmlformats.org/drawingml/2006/main" noGrp="1"/>
          </p:cNvSpPr>
          <p:nvPr/>
        </p:nvSpPr>
        <p:spPr>
          <a:xfrm xmlns:a="http://schemas.openxmlformats.org/drawingml/2006/main">
            <a:off x="4762500" y="4762500"/>
            <a:ext cx="1619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P10</a:t>
            </a:r>
          </a:p>
        </p:txBody>
      </p:sp>
      <p:sp>
        <p:nvSpPr>
          <p:cNvPr id="16" name="diagram-15">
            <a:extLst xmlns:a="http://schemas.openxmlformats.org/drawingml/2006/main">
              <a:ext uri="{FF2B5EF4-FFF2-40B4-BE49-F238E27FC236}">
                <a16:creationId xmlns:a16="http://schemas.microsoft.com/office/drawing/2014/main" id="{28E56C87-5BC1-4924-B1F2-9B7DB4A2B629}"/>
              </a:ext>
            </a:extLst>
          </p:cNvPr>
          <p:cNvSpPr>
            <a:spLocks xmlns:a="http://schemas.openxmlformats.org/drawingml/2006/main" noGrp="1"/>
          </p:cNvSpPr>
          <p:nvPr/>
        </p:nvSpPr>
        <p:spPr>
          <a:xfrm xmlns:a="http://schemas.openxmlformats.org/drawingml/2006/main">
            <a:off x="6858000" y="4762500"/>
            <a:ext cx="1619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P11</a:t>
            </a:r>
          </a:p>
        </p:txBody>
      </p:sp>
      <p:sp>
        <p:nvSpPr>
          <p:cNvPr id="17" name="diagram-16">
            <a:extLst xmlns:a="http://schemas.openxmlformats.org/drawingml/2006/main">
              <a:ext uri="{FF2B5EF4-FFF2-40B4-BE49-F238E27FC236}">
                <a16:creationId xmlns:a16="http://schemas.microsoft.com/office/drawing/2014/main" id="{5F41DE9B-0702-481E-A5F3-12A01936168F}"/>
              </a:ext>
            </a:extLst>
          </p:cNvPr>
          <p:cNvSpPr>
            <a:spLocks xmlns:a="http://schemas.openxmlformats.org/drawingml/2006/main" noGrp="1"/>
          </p:cNvSpPr>
          <p:nvPr/>
        </p:nvSpPr>
        <p:spPr>
          <a:xfrm xmlns:a="http://schemas.openxmlformats.org/drawingml/2006/main">
            <a:off x="8953500" y="4762500"/>
            <a:ext cx="1619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P12</a:t>
            </a:r>
          </a:p>
        </p:txBody>
      </p:sp>
      <p:sp>
        <p:nvSpPr>
          <p:cNvPr id="18" name="text-17">
            <a:extLst xmlns:a="http://schemas.openxmlformats.org/drawingml/2006/main">
              <a:ext uri="{FF2B5EF4-FFF2-40B4-BE49-F238E27FC236}">
                <a16:creationId xmlns:a16="http://schemas.microsoft.com/office/drawing/2014/main" id="{766B9BE7-0C5A-453E-AC10-7E2BA837A20B}"/>
              </a:ext>
            </a:extLst>
          </p:cNvPr>
          <p:cNvSpPr>
            <a:spLocks xmlns:a="http://schemas.openxmlformats.org/drawingml/2006/main" noGrp="1"/>
          </p:cNvSpPr>
          <p:nvPr/>
        </p:nvSpPr>
        <p:spPr>
          <a:xfrm xmlns:a="http://schemas.openxmlformats.org/drawingml/2006/main">
            <a:off x="666750" y="600075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87E84"/>
                </a:solidFill>
                <a:latin typeface="DejaVu Sans"/>
                <a:ea typeface="DejaVu Sans"/>
                <a:cs typeface="DejaVu Sans"/>
              </a:defRPr>
            </a:defPPr>
          </a:lstStyle>
          <a:p xmlns:a="http://schemas.openxmlformats.org/drawingml/2006/main">
            <a:pPr>
              <a:defRPr sz="1875" b="1">
                <a:solidFill>
                  <a:srgbClr val="087E84"/>
                </a:solidFill>
                <a:latin typeface="DejaVu Sans"/>
                <a:ea typeface="DejaVu Sans"/>
                <a:cs typeface="DejaVu Sans"/>
              </a:defRPr>
            </a:pPr>
            <a:r>
              <a:rPr sz="1875" b="1">
                <a:solidFill>
                  <a:srgbClr val="087E84"/>
                </a:solidFill>
                <a:latin typeface="DejaVu Sans"/>
                <a:ea typeface="DejaVu Sans"/>
                <a:cs typeface="DejaVu Sans"/>
              </a:rPr>
              <a:t>4 records + 4 records + 4 records = 12 saved records</a:t>
            </a:r>
          </a:p>
        </p:txBody>
      </p:sp>
      <p:sp>
        <p:nvSpPr>
          <p:cNvPr id="19" name="text-18">
            <a:extLst xmlns:a="http://schemas.openxmlformats.org/drawingml/2006/main">
              <a:ext uri="{FF2B5EF4-FFF2-40B4-BE49-F238E27FC236}">
                <a16:creationId xmlns:a16="http://schemas.microsoft.com/office/drawing/2014/main" id="{231AD4AA-A670-4E0D-8D2E-AC04CB093422}"/>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20" name="text-19">
            <a:extLst xmlns:a="http://schemas.openxmlformats.org/drawingml/2006/main">
              <a:ext uri="{FF2B5EF4-FFF2-40B4-BE49-F238E27FC236}">
                <a16:creationId xmlns:a16="http://schemas.microsoft.com/office/drawing/2014/main" id="{B697A842-8A69-44AB-BECF-74F908131022}"/>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39/56</a:t>
            </a:r>
          </a:p>
        </p:txBody>
      </p:sp>
    </p:spTree>
    <p:extLst>
      <p:ext uri="{BB962C8B-B14F-4D97-AF65-F5344CB8AC3E}">
        <p14:creationId xmlns:p14="http://schemas.microsoft.com/office/powerpoint/2010/main" val="756059176"/>
      </p:ext>
    </p:extLst>
  </p:cSld>
</p:sld>
</file>

<file path=ppt/slides/slide40.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226AD72C-F476-4A66-9AC3-F5AA06696FFD}"/>
              </a:ext>
            </a:extLst>
          </p:cNvPr>
          <p:cNvCxnSpPr>
            <a:stCxn xmlns:a="http://schemas.openxmlformats.org/drawingml/2006/main" id="5" idx="3"/>
            <a:endCxn xmlns:a="http://schemas.openxmlformats.org/drawingml/2006/main" id="6" idx="1"/>
          </p:cNvCxnSpPr>
          <p:nvPr/>
        </p:nvCxnSpPr>
        <p:spPr>
          <a:xfrm xmlns:a="http://schemas.openxmlformats.org/drawingml/2006/main">
            <a:off x="8763000" y="3762375"/>
            <a:ext cx="28575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9C4378F9-50D5-429B-900F-E072B4DC41E1}"/>
              </a:ext>
            </a:extLst>
          </p:cNvPr>
          <p:cNvCxnSpPr>
            <a:stCxn xmlns:a="http://schemas.openxmlformats.org/drawingml/2006/main" id="4" idx="3"/>
            <a:endCxn xmlns:a="http://schemas.openxmlformats.org/drawingml/2006/main" id="5" idx="1"/>
          </p:cNvCxnSpPr>
          <p:nvPr/>
        </p:nvCxnSpPr>
        <p:spPr>
          <a:xfrm xmlns:a="http://schemas.openxmlformats.org/drawingml/2006/main">
            <a:off x="5953125" y="3762375"/>
            <a:ext cx="28575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1E31CB8A-7FE5-47DA-AE9D-94E475D7DD90}"/>
              </a:ext>
            </a:extLst>
          </p:cNvPr>
          <p:cNvCxnSpPr>
            <a:stCxn xmlns:a="http://schemas.openxmlformats.org/drawingml/2006/main" id="3" idx="3"/>
            <a:endCxn xmlns:a="http://schemas.openxmlformats.org/drawingml/2006/main" id="4" idx="1"/>
          </p:cNvCxnSpPr>
          <p:nvPr/>
        </p:nvCxnSpPr>
        <p:spPr>
          <a:xfrm xmlns:a="http://schemas.openxmlformats.org/drawingml/2006/main">
            <a:off x="3143250" y="3762375"/>
            <a:ext cx="28575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12" name="text-0">
            <a:extLst xmlns:a="http://schemas.openxmlformats.org/drawingml/2006/main">
              <a:ext uri="{FF2B5EF4-FFF2-40B4-BE49-F238E27FC236}">
                <a16:creationId xmlns:a16="http://schemas.microsoft.com/office/drawing/2014/main" id="{8768690E-CDEE-4401-85B2-A7EF5C416E34}"/>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Saving more information</a:t>
            </a:r>
          </a:p>
        </p:txBody>
      </p:sp>
      <p:sp>
        <p:nvSpPr>
          <p:cNvPr id="2" name="text-1">
            <a:extLst xmlns:a="http://schemas.openxmlformats.org/drawingml/2006/main">
              <a:ext uri="{FF2B5EF4-FFF2-40B4-BE49-F238E27FC236}">
                <a16:creationId xmlns:a16="http://schemas.microsoft.com/office/drawing/2014/main" id="{8F525947-7217-4EEB-97D3-75797D4DEF11}"/>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Repeat a short sequence for each group</a:t>
            </a:r>
          </a:p>
        </p:txBody>
      </p:sp>
      <p:sp>
        <p:nvSpPr>
          <p:cNvPr id="3" name="diagram-2">
            <a:extLst xmlns:a="http://schemas.openxmlformats.org/drawingml/2006/main">
              <a:ext uri="{FF2B5EF4-FFF2-40B4-BE49-F238E27FC236}">
                <a16:creationId xmlns:a16="http://schemas.microsoft.com/office/drawing/2014/main" id="{A8C68D10-AB05-4F5E-8094-C4920FBC1285}"/>
              </a:ext>
            </a:extLst>
          </p:cNvPr>
          <p:cNvSpPr>
            <a:spLocks xmlns:a="http://schemas.openxmlformats.org/drawingml/2006/main" noGrp="1"/>
          </p:cNvSpPr>
          <p:nvPr/>
        </p:nvSpPr>
        <p:spPr>
          <a:xfrm xmlns:a="http://schemas.openxmlformats.org/drawingml/2006/main">
            <a:off x="619125" y="3048000"/>
            <a:ext cx="2524125" cy="1428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Read a group</a:t>
            </a:r>
          </a:p>
        </p:txBody>
      </p:sp>
      <p:sp>
        <p:nvSpPr>
          <p:cNvPr id="4" name="diagram-3">
            <a:extLst xmlns:a="http://schemas.openxmlformats.org/drawingml/2006/main">
              <a:ext uri="{FF2B5EF4-FFF2-40B4-BE49-F238E27FC236}">
                <a16:creationId xmlns:a16="http://schemas.microsoft.com/office/drawing/2014/main" id="{55439384-0533-4993-AAFB-9F66ED2B2FD8}"/>
              </a:ext>
            </a:extLst>
          </p:cNvPr>
          <p:cNvSpPr>
            <a:spLocks xmlns:a="http://schemas.openxmlformats.org/drawingml/2006/main" noGrp="1"/>
          </p:cNvSpPr>
          <p:nvPr/>
        </p:nvSpPr>
        <p:spPr>
          <a:xfrm xmlns:a="http://schemas.openxmlformats.org/drawingml/2006/main">
            <a:off x="3429000" y="3048000"/>
            <a:ext cx="2524125" cy="1428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Create its vectors</a:t>
            </a:r>
          </a:p>
        </p:txBody>
      </p:sp>
      <p:sp>
        <p:nvSpPr>
          <p:cNvPr id="5" name="diagram-4">
            <a:extLst xmlns:a="http://schemas.openxmlformats.org/drawingml/2006/main">
              <a:ext uri="{FF2B5EF4-FFF2-40B4-BE49-F238E27FC236}">
                <a16:creationId xmlns:a16="http://schemas.microsoft.com/office/drawing/2014/main" id="{CC312385-8668-42E4-8982-3B831101B6E6}"/>
              </a:ext>
            </a:extLst>
          </p:cNvPr>
          <p:cNvSpPr>
            <a:spLocks xmlns:a="http://schemas.openxmlformats.org/drawingml/2006/main" noGrp="1"/>
          </p:cNvSpPr>
          <p:nvPr/>
        </p:nvSpPr>
        <p:spPr>
          <a:xfrm xmlns:a="http://schemas.openxmlformats.org/drawingml/2006/main">
            <a:off x="6238875" y="3048000"/>
            <a:ext cx="2524125" cy="1428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Save its records</a:t>
            </a:r>
          </a:p>
        </p:txBody>
      </p:sp>
      <p:sp>
        <p:nvSpPr>
          <p:cNvPr id="6" name="diagram-5">
            <a:extLst xmlns:a="http://schemas.openxmlformats.org/drawingml/2006/main">
              <a:ext uri="{FF2B5EF4-FFF2-40B4-BE49-F238E27FC236}">
                <a16:creationId xmlns:a16="http://schemas.microsoft.com/office/drawing/2014/main" id="{F7BB96B3-118D-4A69-8570-A1757C3203E2}"/>
              </a:ext>
            </a:extLst>
          </p:cNvPr>
          <p:cNvSpPr>
            <a:spLocks xmlns:a="http://schemas.openxmlformats.org/drawingml/2006/main" noGrp="1"/>
          </p:cNvSpPr>
          <p:nvPr/>
        </p:nvSpPr>
        <p:spPr>
          <a:xfrm xmlns:a="http://schemas.openxmlformats.org/drawingml/2006/main">
            <a:off x="9048750" y="3048000"/>
            <a:ext cx="2524125" cy="1428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Next group</a:t>
            </a:r>
          </a:p>
        </p:txBody>
      </p:sp>
      <p:sp>
        <p:nvSpPr>
          <p:cNvPr id="10" name="text-9">
            <a:extLst xmlns:a="http://schemas.openxmlformats.org/drawingml/2006/main">
              <a:ext uri="{FF2B5EF4-FFF2-40B4-BE49-F238E27FC236}">
                <a16:creationId xmlns:a16="http://schemas.microsoft.com/office/drawing/2014/main" id="{81310F47-575A-481C-B5F8-68E7A8C181F2}"/>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1" name="text-10">
            <a:extLst xmlns:a="http://schemas.openxmlformats.org/drawingml/2006/main">
              <a:ext uri="{FF2B5EF4-FFF2-40B4-BE49-F238E27FC236}">
                <a16:creationId xmlns:a16="http://schemas.microsoft.com/office/drawing/2014/main" id="{B5C27AB8-FC13-4A68-9965-5DDC3EC038AA}"/>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40/56</a:t>
            </a:r>
          </a:p>
        </p:txBody>
      </p:sp>
    </p:spTree>
    <p:extLst>
      <p:ext uri="{BB962C8B-B14F-4D97-AF65-F5344CB8AC3E}">
        <p14:creationId xmlns:p14="http://schemas.microsoft.com/office/powerpoint/2010/main" val="624053433"/>
      </p:ext>
    </p:extLst>
  </p:cSld>
</p:sld>
</file>

<file path=ppt/slides/slide4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D97995E8-93C7-4819-B3BB-2AE2777F02D1}"/>
              </a:ext>
            </a:extLst>
          </p:cNvPr>
          <p:cNvCxnSpPr>
            <a:stCxn xmlns:a="http://schemas.openxmlformats.org/drawingml/2006/main" id="6" idx="3"/>
            <a:endCxn xmlns:a="http://schemas.openxmlformats.org/drawingml/2006/main" id="7" idx="1"/>
          </p:cNvCxnSpPr>
          <p:nvPr/>
        </p:nvCxnSpPr>
        <p:spPr>
          <a:xfrm xmlns:a="http://schemas.openxmlformats.org/drawingml/2006/main">
            <a:off x="7572375" y="4143375"/>
            <a:ext cx="104775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9A7CAFDC-2F22-4001-BA62-627711278F21}"/>
              </a:ext>
            </a:extLst>
          </p:cNvPr>
          <p:cNvCxnSpPr>
            <a:stCxn xmlns:a="http://schemas.openxmlformats.org/drawingml/2006/main" id="5" idx="3"/>
            <a:endCxn xmlns:a="http://schemas.openxmlformats.org/drawingml/2006/main" id="6" idx="1"/>
          </p:cNvCxnSpPr>
          <p:nvPr/>
        </p:nvCxnSpPr>
        <p:spPr>
          <a:xfrm xmlns:a="http://schemas.openxmlformats.org/drawingml/2006/main" flipV="1">
            <a:off x="3000375" y="4143375"/>
            <a:ext cx="1524000" cy="133350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7A9993B2-07CA-4D7F-925F-D1DC22BFD828}"/>
              </a:ext>
            </a:extLst>
          </p:cNvPr>
          <p:cNvCxnSpPr>
            <a:stCxn xmlns:a="http://schemas.openxmlformats.org/drawingml/2006/main" id="4" idx="3"/>
            <a:endCxn xmlns:a="http://schemas.openxmlformats.org/drawingml/2006/main" id="6" idx="1"/>
          </p:cNvCxnSpPr>
          <p:nvPr/>
        </p:nvCxnSpPr>
        <p:spPr>
          <a:xfrm xmlns:a="http://schemas.openxmlformats.org/drawingml/2006/main">
            <a:off x="3000375" y="4095750"/>
            <a:ext cx="1524000" cy="47625"/>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BE9CD1B2-37F4-42C2-BDD2-A77A6961F738}"/>
              </a:ext>
            </a:extLst>
          </p:cNvPr>
          <p:cNvCxnSpPr>
            <a:stCxn xmlns:a="http://schemas.openxmlformats.org/drawingml/2006/main" id="3" idx="3"/>
            <a:endCxn xmlns:a="http://schemas.openxmlformats.org/drawingml/2006/main" id="6" idx="1"/>
          </p:cNvCxnSpPr>
          <p:nvPr/>
        </p:nvCxnSpPr>
        <p:spPr>
          <a:xfrm xmlns:a="http://schemas.openxmlformats.org/drawingml/2006/main">
            <a:off x="3000375" y="2714625"/>
            <a:ext cx="1524000" cy="142875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15" name="text-0">
            <a:extLst xmlns:a="http://schemas.openxmlformats.org/drawingml/2006/main">
              <a:ext uri="{FF2B5EF4-FFF2-40B4-BE49-F238E27FC236}">
                <a16:creationId xmlns:a16="http://schemas.microsoft.com/office/drawing/2014/main" id="{4E3718E5-1899-4016-BA4C-D47982A0408A}"/>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Many searches can reuse the saved vectors</a:t>
            </a:r>
          </a:p>
        </p:txBody>
      </p:sp>
      <p:sp>
        <p:nvSpPr>
          <p:cNvPr id="2" name="text-1">
            <a:extLst xmlns:a="http://schemas.openxmlformats.org/drawingml/2006/main">
              <a:ext uri="{FF2B5EF4-FFF2-40B4-BE49-F238E27FC236}">
                <a16:creationId xmlns:a16="http://schemas.microsoft.com/office/drawing/2014/main" id="{3D43991B-311C-424E-9598-40118C42E642}"/>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New questions do not rebuild the document collection</a:t>
            </a:r>
          </a:p>
        </p:txBody>
      </p:sp>
      <p:sp>
        <p:nvSpPr>
          <p:cNvPr id="3" name="diagram-2">
            <a:extLst xmlns:a="http://schemas.openxmlformats.org/drawingml/2006/main">
              <a:ext uri="{FF2B5EF4-FFF2-40B4-BE49-F238E27FC236}">
                <a16:creationId xmlns:a16="http://schemas.microsoft.com/office/drawing/2014/main" id="{A87544C8-938F-4156-8D93-D265E112FB09}"/>
              </a:ext>
            </a:extLst>
          </p:cNvPr>
          <p:cNvSpPr>
            <a:spLocks xmlns:a="http://schemas.openxmlformats.org/drawingml/2006/main" noGrp="1"/>
          </p:cNvSpPr>
          <p:nvPr/>
        </p:nvSpPr>
        <p:spPr>
          <a:xfrm xmlns:a="http://schemas.openxmlformats.org/drawingml/2006/main">
            <a:off x="619125" y="2333625"/>
            <a:ext cx="2381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Question 1</a:t>
            </a:r>
          </a:p>
        </p:txBody>
      </p:sp>
      <p:sp>
        <p:nvSpPr>
          <p:cNvPr id="4" name="diagram-3">
            <a:extLst xmlns:a="http://schemas.openxmlformats.org/drawingml/2006/main">
              <a:ext uri="{FF2B5EF4-FFF2-40B4-BE49-F238E27FC236}">
                <a16:creationId xmlns:a16="http://schemas.microsoft.com/office/drawing/2014/main" id="{A31D5222-9826-4445-9B0A-63669EDCC6A4}"/>
              </a:ext>
            </a:extLst>
          </p:cNvPr>
          <p:cNvSpPr>
            <a:spLocks xmlns:a="http://schemas.openxmlformats.org/drawingml/2006/main" noGrp="1"/>
          </p:cNvSpPr>
          <p:nvPr/>
        </p:nvSpPr>
        <p:spPr>
          <a:xfrm xmlns:a="http://schemas.openxmlformats.org/drawingml/2006/main">
            <a:off x="619125" y="3714750"/>
            <a:ext cx="2381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Question 2</a:t>
            </a:r>
          </a:p>
        </p:txBody>
      </p:sp>
      <p:sp>
        <p:nvSpPr>
          <p:cNvPr id="5" name="diagram-4">
            <a:extLst xmlns:a="http://schemas.openxmlformats.org/drawingml/2006/main">
              <a:ext uri="{FF2B5EF4-FFF2-40B4-BE49-F238E27FC236}">
                <a16:creationId xmlns:a16="http://schemas.microsoft.com/office/drawing/2014/main" id="{0D07A02B-FF7B-49A1-BB9E-CC80F9BCA364}"/>
              </a:ext>
            </a:extLst>
          </p:cNvPr>
          <p:cNvSpPr>
            <a:spLocks xmlns:a="http://schemas.openxmlformats.org/drawingml/2006/main" noGrp="1"/>
          </p:cNvSpPr>
          <p:nvPr/>
        </p:nvSpPr>
        <p:spPr>
          <a:xfrm xmlns:a="http://schemas.openxmlformats.org/drawingml/2006/main">
            <a:off x="619125" y="5095875"/>
            <a:ext cx="2381250" cy="76200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Question 3</a:t>
            </a:r>
          </a:p>
        </p:txBody>
      </p:sp>
      <p:sp>
        <p:nvSpPr>
          <p:cNvPr id="6" name="diagram-5">
            <a:extLst xmlns:a="http://schemas.openxmlformats.org/drawingml/2006/main">
              <a:ext uri="{FF2B5EF4-FFF2-40B4-BE49-F238E27FC236}">
                <a16:creationId xmlns:a16="http://schemas.microsoft.com/office/drawing/2014/main" id="{8D7128FF-C3FA-424F-A3B1-A21B23759DC0}"/>
              </a:ext>
            </a:extLst>
          </p:cNvPr>
          <p:cNvSpPr>
            <a:spLocks xmlns:a="http://schemas.openxmlformats.org/drawingml/2006/main" noGrp="1"/>
          </p:cNvSpPr>
          <p:nvPr/>
        </p:nvSpPr>
        <p:spPr>
          <a:xfrm xmlns:a="http://schemas.openxmlformats.org/drawingml/2006/main">
            <a:off x="4524375" y="3429000"/>
            <a:ext cx="3048000" cy="1428750"/>
          </a:xfrm>
          <a:prstGeom xmlns:a="http://schemas.openxmlformats.org/drawingml/2006/main" prst="rect">
            <a:avLst/>
          </a:prstGeom>
          <a:solidFill xmlns:a="http://schemas.openxmlformats.org/drawingml/2006/main">
            <a:srgbClr val="F1E7D5"/>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Embedding model</a:t>
            </a:r>
          </a:p>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A vector per question</a:t>
            </a:r>
          </a:p>
        </p:txBody>
      </p:sp>
      <p:sp>
        <p:nvSpPr>
          <p:cNvPr id="7" name="diagram-6">
            <a:extLst xmlns:a="http://schemas.openxmlformats.org/drawingml/2006/main">
              <a:ext uri="{FF2B5EF4-FFF2-40B4-BE49-F238E27FC236}">
                <a16:creationId xmlns:a16="http://schemas.microsoft.com/office/drawing/2014/main" id="{84FE83B2-2A9D-43B8-B10C-4F011913A149}"/>
              </a:ext>
            </a:extLst>
          </p:cNvPr>
          <p:cNvSpPr>
            <a:spLocks xmlns:a="http://schemas.openxmlformats.org/drawingml/2006/main" noGrp="1"/>
          </p:cNvSpPr>
          <p:nvPr/>
        </p:nvSpPr>
        <p:spPr>
          <a:xfrm xmlns:a="http://schemas.openxmlformats.org/drawingml/2006/main">
            <a:off x="8620125" y="3429000"/>
            <a:ext cx="2952750" cy="1428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Saved policy vectors</a:t>
            </a:r>
          </a:p>
          <a:p xmlns:a="http://schemas.openxmlformats.org/drawingml/2006/main">
            <a:pPr algn="ctr">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Reused across searches</a:t>
            </a:r>
          </a:p>
        </p:txBody>
      </p:sp>
      <p:sp>
        <p:nvSpPr>
          <p:cNvPr id="12" name="text-11">
            <a:extLst xmlns:a="http://schemas.openxmlformats.org/drawingml/2006/main">
              <a:ext uri="{FF2B5EF4-FFF2-40B4-BE49-F238E27FC236}">
                <a16:creationId xmlns:a16="http://schemas.microsoft.com/office/drawing/2014/main" id="{57102F8F-4C6F-4E7C-A9FB-3AF9155A777D}"/>
              </a:ext>
            </a:extLst>
          </p:cNvPr>
          <p:cNvSpPr>
            <a:spLocks xmlns:a="http://schemas.openxmlformats.org/drawingml/2006/main" noGrp="1"/>
          </p:cNvSpPr>
          <p:nvPr/>
        </p:nvSpPr>
        <p:spPr>
          <a:xfrm xmlns:a="http://schemas.openxmlformats.org/drawingml/2006/main">
            <a:off x="619125" y="5981700"/>
            <a:ext cx="1076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96B79"/>
                </a:solidFill>
                <a:latin typeface="DejaVu Sans"/>
                <a:ea typeface="DejaVu Sans"/>
                <a:cs typeface="DejaVu Sans"/>
              </a:defRPr>
            </a:defPPr>
          </a:lstStyle>
          <a:p xmlns:a="http://schemas.openxmlformats.org/drawingml/2006/main">
            <a:pPr>
              <a:defRPr sz="1725" b="0">
                <a:solidFill>
                  <a:srgbClr val="596B79"/>
                </a:solidFill>
                <a:latin typeface="DejaVu Sans"/>
                <a:ea typeface="DejaVu Sans"/>
                <a:cs typeface="DejaVu Sans"/>
              </a:defRPr>
            </a:pPr>
            <a:r>
              <a:rPr sz="1725" b="0">
                <a:solidFill>
                  <a:srgbClr val="596B79"/>
                </a:solidFill>
                <a:latin typeface="DejaVu Sans"/>
                <a:ea typeface="DejaVu Sans"/>
                <a:cs typeface="DejaVu Sans"/>
              </a:rPr>
              <a:t>The policy collection stays saved. New questions still use the API.</a:t>
            </a:r>
          </a:p>
        </p:txBody>
      </p:sp>
      <p:sp>
        <p:nvSpPr>
          <p:cNvPr id="13" name="text-12">
            <a:extLst xmlns:a="http://schemas.openxmlformats.org/drawingml/2006/main">
              <a:ext uri="{FF2B5EF4-FFF2-40B4-BE49-F238E27FC236}">
                <a16:creationId xmlns:a16="http://schemas.microsoft.com/office/drawing/2014/main" id="{883904C3-8A72-42CD-B54D-906A6E5685E7}"/>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4" name="text-13">
            <a:extLst xmlns:a="http://schemas.openxmlformats.org/drawingml/2006/main">
              <a:ext uri="{FF2B5EF4-FFF2-40B4-BE49-F238E27FC236}">
                <a16:creationId xmlns:a16="http://schemas.microsoft.com/office/drawing/2014/main" id="{FE76ED40-198A-4BF0-9E39-FA24C9C20145}"/>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41/56</a:t>
            </a:r>
          </a:p>
        </p:txBody>
      </p:sp>
    </p:spTree>
    <p:extLst>
      <p:ext uri="{BB962C8B-B14F-4D97-AF65-F5344CB8AC3E}">
        <p14:creationId xmlns:p14="http://schemas.microsoft.com/office/powerpoint/2010/main" val="247245837"/>
      </p:ext>
    </p:extLst>
  </p:cSld>
</p:sld>
</file>

<file path=ppt/slides/slide4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518D9860-3161-4FAE-B022-A948F7FDA633}"/>
              </a:ext>
            </a:extLst>
          </p:cNvPr>
          <p:cNvCxnSpPr>
            <a:stCxn xmlns:a="http://schemas.openxmlformats.org/drawingml/2006/main" id="5" idx="3"/>
            <a:endCxn xmlns:a="http://schemas.openxmlformats.org/drawingml/2006/main" id="6" idx="1"/>
          </p:cNvCxnSpPr>
          <p:nvPr/>
        </p:nvCxnSpPr>
        <p:spPr>
          <a:xfrm xmlns:a="http://schemas.openxmlformats.org/drawingml/2006/main">
            <a:off x="8763000" y="3762375"/>
            <a:ext cx="28575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57DDCF5B-3B12-42ED-84DC-0F24740ADFA4}"/>
              </a:ext>
            </a:extLst>
          </p:cNvPr>
          <p:cNvCxnSpPr>
            <a:stCxn xmlns:a="http://schemas.openxmlformats.org/drawingml/2006/main" id="4" idx="3"/>
            <a:endCxn xmlns:a="http://schemas.openxmlformats.org/drawingml/2006/main" id="5" idx="1"/>
          </p:cNvCxnSpPr>
          <p:nvPr/>
        </p:nvCxnSpPr>
        <p:spPr>
          <a:xfrm xmlns:a="http://schemas.openxmlformats.org/drawingml/2006/main">
            <a:off x="5953125" y="3762375"/>
            <a:ext cx="28575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3CBEF713-3495-4497-BADA-73D33BEF232F}"/>
              </a:ext>
            </a:extLst>
          </p:cNvPr>
          <p:cNvCxnSpPr>
            <a:stCxn xmlns:a="http://schemas.openxmlformats.org/drawingml/2006/main" id="3" idx="3"/>
            <a:endCxn xmlns:a="http://schemas.openxmlformats.org/drawingml/2006/main" id="4" idx="1"/>
          </p:cNvCxnSpPr>
          <p:nvPr/>
        </p:nvCxnSpPr>
        <p:spPr>
          <a:xfrm xmlns:a="http://schemas.openxmlformats.org/drawingml/2006/main">
            <a:off x="3143250" y="3762375"/>
            <a:ext cx="285750"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12" name="text-0">
            <a:extLst xmlns:a="http://schemas.openxmlformats.org/drawingml/2006/main">
              <a:ext uri="{FF2B5EF4-FFF2-40B4-BE49-F238E27FC236}">
                <a16:creationId xmlns:a16="http://schemas.microsoft.com/office/drawing/2014/main" id="{CA5D0B0B-C6AB-46EA-98CD-2830998332E8}"/>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A search over a growing collection</a:t>
            </a:r>
          </a:p>
        </p:txBody>
      </p:sp>
      <p:sp>
        <p:nvSpPr>
          <p:cNvPr id="2" name="text-1">
            <a:extLst xmlns:a="http://schemas.openxmlformats.org/drawingml/2006/main">
              <a:ext uri="{FF2B5EF4-FFF2-40B4-BE49-F238E27FC236}">
                <a16:creationId xmlns:a16="http://schemas.microsoft.com/office/drawing/2014/main" id="{C8039832-DF9C-4C3A-976F-4E55F1EFD53D}"/>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The returned answer set can stay small</a:t>
            </a:r>
          </a:p>
        </p:txBody>
      </p:sp>
      <p:sp>
        <p:nvSpPr>
          <p:cNvPr id="3" name="diagram-2">
            <a:extLst xmlns:a="http://schemas.openxmlformats.org/drawingml/2006/main">
              <a:ext uri="{FF2B5EF4-FFF2-40B4-BE49-F238E27FC236}">
                <a16:creationId xmlns:a16="http://schemas.microsoft.com/office/drawing/2014/main" id="{9D3BC304-9E6F-4C8C-98A1-449164E2CF70}"/>
              </a:ext>
            </a:extLst>
          </p:cNvPr>
          <p:cNvSpPr>
            <a:spLocks xmlns:a="http://schemas.openxmlformats.org/drawingml/2006/main" noGrp="1"/>
          </p:cNvSpPr>
          <p:nvPr/>
        </p:nvSpPr>
        <p:spPr>
          <a:xfrm xmlns:a="http://schemas.openxmlformats.org/drawingml/2006/main">
            <a:off x="619125" y="3048000"/>
            <a:ext cx="2524125" cy="1428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One question</a:t>
            </a:r>
          </a:p>
        </p:txBody>
      </p:sp>
      <p:sp>
        <p:nvSpPr>
          <p:cNvPr id="4" name="diagram-3">
            <a:extLst xmlns:a="http://schemas.openxmlformats.org/drawingml/2006/main">
              <a:ext uri="{FF2B5EF4-FFF2-40B4-BE49-F238E27FC236}">
                <a16:creationId xmlns:a16="http://schemas.microsoft.com/office/drawing/2014/main" id="{6079EFC9-F613-4B0A-9FC3-E753DB4D6073}"/>
              </a:ext>
            </a:extLst>
          </p:cNvPr>
          <p:cNvSpPr>
            <a:spLocks xmlns:a="http://schemas.openxmlformats.org/drawingml/2006/main" noGrp="1"/>
          </p:cNvSpPr>
          <p:nvPr/>
        </p:nvSpPr>
        <p:spPr>
          <a:xfrm xmlns:a="http://schemas.openxmlformats.org/drawingml/2006/main">
            <a:off x="3429000" y="3048000"/>
            <a:ext cx="2524125" cy="1428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One query vector</a:t>
            </a:r>
          </a:p>
        </p:txBody>
      </p:sp>
      <p:sp>
        <p:nvSpPr>
          <p:cNvPr id="5" name="diagram-4">
            <a:extLst xmlns:a="http://schemas.openxmlformats.org/drawingml/2006/main">
              <a:ext uri="{FF2B5EF4-FFF2-40B4-BE49-F238E27FC236}">
                <a16:creationId xmlns:a16="http://schemas.microsoft.com/office/drawing/2014/main" id="{6CA950B9-FA4C-4CC2-8787-9084B62375EF}"/>
              </a:ext>
            </a:extLst>
          </p:cNvPr>
          <p:cNvSpPr>
            <a:spLocks xmlns:a="http://schemas.openxmlformats.org/drawingml/2006/main" noGrp="1"/>
          </p:cNvSpPr>
          <p:nvPr/>
        </p:nvSpPr>
        <p:spPr>
          <a:xfrm xmlns:a="http://schemas.openxmlformats.org/drawingml/2006/main">
            <a:off x="6238875" y="3048000"/>
            <a:ext cx="2524125" cy="1428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Search the index</a:t>
            </a:r>
          </a:p>
        </p:txBody>
      </p:sp>
      <p:sp>
        <p:nvSpPr>
          <p:cNvPr id="6" name="diagram-5">
            <a:extLst xmlns:a="http://schemas.openxmlformats.org/drawingml/2006/main">
              <a:ext uri="{FF2B5EF4-FFF2-40B4-BE49-F238E27FC236}">
                <a16:creationId xmlns:a16="http://schemas.microsoft.com/office/drawing/2014/main" id="{EA2AA3AD-5DDB-4AA4-84C9-4924D2896662}"/>
              </a:ext>
            </a:extLst>
          </p:cNvPr>
          <p:cNvSpPr>
            <a:spLocks xmlns:a="http://schemas.openxmlformats.org/drawingml/2006/main" noGrp="1"/>
          </p:cNvSpPr>
          <p:nvPr/>
        </p:nvSpPr>
        <p:spPr>
          <a:xfrm xmlns:a="http://schemas.openxmlformats.org/drawingml/2006/main">
            <a:off x="9048750" y="3048000"/>
            <a:ext cx="2524125" cy="1428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025">
                <a:solidFill>
                  <a:srgbClr val="182C43"/>
                </a:solidFill>
                <a:latin typeface="DejaVu Sans"/>
                <a:ea typeface="DejaVu Sans"/>
                <a:cs typeface="DejaVu Sans"/>
              </a:defRPr>
            </a:defPPr>
          </a:lstStyle>
          <a:p xmlns:a="http://schemas.openxmlformats.org/drawingml/2006/main">
            <a:pPr algn="ctr">
              <a:defRPr sz="2025">
                <a:solidFill>
                  <a:srgbClr val="182C43"/>
                </a:solidFill>
                <a:latin typeface="DejaVu Sans"/>
                <a:ea typeface="DejaVu Sans"/>
                <a:cs typeface="DejaVu Sans"/>
              </a:defRPr>
            </a:pPr>
            <a:r>
              <a:rPr sz="2025">
                <a:solidFill>
                  <a:srgbClr val="182C43"/>
                </a:solidFill>
                <a:latin typeface="DejaVu Sans"/>
                <a:ea typeface="DejaVu Sans"/>
                <a:cs typeface="DejaVu Sans"/>
              </a:rPr>
              <a:t>Top 3 candidates</a:t>
            </a:r>
          </a:p>
        </p:txBody>
      </p:sp>
      <p:sp>
        <p:nvSpPr>
          <p:cNvPr id="10" name="text-9">
            <a:extLst xmlns:a="http://schemas.openxmlformats.org/drawingml/2006/main">
              <a:ext uri="{FF2B5EF4-FFF2-40B4-BE49-F238E27FC236}">
                <a16:creationId xmlns:a16="http://schemas.microsoft.com/office/drawing/2014/main" id="{B9E2F4CE-801B-41D9-90A4-D41D87191611}"/>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1" name="text-10">
            <a:extLst xmlns:a="http://schemas.openxmlformats.org/drawingml/2006/main">
              <a:ext uri="{FF2B5EF4-FFF2-40B4-BE49-F238E27FC236}">
                <a16:creationId xmlns:a16="http://schemas.microsoft.com/office/drawing/2014/main" id="{AB24B66C-4593-4BA8-BC4F-7B7F149CBDA5}"/>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42/56</a:t>
            </a:r>
          </a:p>
        </p:txBody>
      </p:sp>
    </p:spTree>
    <p:extLst>
      <p:ext uri="{BB962C8B-B14F-4D97-AF65-F5344CB8AC3E}">
        <p14:creationId xmlns:p14="http://schemas.microsoft.com/office/powerpoint/2010/main" val="1491912934"/>
      </p:ext>
    </p:extLst>
  </p:cSld>
</p:sld>
</file>

<file path=ppt/slides/slide4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197E9175-43BE-4D20-92A9-3E8D1DB373C0}"/>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An index is a search guide</a:t>
            </a:r>
          </a:p>
        </p:txBody>
      </p:sp>
      <p:sp>
        <p:nvSpPr>
          <p:cNvPr id="2" name="text-1">
            <a:extLst xmlns:a="http://schemas.openxmlformats.org/drawingml/2006/main">
              <a:ext uri="{FF2B5EF4-FFF2-40B4-BE49-F238E27FC236}">
                <a16:creationId xmlns:a16="http://schemas.microsoft.com/office/drawing/2014/main" id="{EBDC36F4-928D-469D-B002-E4DB2554E21F}"/>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It organizes the stored vectors for searching</a:t>
            </a:r>
          </a:p>
        </p:txBody>
      </p:sp>
      <p:sp>
        <p:nvSpPr>
          <p:cNvPr id="3" name="text-2">
            <a:extLst xmlns:a="http://schemas.openxmlformats.org/drawingml/2006/main">
              <a:ext uri="{FF2B5EF4-FFF2-40B4-BE49-F238E27FC236}">
                <a16:creationId xmlns:a16="http://schemas.microsoft.com/office/drawing/2014/main" id="{24F7433C-3F38-4C03-A59B-BBA6EBCE79A2}"/>
              </a:ext>
            </a:extLst>
          </p:cNvPr>
          <p:cNvSpPr>
            <a:spLocks xmlns:a="http://schemas.openxmlformats.org/drawingml/2006/main" noGrp="1"/>
          </p:cNvSpPr>
          <p:nvPr/>
        </p:nvSpPr>
        <p:spPr>
          <a:xfrm xmlns:a="http://schemas.openxmlformats.org/drawingml/2006/main">
            <a:off x="666750" y="2543175"/>
            <a:ext cx="10668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82C43"/>
                </a:solidFill>
                <a:latin typeface="DejaVu Sans"/>
                <a:ea typeface="DejaVu Sans"/>
                <a:cs typeface="DejaVu Sans"/>
              </a:defRPr>
            </a:defPPr>
          </a:lstStyle>
          <a:p xmlns:a="http://schemas.openxmlformats.org/drawingml/2006/main">
            <a:pPr>
              <a:defRPr sz="3450" b="1">
                <a:solidFill>
                  <a:srgbClr val="182C43"/>
                </a:solidFill>
                <a:latin typeface="DejaVu Sans"/>
                <a:ea typeface="DejaVu Sans"/>
                <a:cs typeface="DejaVu Sans"/>
              </a:defRPr>
            </a:pPr>
            <a:r>
              <a:rPr sz="3450" b="1">
                <a:solidFill>
                  <a:srgbClr val="182C43"/>
                </a:solidFill>
                <a:latin typeface="DejaVu Sans"/>
                <a:ea typeface="DejaVu Sans"/>
                <a:cs typeface="DejaVu Sans"/>
              </a:rPr>
              <a:t>The metric measures closeness.</a:t>
            </a:r>
          </a:p>
          <a:p xmlns:a="http://schemas.openxmlformats.org/drawingml/2006/main">
            <a:pPr>
              <a:defRPr sz="3450" b="1">
                <a:solidFill>
                  <a:srgbClr val="182C43"/>
                </a:solidFill>
                <a:latin typeface="DejaVu Sans"/>
                <a:ea typeface="DejaVu Sans"/>
                <a:cs typeface="DejaVu Sans"/>
              </a:defRPr>
            </a:pPr>
            <a:r>
              <a:rPr sz="3450" b="1">
                <a:solidFill>
                  <a:srgbClr val="182C43"/>
                </a:solidFill>
                <a:latin typeface="DejaVu Sans"/>
                <a:ea typeface="DejaVu Sans"/>
                <a:cs typeface="DejaVu Sans"/>
              </a:rPr>
              <a:t>The index organizes the search.</a:t>
            </a:r>
          </a:p>
        </p:txBody>
      </p:sp>
      <p:sp>
        <p:nvSpPr>
          <p:cNvPr id="4" name="text-3">
            <a:extLst xmlns:a="http://schemas.openxmlformats.org/drawingml/2006/main">
              <a:ext uri="{FF2B5EF4-FFF2-40B4-BE49-F238E27FC236}">
                <a16:creationId xmlns:a16="http://schemas.microsoft.com/office/drawing/2014/main" id="{D32118F6-EF8D-4688-ADA8-8C2C95526751}"/>
              </a:ext>
            </a:extLst>
          </p:cNvPr>
          <p:cNvSpPr>
            <a:spLocks xmlns:a="http://schemas.openxmlformats.org/drawingml/2006/main" noGrp="1"/>
          </p:cNvSpPr>
          <p:nvPr/>
        </p:nvSpPr>
        <p:spPr>
          <a:xfrm xmlns:a="http://schemas.openxmlformats.org/drawingml/2006/main">
            <a:off x="666750" y="4762500"/>
            <a:ext cx="106203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596B79"/>
                </a:solidFill>
                <a:latin typeface="DejaVu Sans"/>
                <a:ea typeface="DejaVu Sans"/>
                <a:cs typeface="DejaVu Sans"/>
              </a:defRPr>
            </a:defPPr>
          </a:lstStyle>
          <a:p xmlns:a="http://schemas.openxmlformats.org/drawingml/2006/main">
            <a:pPr>
              <a:defRPr sz="2250" b="0">
                <a:solidFill>
                  <a:srgbClr val="596B79"/>
                </a:solidFill>
                <a:latin typeface="DejaVu Sans"/>
                <a:ea typeface="DejaVu Sans"/>
                <a:cs typeface="DejaVu Sans"/>
              </a:defRPr>
            </a:pPr>
            <a:r>
              <a:rPr sz="2250" b="0">
                <a:solidFill>
                  <a:srgbClr val="596B79"/>
                </a:solidFill>
                <a:latin typeface="DejaVu Sans"/>
                <a:ea typeface="DejaVu Sans"/>
                <a:cs typeface="DejaVu Sans"/>
              </a:rPr>
              <a:t>Cosine tells us how close vectors are. An index helps choose where to look.</a:t>
            </a:r>
          </a:p>
        </p:txBody>
      </p:sp>
      <p:sp>
        <p:nvSpPr>
          <p:cNvPr id="5" name="text-4">
            <a:extLst xmlns:a="http://schemas.openxmlformats.org/drawingml/2006/main">
              <a:ext uri="{FF2B5EF4-FFF2-40B4-BE49-F238E27FC236}">
                <a16:creationId xmlns:a16="http://schemas.microsoft.com/office/drawing/2014/main" id="{8D6E004F-D86F-4F1B-BEFF-304C819B79FC}"/>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6" name="text-5">
            <a:extLst xmlns:a="http://schemas.openxmlformats.org/drawingml/2006/main">
              <a:ext uri="{FF2B5EF4-FFF2-40B4-BE49-F238E27FC236}">
                <a16:creationId xmlns:a16="http://schemas.microsoft.com/office/drawing/2014/main" id="{F18FDEDA-EFFB-4D22-8C8B-8640AFB62C6F}"/>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43/56</a:t>
            </a:r>
          </a:p>
        </p:txBody>
      </p:sp>
    </p:spTree>
    <p:extLst>
      <p:ext uri="{BB962C8B-B14F-4D97-AF65-F5344CB8AC3E}">
        <p14:creationId xmlns:p14="http://schemas.microsoft.com/office/powerpoint/2010/main" val="121591458"/>
      </p:ext>
    </p:extLst>
  </p:cSld>
</p:sld>
</file>

<file path=ppt/slides/slide4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87D7F1B9-574C-49D8-A790-4E7CCEE7448D}"/>
              </a:ext>
            </a:extLst>
          </p:cNvPr>
          <p:cNvCxnSpPr>
            <a:stCxn xmlns:a="http://schemas.openxmlformats.org/drawingml/2006/main" id="3" idx="3"/>
            <a:endCxn xmlns:a="http://schemas.openxmlformats.org/drawingml/2006/main" id="18" idx="1"/>
          </p:cNvCxnSpPr>
          <p:nvPr/>
        </p:nvCxnSpPr>
        <p:spPr>
          <a:xfrm xmlns:a="http://schemas.openxmlformats.org/drawingml/2006/main">
            <a:off x="3476625" y="4048125"/>
            <a:ext cx="4095750" cy="1700213"/>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EEDD0317-0716-4AA5-933D-919ACD79CEF7}"/>
              </a:ext>
            </a:extLst>
          </p:cNvPr>
          <p:cNvCxnSpPr>
            <a:stCxn xmlns:a="http://schemas.openxmlformats.org/drawingml/2006/main" id="3" idx="3"/>
            <a:endCxn xmlns:a="http://schemas.openxmlformats.org/drawingml/2006/main" id="16" idx="1"/>
          </p:cNvCxnSpPr>
          <p:nvPr/>
        </p:nvCxnSpPr>
        <p:spPr>
          <a:xfrm xmlns:a="http://schemas.openxmlformats.org/drawingml/2006/main">
            <a:off x="3476625" y="4048125"/>
            <a:ext cx="4095750" cy="1214438"/>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D8BBF16F-BF1A-49E7-85DB-B16DB1E4A820}"/>
              </a:ext>
            </a:extLst>
          </p:cNvPr>
          <p:cNvCxnSpPr>
            <a:stCxn xmlns:a="http://schemas.openxmlformats.org/drawingml/2006/main" id="3" idx="3"/>
            <a:endCxn xmlns:a="http://schemas.openxmlformats.org/drawingml/2006/main" id="14" idx="1"/>
          </p:cNvCxnSpPr>
          <p:nvPr/>
        </p:nvCxnSpPr>
        <p:spPr>
          <a:xfrm xmlns:a="http://schemas.openxmlformats.org/drawingml/2006/main">
            <a:off x="3476625" y="4048125"/>
            <a:ext cx="4095750" cy="728663"/>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F20AE364-D728-4FFE-B939-2323F7C6EAF4}"/>
              </a:ext>
            </a:extLst>
          </p:cNvPr>
          <p:cNvCxnSpPr>
            <a:stCxn xmlns:a="http://schemas.openxmlformats.org/drawingml/2006/main" id="3" idx="3"/>
            <a:endCxn xmlns:a="http://schemas.openxmlformats.org/drawingml/2006/main" id="12" idx="1"/>
          </p:cNvCxnSpPr>
          <p:nvPr/>
        </p:nvCxnSpPr>
        <p:spPr>
          <a:xfrm xmlns:a="http://schemas.openxmlformats.org/drawingml/2006/main">
            <a:off x="3476625" y="4048125"/>
            <a:ext cx="4095750" cy="242888"/>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A14E9334-2E25-4A67-9757-878BC005F04D}"/>
              </a:ext>
            </a:extLst>
          </p:cNvPr>
          <p:cNvCxnSpPr>
            <a:stCxn xmlns:a="http://schemas.openxmlformats.org/drawingml/2006/main" id="3" idx="3"/>
            <a:endCxn xmlns:a="http://schemas.openxmlformats.org/drawingml/2006/main" id="10" idx="1"/>
          </p:cNvCxnSpPr>
          <p:nvPr/>
        </p:nvCxnSpPr>
        <p:spPr>
          <a:xfrm xmlns:a="http://schemas.openxmlformats.org/drawingml/2006/main" flipV="1">
            <a:off x="3476625" y="3805238"/>
            <a:ext cx="4095750" cy="242888"/>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9" name="">
            <a:extLst xmlns:a="http://schemas.openxmlformats.org/drawingml/2006/main">
              <a:ext uri="{FF2B5EF4-FFF2-40B4-BE49-F238E27FC236}">
                <a16:creationId xmlns:a16="http://schemas.microsoft.com/office/drawing/2014/main" id="{3A594754-B66A-422C-B4E5-0A0B93CD34F2}"/>
              </a:ext>
            </a:extLst>
          </p:cNvPr>
          <p:cNvCxnSpPr>
            <a:stCxn xmlns:a="http://schemas.openxmlformats.org/drawingml/2006/main" id="3" idx="3"/>
            <a:endCxn xmlns:a="http://schemas.openxmlformats.org/drawingml/2006/main" id="8" idx="1"/>
          </p:cNvCxnSpPr>
          <p:nvPr/>
        </p:nvCxnSpPr>
        <p:spPr>
          <a:xfrm xmlns:a="http://schemas.openxmlformats.org/drawingml/2006/main" flipV="1">
            <a:off x="3476625" y="3319463"/>
            <a:ext cx="4095750" cy="728663"/>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1C7BAC7B-2532-4492-B42D-D0C91F46A85F}"/>
              </a:ext>
            </a:extLst>
          </p:cNvPr>
          <p:cNvCxnSpPr>
            <a:stCxn xmlns:a="http://schemas.openxmlformats.org/drawingml/2006/main" id="3" idx="3"/>
            <a:endCxn xmlns:a="http://schemas.openxmlformats.org/drawingml/2006/main" id="6" idx="1"/>
          </p:cNvCxnSpPr>
          <p:nvPr/>
        </p:nvCxnSpPr>
        <p:spPr>
          <a:xfrm xmlns:a="http://schemas.openxmlformats.org/drawingml/2006/main" flipV="1">
            <a:off x="3476625" y="2833688"/>
            <a:ext cx="4095750" cy="1214438"/>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5" name="">
            <a:extLst xmlns:a="http://schemas.openxmlformats.org/drawingml/2006/main">
              <a:ext uri="{FF2B5EF4-FFF2-40B4-BE49-F238E27FC236}">
                <a16:creationId xmlns:a16="http://schemas.microsoft.com/office/drawing/2014/main" id="{FC387E54-612E-4A47-A1C5-695E58FC0B4E}"/>
              </a:ext>
            </a:extLst>
          </p:cNvPr>
          <p:cNvCxnSpPr>
            <a:stCxn xmlns:a="http://schemas.openxmlformats.org/drawingml/2006/main" id="3" idx="3"/>
            <a:endCxn xmlns:a="http://schemas.openxmlformats.org/drawingml/2006/main" id="4" idx="1"/>
          </p:cNvCxnSpPr>
          <p:nvPr/>
        </p:nvCxnSpPr>
        <p:spPr>
          <a:xfrm xmlns:a="http://schemas.openxmlformats.org/drawingml/2006/main" flipV="1">
            <a:off x="3476625" y="2347913"/>
            <a:ext cx="4095750" cy="1700213"/>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23" name="text-0">
            <a:extLst xmlns:a="http://schemas.openxmlformats.org/drawingml/2006/main">
              <a:ext uri="{FF2B5EF4-FFF2-40B4-BE49-F238E27FC236}">
                <a16:creationId xmlns:a16="http://schemas.microsoft.com/office/drawing/2014/main" id="{30499789-9390-48F7-BE74-E99B42EA476A}"/>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Strategy 1: compare every vector</a:t>
            </a:r>
          </a:p>
        </p:txBody>
      </p:sp>
      <p:sp>
        <p:nvSpPr>
          <p:cNvPr id="2" name="text-1">
            <a:extLst xmlns:a="http://schemas.openxmlformats.org/drawingml/2006/main">
              <a:ext uri="{FF2B5EF4-FFF2-40B4-BE49-F238E27FC236}">
                <a16:creationId xmlns:a16="http://schemas.microsoft.com/office/drawing/2014/main" id="{E57C87FB-2B30-403E-A400-05CF6E695BDA}"/>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Exact search is a useful starting point</a:t>
            </a:r>
          </a:p>
        </p:txBody>
      </p:sp>
      <p:sp>
        <p:nvSpPr>
          <p:cNvPr id="3" name="diagram-2">
            <a:extLst xmlns:a="http://schemas.openxmlformats.org/drawingml/2006/main">
              <a:ext uri="{FF2B5EF4-FFF2-40B4-BE49-F238E27FC236}">
                <a16:creationId xmlns:a16="http://schemas.microsoft.com/office/drawing/2014/main" id="{7B375997-8EED-4D09-A07B-753325FB7175}"/>
              </a:ext>
            </a:extLst>
          </p:cNvPr>
          <p:cNvSpPr>
            <a:spLocks xmlns:a="http://schemas.openxmlformats.org/drawingml/2006/main" noGrp="1"/>
          </p:cNvSpPr>
          <p:nvPr/>
        </p:nvSpPr>
        <p:spPr>
          <a:xfrm xmlns:a="http://schemas.openxmlformats.org/drawingml/2006/main">
            <a:off x="619125" y="3524250"/>
            <a:ext cx="2857500" cy="1047750"/>
          </a:xfrm>
          <a:prstGeom xmlns:a="http://schemas.openxmlformats.org/drawingml/2006/main" prst="rect">
            <a:avLst/>
          </a:prstGeom>
          <a:solidFill xmlns:a="http://schemas.openxmlformats.org/drawingml/2006/main">
            <a:srgbClr val="F1E7D5"/>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325">
                <a:solidFill>
                  <a:srgbClr val="182C43"/>
                </a:solidFill>
                <a:latin typeface="DejaVu Sans"/>
                <a:ea typeface="DejaVu Sans"/>
                <a:cs typeface="DejaVu Sans"/>
              </a:defRPr>
            </a:defPPr>
          </a:lstStyle>
          <a:p xmlns:a="http://schemas.openxmlformats.org/drawingml/2006/main">
            <a:pPr algn="ctr">
              <a:defRPr sz="2325">
                <a:solidFill>
                  <a:srgbClr val="182C43"/>
                </a:solidFill>
                <a:latin typeface="DejaVu Sans"/>
                <a:ea typeface="DejaVu Sans"/>
                <a:cs typeface="DejaVu Sans"/>
              </a:defRPr>
            </a:pPr>
            <a:r>
              <a:rPr sz="2325">
                <a:solidFill>
                  <a:srgbClr val="182C43"/>
                </a:solidFill>
                <a:latin typeface="DejaVu Sans"/>
                <a:ea typeface="DejaVu Sans"/>
                <a:cs typeface="DejaVu Sans"/>
              </a:rPr>
              <a:t>Query vector</a:t>
            </a:r>
          </a:p>
        </p:txBody>
      </p:sp>
      <p:sp>
        <p:nvSpPr>
          <p:cNvPr id="4" name="diagram-3">
            <a:extLst xmlns:a="http://schemas.openxmlformats.org/drawingml/2006/main">
              <a:ext uri="{FF2B5EF4-FFF2-40B4-BE49-F238E27FC236}">
                <a16:creationId xmlns:a16="http://schemas.microsoft.com/office/drawing/2014/main" id="{EB413876-DDF6-4D77-885F-73B3A23A5B52}"/>
              </a:ext>
            </a:extLst>
          </p:cNvPr>
          <p:cNvSpPr>
            <a:spLocks xmlns:a="http://schemas.openxmlformats.org/drawingml/2006/main" noGrp="1"/>
          </p:cNvSpPr>
          <p:nvPr/>
        </p:nvSpPr>
        <p:spPr>
          <a:xfrm xmlns:a="http://schemas.openxmlformats.org/drawingml/2006/main">
            <a:off x="7572375" y="2143125"/>
            <a:ext cx="2095500" cy="40957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1875">
                <a:solidFill>
                  <a:srgbClr val="182C43"/>
                </a:solidFill>
                <a:latin typeface="DejaVu Sans"/>
                <a:ea typeface="DejaVu Sans"/>
                <a:cs typeface="DejaVu Sans"/>
              </a:defRPr>
            </a:defPPr>
          </a:lstStyle>
          <a:p xmlns:a="http://schemas.openxmlformats.org/drawingml/2006/main">
            <a:pPr algn="ctr">
              <a:defRPr sz="1875">
                <a:solidFill>
                  <a:srgbClr val="182C43"/>
                </a:solidFill>
                <a:latin typeface="DejaVu Sans"/>
                <a:ea typeface="DejaVu Sans"/>
                <a:cs typeface="DejaVu Sans"/>
              </a:defRPr>
            </a:pPr>
            <a:r>
              <a:rPr sz="1875">
                <a:solidFill>
                  <a:srgbClr val="182C43"/>
                </a:solidFill>
                <a:latin typeface="DejaVu Sans"/>
                <a:ea typeface="DejaVu Sans"/>
                <a:cs typeface="DejaVu Sans"/>
              </a:rPr>
              <a:t>V1</a:t>
            </a:r>
          </a:p>
        </p:txBody>
      </p:sp>
      <p:sp>
        <p:nvSpPr>
          <p:cNvPr id="6" name="diagram-5">
            <a:extLst xmlns:a="http://schemas.openxmlformats.org/drawingml/2006/main">
              <a:ext uri="{FF2B5EF4-FFF2-40B4-BE49-F238E27FC236}">
                <a16:creationId xmlns:a16="http://schemas.microsoft.com/office/drawing/2014/main" id="{743BAF8E-19C5-49DA-A90E-7004105856DA}"/>
              </a:ext>
            </a:extLst>
          </p:cNvPr>
          <p:cNvSpPr>
            <a:spLocks xmlns:a="http://schemas.openxmlformats.org/drawingml/2006/main" noGrp="1"/>
          </p:cNvSpPr>
          <p:nvPr/>
        </p:nvSpPr>
        <p:spPr>
          <a:xfrm xmlns:a="http://schemas.openxmlformats.org/drawingml/2006/main">
            <a:off x="7572375" y="2628900"/>
            <a:ext cx="2095500" cy="40957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1875">
                <a:solidFill>
                  <a:srgbClr val="182C43"/>
                </a:solidFill>
                <a:latin typeface="DejaVu Sans"/>
                <a:ea typeface="DejaVu Sans"/>
                <a:cs typeface="DejaVu Sans"/>
              </a:defRPr>
            </a:defPPr>
          </a:lstStyle>
          <a:p xmlns:a="http://schemas.openxmlformats.org/drawingml/2006/main">
            <a:pPr algn="ctr">
              <a:defRPr sz="1875">
                <a:solidFill>
                  <a:srgbClr val="182C43"/>
                </a:solidFill>
                <a:latin typeface="DejaVu Sans"/>
                <a:ea typeface="DejaVu Sans"/>
                <a:cs typeface="DejaVu Sans"/>
              </a:defRPr>
            </a:pPr>
            <a:r>
              <a:rPr sz="1875">
                <a:solidFill>
                  <a:srgbClr val="182C43"/>
                </a:solidFill>
                <a:latin typeface="DejaVu Sans"/>
                <a:ea typeface="DejaVu Sans"/>
                <a:cs typeface="DejaVu Sans"/>
              </a:rPr>
              <a:t>V2</a:t>
            </a:r>
          </a:p>
        </p:txBody>
      </p:sp>
      <p:sp>
        <p:nvSpPr>
          <p:cNvPr id="8" name="diagram-7">
            <a:extLst xmlns:a="http://schemas.openxmlformats.org/drawingml/2006/main">
              <a:ext uri="{FF2B5EF4-FFF2-40B4-BE49-F238E27FC236}">
                <a16:creationId xmlns:a16="http://schemas.microsoft.com/office/drawing/2014/main" id="{833852CD-7647-4B02-BEB8-8EB27F2958B0}"/>
              </a:ext>
            </a:extLst>
          </p:cNvPr>
          <p:cNvSpPr>
            <a:spLocks xmlns:a="http://schemas.openxmlformats.org/drawingml/2006/main" noGrp="1"/>
          </p:cNvSpPr>
          <p:nvPr/>
        </p:nvSpPr>
        <p:spPr>
          <a:xfrm xmlns:a="http://schemas.openxmlformats.org/drawingml/2006/main">
            <a:off x="7572375" y="3114675"/>
            <a:ext cx="2095500" cy="40957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1875">
                <a:solidFill>
                  <a:srgbClr val="182C43"/>
                </a:solidFill>
                <a:latin typeface="DejaVu Sans"/>
                <a:ea typeface="DejaVu Sans"/>
                <a:cs typeface="DejaVu Sans"/>
              </a:defRPr>
            </a:defPPr>
          </a:lstStyle>
          <a:p xmlns:a="http://schemas.openxmlformats.org/drawingml/2006/main">
            <a:pPr algn="ctr">
              <a:defRPr sz="1875">
                <a:solidFill>
                  <a:srgbClr val="182C43"/>
                </a:solidFill>
                <a:latin typeface="DejaVu Sans"/>
                <a:ea typeface="DejaVu Sans"/>
                <a:cs typeface="DejaVu Sans"/>
              </a:defRPr>
            </a:pPr>
            <a:r>
              <a:rPr sz="1875">
                <a:solidFill>
                  <a:srgbClr val="182C43"/>
                </a:solidFill>
                <a:latin typeface="DejaVu Sans"/>
                <a:ea typeface="DejaVu Sans"/>
                <a:cs typeface="DejaVu Sans"/>
              </a:rPr>
              <a:t>V3</a:t>
            </a:r>
          </a:p>
        </p:txBody>
      </p:sp>
      <p:sp>
        <p:nvSpPr>
          <p:cNvPr id="10" name="diagram-9">
            <a:extLst xmlns:a="http://schemas.openxmlformats.org/drawingml/2006/main">
              <a:ext uri="{FF2B5EF4-FFF2-40B4-BE49-F238E27FC236}">
                <a16:creationId xmlns:a16="http://schemas.microsoft.com/office/drawing/2014/main" id="{C63F28BE-E545-45EB-A930-CCD7CA5D6DA5}"/>
              </a:ext>
            </a:extLst>
          </p:cNvPr>
          <p:cNvSpPr>
            <a:spLocks xmlns:a="http://schemas.openxmlformats.org/drawingml/2006/main" noGrp="1"/>
          </p:cNvSpPr>
          <p:nvPr/>
        </p:nvSpPr>
        <p:spPr>
          <a:xfrm xmlns:a="http://schemas.openxmlformats.org/drawingml/2006/main">
            <a:off x="7572375" y="3600450"/>
            <a:ext cx="2095500" cy="40957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1875">
                <a:solidFill>
                  <a:srgbClr val="182C43"/>
                </a:solidFill>
                <a:latin typeface="DejaVu Sans"/>
                <a:ea typeface="DejaVu Sans"/>
                <a:cs typeface="DejaVu Sans"/>
              </a:defRPr>
            </a:defPPr>
          </a:lstStyle>
          <a:p xmlns:a="http://schemas.openxmlformats.org/drawingml/2006/main">
            <a:pPr algn="ctr">
              <a:defRPr sz="1875">
                <a:solidFill>
                  <a:srgbClr val="182C43"/>
                </a:solidFill>
                <a:latin typeface="DejaVu Sans"/>
                <a:ea typeface="DejaVu Sans"/>
                <a:cs typeface="DejaVu Sans"/>
              </a:defRPr>
            </a:pPr>
            <a:r>
              <a:rPr sz="1875">
                <a:solidFill>
                  <a:srgbClr val="182C43"/>
                </a:solidFill>
                <a:latin typeface="DejaVu Sans"/>
                <a:ea typeface="DejaVu Sans"/>
                <a:cs typeface="DejaVu Sans"/>
              </a:rPr>
              <a:t>V4</a:t>
            </a:r>
          </a:p>
        </p:txBody>
      </p:sp>
      <p:sp>
        <p:nvSpPr>
          <p:cNvPr id="12" name="diagram-11">
            <a:extLst xmlns:a="http://schemas.openxmlformats.org/drawingml/2006/main">
              <a:ext uri="{FF2B5EF4-FFF2-40B4-BE49-F238E27FC236}">
                <a16:creationId xmlns:a16="http://schemas.microsoft.com/office/drawing/2014/main" id="{2A94BEC9-20BB-49CA-8726-627720D11392}"/>
              </a:ext>
            </a:extLst>
          </p:cNvPr>
          <p:cNvSpPr>
            <a:spLocks xmlns:a="http://schemas.openxmlformats.org/drawingml/2006/main" noGrp="1"/>
          </p:cNvSpPr>
          <p:nvPr/>
        </p:nvSpPr>
        <p:spPr>
          <a:xfrm xmlns:a="http://schemas.openxmlformats.org/drawingml/2006/main">
            <a:off x="7572375" y="4086225"/>
            <a:ext cx="2095500" cy="40957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1875">
                <a:solidFill>
                  <a:srgbClr val="182C43"/>
                </a:solidFill>
                <a:latin typeface="DejaVu Sans"/>
                <a:ea typeface="DejaVu Sans"/>
                <a:cs typeface="DejaVu Sans"/>
              </a:defRPr>
            </a:defPPr>
          </a:lstStyle>
          <a:p xmlns:a="http://schemas.openxmlformats.org/drawingml/2006/main">
            <a:pPr algn="ctr">
              <a:defRPr sz="1875">
                <a:solidFill>
                  <a:srgbClr val="182C43"/>
                </a:solidFill>
                <a:latin typeface="DejaVu Sans"/>
                <a:ea typeface="DejaVu Sans"/>
                <a:cs typeface="DejaVu Sans"/>
              </a:defRPr>
            </a:pPr>
            <a:r>
              <a:rPr sz="1875">
                <a:solidFill>
                  <a:srgbClr val="182C43"/>
                </a:solidFill>
                <a:latin typeface="DejaVu Sans"/>
                <a:ea typeface="DejaVu Sans"/>
                <a:cs typeface="DejaVu Sans"/>
              </a:rPr>
              <a:t>V5</a:t>
            </a:r>
          </a:p>
        </p:txBody>
      </p:sp>
      <p:sp>
        <p:nvSpPr>
          <p:cNvPr id="14" name="diagram-13">
            <a:extLst xmlns:a="http://schemas.openxmlformats.org/drawingml/2006/main">
              <a:ext uri="{FF2B5EF4-FFF2-40B4-BE49-F238E27FC236}">
                <a16:creationId xmlns:a16="http://schemas.microsoft.com/office/drawing/2014/main" id="{819FD70A-BCF0-46EC-BE2B-95691BA042E4}"/>
              </a:ext>
            </a:extLst>
          </p:cNvPr>
          <p:cNvSpPr>
            <a:spLocks xmlns:a="http://schemas.openxmlformats.org/drawingml/2006/main" noGrp="1"/>
          </p:cNvSpPr>
          <p:nvPr/>
        </p:nvSpPr>
        <p:spPr>
          <a:xfrm xmlns:a="http://schemas.openxmlformats.org/drawingml/2006/main">
            <a:off x="7572375" y="4572000"/>
            <a:ext cx="2095500" cy="40957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1875">
                <a:solidFill>
                  <a:srgbClr val="182C43"/>
                </a:solidFill>
                <a:latin typeface="DejaVu Sans"/>
                <a:ea typeface="DejaVu Sans"/>
                <a:cs typeface="DejaVu Sans"/>
              </a:defRPr>
            </a:defPPr>
          </a:lstStyle>
          <a:p xmlns:a="http://schemas.openxmlformats.org/drawingml/2006/main">
            <a:pPr algn="ctr">
              <a:defRPr sz="1875">
                <a:solidFill>
                  <a:srgbClr val="182C43"/>
                </a:solidFill>
                <a:latin typeface="DejaVu Sans"/>
                <a:ea typeface="DejaVu Sans"/>
                <a:cs typeface="DejaVu Sans"/>
              </a:defRPr>
            </a:pPr>
            <a:r>
              <a:rPr sz="1875">
                <a:solidFill>
                  <a:srgbClr val="182C43"/>
                </a:solidFill>
                <a:latin typeface="DejaVu Sans"/>
                <a:ea typeface="DejaVu Sans"/>
                <a:cs typeface="DejaVu Sans"/>
              </a:rPr>
              <a:t>V6</a:t>
            </a:r>
          </a:p>
        </p:txBody>
      </p:sp>
      <p:sp>
        <p:nvSpPr>
          <p:cNvPr id="16" name="diagram-15">
            <a:extLst xmlns:a="http://schemas.openxmlformats.org/drawingml/2006/main">
              <a:ext uri="{FF2B5EF4-FFF2-40B4-BE49-F238E27FC236}">
                <a16:creationId xmlns:a16="http://schemas.microsoft.com/office/drawing/2014/main" id="{A8E5F318-BC79-4BC1-9067-2B2BB11C1D3A}"/>
              </a:ext>
            </a:extLst>
          </p:cNvPr>
          <p:cNvSpPr>
            <a:spLocks xmlns:a="http://schemas.openxmlformats.org/drawingml/2006/main" noGrp="1"/>
          </p:cNvSpPr>
          <p:nvPr/>
        </p:nvSpPr>
        <p:spPr>
          <a:xfrm xmlns:a="http://schemas.openxmlformats.org/drawingml/2006/main">
            <a:off x="7572375" y="5057775"/>
            <a:ext cx="2095500" cy="40957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1875">
                <a:solidFill>
                  <a:srgbClr val="182C43"/>
                </a:solidFill>
                <a:latin typeface="DejaVu Sans"/>
                <a:ea typeface="DejaVu Sans"/>
                <a:cs typeface="DejaVu Sans"/>
              </a:defRPr>
            </a:defPPr>
          </a:lstStyle>
          <a:p xmlns:a="http://schemas.openxmlformats.org/drawingml/2006/main">
            <a:pPr algn="ctr">
              <a:defRPr sz="1875">
                <a:solidFill>
                  <a:srgbClr val="182C43"/>
                </a:solidFill>
                <a:latin typeface="DejaVu Sans"/>
                <a:ea typeface="DejaVu Sans"/>
                <a:cs typeface="DejaVu Sans"/>
              </a:defRPr>
            </a:pPr>
            <a:r>
              <a:rPr sz="1875">
                <a:solidFill>
                  <a:srgbClr val="182C43"/>
                </a:solidFill>
                <a:latin typeface="DejaVu Sans"/>
                <a:ea typeface="DejaVu Sans"/>
                <a:cs typeface="DejaVu Sans"/>
              </a:rPr>
              <a:t>V7</a:t>
            </a:r>
          </a:p>
        </p:txBody>
      </p:sp>
      <p:sp>
        <p:nvSpPr>
          <p:cNvPr id="18" name="diagram-17">
            <a:extLst xmlns:a="http://schemas.openxmlformats.org/drawingml/2006/main">
              <a:ext uri="{FF2B5EF4-FFF2-40B4-BE49-F238E27FC236}">
                <a16:creationId xmlns:a16="http://schemas.microsoft.com/office/drawing/2014/main" id="{4B487CC4-ACA9-4E92-84DE-C061AB4387DB}"/>
              </a:ext>
            </a:extLst>
          </p:cNvPr>
          <p:cNvSpPr>
            <a:spLocks xmlns:a="http://schemas.openxmlformats.org/drawingml/2006/main" noGrp="1"/>
          </p:cNvSpPr>
          <p:nvPr/>
        </p:nvSpPr>
        <p:spPr>
          <a:xfrm xmlns:a="http://schemas.openxmlformats.org/drawingml/2006/main">
            <a:off x="7572375" y="5543550"/>
            <a:ext cx="2095500" cy="40957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1875">
                <a:solidFill>
                  <a:srgbClr val="182C43"/>
                </a:solidFill>
                <a:latin typeface="DejaVu Sans"/>
                <a:ea typeface="DejaVu Sans"/>
                <a:cs typeface="DejaVu Sans"/>
              </a:defRPr>
            </a:defPPr>
          </a:lstStyle>
          <a:p xmlns:a="http://schemas.openxmlformats.org/drawingml/2006/main">
            <a:pPr algn="ctr">
              <a:defRPr sz="1875">
                <a:solidFill>
                  <a:srgbClr val="182C43"/>
                </a:solidFill>
                <a:latin typeface="DejaVu Sans"/>
                <a:ea typeface="DejaVu Sans"/>
                <a:cs typeface="DejaVu Sans"/>
              </a:defRPr>
            </a:pPr>
            <a:r>
              <a:rPr sz="1875">
                <a:solidFill>
                  <a:srgbClr val="182C43"/>
                </a:solidFill>
                <a:latin typeface="DejaVu Sans"/>
                <a:ea typeface="DejaVu Sans"/>
                <a:cs typeface="DejaVu Sans"/>
              </a:rPr>
              <a:t>V8</a:t>
            </a:r>
          </a:p>
        </p:txBody>
      </p:sp>
      <p:sp>
        <p:nvSpPr>
          <p:cNvPr id="20" name="text-19">
            <a:extLst xmlns:a="http://schemas.openxmlformats.org/drawingml/2006/main">
              <a:ext uri="{FF2B5EF4-FFF2-40B4-BE49-F238E27FC236}">
                <a16:creationId xmlns:a16="http://schemas.microsoft.com/office/drawing/2014/main" id="{A77576AB-AFB0-4F2D-BB99-A4E5148A195F}"/>
              </a:ext>
            </a:extLst>
          </p:cNvPr>
          <p:cNvSpPr>
            <a:spLocks xmlns:a="http://schemas.openxmlformats.org/drawingml/2006/main" noGrp="1"/>
          </p:cNvSpPr>
          <p:nvPr/>
        </p:nvSpPr>
        <p:spPr>
          <a:xfrm xmlns:a="http://schemas.openxmlformats.org/drawingml/2006/main">
            <a:off x="619125" y="60293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96B79"/>
                </a:solidFill>
                <a:latin typeface="DejaVu Sans"/>
                <a:ea typeface="DejaVu Sans"/>
                <a:cs typeface="DejaVu Sans"/>
              </a:defRPr>
            </a:defPPr>
          </a:lstStyle>
          <a:p xmlns:a="http://schemas.openxmlformats.org/drawingml/2006/main">
            <a:pPr>
              <a:defRPr sz="1800" b="0">
                <a:solidFill>
                  <a:srgbClr val="596B79"/>
                </a:solidFill>
                <a:latin typeface="DejaVu Sans"/>
                <a:ea typeface="DejaVu Sans"/>
                <a:cs typeface="DejaVu Sans"/>
              </a:defRPr>
            </a:pPr>
            <a:r>
              <a:rPr sz="1800" b="0">
                <a:solidFill>
                  <a:srgbClr val="596B79"/>
                </a:solidFill>
                <a:latin typeface="DejaVu Sans"/>
                <a:ea typeface="DejaVu Sans"/>
                <a:cs typeface="DejaVu Sans"/>
              </a:rPr>
              <a:t>Every stored vector is a comparison candidate.</a:t>
            </a:r>
          </a:p>
        </p:txBody>
      </p:sp>
      <p:sp>
        <p:nvSpPr>
          <p:cNvPr id="21" name="text-20">
            <a:extLst xmlns:a="http://schemas.openxmlformats.org/drawingml/2006/main">
              <a:ext uri="{FF2B5EF4-FFF2-40B4-BE49-F238E27FC236}">
                <a16:creationId xmlns:a16="http://schemas.microsoft.com/office/drawing/2014/main" id="{3B337C53-307C-4A78-A578-92E22C624AE3}"/>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22" name="text-21">
            <a:extLst xmlns:a="http://schemas.openxmlformats.org/drawingml/2006/main">
              <a:ext uri="{FF2B5EF4-FFF2-40B4-BE49-F238E27FC236}">
                <a16:creationId xmlns:a16="http://schemas.microsoft.com/office/drawing/2014/main" id="{DB02A549-E772-4BA3-8D0D-69F86EECE254}"/>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44/56</a:t>
            </a:r>
          </a:p>
        </p:txBody>
      </p:sp>
    </p:spTree>
    <p:extLst>
      <p:ext uri="{BB962C8B-B14F-4D97-AF65-F5344CB8AC3E}">
        <p14:creationId xmlns:p14="http://schemas.microsoft.com/office/powerpoint/2010/main" val="313128090"/>
      </p:ext>
    </p:extLst>
  </p:cSld>
</p:sld>
</file>

<file path=ppt/slides/slide4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51C07AA3-7A83-40DF-A92A-745E3C7FAF93}"/>
              </a:ext>
            </a:extLst>
          </p:cNvPr>
          <p:cNvCxnSpPr>
            <a:stCxn xmlns:a="http://schemas.openxmlformats.org/drawingml/2006/main" id="5" idx="2"/>
            <a:endCxn xmlns:a="http://schemas.openxmlformats.org/drawingml/2006/main" id="12" idx="0"/>
          </p:cNvCxnSpPr>
          <p:nvPr/>
        </p:nvCxnSpPr>
        <p:spPr>
          <a:xfrm xmlns:a="http://schemas.openxmlformats.org/drawingml/2006/main">
            <a:off x="6691313" y="3190875"/>
            <a:ext cx="0" cy="144780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7FFD9522-17D8-4BE9-B5CE-7A854531F7C6}"/>
              </a:ext>
            </a:extLst>
          </p:cNvPr>
          <p:cNvCxnSpPr>
            <a:stCxn xmlns:a="http://schemas.openxmlformats.org/drawingml/2006/main" id="13" idx="3"/>
            <a:endCxn xmlns:a="http://schemas.openxmlformats.org/drawingml/2006/main" id="14" idx="1"/>
          </p:cNvCxnSpPr>
          <p:nvPr/>
        </p:nvCxnSpPr>
        <p:spPr>
          <a:xfrm xmlns:a="http://schemas.openxmlformats.org/drawingml/2006/main">
            <a:off x="9001125" y="4972050"/>
            <a:ext cx="809625" cy="0"/>
          </a:xfrm>
          <a:prstGeom xmlns:a="http://schemas.openxmlformats.org/drawingml/2006/main" prst="straightConnector1">
            <a:avLst/>
          </a:prstGeom>
          <a:ln xmlns:a="http://schemas.openxmlformats.org/drawingml/2006/main" w="14288">
            <a:solidFill>
              <a:srgbClr val="9DA8AD"/>
            </a:solidFill>
            <a:prstDash val="dash"/>
            <a:tailEnd type="arrow" w="med" len="med"/>
          </a:ln>
        </p:spPr>
      </p:cxnSp>
      <p:cxnSp>
        <p:nvCxnSpPr>
          <p:cNvPr id="17" name="">
            <a:extLst xmlns:a="http://schemas.openxmlformats.org/drawingml/2006/main">
              <a:ext uri="{FF2B5EF4-FFF2-40B4-BE49-F238E27FC236}">
                <a16:creationId xmlns:a16="http://schemas.microsoft.com/office/drawing/2014/main" id="{CB8606A7-3F3D-43BB-8D52-BC2278A42A02}"/>
              </a:ext>
            </a:extLst>
          </p:cNvPr>
          <p:cNvCxnSpPr>
            <a:stCxn xmlns:a="http://schemas.openxmlformats.org/drawingml/2006/main" id="12" idx="3"/>
            <a:endCxn xmlns:a="http://schemas.openxmlformats.org/drawingml/2006/main" id="13" idx="1"/>
          </p:cNvCxnSpPr>
          <p:nvPr/>
        </p:nvCxnSpPr>
        <p:spPr>
          <a:xfrm xmlns:a="http://schemas.openxmlformats.org/drawingml/2006/main">
            <a:off x="7191375" y="4972050"/>
            <a:ext cx="809625"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2DC17355-0B7F-4317-97F8-35BD2E5FB28D}"/>
              </a:ext>
            </a:extLst>
          </p:cNvPr>
          <p:cNvCxnSpPr>
            <a:stCxn xmlns:a="http://schemas.openxmlformats.org/drawingml/2006/main" id="11" idx="3"/>
            <a:endCxn xmlns:a="http://schemas.openxmlformats.org/drawingml/2006/main" id="12" idx="1"/>
          </p:cNvCxnSpPr>
          <p:nvPr/>
        </p:nvCxnSpPr>
        <p:spPr>
          <a:xfrm xmlns:a="http://schemas.openxmlformats.org/drawingml/2006/main">
            <a:off x="5381625" y="4972050"/>
            <a:ext cx="809625" cy="0"/>
          </a:xfrm>
          <a:prstGeom xmlns:a="http://schemas.openxmlformats.org/drawingml/2006/main" prst="straightConnector1">
            <a:avLst/>
          </a:prstGeom>
          <a:ln xmlns:a="http://schemas.openxmlformats.org/drawingml/2006/main" w="14288">
            <a:solidFill>
              <a:srgbClr val="9DA8AD"/>
            </a:solidFill>
            <a:prstDash val="dash"/>
            <a:tailEnd type="arrow" w="med" len="med"/>
          </a:ln>
        </p:spPr>
      </p:cxnSp>
      <p:cxnSp>
        <p:nvCxnSpPr>
          <p:cNvPr id="15" name="">
            <a:extLst xmlns:a="http://schemas.openxmlformats.org/drawingml/2006/main">
              <a:ext uri="{FF2B5EF4-FFF2-40B4-BE49-F238E27FC236}">
                <a16:creationId xmlns:a16="http://schemas.microsoft.com/office/drawing/2014/main" id="{6ECDFFB1-563C-4FAF-9864-EFA9B84950F4}"/>
              </a:ext>
            </a:extLst>
          </p:cNvPr>
          <p:cNvCxnSpPr>
            <a:stCxn xmlns:a="http://schemas.openxmlformats.org/drawingml/2006/main" id="10" idx="3"/>
            <a:endCxn xmlns:a="http://schemas.openxmlformats.org/drawingml/2006/main" id="11" idx="1"/>
          </p:cNvCxnSpPr>
          <p:nvPr/>
        </p:nvCxnSpPr>
        <p:spPr>
          <a:xfrm xmlns:a="http://schemas.openxmlformats.org/drawingml/2006/main">
            <a:off x="3571875" y="4972050"/>
            <a:ext cx="809625" cy="0"/>
          </a:xfrm>
          <a:prstGeom xmlns:a="http://schemas.openxmlformats.org/drawingml/2006/main" prst="straightConnector1">
            <a:avLst/>
          </a:prstGeom>
          <a:ln xmlns:a="http://schemas.openxmlformats.org/drawingml/2006/main" w="14288">
            <a:solidFill>
              <a:srgbClr val="9DA8AD"/>
            </a:solidFill>
            <a:prstDash val="dash"/>
            <a:tailEnd type="arrow" w="med" len="med"/>
          </a:ln>
        </p:spPr>
      </p:cxnSp>
      <p:cxnSp>
        <p:nvCxnSpPr>
          <p:cNvPr id="8" name="">
            <a:extLst xmlns:a="http://schemas.openxmlformats.org/drawingml/2006/main">
              <a:ext uri="{FF2B5EF4-FFF2-40B4-BE49-F238E27FC236}">
                <a16:creationId xmlns:a16="http://schemas.microsoft.com/office/drawing/2014/main" id="{E3AC73EB-4835-4FD1-9C85-B20032B5C314}"/>
              </a:ext>
            </a:extLst>
          </p:cNvPr>
          <p:cNvCxnSpPr>
            <a:stCxn xmlns:a="http://schemas.openxmlformats.org/drawingml/2006/main" id="5" idx="3"/>
            <a:endCxn xmlns:a="http://schemas.openxmlformats.org/drawingml/2006/main" id="6" idx="1"/>
          </p:cNvCxnSpPr>
          <p:nvPr/>
        </p:nvCxnSpPr>
        <p:spPr>
          <a:xfrm xmlns:a="http://schemas.openxmlformats.org/drawingml/2006/main">
            <a:off x="7191375" y="2881313"/>
            <a:ext cx="2619375" cy="0"/>
          </a:xfrm>
          <a:prstGeom xmlns:a="http://schemas.openxmlformats.org/drawingml/2006/main" prst="straightConnector1">
            <a:avLst/>
          </a:prstGeom>
          <a:ln xmlns:a="http://schemas.openxmlformats.org/drawingml/2006/main" w="14288">
            <a:solidFill>
              <a:srgbClr val="9DA8AD"/>
            </a:solidFill>
            <a:prstDash val="dash"/>
            <a:tailEnd type="arrow" w="med" len="med"/>
          </a:ln>
        </p:spPr>
      </p:cxnSp>
      <p:cxnSp>
        <p:nvCxnSpPr>
          <p:cNvPr id="7" name="">
            <a:extLst xmlns:a="http://schemas.openxmlformats.org/drawingml/2006/main">
              <a:ext uri="{FF2B5EF4-FFF2-40B4-BE49-F238E27FC236}">
                <a16:creationId xmlns:a16="http://schemas.microsoft.com/office/drawing/2014/main" id="{63B006E5-819B-4F4B-AC70-883887B7C9E4}"/>
              </a:ext>
            </a:extLst>
          </p:cNvPr>
          <p:cNvCxnSpPr>
            <a:stCxn xmlns:a="http://schemas.openxmlformats.org/drawingml/2006/main" id="4" idx="3"/>
            <a:endCxn xmlns:a="http://schemas.openxmlformats.org/drawingml/2006/main" id="5" idx="1"/>
          </p:cNvCxnSpPr>
          <p:nvPr/>
        </p:nvCxnSpPr>
        <p:spPr>
          <a:xfrm xmlns:a="http://schemas.openxmlformats.org/drawingml/2006/main">
            <a:off x="3571875" y="2881313"/>
            <a:ext cx="2619375" cy="0"/>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23" name="text-0">
            <a:extLst xmlns:a="http://schemas.openxmlformats.org/drawingml/2006/main">
              <a:ext uri="{FF2B5EF4-FFF2-40B4-BE49-F238E27FC236}">
                <a16:creationId xmlns:a16="http://schemas.microsoft.com/office/drawing/2014/main" id="{FAC55A17-6432-4AED-A831-268541158003}"/>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Strategy 2: follow neighbor connections</a:t>
            </a:r>
          </a:p>
        </p:txBody>
      </p:sp>
      <p:sp>
        <p:nvSpPr>
          <p:cNvPr id="2" name="text-1">
            <a:extLst xmlns:a="http://schemas.openxmlformats.org/drawingml/2006/main">
              <a:ext uri="{FF2B5EF4-FFF2-40B4-BE49-F238E27FC236}">
                <a16:creationId xmlns:a16="http://schemas.microsoft.com/office/drawing/2014/main" id="{D4DE8BE6-908D-4FF8-92FE-2EB04243C3BC}"/>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HNSW uses broad routes, then nearby connections</a:t>
            </a:r>
          </a:p>
        </p:txBody>
      </p:sp>
      <p:sp>
        <p:nvSpPr>
          <p:cNvPr id="3" name="text-2">
            <a:extLst xmlns:a="http://schemas.openxmlformats.org/drawingml/2006/main">
              <a:ext uri="{FF2B5EF4-FFF2-40B4-BE49-F238E27FC236}">
                <a16:creationId xmlns:a16="http://schemas.microsoft.com/office/drawing/2014/main" id="{06013C89-B4DD-4449-8345-B6F6E6561F78}"/>
              </a:ext>
            </a:extLst>
          </p:cNvPr>
          <p:cNvSpPr>
            <a:spLocks xmlns:a="http://schemas.openxmlformats.org/drawingml/2006/main" noGrp="1"/>
          </p:cNvSpPr>
          <p:nvPr/>
        </p:nvSpPr>
        <p:spPr>
          <a:xfrm xmlns:a="http://schemas.openxmlformats.org/drawingml/2006/main">
            <a:off x="619125" y="214312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87E84"/>
                </a:solidFill>
                <a:latin typeface="DejaVu Sans"/>
                <a:ea typeface="DejaVu Sans"/>
                <a:cs typeface="DejaVu Sans"/>
              </a:defRPr>
            </a:defPPr>
          </a:lstStyle>
          <a:p xmlns:a="http://schemas.openxmlformats.org/drawingml/2006/main">
            <a:pPr>
              <a:defRPr sz="1575" b="1">
                <a:solidFill>
                  <a:srgbClr val="087E84"/>
                </a:solidFill>
                <a:latin typeface="DejaVu Sans"/>
                <a:ea typeface="DejaVu Sans"/>
                <a:cs typeface="DejaVu Sans"/>
              </a:defRPr>
            </a:pPr>
            <a:r>
              <a:rPr sz="1575" b="1">
                <a:solidFill>
                  <a:srgbClr val="087E84"/>
                </a:solidFill>
                <a:latin typeface="DejaVu Sans"/>
                <a:ea typeface="DejaVu Sans"/>
                <a:cs typeface="DejaVu Sans"/>
              </a:rPr>
              <a:t>BROAD ROUTES</a:t>
            </a:r>
          </a:p>
        </p:txBody>
      </p:sp>
      <p:sp>
        <p:nvSpPr>
          <p:cNvPr id="4" name="diagram-3">
            <a:extLst xmlns:a="http://schemas.openxmlformats.org/drawingml/2006/main">
              <a:ext uri="{FF2B5EF4-FFF2-40B4-BE49-F238E27FC236}">
                <a16:creationId xmlns:a16="http://schemas.microsoft.com/office/drawing/2014/main" id="{3DADA1C0-01D6-4F3A-AC98-ECE6343FC9AF}"/>
              </a:ext>
            </a:extLst>
          </p:cNvPr>
          <p:cNvSpPr>
            <a:spLocks xmlns:a="http://schemas.openxmlformats.org/drawingml/2006/main" noGrp="1"/>
          </p:cNvSpPr>
          <p:nvPr/>
        </p:nvSpPr>
        <p:spPr>
          <a:xfrm xmlns:a="http://schemas.openxmlformats.org/drawingml/2006/main">
            <a:off x="2571750" y="2571750"/>
            <a:ext cx="1000125" cy="619125"/>
          </a:xfrm>
          <a:prstGeom xmlns:a="http://schemas.openxmlformats.org/drawingml/2006/main" prst="rect">
            <a:avLst/>
          </a:prstGeom>
          <a:solidFill xmlns:a="http://schemas.openxmlformats.org/drawingml/2006/main">
            <a:srgbClr val="F1E7D5"/>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A</a:t>
            </a:r>
          </a:p>
        </p:txBody>
      </p:sp>
      <p:sp>
        <p:nvSpPr>
          <p:cNvPr id="5" name="diagram-4">
            <a:extLst xmlns:a="http://schemas.openxmlformats.org/drawingml/2006/main">
              <a:ext uri="{FF2B5EF4-FFF2-40B4-BE49-F238E27FC236}">
                <a16:creationId xmlns:a16="http://schemas.microsoft.com/office/drawing/2014/main" id="{DF852C23-334B-4AFA-8CE3-E6A117133E0B}"/>
              </a:ext>
            </a:extLst>
          </p:cNvPr>
          <p:cNvSpPr>
            <a:spLocks xmlns:a="http://schemas.openxmlformats.org/drawingml/2006/main" noGrp="1"/>
          </p:cNvSpPr>
          <p:nvPr/>
        </p:nvSpPr>
        <p:spPr>
          <a:xfrm xmlns:a="http://schemas.openxmlformats.org/drawingml/2006/main">
            <a:off x="6191250" y="2571750"/>
            <a:ext cx="1000125" cy="619125"/>
          </a:xfrm>
          <a:prstGeom xmlns:a="http://schemas.openxmlformats.org/drawingml/2006/main" prst="rect">
            <a:avLst/>
          </a:prstGeom>
          <a:solidFill xmlns:a="http://schemas.openxmlformats.org/drawingml/2006/main">
            <a:srgbClr val="F1E7D5"/>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C</a:t>
            </a:r>
          </a:p>
        </p:txBody>
      </p:sp>
      <p:sp>
        <p:nvSpPr>
          <p:cNvPr id="6" name="diagram-5">
            <a:extLst xmlns:a="http://schemas.openxmlformats.org/drawingml/2006/main">
              <a:ext uri="{FF2B5EF4-FFF2-40B4-BE49-F238E27FC236}">
                <a16:creationId xmlns:a16="http://schemas.microsoft.com/office/drawing/2014/main" id="{ACCB1A49-5A92-45DF-9F34-88EFCB3F6472}"/>
              </a:ext>
            </a:extLst>
          </p:cNvPr>
          <p:cNvSpPr>
            <a:spLocks xmlns:a="http://schemas.openxmlformats.org/drawingml/2006/main" noGrp="1"/>
          </p:cNvSpPr>
          <p:nvPr/>
        </p:nvSpPr>
        <p:spPr>
          <a:xfrm xmlns:a="http://schemas.openxmlformats.org/drawingml/2006/main">
            <a:off x="9810750" y="2571750"/>
            <a:ext cx="1000125" cy="619125"/>
          </a:xfrm>
          <a:prstGeom xmlns:a="http://schemas.openxmlformats.org/drawingml/2006/main" prst="rect">
            <a:avLst/>
          </a:prstGeom>
          <a:solidFill xmlns:a="http://schemas.openxmlformats.org/drawingml/2006/main">
            <a:srgbClr val="F1E7D5"/>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E</a:t>
            </a:r>
          </a:p>
        </p:txBody>
      </p:sp>
      <p:sp>
        <p:nvSpPr>
          <p:cNvPr id="9" name="text-8">
            <a:extLst xmlns:a="http://schemas.openxmlformats.org/drawingml/2006/main">
              <a:ext uri="{FF2B5EF4-FFF2-40B4-BE49-F238E27FC236}">
                <a16:creationId xmlns:a16="http://schemas.microsoft.com/office/drawing/2014/main" id="{D71ED93E-DB28-429D-BC9C-19316C941F80}"/>
              </a:ext>
            </a:extLst>
          </p:cNvPr>
          <p:cNvSpPr>
            <a:spLocks xmlns:a="http://schemas.openxmlformats.org/drawingml/2006/main" noGrp="1"/>
          </p:cNvSpPr>
          <p:nvPr/>
        </p:nvSpPr>
        <p:spPr>
          <a:xfrm xmlns:a="http://schemas.openxmlformats.org/drawingml/2006/main">
            <a:off x="619125" y="3914775"/>
            <a:ext cx="5715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87E84"/>
                </a:solidFill>
                <a:latin typeface="DejaVu Sans"/>
                <a:ea typeface="DejaVu Sans"/>
                <a:cs typeface="DejaVu Sans"/>
              </a:defRPr>
            </a:defPPr>
          </a:lstStyle>
          <a:p xmlns:a="http://schemas.openxmlformats.org/drawingml/2006/main">
            <a:pPr>
              <a:defRPr sz="1575" b="1">
                <a:solidFill>
                  <a:srgbClr val="087E84"/>
                </a:solidFill>
                <a:latin typeface="DejaVu Sans"/>
                <a:ea typeface="DejaVu Sans"/>
                <a:cs typeface="DejaVu Sans"/>
              </a:defRPr>
            </a:pPr>
            <a:r>
              <a:rPr sz="1575" b="1">
                <a:solidFill>
                  <a:srgbClr val="087E84"/>
                </a:solidFill>
                <a:latin typeface="DejaVu Sans"/>
                <a:ea typeface="DejaVu Sans"/>
                <a:cs typeface="DejaVu Sans"/>
              </a:rPr>
              <a:t>LOCAL CONNECTIONS</a:t>
            </a:r>
          </a:p>
        </p:txBody>
      </p:sp>
      <p:sp>
        <p:nvSpPr>
          <p:cNvPr id="10" name="diagram-9">
            <a:extLst xmlns:a="http://schemas.openxmlformats.org/drawingml/2006/main">
              <a:ext uri="{FF2B5EF4-FFF2-40B4-BE49-F238E27FC236}">
                <a16:creationId xmlns:a16="http://schemas.microsoft.com/office/drawing/2014/main" id="{104494D3-A2EF-4F22-8FB1-6D3D788D97CC}"/>
              </a:ext>
            </a:extLst>
          </p:cNvPr>
          <p:cNvSpPr>
            <a:spLocks xmlns:a="http://schemas.openxmlformats.org/drawingml/2006/main" noGrp="1"/>
          </p:cNvSpPr>
          <p:nvPr/>
        </p:nvSpPr>
        <p:spPr>
          <a:xfrm xmlns:a="http://schemas.openxmlformats.org/drawingml/2006/main">
            <a:off x="2571750" y="4638675"/>
            <a:ext cx="1000125" cy="666750"/>
          </a:xfrm>
          <a:prstGeom xmlns:a="http://schemas.openxmlformats.org/drawingml/2006/main" prst="rect">
            <a:avLst/>
          </a:prstGeom>
          <a:solidFill xmlns:a="http://schemas.openxmlformats.org/drawingml/2006/main">
            <a:srgbClr val="EDF0EE"/>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A</a:t>
            </a:r>
          </a:p>
        </p:txBody>
      </p:sp>
      <p:sp>
        <p:nvSpPr>
          <p:cNvPr id="11" name="diagram-10">
            <a:extLst xmlns:a="http://schemas.openxmlformats.org/drawingml/2006/main">
              <a:ext uri="{FF2B5EF4-FFF2-40B4-BE49-F238E27FC236}">
                <a16:creationId xmlns:a16="http://schemas.microsoft.com/office/drawing/2014/main" id="{312C8AE7-80E7-4CA4-BCDA-966F2AAEE8F1}"/>
              </a:ext>
            </a:extLst>
          </p:cNvPr>
          <p:cNvSpPr>
            <a:spLocks xmlns:a="http://schemas.openxmlformats.org/drawingml/2006/main" noGrp="1"/>
          </p:cNvSpPr>
          <p:nvPr/>
        </p:nvSpPr>
        <p:spPr>
          <a:xfrm xmlns:a="http://schemas.openxmlformats.org/drawingml/2006/main">
            <a:off x="4381500" y="4638675"/>
            <a:ext cx="1000125" cy="666750"/>
          </a:xfrm>
          <a:prstGeom xmlns:a="http://schemas.openxmlformats.org/drawingml/2006/main" prst="rect">
            <a:avLst/>
          </a:prstGeom>
          <a:solidFill xmlns:a="http://schemas.openxmlformats.org/drawingml/2006/main">
            <a:srgbClr val="EDF0EE"/>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B</a:t>
            </a:r>
          </a:p>
        </p:txBody>
      </p:sp>
      <p:sp>
        <p:nvSpPr>
          <p:cNvPr id="12" name="diagram-11">
            <a:extLst xmlns:a="http://schemas.openxmlformats.org/drawingml/2006/main">
              <a:ext uri="{FF2B5EF4-FFF2-40B4-BE49-F238E27FC236}">
                <a16:creationId xmlns:a16="http://schemas.microsoft.com/office/drawing/2014/main" id="{FCB22B4D-3921-45A2-8F35-C810BA24648B}"/>
              </a:ext>
            </a:extLst>
          </p:cNvPr>
          <p:cNvSpPr>
            <a:spLocks xmlns:a="http://schemas.openxmlformats.org/drawingml/2006/main" noGrp="1"/>
          </p:cNvSpPr>
          <p:nvPr/>
        </p:nvSpPr>
        <p:spPr>
          <a:xfrm xmlns:a="http://schemas.openxmlformats.org/drawingml/2006/main">
            <a:off x="6191250" y="4638675"/>
            <a:ext cx="1000125" cy="666750"/>
          </a:xfrm>
          <a:prstGeom xmlns:a="http://schemas.openxmlformats.org/drawingml/2006/main" prst="rect">
            <a:avLst/>
          </a:prstGeom>
          <a:solidFill xmlns:a="http://schemas.openxmlformats.org/drawingml/2006/main">
            <a:srgbClr val="EDF0EE"/>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C</a:t>
            </a:r>
          </a:p>
        </p:txBody>
      </p:sp>
      <p:sp>
        <p:nvSpPr>
          <p:cNvPr id="13" name="diagram-12">
            <a:extLst xmlns:a="http://schemas.openxmlformats.org/drawingml/2006/main">
              <a:ext uri="{FF2B5EF4-FFF2-40B4-BE49-F238E27FC236}">
                <a16:creationId xmlns:a16="http://schemas.microsoft.com/office/drawing/2014/main" id="{5E5F1F4D-2BA2-4086-80C5-8920DE95CEBD}"/>
              </a:ext>
            </a:extLst>
          </p:cNvPr>
          <p:cNvSpPr>
            <a:spLocks xmlns:a="http://schemas.openxmlformats.org/drawingml/2006/main" noGrp="1"/>
          </p:cNvSpPr>
          <p:nvPr/>
        </p:nvSpPr>
        <p:spPr>
          <a:xfrm xmlns:a="http://schemas.openxmlformats.org/drawingml/2006/main">
            <a:off x="8001000" y="4638675"/>
            <a:ext cx="1000125" cy="666750"/>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D</a:t>
            </a:r>
          </a:p>
        </p:txBody>
      </p:sp>
      <p:sp>
        <p:nvSpPr>
          <p:cNvPr id="14" name="diagram-13">
            <a:extLst xmlns:a="http://schemas.openxmlformats.org/drawingml/2006/main">
              <a:ext uri="{FF2B5EF4-FFF2-40B4-BE49-F238E27FC236}">
                <a16:creationId xmlns:a16="http://schemas.microsoft.com/office/drawing/2014/main" id="{50227FCB-0FCF-4D44-8CE0-CE396E62F43B}"/>
              </a:ext>
            </a:extLst>
          </p:cNvPr>
          <p:cNvSpPr>
            <a:spLocks xmlns:a="http://schemas.openxmlformats.org/drawingml/2006/main" noGrp="1"/>
          </p:cNvSpPr>
          <p:nvPr/>
        </p:nvSpPr>
        <p:spPr>
          <a:xfrm xmlns:a="http://schemas.openxmlformats.org/drawingml/2006/main">
            <a:off x="9810750" y="4638675"/>
            <a:ext cx="1000125" cy="666750"/>
          </a:xfrm>
          <a:prstGeom xmlns:a="http://schemas.openxmlformats.org/drawingml/2006/main" prst="rect">
            <a:avLst/>
          </a:prstGeom>
          <a:solidFill xmlns:a="http://schemas.openxmlformats.org/drawingml/2006/main">
            <a:srgbClr val="EDF0EE"/>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75">
                <a:solidFill>
                  <a:srgbClr val="182C43"/>
                </a:solidFill>
                <a:latin typeface="DejaVu Sans"/>
                <a:ea typeface="DejaVu Sans"/>
                <a:cs typeface="DejaVu Sans"/>
              </a:defRPr>
            </a:defPPr>
          </a:lstStyle>
          <a:p xmlns:a="http://schemas.openxmlformats.org/drawingml/2006/main">
            <a:pPr algn="ctr">
              <a:defRPr sz="2175">
                <a:solidFill>
                  <a:srgbClr val="182C43"/>
                </a:solidFill>
                <a:latin typeface="DejaVu Sans"/>
                <a:ea typeface="DejaVu Sans"/>
                <a:cs typeface="DejaVu Sans"/>
              </a:defRPr>
            </a:pPr>
            <a:r>
              <a:rPr sz="2175">
                <a:solidFill>
                  <a:srgbClr val="182C43"/>
                </a:solidFill>
                <a:latin typeface="DejaVu Sans"/>
                <a:ea typeface="DejaVu Sans"/>
                <a:cs typeface="DejaVu Sans"/>
              </a:rPr>
              <a:t>E</a:t>
            </a:r>
          </a:p>
        </p:txBody>
      </p:sp>
      <p:sp>
        <p:nvSpPr>
          <p:cNvPr id="20" name="text-19">
            <a:extLst xmlns:a="http://schemas.openxmlformats.org/drawingml/2006/main">
              <a:ext uri="{FF2B5EF4-FFF2-40B4-BE49-F238E27FC236}">
                <a16:creationId xmlns:a16="http://schemas.microsoft.com/office/drawing/2014/main" id="{40A6EF88-0C20-4C1F-8FE8-578377AA9599}"/>
              </a:ext>
            </a:extLst>
          </p:cNvPr>
          <p:cNvSpPr>
            <a:spLocks xmlns:a="http://schemas.openxmlformats.org/drawingml/2006/main" noGrp="1"/>
          </p:cNvSpPr>
          <p:nvPr/>
        </p:nvSpPr>
        <p:spPr>
          <a:xfrm xmlns:a="http://schemas.openxmlformats.org/drawingml/2006/main">
            <a:off x="619125" y="5905500"/>
            <a:ext cx="1076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596B79"/>
                </a:solidFill>
                <a:latin typeface="DejaVu Sans"/>
                <a:ea typeface="DejaVu Sans"/>
                <a:cs typeface="DejaVu Sans"/>
              </a:defRPr>
            </a:defPPr>
          </a:lstStyle>
          <a:p xmlns:a="http://schemas.openxmlformats.org/drawingml/2006/main">
            <a:pPr>
              <a:defRPr sz="1650" b="0">
                <a:solidFill>
                  <a:srgbClr val="596B79"/>
                </a:solidFill>
                <a:latin typeface="DejaVu Sans"/>
                <a:ea typeface="DejaVu Sans"/>
                <a:cs typeface="DejaVu Sans"/>
              </a:defRPr>
            </a:pPr>
            <a:r>
              <a:rPr sz="1650" b="0">
                <a:solidFill>
                  <a:srgbClr val="596B79"/>
                </a:solidFill>
                <a:latin typeface="DejaVu Sans"/>
                <a:ea typeface="DejaVu Sans"/>
                <a:cs typeface="DejaVu Sans"/>
              </a:rPr>
              <a:t>Simplified layers and an illustrative search route. Results can be approximate.</a:t>
            </a:r>
          </a:p>
        </p:txBody>
      </p:sp>
      <p:sp>
        <p:nvSpPr>
          <p:cNvPr id="21" name="text-20">
            <a:extLst xmlns:a="http://schemas.openxmlformats.org/drawingml/2006/main">
              <a:ext uri="{FF2B5EF4-FFF2-40B4-BE49-F238E27FC236}">
                <a16:creationId xmlns:a16="http://schemas.microsoft.com/office/drawing/2014/main" id="{5D83A30E-840C-4AAD-9213-4DB5602B04B4}"/>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22" name="text-21">
            <a:extLst xmlns:a="http://schemas.openxmlformats.org/drawingml/2006/main">
              <a:ext uri="{FF2B5EF4-FFF2-40B4-BE49-F238E27FC236}">
                <a16:creationId xmlns:a16="http://schemas.microsoft.com/office/drawing/2014/main" id="{380E434E-3363-4587-AAA4-58B38BBABFC4}"/>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45/56</a:t>
            </a:r>
          </a:p>
        </p:txBody>
      </p:sp>
    </p:spTree>
    <p:extLst>
      <p:ext uri="{BB962C8B-B14F-4D97-AF65-F5344CB8AC3E}">
        <p14:creationId xmlns:p14="http://schemas.microsoft.com/office/powerpoint/2010/main" val="2108012495"/>
      </p:ext>
    </p:extLst>
  </p:cSld>
</p:sld>
</file>

<file path=ppt/slides/slide46.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04E6BAF5-9718-4B2D-B89B-7351697A313F}"/>
              </a:ext>
            </a:extLst>
          </p:cNvPr>
          <p:cNvCxnSpPr>
            <a:stCxn xmlns:a="http://schemas.openxmlformats.org/drawingml/2006/main" id="3" idx="3"/>
            <a:endCxn xmlns:a="http://schemas.openxmlformats.org/drawingml/2006/main" id="11" idx="0"/>
          </p:cNvCxnSpPr>
          <p:nvPr/>
        </p:nvCxnSpPr>
        <p:spPr>
          <a:xfrm xmlns:a="http://schemas.openxmlformats.org/drawingml/2006/main">
            <a:off x="2476500" y="2643188"/>
            <a:ext cx="4976813" cy="642938"/>
          </a:xfrm>
          <a:prstGeom xmlns:a="http://schemas.openxmlformats.org/drawingml/2006/main" prst="straightConnector1">
            <a:avLst/>
          </a:prstGeom>
          <a:ln xmlns:a="http://schemas.openxmlformats.org/drawingml/2006/main" w="28575">
            <a:solidFill>
              <a:srgbClr val="087E84"/>
            </a:solidFill>
            <a:prstDash val="solid"/>
            <a:tailEnd type="arrow" w="med" len="med"/>
          </a:ln>
        </p:spPr>
      </p:cxnSp>
      <p:sp>
        <p:nvSpPr>
          <p:cNvPr id="29" name="text-0">
            <a:extLst xmlns:a="http://schemas.openxmlformats.org/drawingml/2006/main">
              <a:ext uri="{FF2B5EF4-FFF2-40B4-BE49-F238E27FC236}">
                <a16:creationId xmlns:a16="http://schemas.microsoft.com/office/drawing/2014/main" id="{3A5E7F2D-9147-490D-BA6C-2F6744750D5B}"/>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Strategy 3: search selected groups</a:t>
            </a:r>
          </a:p>
        </p:txBody>
      </p:sp>
      <p:sp>
        <p:nvSpPr>
          <p:cNvPr id="2" name="text-1">
            <a:extLst xmlns:a="http://schemas.openxmlformats.org/drawingml/2006/main">
              <a:ext uri="{FF2B5EF4-FFF2-40B4-BE49-F238E27FC236}">
                <a16:creationId xmlns:a16="http://schemas.microsoft.com/office/drawing/2014/main" id="{C4A0C019-DF16-4C19-BB3E-646C375716BF}"/>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IVF groups nearby vectors into regions</a:t>
            </a:r>
          </a:p>
        </p:txBody>
      </p:sp>
      <p:sp>
        <p:nvSpPr>
          <p:cNvPr id="3" name="diagram-2">
            <a:extLst xmlns:a="http://schemas.openxmlformats.org/drawingml/2006/main">
              <a:ext uri="{FF2B5EF4-FFF2-40B4-BE49-F238E27FC236}">
                <a16:creationId xmlns:a16="http://schemas.microsoft.com/office/drawing/2014/main" id="{73D370BC-C819-4404-8533-A3F206F8DA17}"/>
              </a:ext>
            </a:extLst>
          </p:cNvPr>
          <p:cNvSpPr>
            <a:spLocks xmlns:a="http://schemas.openxmlformats.org/drawingml/2006/main" noGrp="1"/>
          </p:cNvSpPr>
          <p:nvPr/>
        </p:nvSpPr>
        <p:spPr>
          <a:xfrm xmlns:a="http://schemas.openxmlformats.org/drawingml/2006/main">
            <a:off x="619125" y="2286000"/>
            <a:ext cx="1857375" cy="714375"/>
          </a:xfrm>
          <a:prstGeom xmlns:a="http://schemas.openxmlformats.org/drawingml/2006/main" prst="rect">
            <a:avLst/>
          </a:prstGeom>
          <a:solidFill xmlns:a="http://schemas.openxmlformats.org/drawingml/2006/main">
            <a:srgbClr val="F1E7D5"/>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250">
                <a:solidFill>
                  <a:srgbClr val="182C43"/>
                </a:solidFill>
                <a:latin typeface="DejaVu Sans"/>
                <a:ea typeface="DejaVu Sans"/>
                <a:cs typeface="DejaVu Sans"/>
              </a:defRPr>
            </a:defPPr>
          </a:lstStyle>
          <a:p xmlns:a="http://schemas.openxmlformats.org/drawingml/2006/main">
            <a:pPr algn="ctr">
              <a:defRPr sz="2250">
                <a:solidFill>
                  <a:srgbClr val="182C43"/>
                </a:solidFill>
                <a:latin typeface="DejaVu Sans"/>
                <a:ea typeface="DejaVu Sans"/>
                <a:cs typeface="DejaVu Sans"/>
              </a:defRPr>
            </a:pPr>
            <a:r>
              <a:rPr sz="2250">
                <a:solidFill>
                  <a:srgbClr val="182C43"/>
                </a:solidFill>
                <a:latin typeface="DejaVu Sans"/>
                <a:ea typeface="DejaVu Sans"/>
                <a:cs typeface="DejaVu Sans"/>
              </a:rPr>
              <a:t>Query</a:t>
            </a:r>
          </a:p>
        </p:txBody>
      </p:sp>
      <p:sp>
        <p:nvSpPr>
          <p:cNvPr id="4" name="diagram-3">
            <a:extLst xmlns:a="http://schemas.openxmlformats.org/drawingml/2006/main">
              <a:ext uri="{FF2B5EF4-FFF2-40B4-BE49-F238E27FC236}">
                <a16:creationId xmlns:a16="http://schemas.microsoft.com/office/drawing/2014/main" id="{7280DB37-FDA1-42BB-9D3B-ABA0222AD97C}"/>
              </a:ext>
            </a:extLst>
          </p:cNvPr>
          <p:cNvSpPr>
            <a:spLocks xmlns:a="http://schemas.openxmlformats.org/drawingml/2006/main" noGrp="1"/>
          </p:cNvSpPr>
          <p:nvPr/>
        </p:nvSpPr>
        <p:spPr>
          <a:xfrm xmlns:a="http://schemas.openxmlformats.org/drawingml/2006/main">
            <a:off x="3429000" y="3286125"/>
            <a:ext cx="2524125" cy="2428875"/>
          </a:xfrm>
          <a:prstGeom xmlns:a="http://schemas.openxmlformats.org/drawingml/2006/main" prst="rect">
            <a:avLst/>
          </a:prstGeom>
          <a:solidFill xmlns:a="http://schemas.openxmlformats.org/drawingml/2006/main">
            <a:srgbClr val="EEF0ED"/>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
            </a:r>
          </a:p>
        </p:txBody>
      </p:sp>
      <p:sp>
        <p:nvSpPr>
          <p:cNvPr id="5" name="text-4">
            <a:extLst xmlns:a="http://schemas.openxmlformats.org/drawingml/2006/main">
              <a:ext uri="{FF2B5EF4-FFF2-40B4-BE49-F238E27FC236}">
                <a16:creationId xmlns:a16="http://schemas.microsoft.com/office/drawing/2014/main" id="{22E0689C-5E5C-4FFB-9040-967B52DDD2A4}"/>
              </a:ext>
            </a:extLst>
          </p:cNvPr>
          <p:cNvSpPr>
            <a:spLocks xmlns:a="http://schemas.openxmlformats.org/drawingml/2006/main" noGrp="1"/>
          </p:cNvSpPr>
          <p:nvPr/>
        </p:nvSpPr>
        <p:spPr>
          <a:xfrm xmlns:a="http://schemas.openxmlformats.org/drawingml/2006/main">
            <a:off x="3619500" y="3476625"/>
            <a:ext cx="2143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82C43"/>
                </a:solidFill>
                <a:latin typeface="DejaVu Sans"/>
                <a:ea typeface="DejaVu Sans"/>
                <a:cs typeface="DejaVu Sans"/>
              </a:defRPr>
            </a:defPPr>
          </a:lstStyle>
          <a:p xmlns:a="http://schemas.openxmlformats.org/drawingml/2006/main">
            <a:pPr>
              <a:defRPr sz="2100" b="1">
                <a:solidFill>
                  <a:srgbClr val="182C43"/>
                </a:solidFill>
                <a:latin typeface="DejaVu Sans"/>
                <a:ea typeface="DejaVu Sans"/>
                <a:cs typeface="DejaVu Sans"/>
              </a:defRPr>
            </a:pPr>
            <a:r>
              <a:rPr sz="2100" b="1">
                <a:solidFill>
                  <a:srgbClr val="182C43"/>
                </a:solidFill>
                <a:latin typeface="DejaVu Sans"/>
                <a:ea typeface="DejaVu Sans"/>
                <a:cs typeface="DejaVu Sans"/>
              </a:rPr>
              <a:t>Group A</a:t>
            </a:r>
          </a:p>
        </p:txBody>
      </p:sp>
      <p:sp>
        <p:nvSpPr>
          <p:cNvPr id="6" name="vector-point-0-0">
            <a:extLst xmlns:a="http://schemas.openxmlformats.org/drawingml/2006/main">
              <a:ext uri="{FF2B5EF4-FFF2-40B4-BE49-F238E27FC236}">
                <a16:creationId xmlns:a16="http://schemas.microsoft.com/office/drawing/2014/main" id="{18F1C9A0-55DB-436D-B110-465E2D8ABB42}"/>
              </a:ext>
            </a:extLst>
          </p:cNvPr>
          <p:cNvSpPr>
            <a:spLocks xmlns:a="http://schemas.openxmlformats.org/drawingml/2006/main" noGrp="1"/>
          </p:cNvSpPr>
          <p:nvPr/>
        </p:nvSpPr>
        <p:spPr>
          <a:xfrm xmlns:a="http://schemas.openxmlformats.org/drawingml/2006/main">
            <a:off x="3810000" y="409575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7" name="vector-point-0-1">
            <a:extLst xmlns:a="http://schemas.openxmlformats.org/drawingml/2006/main">
              <a:ext uri="{FF2B5EF4-FFF2-40B4-BE49-F238E27FC236}">
                <a16:creationId xmlns:a16="http://schemas.microsoft.com/office/drawing/2014/main" id="{D162B536-F72F-4E86-8332-F099E6C9BF5F}"/>
              </a:ext>
            </a:extLst>
          </p:cNvPr>
          <p:cNvSpPr>
            <a:spLocks xmlns:a="http://schemas.openxmlformats.org/drawingml/2006/main" noGrp="1"/>
          </p:cNvSpPr>
          <p:nvPr/>
        </p:nvSpPr>
        <p:spPr>
          <a:xfrm xmlns:a="http://schemas.openxmlformats.org/drawingml/2006/main">
            <a:off x="4714875" y="409575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8" name="vector-point-0-2">
            <a:extLst xmlns:a="http://schemas.openxmlformats.org/drawingml/2006/main">
              <a:ext uri="{FF2B5EF4-FFF2-40B4-BE49-F238E27FC236}">
                <a16:creationId xmlns:a16="http://schemas.microsoft.com/office/drawing/2014/main" id="{8682F264-4ADD-4F81-94AD-25E64793B339}"/>
              </a:ext>
            </a:extLst>
          </p:cNvPr>
          <p:cNvSpPr>
            <a:spLocks xmlns:a="http://schemas.openxmlformats.org/drawingml/2006/main" noGrp="1"/>
          </p:cNvSpPr>
          <p:nvPr/>
        </p:nvSpPr>
        <p:spPr>
          <a:xfrm xmlns:a="http://schemas.openxmlformats.org/drawingml/2006/main">
            <a:off x="3810000" y="461010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9" name="vector-point-0-3">
            <a:extLst xmlns:a="http://schemas.openxmlformats.org/drawingml/2006/main">
              <a:ext uri="{FF2B5EF4-FFF2-40B4-BE49-F238E27FC236}">
                <a16:creationId xmlns:a16="http://schemas.microsoft.com/office/drawing/2014/main" id="{C51C84C9-C9F5-4C49-8E87-420F25EF9FA3}"/>
              </a:ext>
            </a:extLst>
          </p:cNvPr>
          <p:cNvSpPr>
            <a:spLocks xmlns:a="http://schemas.openxmlformats.org/drawingml/2006/main" noGrp="1"/>
          </p:cNvSpPr>
          <p:nvPr/>
        </p:nvSpPr>
        <p:spPr>
          <a:xfrm xmlns:a="http://schemas.openxmlformats.org/drawingml/2006/main">
            <a:off x="4714875" y="461010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10" name="vector-point-0-4">
            <a:extLst xmlns:a="http://schemas.openxmlformats.org/drawingml/2006/main">
              <a:ext uri="{FF2B5EF4-FFF2-40B4-BE49-F238E27FC236}">
                <a16:creationId xmlns:a16="http://schemas.microsoft.com/office/drawing/2014/main" id="{3C791082-8DD9-4643-86CF-6C10B6C54F86}"/>
              </a:ext>
            </a:extLst>
          </p:cNvPr>
          <p:cNvSpPr>
            <a:spLocks xmlns:a="http://schemas.openxmlformats.org/drawingml/2006/main" noGrp="1"/>
          </p:cNvSpPr>
          <p:nvPr/>
        </p:nvSpPr>
        <p:spPr>
          <a:xfrm xmlns:a="http://schemas.openxmlformats.org/drawingml/2006/main">
            <a:off x="3810000" y="512445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11" name="diagram-10">
            <a:extLst xmlns:a="http://schemas.openxmlformats.org/drawingml/2006/main">
              <a:ext uri="{FF2B5EF4-FFF2-40B4-BE49-F238E27FC236}">
                <a16:creationId xmlns:a16="http://schemas.microsoft.com/office/drawing/2014/main" id="{DB74A686-C8DB-4E32-A033-5480F4AFDAC3}"/>
              </a:ext>
            </a:extLst>
          </p:cNvPr>
          <p:cNvSpPr>
            <a:spLocks xmlns:a="http://schemas.openxmlformats.org/drawingml/2006/main" noGrp="1"/>
          </p:cNvSpPr>
          <p:nvPr/>
        </p:nvSpPr>
        <p:spPr>
          <a:xfrm xmlns:a="http://schemas.openxmlformats.org/drawingml/2006/main">
            <a:off x="6191250" y="3286125"/>
            <a:ext cx="2524125" cy="2428875"/>
          </a:xfrm>
          <a:prstGeom xmlns:a="http://schemas.openxmlformats.org/drawingml/2006/main" prst="rect">
            <a:avLst/>
          </a:prstGeom>
          <a:solidFill xmlns:a="http://schemas.openxmlformats.org/drawingml/2006/main">
            <a:srgbClr val="DEEFEC"/>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
            </a:r>
          </a:p>
        </p:txBody>
      </p:sp>
      <p:sp>
        <p:nvSpPr>
          <p:cNvPr id="12" name="text-11">
            <a:extLst xmlns:a="http://schemas.openxmlformats.org/drawingml/2006/main">
              <a:ext uri="{FF2B5EF4-FFF2-40B4-BE49-F238E27FC236}">
                <a16:creationId xmlns:a16="http://schemas.microsoft.com/office/drawing/2014/main" id="{DDEA3311-76AF-461F-AD2D-243662B401E2}"/>
              </a:ext>
            </a:extLst>
          </p:cNvPr>
          <p:cNvSpPr>
            <a:spLocks xmlns:a="http://schemas.openxmlformats.org/drawingml/2006/main" noGrp="1"/>
          </p:cNvSpPr>
          <p:nvPr/>
        </p:nvSpPr>
        <p:spPr>
          <a:xfrm xmlns:a="http://schemas.openxmlformats.org/drawingml/2006/main">
            <a:off x="6381750" y="3476625"/>
            <a:ext cx="2143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82C43"/>
                </a:solidFill>
                <a:latin typeface="DejaVu Sans"/>
                <a:ea typeface="DejaVu Sans"/>
                <a:cs typeface="DejaVu Sans"/>
              </a:defRPr>
            </a:defPPr>
          </a:lstStyle>
          <a:p xmlns:a="http://schemas.openxmlformats.org/drawingml/2006/main">
            <a:pPr>
              <a:defRPr sz="2100" b="1">
                <a:solidFill>
                  <a:srgbClr val="182C43"/>
                </a:solidFill>
                <a:latin typeface="DejaVu Sans"/>
                <a:ea typeface="DejaVu Sans"/>
                <a:cs typeface="DejaVu Sans"/>
              </a:defRPr>
            </a:pPr>
            <a:r>
              <a:rPr sz="2100" b="1">
                <a:solidFill>
                  <a:srgbClr val="182C43"/>
                </a:solidFill>
                <a:latin typeface="DejaVu Sans"/>
                <a:ea typeface="DejaVu Sans"/>
                <a:cs typeface="DejaVu Sans"/>
              </a:rPr>
              <a:t>Group B</a:t>
            </a:r>
          </a:p>
        </p:txBody>
      </p:sp>
      <p:sp>
        <p:nvSpPr>
          <p:cNvPr id="13" name="vector-point-1-0">
            <a:extLst xmlns:a="http://schemas.openxmlformats.org/drawingml/2006/main">
              <a:ext uri="{FF2B5EF4-FFF2-40B4-BE49-F238E27FC236}">
                <a16:creationId xmlns:a16="http://schemas.microsoft.com/office/drawing/2014/main" id="{BF1D6FA4-6881-40E7-BCDF-D107E6AE2638}"/>
              </a:ext>
            </a:extLst>
          </p:cNvPr>
          <p:cNvSpPr>
            <a:spLocks xmlns:a="http://schemas.openxmlformats.org/drawingml/2006/main" noGrp="1"/>
          </p:cNvSpPr>
          <p:nvPr/>
        </p:nvSpPr>
        <p:spPr>
          <a:xfrm xmlns:a="http://schemas.openxmlformats.org/drawingml/2006/main">
            <a:off x="6572250" y="409575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14" name="vector-point-1-1">
            <a:extLst xmlns:a="http://schemas.openxmlformats.org/drawingml/2006/main">
              <a:ext uri="{FF2B5EF4-FFF2-40B4-BE49-F238E27FC236}">
                <a16:creationId xmlns:a16="http://schemas.microsoft.com/office/drawing/2014/main" id="{E3164D82-47B7-4ECC-8304-DDA85C415D29}"/>
              </a:ext>
            </a:extLst>
          </p:cNvPr>
          <p:cNvSpPr>
            <a:spLocks xmlns:a="http://schemas.openxmlformats.org/drawingml/2006/main" noGrp="1"/>
          </p:cNvSpPr>
          <p:nvPr/>
        </p:nvSpPr>
        <p:spPr>
          <a:xfrm xmlns:a="http://schemas.openxmlformats.org/drawingml/2006/main">
            <a:off x="7477125" y="409575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15" name="vector-point-1-2">
            <a:extLst xmlns:a="http://schemas.openxmlformats.org/drawingml/2006/main">
              <a:ext uri="{FF2B5EF4-FFF2-40B4-BE49-F238E27FC236}">
                <a16:creationId xmlns:a16="http://schemas.microsoft.com/office/drawing/2014/main" id="{B156F7B6-60C5-4FFB-B32B-17527554B31A}"/>
              </a:ext>
            </a:extLst>
          </p:cNvPr>
          <p:cNvSpPr>
            <a:spLocks xmlns:a="http://schemas.openxmlformats.org/drawingml/2006/main" noGrp="1"/>
          </p:cNvSpPr>
          <p:nvPr/>
        </p:nvSpPr>
        <p:spPr>
          <a:xfrm xmlns:a="http://schemas.openxmlformats.org/drawingml/2006/main">
            <a:off x="6572250" y="461010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16" name="vector-point-1-3">
            <a:extLst xmlns:a="http://schemas.openxmlformats.org/drawingml/2006/main">
              <a:ext uri="{FF2B5EF4-FFF2-40B4-BE49-F238E27FC236}">
                <a16:creationId xmlns:a16="http://schemas.microsoft.com/office/drawing/2014/main" id="{F7A18F63-3FFD-47F2-AE87-5822EFDDABE7}"/>
              </a:ext>
            </a:extLst>
          </p:cNvPr>
          <p:cNvSpPr>
            <a:spLocks xmlns:a="http://schemas.openxmlformats.org/drawingml/2006/main" noGrp="1"/>
          </p:cNvSpPr>
          <p:nvPr/>
        </p:nvSpPr>
        <p:spPr>
          <a:xfrm xmlns:a="http://schemas.openxmlformats.org/drawingml/2006/main">
            <a:off x="7477125" y="461010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17" name="vector-point-1-4">
            <a:extLst xmlns:a="http://schemas.openxmlformats.org/drawingml/2006/main">
              <a:ext uri="{FF2B5EF4-FFF2-40B4-BE49-F238E27FC236}">
                <a16:creationId xmlns:a16="http://schemas.microsoft.com/office/drawing/2014/main" id="{6213378D-7B2F-422F-BE4E-713212464C66}"/>
              </a:ext>
            </a:extLst>
          </p:cNvPr>
          <p:cNvSpPr>
            <a:spLocks xmlns:a="http://schemas.openxmlformats.org/drawingml/2006/main" noGrp="1"/>
          </p:cNvSpPr>
          <p:nvPr/>
        </p:nvSpPr>
        <p:spPr>
          <a:xfrm xmlns:a="http://schemas.openxmlformats.org/drawingml/2006/main">
            <a:off x="6572250" y="512445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19" name="diagram-18">
            <a:extLst xmlns:a="http://schemas.openxmlformats.org/drawingml/2006/main">
              <a:ext uri="{FF2B5EF4-FFF2-40B4-BE49-F238E27FC236}">
                <a16:creationId xmlns:a16="http://schemas.microsoft.com/office/drawing/2014/main" id="{784D9B3D-88B8-4DA4-ACEE-73935E10CD33}"/>
              </a:ext>
            </a:extLst>
          </p:cNvPr>
          <p:cNvSpPr>
            <a:spLocks xmlns:a="http://schemas.openxmlformats.org/drawingml/2006/main" noGrp="1"/>
          </p:cNvSpPr>
          <p:nvPr/>
        </p:nvSpPr>
        <p:spPr>
          <a:xfrm xmlns:a="http://schemas.openxmlformats.org/drawingml/2006/main">
            <a:off x="8953500" y="3286125"/>
            <a:ext cx="2524125" cy="2428875"/>
          </a:xfrm>
          <a:prstGeom xmlns:a="http://schemas.openxmlformats.org/drawingml/2006/main" prst="rect">
            <a:avLst/>
          </a:prstGeom>
          <a:solidFill xmlns:a="http://schemas.openxmlformats.org/drawingml/2006/main">
            <a:srgbClr val="EEF0ED"/>
          </a:solidFill>
          <a:ln xmlns:a="http://schemas.openxmlformats.org/drawingml/2006/main" w="19050">
            <a:solidFill>
              <a:srgbClr val="087E84"/>
            </a:solidFill>
            <a:prstDash val="solid"/>
          </a:ln>
        </p:spPr>
        <p:txBody>
          <a:bodyPr xmlns:a="http://schemas.openxmlformats.org/drawingml/2006/main" anchor="ctr"/>
          <a:lstStyle xmlns:a="http://schemas.openxmlformats.org/drawingml/2006/main">
            <a:defPPr algn="ctr">
              <a:defRPr sz="2100">
                <a:solidFill>
                  <a:srgbClr val="182C43"/>
                </a:solidFill>
                <a:latin typeface="DejaVu Sans"/>
                <a:ea typeface="DejaVu Sans"/>
                <a:cs typeface="DejaVu Sans"/>
              </a:defRPr>
            </a:defPPr>
          </a:lstStyle>
          <a:p xmlns:a="http://schemas.openxmlformats.org/drawingml/2006/main">
            <a:pPr algn="ctr">
              <a:defRPr sz="2100">
                <a:solidFill>
                  <a:srgbClr val="182C43"/>
                </a:solidFill>
                <a:latin typeface="DejaVu Sans"/>
                <a:ea typeface="DejaVu Sans"/>
                <a:cs typeface="DejaVu Sans"/>
              </a:defRPr>
            </a:pPr>
            <a:r>
              <a:rPr sz="2100">
                <a:solidFill>
                  <a:srgbClr val="182C43"/>
                </a:solidFill>
                <a:latin typeface="DejaVu Sans"/>
                <a:ea typeface="DejaVu Sans"/>
                <a:cs typeface="DejaVu Sans"/>
              </a:rPr>
              <a:t/>
            </a:r>
          </a:p>
        </p:txBody>
      </p:sp>
      <p:sp>
        <p:nvSpPr>
          <p:cNvPr id="20" name="text-19">
            <a:extLst xmlns:a="http://schemas.openxmlformats.org/drawingml/2006/main">
              <a:ext uri="{FF2B5EF4-FFF2-40B4-BE49-F238E27FC236}">
                <a16:creationId xmlns:a16="http://schemas.microsoft.com/office/drawing/2014/main" id="{A211AA16-712B-4564-9766-F4341B53123A}"/>
              </a:ext>
            </a:extLst>
          </p:cNvPr>
          <p:cNvSpPr>
            <a:spLocks xmlns:a="http://schemas.openxmlformats.org/drawingml/2006/main" noGrp="1"/>
          </p:cNvSpPr>
          <p:nvPr/>
        </p:nvSpPr>
        <p:spPr>
          <a:xfrm xmlns:a="http://schemas.openxmlformats.org/drawingml/2006/main">
            <a:off x="9144000" y="3476625"/>
            <a:ext cx="2143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82C43"/>
                </a:solidFill>
                <a:latin typeface="DejaVu Sans"/>
                <a:ea typeface="DejaVu Sans"/>
                <a:cs typeface="DejaVu Sans"/>
              </a:defRPr>
            </a:defPPr>
          </a:lstStyle>
          <a:p xmlns:a="http://schemas.openxmlformats.org/drawingml/2006/main">
            <a:pPr>
              <a:defRPr sz="2100" b="1">
                <a:solidFill>
                  <a:srgbClr val="182C43"/>
                </a:solidFill>
                <a:latin typeface="DejaVu Sans"/>
                <a:ea typeface="DejaVu Sans"/>
                <a:cs typeface="DejaVu Sans"/>
              </a:defRPr>
            </a:pPr>
            <a:r>
              <a:rPr sz="2100" b="1">
                <a:solidFill>
                  <a:srgbClr val="182C43"/>
                </a:solidFill>
                <a:latin typeface="DejaVu Sans"/>
                <a:ea typeface="DejaVu Sans"/>
                <a:cs typeface="DejaVu Sans"/>
              </a:rPr>
              <a:t>Group C</a:t>
            </a:r>
          </a:p>
        </p:txBody>
      </p:sp>
      <p:sp>
        <p:nvSpPr>
          <p:cNvPr id="21" name="vector-point-2-0">
            <a:extLst xmlns:a="http://schemas.openxmlformats.org/drawingml/2006/main">
              <a:ext uri="{FF2B5EF4-FFF2-40B4-BE49-F238E27FC236}">
                <a16:creationId xmlns:a16="http://schemas.microsoft.com/office/drawing/2014/main" id="{59A7F806-A483-495B-918B-05E5117D627D}"/>
              </a:ext>
            </a:extLst>
          </p:cNvPr>
          <p:cNvSpPr>
            <a:spLocks xmlns:a="http://schemas.openxmlformats.org/drawingml/2006/main" noGrp="1"/>
          </p:cNvSpPr>
          <p:nvPr/>
        </p:nvSpPr>
        <p:spPr>
          <a:xfrm xmlns:a="http://schemas.openxmlformats.org/drawingml/2006/main">
            <a:off x="9334500" y="409575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22" name="vector-point-2-1">
            <a:extLst xmlns:a="http://schemas.openxmlformats.org/drawingml/2006/main">
              <a:ext uri="{FF2B5EF4-FFF2-40B4-BE49-F238E27FC236}">
                <a16:creationId xmlns:a16="http://schemas.microsoft.com/office/drawing/2014/main" id="{F58126C8-E43C-4A4B-A8A5-5AEBBB98D4D3}"/>
              </a:ext>
            </a:extLst>
          </p:cNvPr>
          <p:cNvSpPr>
            <a:spLocks xmlns:a="http://schemas.openxmlformats.org/drawingml/2006/main" noGrp="1"/>
          </p:cNvSpPr>
          <p:nvPr/>
        </p:nvSpPr>
        <p:spPr>
          <a:xfrm xmlns:a="http://schemas.openxmlformats.org/drawingml/2006/main">
            <a:off x="10239375" y="409575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23" name="vector-point-2-2">
            <a:extLst xmlns:a="http://schemas.openxmlformats.org/drawingml/2006/main">
              <a:ext uri="{FF2B5EF4-FFF2-40B4-BE49-F238E27FC236}">
                <a16:creationId xmlns:a16="http://schemas.microsoft.com/office/drawing/2014/main" id="{7B09CE60-DC02-45C7-B382-8669ED9B8856}"/>
              </a:ext>
            </a:extLst>
          </p:cNvPr>
          <p:cNvSpPr>
            <a:spLocks xmlns:a="http://schemas.openxmlformats.org/drawingml/2006/main" noGrp="1"/>
          </p:cNvSpPr>
          <p:nvPr/>
        </p:nvSpPr>
        <p:spPr>
          <a:xfrm xmlns:a="http://schemas.openxmlformats.org/drawingml/2006/main">
            <a:off x="9334500" y="461010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24" name="vector-point-2-3">
            <a:extLst xmlns:a="http://schemas.openxmlformats.org/drawingml/2006/main">
              <a:ext uri="{FF2B5EF4-FFF2-40B4-BE49-F238E27FC236}">
                <a16:creationId xmlns:a16="http://schemas.microsoft.com/office/drawing/2014/main" id="{69038D36-5C77-4116-BB1C-F6ADEF7E01FF}"/>
              </a:ext>
            </a:extLst>
          </p:cNvPr>
          <p:cNvSpPr>
            <a:spLocks xmlns:a="http://schemas.openxmlformats.org/drawingml/2006/main" noGrp="1"/>
          </p:cNvSpPr>
          <p:nvPr/>
        </p:nvSpPr>
        <p:spPr>
          <a:xfrm xmlns:a="http://schemas.openxmlformats.org/drawingml/2006/main">
            <a:off x="10239375" y="461010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25" name="vector-point-2-4">
            <a:extLst xmlns:a="http://schemas.openxmlformats.org/drawingml/2006/main">
              <a:ext uri="{FF2B5EF4-FFF2-40B4-BE49-F238E27FC236}">
                <a16:creationId xmlns:a16="http://schemas.microsoft.com/office/drawing/2014/main" id="{F9ECA000-4809-43D8-8D6F-CABB4EB27750}"/>
              </a:ext>
            </a:extLst>
          </p:cNvPr>
          <p:cNvSpPr>
            <a:spLocks xmlns:a="http://schemas.openxmlformats.org/drawingml/2006/main" noGrp="1"/>
          </p:cNvSpPr>
          <p:nvPr/>
        </p:nvSpPr>
        <p:spPr>
          <a:xfrm xmlns:a="http://schemas.openxmlformats.org/drawingml/2006/main">
            <a:off x="9334500" y="5124450"/>
            <a:ext cx="285750" cy="285750"/>
          </a:xfrm>
          <a:prstGeom xmlns:a="http://schemas.openxmlformats.org/drawingml/2006/main" prst="ellipse">
            <a:avLst/>
          </a:prstGeom>
          <a:solidFill xmlns:a="http://schemas.openxmlformats.org/drawingml/2006/main">
            <a:srgbClr val="087E84"/>
          </a:solidFill>
          <a:ln xmlns:a="http://schemas.openxmlformats.org/drawingml/2006/main" w="0">
            <a:noFill/>
            <a:prstDash val="solid"/>
          </a:ln>
        </p:spPr>
      </p:sp>
      <p:sp>
        <p:nvSpPr>
          <p:cNvPr id="26" name="text-25">
            <a:extLst xmlns:a="http://schemas.openxmlformats.org/drawingml/2006/main">
              <a:ext uri="{FF2B5EF4-FFF2-40B4-BE49-F238E27FC236}">
                <a16:creationId xmlns:a16="http://schemas.microsoft.com/office/drawing/2014/main" id="{427BBE4E-AA1C-4368-A479-9E067F97E2BD}"/>
              </a:ext>
            </a:extLst>
          </p:cNvPr>
          <p:cNvSpPr>
            <a:spLocks xmlns:a="http://schemas.openxmlformats.org/drawingml/2006/main" noGrp="1"/>
          </p:cNvSpPr>
          <p:nvPr/>
        </p:nvSpPr>
        <p:spPr>
          <a:xfrm xmlns:a="http://schemas.openxmlformats.org/drawingml/2006/main">
            <a:off x="619125" y="5953125"/>
            <a:ext cx="10668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596B79"/>
                </a:solidFill>
                <a:latin typeface="DejaVu Sans"/>
                <a:ea typeface="DejaVu Sans"/>
                <a:cs typeface="DejaVu Sans"/>
              </a:defRPr>
            </a:defPPr>
          </a:lstStyle>
          <a:p xmlns:a="http://schemas.openxmlformats.org/drawingml/2006/main">
            <a:pPr>
              <a:defRPr sz="1725" b="0">
                <a:solidFill>
                  <a:srgbClr val="596B79"/>
                </a:solidFill>
                <a:latin typeface="DejaVu Sans"/>
                <a:ea typeface="DejaVu Sans"/>
                <a:cs typeface="DejaVu Sans"/>
              </a:defRPr>
            </a:pPr>
            <a:r>
              <a:rPr sz="1725" b="0">
                <a:solidFill>
                  <a:srgbClr val="596B79"/>
                </a:solidFill>
                <a:latin typeface="DejaVu Sans"/>
                <a:ea typeface="DejaVu Sans"/>
                <a:cs typeface="DejaVu Sans"/>
              </a:rPr>
              <a:t>Schematic vector regions. Search selected groups, then their candidates.</a:t>
            </a:r>
          </a:p>
        </p:txBody>
      </p:sp>
      <p:sp>
        <p:nvSpPr>
          <p:cNvPr id="27" name="text-26">
            <a:extLst xmlns:a="http://schemas.openxmlformats.org/drawingml/2006/main">
              <a:ext uri="{FF2B5EF4-FFF2-40B4-BE49-F238E27FC236}">
                <a16:creationId xmlns:a16="http://schemas.microsoft.com/office/drawing/2014/main" id="{97125751-D5E9-4F6D-82D4-5E19A956E144}"/>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28" name="text-27">
            <a:extLst xmlns:a="http://schemas.openxmlformats.org/drawingml/2006/main">
              <a:ext uri="{FF2B5EF4-FFF2-40B4-BE49-F238E27FC236}">
                <a16:creationId xmlns:a16="http://schemas.microsoft.com/office/drawing/2014/main" id="{1FA52F40-CD70-42B6-8377-C2F209B80BD5}"/>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46/56</a:t>
            </a:r>
          </a:p>
        </p:txBody>
      </p:sp>
    </p:spTree>
    <p:extLst>
      <p:ext uri="{BB962C8B-B14F-4D97-AF65-F5344CB8AC3E}">
        <p14:creationId xmlns:p14="http://schemas.microsoft.com/office/powerpoint/2010/main" val="192507080"/>
      </p:ext>
    </p:extLst>
  </p:cSld>
</p:sld>
</file>

<file path=ppt/slides/slide4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EDEC0418-EC07-4E10-87D9-BD298BCEB754}"/>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Which strategy are we using?</a:t>
            </a:r>
          </a:p>
        </p:txBody>
      </p:sp>
      <p:sp>
        <p:nvSpPr>
          <p:cNvPr id="2" name="text-1">
            <a:extLst xmlns:a="http://schemas.openxmlformats.org/drawingml/2006/main">
              <a:ext uri="{FF2B5EF4-FFF2-40B4-BE49-F238E27FC236}">
                <a16:creationId xmlns:a16="http://schemas.microsoft.com/office/drawing/2014/main" id="{C90F91DF-4330-46A4-988F-96073DB8F864}"/>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Understand the options without implementing them</a:t>
            </a:r>
          </a:p>
        </p:txBody>
      </p:sp>
      <p:graphicFrame>
        <p:nvGraphicFramePr>
          <p:cNvPr id="3" name="">
            <a:extLst xmlns:a="http://schemas.openxmlformats.org/drawingml/2006/main">
              <a:ext uri="{FF2B5EF4-FFF2-40B4-BE49-F238E27FC236}">
                <a16:creationId xmlns:a16="http://schemas.microsoft.com/office/drawing/2014/main" id="{7C78F358-D5A1-4DC3-A1DC-F04E38BB8B29}"/>
              </a:ext>
            </a:extLst>
          </p:cNvPr>
          <p:cNvGraphicFramePr/>
          <p:nvPr/>
        </p:nvGraphicFramePr>
        <p:xfrm>
          <a:off xmlns:a="http://schemas.openxmlformats.org/drawingml/2006/main" x="619125" y="2238375"/>
          <a:ext xmlns:a="http://schemas.openxmlformats.org/drawingml/2006/main" cx="10953750" cy="3048000"/>
        </p:xfrm>
        <a:graphic xmlns:a="http://schemas.openxmlformats.org/drawingml/2006/main">
          <a:graphicData uri="http://schemas.openxmlformats.org/drawingml/2006/table">
            <a:tbl>
              <a:tblPr/>
              <a:tblGrid>
                <a:gridCol w="2381250"/>
                <a:gridCol w="4000500"/>
                <a:gridCol w="4572000"/>
              </a:tblGrid>
              <a:tr h="762000">
                <a:tc>
                  <a:txBody>
                    <a:bodyPr/>
                    <a:lstStyle/>
                    <a:p>
                      <a:r>
                        <a:rPr sz="2025" b="1">
                          <a:solidFill>
                            <a:srgbClr val="FFFFFF"/>
                          </a:solidFill>
                          <a:latin typeface="DejaVu Sans"/>
                          <a:ea typeface="DejaVu Sans"/>
                          <a:cs typeface="DejaVu Sans"/>
                        </a:rPr>
                        <a:t>Strategy</a:t>
                      </a:r>
                    </a:p>
                  </a:txBody>
                  <a:tcPr marL="171450" marR="171450" marT="152400" marB="95250">
                    <a:lnL w="9525">
                      <a:solidFill>
                        <a:srgbClr val="D7E1DF"/>
                      </a:solidFill>
                      <a:prstDash val="solid"/>
                    </a:lnL>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c>
                  <a:txBody>
                    <a:bodyPr/>
                    <a:lstStyle/>
                    <a:p>
                      <a:r>
                        <a:rPr sz="2025" b="1">
                          <a:solidFill>
                            <a:srgbClr val="FFFFFF"/>
                          </a:solidFill>
                          <a:latin typeface="DejaVu Sans"/>
                          <a:ea typeface="DejaVu Sans"/>
                          <a:cs typeface="DejaVu Sans"/>
                        </a:rPr>
                        <a:t>Basic idea</a:t>
                      </a:r>
                    </a:p>
                  </a:txBody>
                  <a:tcPr marL="171450" marR="171450" marT="152400" marB="95250">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c>
                  <a:txBody>
                    <a:bodyPr/>
                    <a:lstStyle/>
                    <a:p>
                      <a:r>
                        <a:rPr sz="2025" b="1">
                          <a:solidFill>
                            <a:srgbClr val="FFFFFF"/>
                          </a:solidFill>
                          <a:latin typeface="DejaVu Sans"/>
                          <a:ea typeface="DejaVu Sans"/>
                          <a:cs typeface="DejaVu Sans"/>
                        </a:rPr>
                        <a:t>Main trade-off</a:t>
                      </a:r>
                    </a:p>
                  </a:txBody>
                  <a:tcPr marL="171450" marR="171450" marT="152400" marB="95250">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r>
              <a:tr h="762000">
                <a:tc>
                  <a:txBody>
                    <a:bodyPr/>
                    <a:lstStyle/>
                    <a:p>
                      <a:r>
                        <a:rPr sz="2025">
                          <a:solidFill>
                            <a:srgbClr val="182C43"/>
                          </a:solidFill>
                          <a:latin typeface="DejaVu Sans"/>
                          <a:ea typeface="DejaVu Sans"/>
                          <a:cs typeface="DejaVu Sans"/>
                        </a:rPr>
                        <a:t>Exact scan</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Inspect every vector</a:t>
                      </a:r>
                    </a:p>
                  </a:txBody>
                  <a:tcPr marL="171450" marR="171450" marT="152400" marB="95250">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More comparison work as data grows</a:t>
                      </a:r>
                    </a:p>
                  </a:txBody>
                  <a:tcPr marL="171450" marR="171450" marT="152400" marB="95250">
                    <a:lnR w="9525">
                      <a:solidFill>
                        <a:srgbClr val="D7E1DF"/>
                      </a:solidFill>
                      <a:prstDash val="solid"/>
                    </a:lnR>
                    <a:lnB w="9525">
                      <a:solidFill>
                        <a:srgbClr val="D7E1DF"/>
                      </a:solidFill>
                      <a:prstDash val="solid"/>
                    </a:lnB>
                    <a:solidFill>
                      <a:srgbClr val="FFFFFF"/>
                    </a:solidFill>
                  </a:tcPr>
                </a:tc>
              </a:tr>
              <a:tr h="762000">
                <a:tc>
                  <a:txBody>
                    <a:bodyPr/>
                    <a:lstStyle/>
                    <a:p>
                      <a:r>
                        <a:rPr sz="2025">
                          <a:solidFill>
                            <a:srgbClr val="182C43"/>
                          </a:solidFill>
                          <a:latin typeface="DejaVu Sans"/>
                          <a:ea typeface="DejaVu Sans"/>
                          <a:cs typeface="DejaVu Sans"/>
                        </a:rPr>
                        <a:t>HNSW</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Navigate neighbor connections</a:t>
                      </a:r>
                    </a:p>
                  </a:txBody>
                  <a:tcPr marL="171450" marR="171450" marT="152400" marB="95250">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Index memory and approximate results</a:t>
                      </a:r>
                    </a:p>
                  </a:txBody>
                  <a:tcPr marL="171450" marR="171450" marT="152400" marB="95250">
                    <a:lnR w="9525">
                      <a:solidFill>
                        <a:srgbClr val="D7E1DF"/>
                      </a:solidFill>
                      <a:prstDash val="solid"/>
                    </a:lnR>
                    <a:lnB w="9525">
                      <a:solidFill>
                        <a:srgbClr val="D7E1DF"/>
                      </a:solidFill>
                      <a:prstDash val="solid"/>
                    </a:lnB>
                    <a:solidFill>
                      <a:srgbClr val="FFFFFF"/>
                    </a:solidFill>
                  </a:tcPr>
                </a:tc>
              </a:tr>
              <a:tr h="762000">
                <a:tc>
                  <a:txBody>
                    <a:bodyPr/>
                    <a:lstStyle/>
                    <a:p>
                      <a:r>
                        <a:rPr sz="2025">
                          <a:solidFill>
                            <a:srgbClr val="182C43"/>
                          </a:solidFill>
                          <a:latin typeface="DejaVu Sans"/>
                          <a:ea typeface="DejaVu Sans"/>
                          <a:cs typeface="DejaVu Sans"/>
                        </a:rPr>
                        <a:t>IVF</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Inspect selected vector groups</a:t>
                      </a:r>
                    </a:p>
                  </a:txBody>
                  <a:tcPr marL="171450" marR="171450" marT="152400" marB="95250">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Grouping and search coverage choices</a:t>
                      </a:r>
                    </a:p>
                  </a:txBody>
                  <a:tcPr marL="171450" marR="171450" marT="152400" marB="95250">
                    <a:lnR w="9525">
                      <a:solidFill>
                        <a:srgbClr val="D7E1DF"/>
                      </a:solidFill>
                      <a:prstDash val="solid"/>
                    </a:lnR>
                    <a:lnB w="9525">
                      <a:solidFill>
                        <a:srgbClr val="D7E1DF"/>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61BA801F-D5F9-4CD7-ACFF-06CACDF3FDF0}"/>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5" name="text-3">
            <a:extLst xmlns:a="http://schemas.openxmlformats.org/drawingml/2006/main">
              <a:ext uri="{FF2B5EF4-FFF2-40B4-BE49-F238E27FC236}">
                <a16:creationId xmlns:a16="http://schemas.microsoft.com/office/drawing/2014/main" id="{EB3C85F4-45E3-4731-A8EE-E26B86DF2BE0}"/>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47/56</a:t>
            </a:r>
          </a:p>
        </p:txBody>
      </p:sp>
    </p:spTree>
    <p:extLst>
      <p:ext uri="{BB962C8B-B14F-4D97-AF65-F5344CB8AC3E}">
        <p14:creationId xmlns:p14="http://schemas.microsoft.com/office/powerpoint/2010/main" val="440539097"/>
      </p:ext>
    </p:extLst>
  </p:cSld>
</p:sld>
</file>

<file path=ppt/slides/slide48.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773E75F-7F9A-43CF-9DB5-9131D0D5CFE8}"/>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Search effort has a trade-off</a:t>
            </a:r>
          </a:p>
        </p:txBody>
      </p:sp>
      <p:sp>
        <p:nvSpPr>
          <p:cNvPr id="2" name="text-1">
            <a:extLst xmlns:a="http://schemas.openxmlformats.org/drawingml/2006/main">
              <a:ext uri="{FF2B5EF4-FFF2-40B4-BE49-F238E27FC236}">
                <a16:creationId xmlns:a16="http://schemas.microsoft.com/office/drawing/2014/main" id="{6BDF4B05-4089-42A5-97A3-F86EB30B2E91}"/>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More candidate exploration can improve recall</a:t>
            </a:r>
          </a:p>
        </p:txBody>
      </p:sp>
      <p:sp>
        <p:nvSpPr>
          <p:cNvPr id="3" name="text-2">
            <a:extLst xmlns:a="http://schemas.openxmlformats.org/drawingml/2006/main">
              <a:ext uri="{FF2B5EF4-FFF2-40B4-BE49-F238E27FC236}">
                <a16:creationId xmlns:a16="http://schemas.microsoft.com/office/drawing/2014/main" id="{08085BB4-D8F8-4FE6-A9F9-4C8420718905}"/>
              </a:ext>
            </a:extLst>
          </p:cNvPr>
          <p:cNvSpPr>
            <a:spLocks xmlns:a="http://schemas.openxmlformats.org/drawingml/2006/main" noGrp="1"/>
          </p:cNvSpPr>
          <p:nvPr/>
        </p:nvSpPr>
        <p:spPr>
          <a:xfrm xmlns:a="http://schemas.openxmlformats.org/drawingml/2006/main">
            <a:off x="666750" y="2647950"/>
            <a:ext cx="49530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182C43"/>
                </a:solidFill>
                <a:latin typeface="DejaVu Sans"/>
                <a:ea typeface="DejaVu Sans"/>
                <a:cs typeface="DejaVu Sans"/>
              </a:defRPr>
            </a:defPPr>
          </a:lstStyle>
          <a:p xmlns:a="http://schemas.openxmlformats.org/drawingml/2006/main">
            <a:pPr>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Less exploration</a:t>
            </a:r>
          </a:p>
          <a:p xmlns:a="http://schemas.openxmlformats.org/drawingml/2006/main">
            <a:pPr>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Less search work.</a:t>
            </a:r>
          </a:p>
          <a:p xmlns:a="http://schemas.openxmlformats.org/drawingml/2006/main">
            <a:pPr>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A useful neighbor might be missed.</a:t>
            </a:r>
          </a:p>
        </p:txBody>
      </p:sp>
      <p:sp>
        <p:nvSpPr>
          <p:cNvPr id="4" name="text-3">
            <a:extLst xmlns:a="http://schemas.openxmlformats.org/drawingml/2006/main">
              <a:ext uri="{FF2B5EF4-FFF2-40B4-BE49-F238E27FC236}">
                <a16:creationId xmlns:a16="http://schemas.microsoft.com/office/drawing/2014/main" id="{43365204-2AD0-4882-8085-312EA33A8CD0}"/>
              </a:ext>
            </a:extLst>
          </p:cNvPr>
          <p:cNvSpPr>
            <a:spLocks xmlns:a="http://schemas.openxmlformats.org/drawingml/2006/main" noGrp="1"/>
          </p:cNvSpPr>
          <p:nvPr/>
        </p:nvSpPr>
        <p:spPr>
          <a:xfrm xmlns:a="http://schemas.openxmlformats.org/drawingml/2006/main">
            <a:off x="6524625" y="2647950"/>
            <a:ext cx="5000625"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182C43"/>
                </a:solidFill>
                <a:latin typeface="DejaVu Sans"/>
                <a:ea typeface="DejaVu Sans"/>
                <a:cs typeface="DejaVu Sans"/>
              </a:defRPr>
            </a:defPPr>
          </a:lstStyle>
          <a:p xmlns:a="http://schemas.openxmlformats.org/drawingml/2006/main">
            <a:pPr>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More exploration</a:t>
            </a:r>
          </a:p>
          <a:p xmlns:a="http://schemas.openxmlformats.org/drawingml/2006/main">
            <a:pPr>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More search work.</a:t>
            </a:r>
          </a:p>
          <a:p xmlns:a="http://schemas.openxmlformats.org/drawingml/2006/main">
            <a:pPr>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More chances to recover useful neighbors.</a:t>
            </a:r>
          </a:p>
        </p:txBody>
      </p:sp>
      <p:sp>
        <p:nvSpPr>
          <p:cNvPr id="5" name="text-4">
            <a:extLst xmlns:a="http://schemas.openxmlformats.org/drawingml/2006/main">
              <a:ext uri="{FF2B5EF4-FFF2-40B4-BE49-F238E27FC236}">
                <a16:creationId xmlns:a16="http://schemas.microsoft.com/office/drawing/2014/main" id="{9CB097A0-EFF0-4A85-AE2E-D2D5E697D139}"/>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6" name="text-5">
            <a:extLst xmlns:a="http://schemas.openxmlformats.org/drawingml/2006/main">
              <a:ext uri="{FF2B5EF4-FFF2-40B4-BE49-F238E27FC236}">
                <a16:creationId xmlns:a16="http://schemas.microsoft.com/office/drawing/2014/main" id="{B07BEA3D-798F-4DA4-BD81-AA6C822E8B99}"/>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48/56</a:t>
            </a:r>
          </a:p>
        </p:txBody>
      </p:sp>
    </p:spTree>
    <p:extLst>
      <p:ext uri="{BB962C8B-B14F-4D97-AF65-F5344CB8AC3E}">
        <p14:creationId xmlns:p14="http://schemas.microsoft.com/office/powerpoint/2010/main" val="756948087"/>
      </p:ext>
    </p:extLst>
  </p:cSld>
</p:sld>
</file>

<file path=ppt/slides/slide49.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36BE8ABF-3493-47EB-B8A6-4A6982442DA0}"/>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Our hands-on document set</a:t>
            </a:r>
          </a:p>
        </p:txBody>
      </p:sp>
      <p:sp>
        <p:nvSpPr>
          <p:cNvPr id="2" name="text-1">
            <a:extLst xmlns:a="http://schemas.openxmlformats.org/drawingml/2006/main">
              <a:ext uri="{FF2B5EF4-FFF2-40B4-BE49-F238E27FC236}">
                <a16:creationId xmlns:a16="http://schemas.microsoft.com/office/drawing/2014/main" id="{9E755445-28A0-42B3-9678-D29D683649EE}"/>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Twelve short files in the same parcel business</a:t>
            </a:r>
          </a:p>
        </p:txBody>
      </p:sp>
      <p:sp>
        <p:nvSpPr>
          <p:cNvPr id="3" name="text-2">
            <a:extLst xmlns:a="http://schemas.openxmlformats.org/drawingml/2006/main">
              <a:ext uri="{FF2B5EF4-FFF2-40B4-BE49-F238E27FC236}">
                <a16:creationId xmlns:a16="http://schemas.microsoft.com/office/drawing/2014/main" id="{00FF103F-42C6-457F-85E4-7F1B4467D167}"/>
              </a:ext>
            </a:extLst>
          </p:cNvPr>
          <p:cNvSpPr>
            <a:spLocks xmlns:a="http://schemas.openxmlformats.org/drawingml/2006/main" noGrp="1"/>
          </p:cNvSpPr>
          <p:nvPr/>
        </p:nvSpPr>
        <p:spPr>
          <a:xfrm xmlns:a="http://schemas.openxmlformats.org/drawingml/2006/main">
            <a:off x="619125" y="247650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82C43"/>
                </a:solidFill>
                <a:latin typeface="DejaVu Sans"/>
                <a:ea typeface="DejaVu Sans"/>
                <a:cs typeface="DejaVu Sans"/>
              </a:defRPr>
            </a:defPPr>
          </a:lstStyle>
          <a:p xmlns:a="http://schemas.openxmlformats.org/drawingml/2006/main">
            <a:pPr>
              <a:defRPr sz="2025" b="0">
                <a:solidFill>
                  <a:srgbClr val="182C43"/>
                </a:solidFill>
                <a:latin typeface="DejaVu Sans"/>
                <a:ea typeface="DejaVu Sans"/>
                <a:cs typeface="DejaVu Sans"/>
              </a:defRPr>
            </a:pPr>
            <a:r>
              <a:rPr sz="2025" b="0">
                <a:solidFill>
                  <a:srgbClr val="182C43"/>
                </a:solidFill>
                <a:latin typeface="DejaVu Sans"/>
                <a:ea typeface="DejaVu Sans"/>
                <a:cs typeface="DejaVu Sans"/>
              </a:rPr>
              <a:t>P01  Delivery time</a:t>
            </a:r>
          </a:p>
        </p:txBody>
      </p:sp>
      <p:sp>
        <p:nvSpPr>
          <p:cNvPr id="4" name="text-3">
            <a:extLst xmlns:a="http://schemas.openxmlformats.org/drawingml/2006/main">
              <a:ext uri="{FF2B5EF4-FFF2-40B4-BE49-F238E27FC236}">
                <a16:creationId xmlns:a16="http://schemas.microsoft.com/office/drawing/2014/main" id="{D68C4717-94A1-4FC3-9BA1-9B4B59525BBD}"/>
              </a:ext>
            </a:extLst>
          </p:cNvPr>
          <p:cNvSpPr>
            <a:spLocks xmlns:a="http://schemas.openxmlformats.org/drawingml/2006/main" noGrp="1"/>
          </p:cNvSpPr>
          <p:nvPr/>
        </p:nvSpPr>
        <p:spPr>
          <a:xfrm xmlns:a="http://schemas.openxmlformats.org/drawingml/2006/main">
            <a:off x="619125" y="3286125"/>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82C43"/>
                </a:solidFill>
                <a:latin typeface="DejaVu Sans"/>
                <a:ea typeface="DejaVu Sans"/>
                <a:cs typeface="DejaVu Sans"/>
              </a:defRPr>
            </a:defPPr>
          </a:lstStyle>
          <a:p xmlns:a="http://schemas.openxmlformats.org/drawingml/2006/main">
            <a:pPr>
              <a:defRPr sz="2025" b="0">
                <a:solidFill>
                  <a:srgbClr val="182C43"/>
                </a:solidFill>
                <a:latin typeface="DejaVu Sans"/>
                <a:ea typeface="DejaVu Sans"/>
                <a:cs typeface="DejaVu Sans"/>
              </a:defRPr>
            </a:pPr>
            <a:r>
              <a:rPr sz="2025" b="0">
                <a:solidFill>
                  <a:srgbClr val="182C43"/>
                </a:solidFill>
                <a:latin typeface="DejaVu Sans"/>
                <a:ea typeface="DejaVu Sans"/>
                <a:cs typeface="DejaVu Sans"/>
              </a:rPr>
              <a:t>P02  Payment</a:t>
            </a:r>
          </a:p>
        </p:txBody>
      </p:sp>
      <p:sp>
        <p:nvSpPr>
          <p:cNvPr id="5" name="text-4">
            <a:extLst xmlns:a="http://schemas.openxmlformats.org/drawingml/2006/main">
              <a:ext uri="{FF2B5EF4-FFF2-40B4-BE49-F238E27FC236}">
                <a16:creationId xmlns:a16="http://schemas.microsoft.com/office/drawing/2014/main" id="{5A6FC96F-287A-4C48-B719-D4B3F5D83D83}"/>
              </a:ext>
            </a:extLst>
          </p:cNvPr>
          <p:cNvSpPr>
            <a:spLocks xmlns:a="http://schemas.openxmlformats.org/drawingml/2006/main" noGrp="1"/>
          </p:cNvSpPr>
          <p:nvPr/>
        </p:nvSpPr>
        <p:spPr>
          <a:xfrm xmlns:a="http://schemas.openxmlformats.org/drawingml/2006/main">
            <a:off x="619125" y="40957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82C43"/>
                </a:solidFill>
                <a:latin typeface="DejaVu Sans"/>
                <a:ea typeface="DejaVu Sans"/>
                <a:cs typeface="DejaVu Sans"/>
              </a:defRPr>
            </a:defPPr>
          </a:lstStyle>
          <a:p xmlns:a="http://schemas.openxmlformats.org/drawingml/2006/main">
            <a:pPr>
              <a:defRPr sz="2025" b="0">
                <a:solidFill>
                  <a:srgbClr val="182C43"/>
                </a:solidFill>
                <a:latin typeface="DejaVu Sans"/>
                <a:ea typeface="DejaVu Sans"/>
                <a:cs typeface="DejaVu Sans"/>
              </a:defRPr>
            </a:pPr>
            <a:r>
              <a:rPr sz="2025" b="0">
                <a:solidFill>
                  <a:srgbClr val="182C43"/>
                </a:solidFill>
                <a:latin typeface="DejaVu Sans"/>
                <a:ea typeface="DejaVu Sans"/>
                <a:cs typeface="DejaVu Sans"/>
              </a:rPr>
              <a:t>P03  Damage</a:t>
            </a:r>
          </a:p>
        </p:txBody>
      </p:sp>
      <p:sp>
        <p:nvSpPr>
          <p:cNvPr id="6" name="text-5">
            <a:extLst xmlns:a="http://schemas.openxmlformats.org/drawingml/2006/main">
              <a:ext uri="{FF2B5EF4-FFF2-40B4-BE49-F238E27FC236}">
                <a16:creationId xmlns:a16="http://schemas.microsoft.com/office/drawing/2014/main" id="{C6BBB72D-088D-4ED2-8224-FCA5F9E159E6}"/>
              </a:ext>
            </a:extLst>
          </p:cNvPr>
          <p:cNvSpPr>
            <a:spLocks xmlns:a="http://schemas.openxmlformats.org/drawingml/2006/main" noGrp="1"/>
          </p:cNvSpPr>
          <p:nvPr/>
        </p:nvSpPr>
        <p:spPr>
          <a:xfrm xmlns:a="http://schemas.openxmlformats.org/drawingml/2006/main">
            <a:off x="619125" y="4905375"/>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82C43"/>
                </a:solidFill>
                <a:latin typeface="DejaVu Sans"/>
                <a:ea typeface="DejaVu Sans"/>
                <a:cs typeface="DejaVu Sans"/>
              </a:defRPr>
            </a:defPPr>
          </a:lstStyle>
          <a:p xmlns:a="http://schemas.openxmlformats.org/drawingml/2006/main">
            <a:pPr>
              <a:defRPr sz="2025" b="0">
                <a:solidFill>
                  <a:srgbClr val="182C43"/>
                </a:solidFill>
                <a:latin typeface="DejaVu Sans"/>
                <a:ea typeface="DejaVu Sans"/>
                <a:cs typeface="DejaVu Sans"/>
              </a:defRPr>
            </a:pPr>
            <a:r>
              <a:rPr sz="2025" b="0">
                <a:solidFill>
                  <a:srgbClr val="182C43"/>
                </a:solidFill>
                <a:latin typeface="DejaVu Sans"/>
                <a:ea typeface="DejaVu Sans"/>
                <a:cs typeface="DejaVu Sans"/>
              </a:rPr>
              <a:t>P04  Missed delivery</a:t>
            </a:r>
          </a:p>
        </p:txBody>
      </p:sp>
      <p:sp>
        <p:nvSpPr>
          <p:cNvPr id="7" name="text-6">
            <a:extLst xmlns:a="http://schemas.openxmlformats.org/drawingml/2006/main">
              <a:ext uri="{FF2B5EF4-FFF2-40B4-BE49-F238E27FC236}">
                <a16:creationId xmlns:a16="http://schemas.microsoft.com/office/drawing/2014/main" id="{8C69E89B-C199-46DE-8332-5551F71E19A8}"/>
              </a:ext>
            </a:extLst>
          </p:cNvPr>
          <p:cNvSpPr>
            <a:spLocks xmlns:a="http://schemas.openxmlformats.org/drawingml/2006/main" noGrp="1"/>
          </p:cNvSpPr>
          <p:nvPr/>
        </p:nvSpPr>
        <p:spPr>
          <a:xfrm xmlns:a="http://schemas.openxmlformats.org/drawingml/2006/main">
            <a:off x="4429125" y="247650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82C43"/>
                </a:solidFill>
                <a:latin typeface="DejaVu Sans"/>
                <a:ea typeface="DejaVu Sans"/>
                <a:cs typeface="DejaVu Sans"/>
              </a:defRPr>
            </a:defPPr>
          </a:lstStyle>
          <a:p xmlns:a="http://schemas.openxmlformats.org/drawingml/2006/main">
            <a:pPr>
              <a:defRPr sz="2025" b="0">
                <a:solidFill>
                  <a:srgbClr val="182C43"/>
                </a:solidFill>
                <a:latin typeface="DejaVu Sans"/>
                <a:ea typeface="DejaVu Sans"/>
                <a:cs typeface="DejaVu Sans"/>
              </a:defRPr>
            </a:pPr>
            <a:r>
              <a:rPr sz="2025" b="0">
                <a:solidFill>
                  <a:srgbClr val="182C43"/>
                </a:solidFill>
                <a:latin typeface="DejaVu Sans"/>
                <a:ea typeface="DejaVu Sans"/>
                <a:cs typeface="DejaVu Sans"/>
              </a:rPr>
              <a:t>P05  Address change</a:t>
            </a:r>
          </a:p>
        </p:txBody>
      </p:sp>
      <p:sp>
        <p:nvSpPr>
          <p:cNvPr id="8" name="text-7">
            <a:extLst xmlns:a="http://schemas.openxmlformats.org/drawingml/2006/main">
              <a:ext uri="{FF2B5EF4-FFF2-40B4-BE49-F238E27FC236}">
                <a16:creationId xmlns:a16="http://schemas.microsoft.com/office/drawing/2014/main" id="{B8786BD5-1705-4215-BCA6-6F1302AE9619}"/>
              </a:ext>
            </a:extLst>
          </p:cNvPr>
          <p:cNvSpPr>
            <a:spLocks xmlns:a="http://schemas.openxmlformats.org/drawingml/2006/main" noGrp="1"/>
          </p:cNvSpPr>
          <p:nvPr/>
        </p:nvSpPr>
        <p:spPr>
          <a:xfrm xmlns:a="http://schemas.openxmlformats.org/drawingml/2006/main">
            <a:off x="4429125" y="3286125"/>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82C43"/>
                </a:solidFill>
                <a:latin typeface="DejaVu Sans"/>
                <a:ea typeface="DejaVu Sans"/>
                <a:cs typeface="DejaVu Sans"/>
              </a:defRPr>
            </a:defPPr>
          </a:lstStyle>
          <a:p xmlns:a="http://schemas.openxmlformats.org/drawingml/2006/main">
            <a:pPr>
              <a:defRPr sz="2025" b="0">
                <a:solidFill>
                  <a:srgbClr val="182C43"/>
                </a:solidFill>
                <a:latin typeface="DejaVu Sans"/>
                <a:ea typeface="DejaVu Sans"/>
                <a:cs typeface="DejaVu Sans"/>
              </a:defRPr>
            </a:pPr>
            <a:r>
              <a:rPr sz="2025" b="0">
                <a:solidFill>
                  <a:srgbClr val="182C43"/>
                </a:solidFill>
                <a:latin typeface="DejaVu Sans"/>
                <a:ea typeface="DejaVu Sans"/>
                <a:cs typeface="DejaVu Sans"/>
              </a:rPr>
              <a:t>P06  Tracking</a:t>
            </a:r>
          </a:p>
        </p:txBody>
      </p:sp>
      <p:sp>
        <p:nvSpPr>
          <p:cNvPr id="9" name="text-8">
            <a:extLst xmlns:a="http://schemas.openxmlformats.org/drawingml/2006/main">
              <a:ext uri="{FF2B5EF4-FFF2-40B4-BE49-F238E27FC236}">
                <a16:creationId xmlns:a16="http://schemas.microsoft.com/office/drawing/2014/main" id="{A1233628-FAD3-4E6C-9CCB-0E8EE0F453BF}"/>
              </a:ext>
            </a:extLst>
          </p:cNvPr>
          <p:cNvSpPr>
            <a:spLocks xmlns:a="http://schemas.openxmlformats.org/drawingml/2006/main" noGrp="1"/>
          </p:cNvSpPr>
          <p:nvPr/>
        </p:nvSpPr>
        <p:spPr>
          <a:xfrm xmlns:a="http://schemas.openxmlformats.org/drawingml/2006/main">
            <a:off x="4429125" y="40957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82C43"/>
                </a:solidFill>
                <a:latin typeface="DejaVu Sans"/>
                <a:ea typeface="DejaVu Sans"/>
                <a:cs typeface="DejaVu Sans"/>
              </a:defRPr>
            </a:defPPr>
          </a:lstStyle>
          <a:p xmlns:a="http://schemas.openxmlformats.org/drawingml/2006/main">
            <a:pPr>
              <a:defRPr sz="2025" b="0">
                <a:solidFill>
                  <a:srgbClr val="182C43"/>
                </a:solidFill>
                <a:latin typeface="DejaVu Sans"/>
                <a:ea typeface="DejaVu Sans"/>
                <a:cs typeface="DejaVu Sans"/>
              </a:defRPr>
            </a:pPr>
            <a:r>
              <a:rPr sz="2025" b="0">
                <a:solidFill>
                  <a:srgbClr val="182C43"/>
                </a:solidFill>
                <a:latin typeface="DejaVu Sans"/>
                <a:ea typeface="DejaVu Sans"/>
                <a:cs typeface="DejaVu Sans"/>
              </a:rPr>
              <a:t>P07  Pickup</a:t>
            </a:r>
          </a:p>
        </p:txBody>
      </p:sp>
      <p:sp>
        <p:nvSpPr>
          <p:cNvPr id="10" name="text-9">
            <a:extLst xmlns:a="http://schemas.openxmlformats.org/drawingml/2006/main">
              <a:ext uri="{FF2B5EF4-FFF2-40B4-BE49-F238E27FC236}">
                <a16:creationId xmlns:a16="http://schemas.microsoft.com/office/drawing/2014/main" id="{2F167313-43B5-4439-96EF-3F6A53E696BD}"/>
              </a:ext>
            </a:extLst>
          </p:cNvPr>
          <p:cNvSpPr>
            <a:spLocks xmlns:a="http://schemas.openxmlformats.org/drawingml/2006/main" noGrp="1"/>
          </p:cNvSpPr>
          <p:nvPr/>
        </p:nvSpPr>
        <p:spPr>
          <a:xfrm xmlns:a="http://schemas.openxmlformats.org/drawingml/2006/main">
            <a:off x="4429125" y="4905375"/>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82C43"/>
                </a:solidFill>
                <a:latin typeface="DejaVu Sans"/>
                <a:ea typeface="DejaVu Sans"/>
                <a:cs typeface="DejaVu Sans"/>
              </a:defRPr>
            </a:defPPr>
          </a:lstStyle>
          <a:p xmlns:a="http://schemas.openxmlformats.org/drawingml/2006/main">
            <a:pPr>
              <a:defRPr sz="2025" b="0">
                <a:solidFill>
                  <a:srgbClr val="182C43"/>
                </a:solidFill>
                <a:latin typeface="DejaVu Sans"/>
                <a:ea typeface="DejaVu Sans"/>
                <a:cs typeface="DejaVu Sans"/>
              </a:defRPr>
            </a:pPr>
            <a:r>
              <a:rPr sz="2025" b="0">
                <a:solidFill>
                  <a:srgbClr val="182C43"/>
                </a:solidFill>
                <a:latin typeface="DejaVu Sans"/>
                <a:ea typeface="DejaVu Sans"/>
                <a:cs typeface="DejaVu Sans"/>
              </a:rPr>
              <a:t>P08  Support</a:t>
            </a:r>
          </a:p>
        </p:txBody>
      </p:sp>
      <p:sp>
        <p:nvSpPr>
          <p:cNvPr id="11" name="text-10">
            <a:extLst xmlns:a="http://schemas.openxmlformats.org/drawingml/2006/main">
              <a:ext uri="{FF2B5EF4-FFF2-40B4-BE49-F238E27FC236}">
                <a16:creationId xmlns:a16="http://schemas.microsoft.com/office/drawing/2014/main" id="{5486D9EF-76B2-4C0D-B15E-B44B37133A6D}"/>
              </a:ext>
            </a:extLst>
          </p:cNvPr>
          <p:cNvSpPr>
            <a:spLocks xmlns:a="http://schemas.openxmlformats.org/drawingml/2006/main" noGrp="1"/>
          </p:cNvSpPr>
          <p:nvPr/>
        </p:nvSpPr>
        <p:spPr>
          <a:xfrm xmlns:a="http://schemas.openxmlformats.org/drawingml/2006/main">
            <a:off x="8239125" y="247650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82C43"/>
                </a:solidFill>
                <a:latin typeface="DejaVu Sans"/>
                <a:ea typeface="DejaVu Sans"/>
                <a:cs typeface="DejaVu Sans"/>
              </a:defRPr>
            </a:defPPr>
          </a:lstStyle>
          <a:p xmlns:a="http://schemas.openxmlformats.org/drawingml/2006/main">
            <a:pPr>
              <a:defRPr sz="2025" b="0">
                <a:solidFill>
                  <a:srgbClr val="182C43"/>
                </a:solidFill>
                <a:latin typeface="DejaVu Sans"/>
                <a:ea typeface="DejaVu Sans"/>
                <a:cs typeface="DejaVu Sans"/>
              </a:defRPr>
            </a:pPr>
            <a:r>
              <a:rPr sz="2025" b="0">
                <a:solidFill>
                  <a:srgbClr val="182C43"/>
                </a:solidFill>
                <a:latin typeface="DejaVu Sans"/>
                <a:ea typeface="DejaVu Sans"/>
                <a:cs typeface="DejaVu Sans"/>
              </a:rPr>
              <a:t>P09  Fragile items</a:t>
            </a:r>
          </a:p>
        </p:txBody>
      </p:sp>
      <p:sp>
        <p:nvSpPr>
          <p:cNvPr id="12" name="text-11">
            <a:extLst xmlns:a="http://schemas.openxmlformats.org/drawingml/2006/main">
              <a:ext uri="{FF2B5EF4-FFF2-40B4-BE49-F238E27FC236}">
                <a16:creationId xmlns:a16="http://schemas.microsoft.com/office/drawing/2014/main" id="{DC95B1F1-1156-48E4-B3F9-BADDB84C0B33}"/>
              </a:ext>
            </a:extLst>
          </p:cNvPr>
          <p:cNvSpPr>
            <a:spLocks xmlns:a="http://schemas.openxmlformats.org/drawingml/2006/main" noGrp="1"/>
          </p:cNvSpPr>
          <p:nvPr/>
        </p:nvSpPr>
        <p:spPr>
          <a:xfrm xmlns:a="http://schemas.openxmlformats.org/drawingml/2006/main">
            <a:off x="8239125" y="3286125"/>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82C43"/>
                </a:solidFill>
                <a:latin typeface="DejaVu Sans"/>
                <a:ea typeface="DejaVu Sans"/>
                <a:cs typeface="DejaVu Sans"/>
              </a:defRPr>
            </a:defPPr>
          </a:lstStyle>
          <a:p xmlns:a="http://schemas.openxmlformats.org/drawingml/2006/main">
            <a:pPr>
              <a:defRPr sz="2025" b="0">
                <a:solidFill>
                  <a:srgbClr val="182C43"/>
                </a:solidFill>
                <a:latin typeface="DejaVu Sans"/>
                <a:ea typeface="DejaVu Sans"/>
                <a:cs typeface="DejaVu Sans"/>
              </a:defRPr>
            </a:pPr>
            <a:r>
              <a:rPr sz="2025" b="0">
                <a:solidFill>
                  <a:srgbClr val="182C43"/>
                </a:solidFill>
                <a:latin typeface="DejaVu Sans"/>
                <a:ea typeface="DejaVu Sans"/>
                <a:cs typeface="DejaVu Sans"/>
              </a:rPr>
              <a:t>P10  Packaging</a:t>
            </a:r>
          </a:p>
        </p:txBody>
      </p:sp>
      <p:sp>
        <p:nvSpPr>
          <p:cNvPr id="13" name="text-12">
            <a:extLst xmlns:a="http://schemas.openxmlformats.org/drawingml/2006/main">
              <a:ext uri="{FF2B5EF4-FFF2-40B4-BE49-F238E27FC236}">
                <a16:creationId xmlns:a16="http://schemas.microsoft.com/office/drawing/2014/main" id="{5C296F32-57E0-4230-B3D6-C8C9023BCBBC}"/>
              </a:ext>
            </a:extLst>
          </p:cNvPr>
          <p:cNvSpPr>
            <a:spLocks xmlns:a="http://schemas.openxmlformats.org/drawingml/2006/main" noGrp="1"/>
          </p:cNvSpPr>
          <p:nvPr/>
        </p:nvSpPr>
        <p:spPr>
          <a:xfrm xmlns:a="http://schemas.openxmlformats.org/drawingml/2006/main">
            <a:off x="8239125" y="40957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82C43"/>
                </a:solidFill>
                <a:latin typeface="DejaVu Sans"/>
                <a:ea typeface="DejaVu Sans"/>
                <a:cs typeface="DejaVu Sans"/>
              </a:defRPr>
            </a:defPPr>
          </a:lstStyle>
          <a:p xmlns:a="http://schemas.openxmlformats.org/drawingml/2006/main">
            <a:pPr>
              <a:defRPr sz="2025" b="0">
                <a:solidFill>
                  <a:srgbClr val="182C43"/>
                </a:solidFill>
                <a:latin typeface="DejaVu Sans"/>
                <a:ea typeface="DejaVu Sans"/>
                <a:cs typeface="DejaVu Sans"/>
              </a:defRPr>
            </a:pPr>
            <a:r>
              <a:rPr sz="2025" b="0">
                <a:solidFill>
                  <a:srgbClr val="182C43"/>
                </a:solidFill>
                <a:latin typeface="DejaVu Sans"/>
                <a:ea typeface="DejaVu Sans"/>
                <a:cs typeface="DejaVu Sans"/>
              </a:rPr>
              <a:t>P11  Weather delay</a:t>
            </a:r>
          </a:p>
        </p:txBody>
      </p:sp>
      <p:sp>
        <p:nvSpPr>
          <p:cNvPr id="14" name="text-13">
            <a:extLst xmlns:a="http://schemas.openxmlformats.org/drawingml/2006/main">
              <a:ext uri="{FF2B5EF4-FFF2-40B4-BE49-F238E27FC236}">
                <a16:creationId xmlns:a16="http://schemas.microsoft.com/office/drawing/2014/main" id="{262E1BE3-F968-4E4D-96B7-E784AD441D6B}"/>
              </a:ext>
            </a:extLst>
          </p:cNvPr>
          <p:cNvSpPr>
            <a:spLocks xmlns:a="http://schemas.openxmlformats.org/drawingml/2006/main" noGrp="1"/>
          </p:cNvSpPr>
          <p:nvPr/>
        </p:nvSpPr>
        <p:spPr>
          <a:xfrm xmlns:a="http://schemas.openxmlformats.org/drawingml/2006/main">
            <a:off x="8239125" y="4905375"/>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82C43"/>
                </a:solidFill>
                <a:latin typeface="DejaVu Sans"/>
                <a:ea typeface="DejaVu Sans"/>
                <a:cs typeface="DejaVu Sans"/>
              </a:defRPr>
            </a:defPPr>
          </a:lstStyle>
          <a:p xmlns:a="http://schemas.openxmlformats.org/drawingml/2006/main">
            <a:pPr>
              <a:defRPr sz="2025" b="0">
                <a:solidFill>
                  <a:srgbClr val="182C43"/>
                </a:solidFill>
                <a:latin typeface="DejaVu Sans"/>
                <a:ea typeface="DejaVu Sans"/>
                <a:cs typeface="DejaVu Sans"/>
              </a:defRPr>
            </a:pPr>
            <a:r>
              <a:rPr sz="2025" b="0">
                <a:solidFill>
                  <a:srgbClr val="182C43"/>
                </a:solidFill>
                <a:latin typeface="DejaVu Sans"/>
                <a:ea typeface="DejaVu Sans"/>
                <a:cs typeface="DejaVu Sans"/>
              </a:rPr>
              <a:t>P12  International</a:t>
            </a:r>
          </a:p>
        </p:txBody>
      </p:sp>
      <p:sp>
        <p:nvSpPr>
          <p:cNvPr id="15" name="text-14">
            <a:extLst xmlns:a="http://schemas.openxmlformats.org/drawingml/2006/main">
              <a:ext uri="{FF2B5EF4-FFF2-40B4-BE49-F238E27FC236}">
                <a16:creationId xmlns:a16="http://schemas.microsoft.com/office/drawing/2014/main" id="{4AA41F37-0B2D-4F9D-8CA2-CCCDAD8D331E}"/>
              </a:ext>
            </a:extLst>
          </p:cNvPr>
          <p:cNvSpPr>
            <a:spLocks xmlns:a="http://schemas.openxmlformats.org/drawingml/2006/main" noGrp="1"/>
          </p:cNvSpPr>
          <p:nvPr/>
        </p:nvSpPr>
        <p:spPr>
          <a:xfrm xmlns:a="http://schemas.openxmlformats.org/drawingml/2006/main">
            <a:off x="619125" y="595312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E84"/>
                </a:solidFill>
                <a:latin typeface="DejaVu Sans"/>
                <a:ea typeface="DejaVu Sans"/>
                <a:cs typeface="DejaVu Sans"/>
              </a:defRPr>
            </a:defPPr>
          </a:lstStyle>
          <a:p xmlns:a="http://schemas.openxmlformats.org/drawingml/2006/main">
            <a:pPr>
              <a:defRPr sz="1800" b="1">
                <a:solidFill>
                  <a:srgbClr val="087E84"/>
                </a:solidFill>
                <a:latin typeface="DejaVu Sans"/>
                <a:ea typeface="DejaVu Sans"/>
                <a:cs typeface="DejaVu Sans"/>
              </a:defRPr>
            </a:pPr>
            <a:r>
              <a:rPr sz="1800" b="1">
                <a:solidFill>
                  <a:srgbClr val="087E84"/>
                </a:solidFill>
                <a:latin typeface="DejaVu Sans"/>
                <a:ea typeface="DejaVu Sans"/>
                <a:cs typeface="DejaVu Sans"/>
              </a:rPr>
              <a:t>Each .txt file holds one short complete policy.</a:t>
            </a:r>
          </a:p>
        </p:txBody>
      </p:sp>
      <p:sp>
        <p:nvSpPr>
          <p:cNvPr id="16" name="text-15">
            <a:extLst xmlns:a="http://schemas.openxmlformats.org/drawingml/2006/main">
              <a:ext uri="{FF2B5EF4-FFF2-40B4-BE49-F238E27FC236}">
                <a16:creationId xmlns:a16="http://schemas.microsoft.com/office/drawing/2014/main" id="{23915320-AFDD-41F3-AB65-796FA60F3ADA}"/>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17" name="text-16">
            <a:extLst xmlns:a="http://schemas.openxmlformats.org/drawingml/2006/main">
              <a:ext uri="{FF2B5EF4-FFF2-40B4-BE49-F238E27FC236}">
                <a16:creationId xmlns:a16="http://schemas.microsoft.com/office/drawing/2014/main" id="{2624880B-7A77-4A57-BEB5-FC5D25808459}"/>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49/56</a:t>
            </a:r>
          </a:p>
        </p:txBody>
      </p:sp>
    </p:spTree>
    <p:extLst>
      <p:ext uri="{BB962C8B-B14F-4D97-AF65-F5344CB8AC3E}">
        <p14:creationId xmlns:p14="http://schemas.microsoft.com/office/powerpoint/2010/main" val="1510451930"/>
      </p:ext>
    </p:extLst>
  </p:cSld>
</p:sld>
</file>

<file path=ppt/slides/slide50.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FA71816D-34AB-484F-8F3C-5A35BCD7D698}"/>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Read the document text</a:t>
            </a:r>
          </a:p>
        </p:txBody>
      </p:sp>
      <p:sp>
        <p:nvSpPr>
          <p:cNvPr id="2" name="text-1">
            <a:extLst xmlns:a="http://schemas.openxmlformats.org/drawingml/2006/main">
              <a:ext uri="{FF2B5EF4-FFF2-40B4-BE49-F238E27FC236}">
                <a16:creationId xmlns:a16="http://schemas.microsoft.com/office/drawing/2014/main" id="{69CE7CD5-242D-4218-9C34-4EEB9CF856F6}"/>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Notebook Part B: one file at a time</a:t>
            </a:r>
          </a:p>
        </p:txBody>
      </p:sp>
      <p:sp>
        <p:nvSpPr>
          <p:cNvPr id="3" name="code-background">
            <a:extLst xmlns:a="http://schemas.openxmlformats.org/drawingml/2006/main">
              <a:ext uri="{FF2B5EF4-FFF2-40B4-BE49-F238E27FC236}">
                <a16:creationId xmlns:a16="http://schemas.microsoft.com/office/drawing/2014/main" id="{A5192040-C4DD-4955-88F4-5AF9A087C6E9}"/>
              </a:ext>
            </a:extLst>
          </p:cNvPr>
          <p:cNvSpPr>
            <a:spLocks xmlns:a="http://schemas.openxmlformats.org/drawingml/2006/main" noGrp="1"/>
          </p:cNvSpPr>
          <p:nvPr/>
        </p:nvSpPr>
        <p:spPr>
          <a:xfrm xmlns:a="http://schemas.openxmlformats.org/drawingml/2006/main">
            <a:off x="619125" y="2209800"/>
            <a:ext cx="10953750" cy="3238500"/>
          </a:xfrm>
          <a:prstGeom xmlns:a="http://schemas.openxmlformats.org/drawingml/2006/main" prst="rect">
            <a:avLst/>
          </a:prstGeom>
          <a:solidFill xmlns:a="http://schemas.openxmlformats.org/drawingml/2006/main">
            <a:srgbClr val="182C43"/>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FBB0E4B8-9CBE-4C3F-8826-9695E71C3B7A}"/>
              </a:ext>
            </a:extLst>
          </p:cNvPr>
          <p:cNvSpPr>
            <a:spLocks xmlns:a="http://schemas.openxmlformats.org/drawingml/2006/main" noGrp="1"/>
          </p:cNvSpPr>
          <p:nvPr/>
        </p:nvSpPr>
        <p:spPr>
          <a:xfrm xmlns:a="http://schemas.openxmlformats.org/drawingml/2006/main">
            <a:off x="819150" y="2447925"/>
            <a:ext cx="105537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latin typeface="DejaVu Sans Mono"/>
                <a:ea typeface="DejaVu Sans Mono"/>
                <a:cs typeface="DejaVu Sans Mono"/>
              </a:defRPr>
            </a:def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for file_path in files:</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text = file_path.read_text(encoding="utf-8").strip()</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if text:</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texts.append(text)</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ids.append(file_path.stem)</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sources.append({"source": file_path.name})</a:t>
            </a:r>
          </a:p>
        </p:txBody>
      </p:sp>
      <p:sp>
        <p:nvSpPr>
          <p:cNvPr id="5" name="text-4">
            <a:extLst xmlns:a="http://schemas.openxmlformats.org/drawingml/2006/main">
              <a:ext uri="{FF2B5EF4-FFF2-40B4-BE49-F238E27FC236}">
                <a16:creationId xmlns:a16="http://schemas.microsoft.com/office/drawing/2014/main" id="{13BB148C-61D4-476B-916F-F250343CABE8}"/>
              </a:ext>
            </a:extLst>
          </p:cNvPr>
          <p:cNvSpPr>
            <a:spLocks xmlns:a="http://schemas.openxmlformats.org/drawingml/2006/main" noGrp="1"/>
          </p:cNvSpPr>
          <p:nvPr/>
        </p:nvSpPr>
        <p:spPr>
          <a:xfrm xmlns:a="http://schemas.openxmlformats.org/drawingml/2006/main">
            <a:off x="666750" y="5724525"/>
            <a:ext cx="10668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87E84"/>
                </a:solidFill>
                <a:latin typeface="DejaVu Sans"/>
                <a:ea typeface="DejaVu Sans"/>
                <a:cs typeface="DejaVu Sans"/>
              </a:defRPr>
            </a:defPPr>
          </a:lstStyle>
          <a:p xmlns:a="http://schemas.openxmlformats.org/drawingml/2006/main">
            <a:pPr>
              <a:defRPr sz="1950" b="1">
                <a:solidFill>
                  <a:srgbClr val="087E84"/>
                </a:solidFill>
                <a:latin typeface="DejaVu Sans"/>
                <a:ea typeface="DejaVu Sans"/>
                <a:cs typeface="DejaVu Sans"/>
              </a:defRPr>
            </a:pPr>
            <a:r>
              <a:rPr sz="1950" b="1">
                <a:solidFill>
                  <a:srgbClr val="087E84"/>
                </a:solidFill>
                <a:latin typeface="DejaVu Sans"/>
                <a:ea typeface="DejaVu Sans"/>
                <a:cs typeface="DejaVu Sans"/>
              </a:rPr>
              <a:t>The filename supplies a stable ID and a source label.</a:t>
            </a:r>
          </a:p>
        </p:txBody>
      </p:sp>
      <p:sp>
        <p:nvSpPr>
          <p:cNvPr id="6" name="text-5">
            <a:extLst xmlns:a="http://schemas.openxmlformats.org/drawingml/2006/main">
              <a:ext uri="{FF2B5EF4-FFF2-40B4-BE49-F238E27FC236}">
                <a16:creationId xmlns:a16="http://schemas.microsoft.com/office/drawing/2014/main" id="{E7AB7A6C-D508-43BF-867A-B593523101DF}"/>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7" name="text-6">
            <a:extLst xmlns:a="http://schemas.openxmlformats.org/drawingml/2006/main">
              <a:ext uri="{FF2B5EF4-FFF2-40B4-BE49-F238E27FC236}">
                <a16:creationId xmlns:a16="http://schemas.microsoft.com/office/drawing/2014/main" id="{D577AEB2-96A1-4F8E-8E28-B95F24DA4605}"/>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50/56</a:t>
            </a:r>
          </a:p>
        </p:txBody>
      </p:sp>
    </p:spTree>
    <p:extLst>
      <p:ext uri="{BB962C8B-B14F-4D97-AF65-F5344CB8AC3E}">
        <p14:creationId xmlns:p14="http://schemas.microsoft.com/office/powerpoint/2010/main" val="1202307936"/>
      </p:ext>
    </p:extLst>
  </p:cSld>
</p:sld>
</file>

<file path=ppt/slides/slide51.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FBE595C-3AD2-4C0A-8217-F2A69F62DAEF}"/>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Open a collection for the document set</a:t>
            </a:r>
          </a:p>
        </p:txBody>
      </p:sp>
      <p:sp>
        <p:nvSpPr>
          <p:cNvPr id="2" name="text-1">
            <a:extLst xmlns:a="http://schemas.openxmlformats.org/drawingml/2006/main">
              <a:ext uri="{FF2B5EF4-FFF2-40B4-BE49-F238E27FC236}">
                <a16:creationId xmlns:a16="http://schemas.microsoft.com/office/drawing/2014/main" id="{301C6940-C602-4697-82EB-125B05B41085}"/>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Same embedding model and cosine, new collection name</a:t>
            </a:r>
          </a:p>
        </p:txBody>
      </p:sp>
      <p:sp>
        <p:nvSpPr>
          <p:cNvPr id="3" name="code-background">
            <a:extLst xmlns:a="http://schemas.openxmlformats.org/drawingml/2006/main">
              <a:ext uri="{FF2B5EF4-FFF2-40B4-BE49-F238E27FC236}">
                <a16:creationId xmlns:a16="http://schemas.microsoft.com/office/drawing/2014/main" id="{B7E87DD3-E5FA-4BCE-9AC3-09A1038EB293}"/>
              </a:ext>
            </a:extLst>
          </p:cNvPr>
          <p:cNvSpPr>
            <a:spLocks xmlns:a="http://schemas.openxmlformats.org/drawingml/2006/main" noGrp="1"/>
          </p:cNvSpPr>
          <p:nvPr/>
        </p:nvSpPr>
        <p:spPr>
          <a:xfrm xmlns:a="http://schemas.openxmlformats.org/drawingml/2006/main">
            <a:off x="619125" y="2209800"/>
            <a:ext cx="10953750" cy="3238500"/>
          </a:xfrm>
          <a:prstGeom xmlns:a="http://schemas.openxmlformats.org/drawingml/2006/main" prst="rect">
            <a:avLst/>
          </a:prstGeom>
          <a:solidFill xmlns:a="http://schemas.openxmlformats.org/drawingml/2006/main">
            <a:srgbClr val="182C43"/>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D9069A19-CEAE-44BC-9676-39BD47C39974}"/>
              </a:ext>
            </a:extLst>
          </p:cNvPr>
          <p:cNvSpPr>
            <a:spLocks xmlns:a="http://schemas.openxmlformats.org/drawingml/2006/main" noGrp="1"/>
          </p:cNvSpPr>
          <p:nvPr/>
        </p:nvSpPr>
        <p:spPr>
          <a:xfrm xmlns:a="http://schemas.openxmlformats.org/drawingml/2006/main">
            <a:off x="819150" y="2447925"/>
            <a:ext cx="105537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latin typeface="DejaVu Sans Mono"/>
                <a:ea typeface="DejaVu Sans Mono"/>
                <a:cs typeface="DejaVu Sans Mono"/>
              </a:defRPr>
            </a:def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doc_db = Chroma(</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collection_name="parcel_documents_06",</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embedding_function=embeddings,</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persist_directory="./parcel_document_db",</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collection_configuration={"hnsw": {"space": "cosine"}},</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a:t>
            </a:r>
          </a:p>
        </p:txBody>
      </p:sp>
      <p:sp>
        <p:nvSpPr>
          <p:cNvPr id="5" name="text-4">
            <a:extLst xmlns:a="http://schemas.openxmlformats.org/drawingml/2006/main">
              <a:ext uri="{FF2B5EF4-FFF2-40B4-BE49-F238E27FC236}">
                <a16:creationId xmlns:a16="http://schemas.microsoft.com/office/drawing/2014/main" id="{CAA28604-CBC3-4404-B01C-DBB5EDE0EB0B}"/>
              </a:ext>
            </a:extLst>
          </p:cNvPr>
          <p:cNvSpPr>
            <a:spLocks xmlns:a="http://schemas.openxmlformats.org/drawingml/2006/main" noGrp="1"/>
          </p:cNvSpPr>
          <p:nvPr/>
        </p:nvSpPr>
        <p:spPr>
          <a:xfrm xmlns:a="http://schemas.openxmlformats.org/drawingml/2006/main">
            <a:off x="666750" y="5724525"/>
            <a:ext cx="10668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87E84"/>
                </a:solidFill>
                <a:latin typeface="DejaVu Sans"/>
                <a:ea typeface="DejaVu Sans"/>
                <a:cs typeface="DejaVu Sans"/>
              </a:defRPr>
            </a:defPPr>
          </a:lstStyle>
          <a:p xmlns:a="http://schemas.openxmlformats.org/drawingml/2006/main">
            <a:pPr>
              <a:defRPr sz="1950" b="1">
                <a:solidFill>
                  <a:srgbClr val="087E84"/>
                </a:solidFill>
                <a:latin typeface="DejaVu Sans"/>
                <a:ea typeface="DejaVu Sans"/>
                <a:cs typeface="DejaVu Sans"/>
              </a:defRPr>
            </a:pPr>
            <a:r>
              <a:rPr sz="1950" b="1">
                <a:solidFill>
                  <a:srgbClr val="087E84"/>
                </a:solidFill>
                <a:latin typeface="DejaVu Sans"/>
                <a:ea typeface="DejaVu Sans"/>
                <a:cs typeface="DejaVu Sans"/>
              </a:rPr>
              <a:t>This saved collection is separate from the three-policy warm-up.</a:t>
            </a:r>
          </a:p>
        </p:txBody>
      </p:sp>
      <p:sp>
        <p:nvSpPr>
          <p:cNvPr id="6" name="text-5">
            <a:extLst xmlns:a="http://schemas.openxmlformats.org/drawingml/2006/main">
              <a:ext uri="{FF2B5EF4-FFF2-40B4-BE49-F238E27FC236}">
                <a16:creationId xmlns:a16="http://schemas.microsoft.com/office/drawing/2014/main" id="{7FF0F757-9AFB-4AB1-907D-863158745F67}"/>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7" name="text-6">
            <a:extLst xmlns:a="http://schemas.openxmlformats.org/drawingml/2006/main">
              <a:ext uri="{FF2B5EF4-FFF2-40B4-BE49-F238E27FC236}">
                <a16:creationId xmlns:a16="http://schemas.microsoft.com/office/drawing/2014/main" id="{FD8C5DF4-1A89-47B1-90F6-12BB2E57CEC3}"/>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51/56</a:t>
            </a:r>
          </a:p>
        </p:txBody>
      </p:sp>
    </p:spTree>
    <p:extLst>
      <p:ext uri="{BB962C8B-B14F-4D97-AF65-F5344CB8AC3E}">
        <p14:creationId xmlns:p14="http://schemas.microsoft.com/office/powerpoint/2010/main" val="2001818837"/>
      </p:ext>
    </p:extLst>
  </p:cSld>
</p:sld>
</file>

<file path=ppt/slides/slide5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898126E-D9BF-4C8A-B752-654EEB5D3159}"/>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Save the files in small batches</a:t>
            </a:r>
          </a:p>
        </p:txBody>
      </p:sp>
      <p:sp>
        <p:nvSpPr>
          <p:cNvPr id="2" name="text-1">
            <a:extLst xmlns:a="http://schemas.openxmlformats.org/drawingml/2006/main">
              <a:ext uri="{FF2B5EF4-FFF2-40B4-BE49-F238E27FC236}">
                <a16:creationId xmlns:a16="http://schemas.microsoft.com/office/drawing/2014/main" id="{FAD72FD3-FED0-44FE-AADE-9FE0DDB0D16D}"/>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Notebook Part B: three groups of four</a:t>
            </a:r>
          </a:p>
        </p:txBody>
      </p:sp>
      <p:sp>
        <p:nvSpPr>
          <p:cNvPr id="3" name="code-background">
            <a:extLst xmlns:a="http://schemas.openxmlformats.org/drawingml/2006/main">
              <a:ext uri="{FF2B5EF4-FFF2-40B4-BE49-F238E27FC236}">
                <a16:creationId xmlns:a16="http://schemas.microsoft.com/office/drawing/2014/main" id="{4B1CE571-368B-4DBA-ABC3-FF5152FBC341}"/>
              </a:ext>
            </a:extLst>
          </p:cNvPr>
          <p:cNvSpPr>
            <a:spLocks xmlns:a="http://schemas.openxmlformats.org/drawingml/2006/main" noGrp="1"/>
          </p:cNvSpPr>
          <p:nvPr/>
        </p:nvSpPr>
        <p:spPr>
          <a:xfrm xmlns:a="http://schemas.openxmlformats.org/drawingml/2006/main">
            <a:off x="619125" y="2209800"/>
            <a:ext cx="10953750" cy="3238500"/>
          </a:xfrm>
          <a:prstGeom xmlns:a="http://schemas.openxmlformats.org/drawingml/2006/main" prst="rect">
            <a:avLst/>
          </a:prstGeom>
          <a:solidFill xmlns:a="http://schemas.openxmlformats.org/drawingml/2006/main">
            <a:srgbClr val="182C43"/>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CAB793CF-552C-4E5A-A281-018AAA6FCF18}"/>
              </a:ext>
            </a:extLst>
          </p:cNvPr>
          <p:cNvSpPr>
            <a:spLocks xmlns:a="http://schemas.openxmlformats.org/drawingml/2006/main" noGrp="1"/>
          </p:cNvSpPr>
          <p:nvPr/>
        </p:nvSpPr>
        <p:spPr>
          <a:xfrm xmlns:a="http://schemas.openxmlformats.org/drawingml/2006/main">
            <a:off x="819150" y="2447925"/>
            <a:ext cx="105537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latin typeface="DejaVu Sans Mono"/>
                <a:ea typeface="DejaVu Sans Mono"/>
                <a:cs typeface="DejaVu Sans Mono"/>
              </a:defRPr>
            </a:def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batch_size = 4</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for start in range(0, len(texts), batch_size):</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end = start + batch_size</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doc_db.add_texts(</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texts=texts[start:end],</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ids=ids[start:end],</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metadatas=sources[start:end]</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a:t>
            </a:r>
          </a:p>
        </p:txBody>
      </p:sp>
      <p:sp>
        <p:nvSpPr>
          <p:cNvPr id="5" name="text-4">
            <a:extLst xmlns:a="http://schemas.openxmlformats.org/drawingml/2006/main">
              <a:ext uri="{FF2B5EF4-FFF2-40B4-BE49-F238E27FC236}">
                <a16:creationId xmlns:a16="http://schemas.microsoft.com/office/drawing/2014/main" id="{ECA51D2F-06E5-4C3A-B1C8-F8B954B1A615}"/>
              </a:ext>
            </a:extLst>
          </p:cNvPr>
          <p:cNvSpPr>
            <a:spLocks xmlns:a="http://schemas.openxmlformats.org/drawingml/2006/main" noGrp="1"/>
          </p:cNvSpPr>
          <p:nvPr/>
        </p:nvSpPr>
        <p:spPr>
          <a:xfrm xmlns:a="http://schemas.openxmlformats.org/drawingml/2006/main">
            <a:off x="666750" y="5724525"/>
            <a:ext cx="10668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87E84"/>
                </a:solidFill>
                <a:latin typeface="DejaVu Sans"/>
                <a:ea typeface="DejaVu Sans"/>
                <a:cs typeface="DejaVu Sans"/>
              </a:defRPr>
            </a:defPPr>
          </a:lstStyle>
          <a:p xmlns:a="http://schemas.openxmlformats.org/drawingml/2006/main">
            <a:pPr>
              <a:defRPr sz="1950" b="1">
                <a:solidFill>
                  <a:srgbClr val="087E84"/>
                </a:solidFill>
                <a:latin typeface="DejaVu Sans"/>
                <a:ea typeface="DejaVu Sans"/>
                <a:cs typeface="DejaVu Sans"/>
              </a:defRPr>
            </a:pPr>
            <a:r>
              <a:rPr sz="1950" b="1">
                <a:solidFill>
                  <a:srgbClr val="087E84"/>
                </a:solidFill>
                <a:latin typeface="DejaVu Sans"/>
                <a:ea typeface="DejaVu Sans"/>
                <a:cs typeface="DejaVu Sans"/>
              </a:rPr>
              <a:t>[start:end] selects one group. The last group may be smaller.</a:t>
            </a:r>
          </a:p>
        </p:txBody>
      </p:sp>
      <p:sp>
        <p:nvSpPr>
          <p:cNvPr id="6" name="text-5">
            <a:extLst xmlns:a="http://schemas.openxmlformats.org/drawingml/2006/main">
              <a:ext uri="{FF2B5EF4-FFF2-40B4-BE49-F238E27FC236}">
                <a16:creationId xmlns:a16="http://schemas.microsoft.com/office/drawing/2014/main" id="{EB90AB97-CA88-46AE-A754-62D7F8F7AE93}"/>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7" name="text-6">
            <a:extLst xmlns:a="http://schemas.openxmlformats.org/drawingml/2006/main">
              <a:ext uri="{FF2B5EF4-FFF2-40B4-BE49-F238E27FC236}">
                <a16:creationId xmlns:a16="http://schemas.microsoft.com/office/drawing/2014/main" id="{FD2A2520-AA59-43F6-9E17-48D6064D1A37}"/>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52/56</a:t>
            </a:r>
          </a:p>
        </p:txBody>
      </p:sp>
    </p:spTree>
    <p:extLst>
      <p:ext uri="{BB962C8B-B14F-4D97-AF65-F5344CB8AC3E}">
        <p14:creationId xmlns:p14="http://schemas.microsoft.com/office/powerpoint/2010/main" val="1114359847"/>
      </p:ext>
    </p:extLst>
  </p:cSld>
</p:sld>
</file>

<file path=ppt/slides/slide5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FF6AB31-E51C-465D-8B5A-212EADD05068}"/>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Search the saved document set</a:t>
            </a:r>
          </a:p>
        </p:txBody>
      </p:sp>
      <p:sp>
        <p:nvSpPr>
          <p:cNvPr id="2" name="text-1">
            <a:extLst xmlns:a="http://schemas.openxmlformats.org/drawingml/2006/main">
              <a:ext uri="{FF2B5EF4-FFF2-40B4-BE49-F238E27FC236}">
                <a16:creationId xmlns:a16="http://schemas.microsoft.com/office/drawing/2014/main" id="{98D71AEB-D80B-45E6-BF7C-4F49D717E166}"/>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Ask for three candidate passages with source filenames</a:t>
            </a:r>
          </a:p>
        </p:txBody>
      </p:sp>
      <p:sp>
        <p:nvSpPr>
          <p:cNvPr id="3" name="code-background">
            <a:extLst xmlns:a="http://schemas.openxmlformats.org/drawingml/2006/main">
              <a:ext uri="{FF2B5EF4-FFF2-40B4-BE49-F238E27FC236}">
                <a16:creationId xmlns:a16="http://schemas.microsoft.com/office/drawing/2014/main" id="{FA50E53D-020C-4D84-A3E1-D58BB421B150}"/>
              </a:ext>
            </a:extLst>
          </p:cNvPr>
          <p:cNvSpPr>
            <a:spLocks xmlns:a="http://schemas.openxmlformats.org/drawingml/2006/main" noGrp="1"/>
          </p:cNvSpPr>
          <p:nvPr/>
        </p:nvSpPr>
        <p:spPr>
          <a:xfrm xmlns:a="http://schemas.openxmlformats.org/drawingml/2006/main">
            <a:off x="619125" y="2209800"/>
            <a:ext cx="10953750" cy="3238500"/>
          </a:xfrm>
          <a:prstGeom xmlns:a="http://schemas.openxmlformats.org/drawingml/2006/main" prst="rect">
            <a:avLst/>
          </a:prstGeom>
          <a:solidFill xmlns:a="http://schemas.openxmlformats.org/drawingml/2006/main">
            <a:srgbClr val="182C43"/>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2496D18E-C272-4845-99E0-3BA8C2F9C7B7}"/>
              </a:ext>
            </a:extLst>
          </p:cNvPr>
          <p:cNvSpPr>
            <a:spLocks xmlns:a="http://schemas.openxmlformats.org/drawingml/2006/main" noGrp="1"/>
          </p:cNvSpPr>
          <p:nvPr/>
        </p:nvSpPr>
        <p:spPr>
          <a:xfrm xmlns:a="http://schemas.openxmlformats.org/drawingml/2006/main">
            <a:off x="819150" y="2447925"/>
            <a:ext cx="10553700" cy="2790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latin typeface="DejaVu Sans Mono"/>
                <a:ea typeface="DejaVu Sans Mono"/>
                <a:cs typeface="DejaVu Sans Mono"/>
              </a:defRPr>
            </a:defPPr>
          </a:lstStyle>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matches = doc_db.similarity_search(</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"I was not home when the rider arrived.", k=3</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for document in matches:</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print(document.metadata["source"])</a:t>
            </a:r>
          </a:p>
          <a:p xmlns:a="http://schemas.openxmlformats.org/drawingml/2006/main">
            <a:pPr>
              <a:defRPr sz="1875" b="0">
                <a:solidFill>
                  <a:srgbClr val="FFFFFF"/>
                </a:solidFill>
                <a:latin typeface="DejaVu Sans Mono"/>
                <a:ea typeface="DejaVu Sans Mono"/>
                <a:cs typeface="DejaVu Sans Mono"/>
              </a:defRPr>
            </a:pPr>
            <a:r>
              <a:rPr sz="1875" b="0">
                <a:solidFill>
                  <a:srgbClr val="FFFFFF"/>
                </a:solidFill>
                <a:latin typeface="DejaVu Sans Mono"/>
                <a:ea typeface="DejaVu Sans Mono"/>
                <a:cs typeface="DejaVu Sans Mono"/>
              </a:rPr>
              <a:t>    print(document.page_content)</a:t>
            </a:r>
          </a:p>
        </p:txBody>
      </p:sp>
      <p:sp>
        <p:nvSpPr>
          <p:cNvPr id="5" name="text-4">
            <a:extLst xmlns:a="http://schemas.openxmlformats.org/drawingml/2006/main">
              <a:ext uri="{FF2B5EF4-FFF2-40B4-BE49-F238E27FC236}">
                <a16:creationId xmlns:a16="http://schemas.microsoft.com/office/drawing/2014/main" id="{8FB877E7-3F86-494F-ABC9-2FC7EA9E1F05}"/>
              </a:ext>
            </a:extLst>
          </p:cNvPr>
          <p:cNvSpPr>
            <a:spLocks xmlns:a="http://schemas.openxmlformats.org/drawingml/2006/main" noGrp="1"/>
          </p:cNvSpPr>
          <p:nvPr/>
        </p:nvSpPr>
        <p:spPr>
          <a:xfrm xmlns:a="http://schemas.openxmlformats.org/drawingml/2006/main">
            <a:off x="666750" y="5724525"/>
            <a:ext cx="10668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a:solidFill>
                  <a:srgbClr val="087E84"/>
                </a:solidFill>
                <a:latin typeface="DejaVu Sans"/>
                <a:ea typeface="DejaVu Sans"/>
                <a:cs typeface="DejaVu Sans"/>
              </a:defRPr>
            </a:defPPr>
          </a:lstStyle>
          <a:p xmlns:a="http://schemas.openxmlformats.org/drawingml/2006/main">
            <a:pPr>
              <a:defRPr sz="1950" b="1">
                <a:solidFill>
                  <a:srgbClr val="087E84"/>
                </a:solidFill>
                <a:latin typeface="DejaVu Sans"/>
                <a:ea typeface="DejaVu Sans"/>
                <a:cs typeface="DejaVu Sans"/>
              </a:defRPr>
            </a:pPr>
            <a:r>
              <a:rPr sz="1950" b="1">
                <a:solidFill>
                  <a:srgbClr val="087E84"/>
                </a:solidFill>
                <a:latin typeface="DejaVu Sans"/>
                <a:ea typeface="DejaVu Sans"/>
                <a:cs typeface="DejaVu Sans"/>
              </a:rPr>
              <a:t>Read each candidate. A source label helps you inspect the evidence.</a:t>
            </a:r>
          </a:p>
        </p:txBody>
      </p:sp>
      <p:sp>
        <p:nvSpPr>
          <p:cNvPr id="6" name="text-5">
            <a:extLst xmlns:a="http://schemas.openxmlformats.org/drawingml/2006/main">
              <a:ext uri="{FF2B5EF4-FFF2-40B4-BE49-F238E27FC236}">
                <a16:creationId xmlns:a16="http://schemas.microsoft.com/office/drawing/2014/main" id="{B3921288-387F-46BF-B6A6-AE3A55F9B37E}"/>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7" name="text-6">
            <a:extLst xmlns:a="http://schemas.openxmlformats.org/drawingml/2006/main">
              <a:ext uri="{FF2B5EF4-FFF2-40B4-BE49-F238E27FC236}">
                <a16:creationId xmlns:a16="http://schemas.microsoft.com/office/drawing/2014/main" id="{CA2B6DD9-159A-4CCE-AD24-4A45368CB928}"/>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53/56</a:t>
            </a:r>
          </a:p>
        </p:txBody>
      </p:sp>
    </p:spTree>
    <p:extLst>
      <p:ext uri="{BB962C8B-B14F-4D97-AF65-F5344CB8AC3E}">
        <p14:creationId xmlns:p14="http://schemas.microsoft.com/office/powerpoint/2010/main" val="668782149"/>
      </p:ext>
    </p:extLst>
  </p:cSld>
</p:sld>
</file>

<file path=ppt/slides/slide5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5A9F00C-FC08-4C7D-8C28-049F5E78F957}"/>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Reopen and search without rebuilding</a:t>
            </a:r>
          </a:p>
        </p:txBody>
      </p:sp>
      <p:sp>
        <p:nvSpPr>
          <p:cNvPr id="2" name="text-1">
            <a:extLst xmlns:a="http://schemas.openxmlformats.org/drawingml/2006/main">
              <a:ext uri="{FF2B5EF4-FFF2-40B4-BE49-F238E27FC236}">
                <a16:creationId xmlns:a16="http://schemas.microsoft.com/office/drawing/2014/main" id="{A9BEA32F-0CC2-4A88-B0E1-6CE64FAC69B2}"/>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The same folder and collection contain the saved records</a:t>
            </a:r>
          </a:p>
        </p:txBody>
      </p:sp>
      <p:sp>
        <p:nvSpPr>
          <p:cNvPr id="3" name="text-2">
            <a:extLst xmlns:a="http://schemas.openxmlformats.org/drawingml/2006/main">
              <a:ext uri="{FF2B5EF4-FFF2-40B4-BE49-F238E27FC236}">
                <a16:creationId xmlns:a16="http://schemas.microsoft.com/office/drawing/2014/main" id="{16569FFF-8E36-4885-AC55-389F2E6E7B16}"/>
              </a:ext>
            </a:extLst>
          </p:cNvPr>
          <p:cNvSpPr>
            <a:spLocks xmlns:a="http://schemas.openxmlformats.org/drawingml/2006/main" noGrp="1"/>
          </p:cNvSpPr>
          <p:nvPr/>
        </p:nvSpPr>
        <p:spPr>
          <a:xfrm xmlns:a="http://schemas.openxmlformats.org/drawingml/2006/main">
            <a:off x="666750" y="2647950"/>
            <a:ext cx="49530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182C43"/>
                </a:solidFill>
                <a:latin typeface="DejaVu Sans"/>
                <a:ea typeface="DejaVu Sans"/>
                <a:cs typeface="DejaVu Sans"/>
              </a:defRPr>
            </a:defPPr>
          </a:lstStyle>
          <a:p xmlns:a="http://schemas.openxmlformats.org/drawingml/2006/main">
            <a:pPr>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First run</a:t>
            </a:r>
          </a:p>
          <a:p xmlns:a="http://schemas.openxmlformats.org/drawingml/2006/main">
            <a:pPr>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Read files, embed batches and save.</a:t>
            </a:r>
          </a:p>
          <a:p xmlns:a="http://schemas.openxmlformats.org/drawingml/2006/main">
            <a:pPr>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Then search the saved collection.</a:t>
            </a:r>
          </a:p>
        </p:txBody>
      </p:sp>
      <p:sp>
        <p:nvSpPr>
          <p:cNvPr id="4" name="text-3">
            <a:extLst xmlns:a="http://schemas.openxmlformats.org/drawingml/2006/main">
              <a:ext uri="{FF2B5EF4-FFF2-40B4-BE49-F238E27FC236}">
                <a16:creationId xmlns:a16="http://schemas.microsoft.com/office/drawing/2014/main" id="{DC2411F0-01DE-41E3-A65B-2C66BA131603}"/>
              </a:ext>
            </a:extLst>
          </p:cNvPr>
          <p:cNvSpPr>
            <a:spLocks xmlns:a="http://schemas.openxmlformats.org/drawingml/2006/main" noGrp="1"/>
          </p:cNvSpPr>
          <p:nvPr/>
        </p:nvSpPr>
        <p:spPr>
          <a:xfrm xmlns:a="http://schemas.openxmlformats.org/drawingml/2006/main">
            <a:off x="6524625" y="2647950"/>
            <a:ext cx="5000625"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75" b="0">
                <a:solidFill>
                  <a:srgbClr val="182C43"/>
                </a:solidFill>
                <a:latin typeface="DejaVu Sans"/>
                <a:ea typeface="DejaVu Sans"/>
                <a:cs typeface="DejaVu Sans"/>
              </a:defRPr>
            </a:defPPr>
          </a:lstStyle>
          <a:p xmlns:a="http://schemas.openxmlformats.org/drawingml/2006/main">
            <a:pPr>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Later run</a:t>
            </a:r>
          </a:p>
          <a:p xmlns:a="http://schemas.openxmlformats.org/drawingml/2006/main">
            <a:pPr>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Open the same saved collection.</a:t>
            </a:r>
          </a:p>
          <a:p xmlns:a="http://schemas.openxmlformats.org/drawingml/2006/main">
            <a:pPr>
              <a:defRPr sz="2475" b="0">
                <a:solidFill>
                  <a:srgbClr val="182C43"/>
                </a:solidFill>
                <a:latin typeface="DejaVu Sans"/>
                <a:ea typeface="DejaVu Sans"/>
                <a:cs typeface="DejaVu Sans"/>
              </a:defRPr>
            </a:pPr>
            <a:r>
              <a:rPr sz="2475" b="0">
                <a:solidFill>
                  <a:srgbClr val="182C43"/>
                </a:solidFill>
                <a:latin typeface="DejaVu Sans"/>
                <a:ea typeface="DejaVu Sans"/>
                <a:cs typeface="DejaVu Sans"/>
              </a:rPr>
              <a:t>Embed only the new question and search.</a:t>
            </a:r>
          </a:p>
        </p:txBody>
      </p:sp>
      <p:sp>
        <p:nvSpPr>
          <p:cNvPr id="5" name="text-4">
            <a:extLst xmlns:a="http://schemas.openxmlformats.org/drawingml/2006/main">
              <a:ext uri="{FF2B5EF4-FFF2-40B4-BE49-F238E27FC236}">
                <a16:creationId xmlns:a16="http://schemas.microsoft.com/office/drawing/2014/main" id="{2C4D7551-73D7-48F4-997A-92E7EA150B7C}"/>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6" name="text-5">
            <a:extLst xmlns:a="http://schemas.openxmlformats.org/drawingml/2006/main">
              <a:ext uri="{FF2B5EF4-FFF2-40B4-BE49-F238E27FC236}">
                <a16:creationId xmlns:a16="http://schemas.microsoft.com/office/drawing/2014/main" id="{BF49EF96-4894-459C-AA06-9D9FDF2278E5}"/>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54/56</a:t>
            </a:r>
          </a:p>
        </p:txBody>
      </p:sp>
    </p:spTree>
    <p:extLst>
      <p:ext uri="{BB962C8B-B14F-4D97-AF65-F5344CB8AC3E}">
        <p14:creationId xmlns:p14="http://schemas.microsoft.com/office/powerpoint/2010/main" val="306882287"/>
      </p:ext>
    </p:extLst>
  </p:cSld>
</p:sld>
</file>

<file path=ppt/slides/slide5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8217A29-BBC5-4FCF-BBED-8B28D37944D2}"/>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Classroom checks</a:t>
            </a:r>
          </a:p>
        </p:txBody>
      </p:sp>
      <p:sp>
        <p:nvSpPr>
          <p:cNvPr id="2" name="text-1">
            <a:extLst xmlns:a="http://schemas.openxmlformats.org/drawingml/2006/main">
              <a:ext uri="{FF2B5EF4-FFF2-40B4-BE49-F238E27FC236}">
                <a16:creationId xmlns:a16="http://schemas.microsoft.com/office/drawing/2014/main" id="{68830709-848E-448E-8CA3-DA5138A0F9CB}"/>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Expected behaviour belongs beside the actual result</a:t>
            </a:r>
          </a:p>
        </p:txBody>
      </p:sp>
      <p:graphicFrame>
        <p:nvGraphicFramePr>
          <p:cNvPr id="3" name="">
            <a:extLst xmlns:a="http://schemas.openxmlformats.org/drawingml/2006/main">
              <a:ext uri="{FF2B5EF4-FFF2-40B4-BE49-F238E27FC236}">
                <a16:creationId xmlns:a16="http://schemas.microsoft.com/office/drawing/2014/main" id="{705B0FAC-F2DB-498C-8BB7-EB0EA98649E9}"/>
              </a:ext>
            </a:extLst>
          </p:cNvPr>
          <p:cNvGraphicFramePr/>
          <p:nvPr/>
        </p:nvGraphicFramePr>
        <p:xfrm>
          <a:off xmlns:a="http://schemas.openxmlformats.org/drawingml/2006/main" x="619125" y="2238375"/>
          <a:ext xmlns:a="http://schemas.openxmlformats.org/drawingml/2006/main" cx="10953750" cy="3762375"/>
        </p:xfrm>
        <a:graphic xmlns:a="http://schemas.openxmlformats.org/drawingml/2006/main">
          <a:graphicData uri="http://schemas.openxmlformats.org/drawingml/2006/table">
            <a:tbl>
              <a:tblPr/>
              <a:tblGrid>
                <a:gridCol w="4381500"/>
                <a:gridCol w="6572250"/>
              </a:tblGrid>
              <a:tr h="752475">
                <a:tc>
                  <a:txBody>
                    <a:bodyPr/>
                    <a:lstStyle/>
                    <a:p>
                      <a:r>
                        <a:rPr sz="2025" b="1">
                          <a:solidFill>
                            <a:srgbClr val="FFFFFF"/>
                          </a:solidFill>
                          <a:latin typeface="DejaVu Sans"/>
                          <a:ea typeface="DejaVu Sans"/>
                          <a:cs typeface="DejaVu Sans"/>
                        </a:rPr>
                        <a:t>Try this</a:t>
                      </a:r>
                    </a:p>
                  </a:txBody>
                  <a:tcPr marL="171450" marR="171450" marT="152400" marB="95250">
                    <a:lnL w="9525">
                      <a:solidFill>
                        <a:srgbClr val="D7E1DF"/>
                      </a:solidFill>
                      <a:prstDash val="solid"/>
                    </a:lnL>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c>
                  <a:txBody>
                    <a:bodyPr/>
                    <a:lstStyle/>
                    <a:p>
                      <a:r>
                        <a:rPr sz="2025" b="1">
                          <a:solidFill>
                            <a:srgbClr val="FFFFFF"/>
                          </a:solidFill>
                          <a:latin typeface="DejaVu Sans"/>
                          <a:ea typeface="DejaVu Sans"/>
                          <a:cs typeface="DejaVu Sans"/>
                        </a:rPr>
                        <a:t>What to check</a:t>
                      </a:r>
                    </a:p>
                  </a:txBody>
                  <a:tcPr marL="171450" marR="171450" marT="152400" marB="95250">
                    <a:lnR w="9525">
                      <a:solidFill>
                        <a:srgbClr val="D7E1DF"/>
                      </a:solidFill>
                      <a:prstDash val="solid"/>
                    </a:lnR>
                    <a:lnT w="9525">
                      <a:solidFill>
                        <a:srgbClr val="D7E1DF"/>
                      </a:solidFill>
                      <a:prstDash val="solid"/>
                    </a:lnT>
                    <a:lnB w="9525">
                      <a:solidFill>
                        <a:srgbClr val="D7E1DF"/>
                      </a:solidFill>
                      <a:prstDash val="solid"/>
                    </a:lnB>
                    <a:solidFill>
                      <a:srgbClr val="087E84"/>
                    </a:solidFill>
                  </a:tcPr>
                </a:tc>
              </a:tr>
              <a:tr h="752475">
                <a:tc>
                  <a:txBody>
                    <a:bodyPr/>
                    <a:lstStyle/>
                    <a:p>
                      <a:r>
                        <a:rPr sz="2025">
                          <a:solidFill>
                            <a:srgbClr val="182C43"/>
                          </a:solidFill>
                          <a:latin typeface="DejaVu Sans"/>
                          <a:ea typeface="DejaVu Sans"/>
                          <a:cs typeface="DejaVu Sans"/>
                        </a:rPr>
                        <a:t>Missed rider question</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P04 is the intended relevant document</a:t>
                      </a:r>
                    </a:p>
                  </a:txBody>
                  <a:tcPr marL="171450" marR="171450" marT="152400" marB="95250">
                    <a:lnR w="9525">
                      <a:solidFill>
                        <a:srgbClr val="D7E1DF"/>
                      </a:solidFill>
                      <a:prstDash val="solid"/>
                    </a:lnR>
                    <a:lnB w="9525">
                      <a:solidFill>
                        <a:srgbClr val="D7E1DF"/>
                      </a:solidFill>
                      <a:prstDash val="solid"/>
                    </a:lnB>
                    <a:solidFill>
                      <a:srgbClr val="FFFFFF"/>
                    </a:solidFill>
                  </a:tcPr>
                </a:tc>
              </a:tr>
              <a:tr h="752475">
                <a:tc>
                  <a:txBody>
                    <a:bodyPr/>
                    <a:lstStyle/>
                    <a:p>
                      <a:r>
                        <a:rPr sz="2025">
                          <a:solidFill>
                            <a:srgbClr val="182C43"/>
                          </a:solidFill>
                          <a:latin typeface="DejaVu Sans"/>
                          <a:ea typeface="DejaVu Sans"/>
                          <a:cs typeface="DejaVu Sans"/>
                        </a:rPr>
                        <a:t>k=3</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At most three candidates, with source labels</a:t>
                      </a:r>
                    </a:p>
                  </a:txBody>
                  <a:tcPr marL="171450" marR="171450" marT="152400" marB="95250">
                    <a:lnR w="9525">
                      <a:solidFill>
                        <a:srgbClr val="D7E1DF"/>
                      </a:solidFill>
                      <a:prstDash val="solid"/>
                    </a:lnR>
                    <a:lnB w="9525">
                      <a:solidFill>
                        <a:srgbClr val="D7E1DF"/>
                      </a:solidFill>
                      <a:prstDash val="solid"/>
                    </a:lnB>
                    <a:solidFill>
                      <a:srgbClr val="FFFFFF"/>
                    </a:solidFill>
                  </a:tcPr>
                </a:tc>
              </a:tr>
              <a:tr h="752475">
                <a:tc>
                  <a:txBody>
                    <a:bodyPr/>
                    <a:lstStyle/>
                    <a:p>
                      <a:r>
                        <a:rPr sz="2025">
                          <a:solidFill>
                            <a:srgbClr val="182C43"/>
                          </a:solidFill>
                          <a:latin typeface="DejaVu Sans"/>
                          <a:ea typeface="DejaVu Sans"/>
                          <a:cs typeface="DejaVu Sans"/>
                        </a:rPr>
                        <a:t>Reopen without saving</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Saved document vectors remain reusable</a:t>
                      </a:r>
                    </a:p>
                  </a:txBody>
                  <a:tcPr marL="171450" marR="171450" marT="152400" marB="95250">
                    <a:lnR w="9525">
                      <a:solidFill>
                        <a:srgbClr val="D7E1DF"/>
                      </a:solidFill>
                      <a:prstDash val="solid"/>
                    </a:lnR>
                    <a:lnB w="9525">
                      <a:solidFill>
                        <a:srgbClr val="D7E1DF"/>
                      </a:solidFill>
                      <a:prstDash val="solid"/>
                    </a:lnB>
                    <a:solidFill>
                      <a:srgbClr val="FFFFFF"/>
                    </a:solidFill>
                  </a:tcPr>
                </a:tc>
              </a:tr>
              <a:tr h="752475">
                <a:tc>
                  <a:txBody>
                    <a:bodyPr/>
                    <a:lstStyle/>
                    <a:p>
                      <a:r>
                        <a:rPr sz="2025">
                          <a:solidFill>
                            <a:srgbClr val="182C43"/>
                          </a:solidFill>
                          <a:latin typeface="DejaVu Sans"/>
                          <a:ea typeface="DejaVu Sans"/>
                          <a:cs typeface="DejaVu Sans"/>
                        </a:rPr>
                        <a:t>Unanswered refund question</a:t>
                      </a:r>
                    </a:p>
                  </a:txBody>
                  <a:tcPr marL="171450" marR="171450" marT="152400" marB="95250">
                    <a:lnL w="9525">
                      <a:solidFill>
                        <a:srgbClr val="D7E1DF"/>
                      </a:solidFill>
                      <a:prstDash val="solid"/>
                    </a:lnL>
                    <a:lnR w="9525">
                      <a:solidFill>
                        <a:srgbClr val="D7E1DF"/>
                      </a:solidFill>
                      <a:prstDash val="solid"/>
                    </a:lnR>
                    <a:lnB w="9525">
                      <a:solidFill>
                        <a:srgbClr val="D7E1DF"/>
                      </a:solidFill>
                      <a:prstDash val="solid"/>
                    </a:lnB>
                    <a:solidFill>
                      <a:srgbClr val="FFFFFF"/>
                    </a:solidFill>
                  </a:tcPr>
                </a:tc>
                <a:tc>
                  <a:txBody>
                    <a:bodyPr/>
                    <a:lstStyle/>
                    <a:p>
                      <a:r>
                        <a:rPr sz="2025">
                          <a:solidFill>
                            <a:srgbClr val="182C43"/>
                          </a:solidFill>
                          <a:latin typeface="DejaVu Sans"/>
                          <a:ea typeface="DejaVu Sans"/>
                          <a:cs typeface="DejaVu Sans"/>
                        </a:rPr>
                        <a:t>Do not invent a refund period</a:t>
                      </a:r>
                    </a:p>
                  </a:txBody>
                  <a:tcPr marL="171450" marR="171450" marT="152400" marB="95250">
                    <a:lnR w="9525">
                      <a:solidFill>
                        <a:srgbClr val="D7E1DF"/>
                      </a:solidFill>
                      <a:prstDash val="solid"/>
                    </a:lnR>
                    <a:lnB w="9525">
                      <a:solidFill>
                        <a:srgbClr val="D7E1DF"/>
                      </a:solidFill>
                      <a:prstDash val="solid"/>
                    </a:lnB>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58355AED-D89C-485C-AC17-2870BA659B15}"/>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5" name="text-3">
            <a:extLst xmlns:a="http://schemas.openxmlformats.org/drawingml/2006/main">
              <a:ext uri="{FF2B5EF4-FFF2-40B4-BE49-F238E27FC236}">
                <a16:creationId xmlns:a16="http://schemas.microsoft.com/office/drawing/2014/main" id="{F14D3FE0-705D-42CB-8052-F52F87E3E36C}"/>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55/56</a:t>
            </a:r>
          </a:p>
        </p:txBody>
      </p:sp>
    </p:spTree>
    <p:extLst>
      <p:ext uri="{BB962C8B-B14F-4D97-AF65-F5344CB8AC3E}">
        <p14:creationId xmlns:p14="http://schemas.microsoft.com/office/powerpoint/2010/main" val="1316302327"/>
      </p:ext>
    </p:extLst>
  </p:cSld>
</p:sld>
</file>

<file path=ppt/slides/slide56.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882D557-EAB3-4ADA-9F5E-F42B408B98DA}"/>
              </a:ext>
            </a:extLst>
          </p:cNvPr>
          <p:cNvSpPr>
            <a:spLocks xmlns:a="http://schemas.openxmlformats.org/drawingml/2006/main" noGrp="1"/>
          </p:cNvSpPr>
          <p:nvPr/>
        </p:nvSpPr>
        <p:spPr>
          <a:xfrm xmlns:a="http://schemas.openxmlformats.org/drawingml/2006/main">
            <a:off x="571500" y="523875"/>
            <a:ext cx="1104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82C43"/>
                </a:solidFill>
                <a:latin typeface="DejaVu Sans"/>
                <a:ea typeface="DejaVu Sans"/>
                <a:cs typeface="DejaVu Sans"/>
              </a:defRPr>
            </a:defPPr>
          </a:lstStyle>
          <a:p xmlns:a="http://schemas.openxmlformats.org/drawingml/2006/main">
            <a:pPr>
              <a:defRPr sz="3150" b="1">
                <a:solidFill>
                  <a:srgbClr val="182C43"/>
                </a:solidFill>
                <a:latin typeface="DejaVu Sans"/>
                <a:ea typeface="DejaVu Sans"/>
                <a:cs typeface="DejaVu Sans"/>
              </a:defRPr>
            </a:pPr>
            <a:r>
              <a:rPr sz="3150" b="1">
                <a:solidFill>
                  <a:srgbClr val="182C43"/>
                </a:solidFill>
                <a:latin typeface="DejaVu Sans"/>
                <a:ea typeface="DejaVu Sans"/>
                <a:cs typeface="DejaVu Sans"/>
              </a:rPr>
              <a:t>The complete Module 06 picture</a:t>
            </a:r>
          </a:p>
        </p:txBody>
      </p:sp>
      <p:sp>
        <p:nvSpPr>
          <p:cNvPr id="2" name="text-1">
            <a:extLst xmlns:a="http://schemas.openxmlformats.org/drawingml/2006/main">
              <a:ext uri="{FF2B5EF4-FFF2-40B4-BE49-F238E27FC236}">
                <a16:creationId xmlns:a16="http://schemas.microsoft.com/office/drawing/2014/main" id="{0E3B90D0-79C7-486B-BCE6-720C7AB2D621}"/>
              </a:ext>
            </a:extLst>
          </p:cNvPr>
          <p:cNvSpPr>
            <a:spLocks xmlns:a="http://schemas.openxmlformats.org/drawingml/2006/main" noGrp="1"/>
          </p:cNvSpPr>
          <p:nvPr/>
        </p:nvSpPr>
        <p:spPr>
          <a:xfrm xmlns:a="http://schemas.openxmlformats.org/drawingml/2006/main">
            <a:off x="600075" y="1390650"/>
            <a:ext cx="10953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596B79"/>
                </a:solidFill>
                <a:latin typeface="DejaVu Sans"/>
                <a:ea typeface="DejaVu Sans"/>
                <a:cs typeface="DejaVu Sans"/>
              </a:defRPr>
            </a:defPPr>
          </a:lstStyle>
          <a:p xmlns:a="http://schemas.openxmlformats.org/drawingml/2006/main">
            <a:pPr>
              <a:defRPr sz="1950" b="0">
                <a:solidFill>
                  <a:srgbClr val="596B79"/>
                </a:solidFill>
                <a:latin typeface="DejaVu Sans"/>
                <a:ea typeface="DejaVu Sans"/>
                <a:cs typeface="DejaVu Sans"/>
              </a:defRPr>
            </a:pPr>
            <a:r>
              <a:rPr sz="1950" b="0">
                <a:solidFill>
                  <a:srgbClr val="596B79"/>
                </a:solidFill>
                <a:latin typeface="DejaVu Sans"/>
                <a:ea typeface="DejaVu Sans"/>
                <a:cs typeface="DejaVu Sans"/>
              </a:rPr>
              <a:t>A small demonstration of a workflow that can grow</a:t>
            </a:r>
          </a:p>
        </p:txBody>
      </p:sp>
      <p:sp>
        <p:nvSpPr>
          <p:cNvPr id="3" name="text-2">
            <a:extLst xmlns:a="http://schemas.openxmlformats.org/drawingml/2006/main">
              <a:ext uri="{FF2B5EF4-FFF2-40B4-BE49-F238E27FC236}">
                <a16:creationId xmlns:a16="http://schemas.microsoft.com/office/drawing/2014/main" id="{691743F5-B6FB-4DE6-8A1B-B61DF3A4B479}"/>
              </a:ext>
            </a:extLst>
          </p:cNvPr>
          <p:cNvSpPr>
            <a:spLocks xmlns:a="http://schemas.openxmlformats.org/drawingml/2006/main" noGrp="1"/>
          </p:cNvSpPr>
          <p:nvPr/>
        </p:nvSpPr>
        <p:spPr>
          <a:xfrm xmlns:a="http://schemas.openxmlformats.org/drawingml/2006/main">
            <a:off x="666750" y="2543175"/>
            <a:ext cx="10668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82C43"/>
                </a:solidFill>
                <a:latin typeface="DejaVu Sans"/>
                <a:ea typeface="DejaVu Sans"/>
                <a:cs typeface="DejaVu Sans"/>
              </a:defRPr>
            </a:defPPr>
          </a:lstStyle>
          <a:p xmlns:a="http://schemas.openxmlformats.org/drawingml/2006/main">
            <a:pPr>
              <a:defRPr sz="3450" b="1">
                <a:solidFill>
                  <a:srgbClr val="182C43"/>
                </a:solidFill>
                <a:latin typeface="DejaVu Sans"/>
                <a:ea typeface="DejaVu Sans"/>
                <a:cs typeface="DejaVu Sans"/>
              </a:defRPr>
            </a:pPr>
            <a:r>
              <a:rPr sz="3450" b="1">
                <a:solidFill>
                  <a:srgbClr val="182C43"/>
                </a:solidFill>
                <a:latin typeface="DejaVu Sans"/>
                <a:ea typeface="DejaVu Sans"/>
                <a:cs typeface="DejaVu Sans"/>
              </a:rPr>
              <a:t>Save in manageable groups.</a:t>
            </a:r>
          </a:p>
          <a:p xmlns:a="http://schemas.openxmlformats.org/drawingml/2006/main">
            <a:pPr>
              <a:defRPr sz="3450" b="1">
                <a:solidFill>
                  <a:srgbClr val="182C43"/>
                </a:solidFill>
                <a:latin typeface="DejaVu Sans"/>
                <a:ea typeface="DejaVu Sans"/>
                <a:cs typeface="DejaVu Sans"/>
              </a:defRPr>
            </a:pPr>
            <a:r>
              <a:rPr sz="3450" b="1">
                <a:solidFill>
                  <a:srgbClr val="182C43"/>
                </a:solidFill>
                <a:latin typeface="DejaVu Sans"/>
                <a:ea typeface="DejaVu Sans"/>
                <a:cs typeface="DejaVu Sans"/>
              </a:rPr>
              <a:t>Search using the saved index.</a:t>
            </a:r>
          </a:p>
        </p:txBody>
      </p:sp>
      <p:sp>
        <p:nvSpPr>
          <p:cNvPr id="4" name="text-3">
            <a:extLst xmlns:a="http://schemas.openxmlformats.org/drawingml/2006/main">
              <a:ext uri="{FF2B5EF4-FFF2-40B4-BE49-F238E27FC236}">
                <a16:creationId xmlns:a16="http://schemas.microsoft.com/office/drawing/2014/main" id="{BE67E4A0-C52A-4271-B8BD-CC757F52CE42}"/>
              </a:ext>
            </a:extLst>
          </p:cNvPr>
          <p:cNvSpPr>
            <a:spLocks xmlns:a="http://schemas.openxmlformats.org/drawingml/2006/main" noGrp="1"/>
          </p:cNvSpPr>
          <p:nvPr/>
        </p:nvSpPr>
        <p:spPr>
          <a:xfrm xmlns:a="http://schemas.openxmlformats.org/drawingml/2006/main">
            <a:off x="666750" y="4762500"/>
            <a:ext cx="106203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596B79"/>
                </a:solidFill>
                <a:latin typeface="DejaVu Sans"/>
                <a:ea typeface="DejaVu Sans"/>
                <a:cs typeface="DejaVu Sans"/>
              </a:defRPr>
            </a:defPPr>
          </a:lstStyle>
          <a:p xmlns:a="http://schemas.openxmlformats.org/drawingml/2006/main">
            <a:pPr>
              <a:defRPr sz="2250" b="0">
                <a:solidFill>
                  <a:srgbClr val="596B79"/>
                </a:solidFill>
                <a:latin typeface="DejaVu Sans"/>
                <a:ea typeface="DejaVu Sans"/>
                <a:cs typeface="DejaVu Sans"/>
              </a:defRPr>
            </a:pPr>
            <a:r>
              <a:rPr sz="2250" b="0">
                <a:solidFill>
                  <a:srgbClr val="596B79"/>
                </a:solidFill>
                <a:latin typeface="DejaVu Sans"/>
                <a:ea typeface="DejaVu Sans"/>
                <a:cs typeface="DejaVu Sans"/>
              </a:rPr>
              <a:t>Today: Chroma + LangChain + twelve document files, with sources.</a:t>
            </a:r>
          </a:p>
        </p:txBody>
      </p:sp>
      <p:sp>
        <p:nvSpPr>
          <p:cNvPr id="5" name="text-4">
            <a:extLst xmlns:a="http://schemas.openxmlformats.org/drawingml/2006/main">
              <a:ext uri="{FF2B5EF4-FFF2-40B4-BE49-F238E27FC236}">
                <a16:creationId xmlns:a16="http://schemas.microsoft.com/office/drawing/2014/main" id="{BE5867A8-7650-47ED-9B3D-0DBA9FFD1216}"/>
              </a:ext>
            </a:extLst>
          </p:cNvPr>
          <p:cNvSpPr>
            <a:spLocks xmlns:a="http://schemas.openxmlformats.org/drawingml/2006/main" noGrp="1"/>
          </p:cNvSpPr>
          <p:nvPr/>
        </p:nvSpPr>
        <p:spPr>
          <a:xfrm xmlns:a="http://schemas.openxmlformats.org/drawingml/2006/main">
            <a:off x="619125" y="6457950"/>
            <a:ext cx="942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Prepared by Engr Usman Hasan</a:t>
            </a:r>
          </a:p>
        </p:txBody>
      </p:sp>
      <p:sp>
        <p:nvSpPr>
          <p:cNvPr id="6" name="text-5">
            <a:extLst xmlns:a="http://schemas.openxmlformats.org/drawingml/2006/main">
              <a:ext uri="{FF2B5EF4-FFF2-40B4-BE49-F238E27FC236}">
                <a16:creationId xmlns:a16="http://schemas.microsoft.com/office/drawing/2014/main" id="{47B5F309-8D65-44FE-ADB2-7E02586770D1}"/>
              </a:ext>
            </a:extLst>
          </p:cNvPr>
          <p:cNvSpPr>
            <a:spLocks xmlns:a="http://schemas.openxmlformats.org/drawingml/2006/main" noGrp="1"/>
          </p:cNvSpPr>
          <p:nvPr/>
        </p:nvSpPr>
        <p:spPr>
          <a:xfrm xmlns:a="http://schemas.openxmlformats.org/drawingml/2006/main">
            <a:off x="10810875" y="6457950"/>
            <a:ext cx="857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596B79"/>
                </a:solidFill>
                <a:latin typeface="DejaVu Sans"/>
                <a:ea typeface="DejaVu Sans"/>
                <a:cs typeface="DejaVu Sans"/>
              </a:defRPr>
            </a:defPPr>
          </a:lstStyle>
          <a:p xmlns:a="http://schemas.openxmlformats.org/drawingml/2006/main">
            <a:pPr>
              <a:defRPr sz="1125" b="0">
                <a:solidFill>
                  <a:srgbClr val="596B79"/>
                </a:solidFill>
                <a:latin typeface="DejaVu Sans"/>
                <a:ea typeface="DejaVu Sans"/>
                <a:cs typeface="DejaVu Sans"/>
              </a:defRPr>
            </a:pPr>
            <a:r>
              <a:rPr sz="1125" b="0">
                <a:solidFill>
                  <a:srgbClr val="596B79"/>
                </a:solidFill>
                <a:latin typeface="DejaVu Sans"/>
                <a:ea typeface="DejaVu Sans"/>
                <a:cs typeface="DejaVu Sans"/>
              </a:rPr>
              <a:t>56/56</a:t>
            </a:r>
          </a:p>
        </p:txBody>
      </p:sp>
    </p:spTree>
    <p:extLst>
      <p:ext uri="{BB962C8B-B14F-4D97-AF65-F5344CB8AC3E}">
        <p14:creationId xmlns:p14="http://schemas.microsoft.com/office/powerpoint/2010/main" val="17135637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2026-10-16T18:03:11.3930000Z</dcterms:created>
  <dcterms:modified xsi:type="dcterms:W3CDTF">2026-10-16T18:03:11.3930000Z</dcterms:modified>
</coreProperties>
</file>