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f710c1eebd43b5" /><Relationship Type="http://schemas.openxmlformats.org/officeDocument/2006/relationships/extended-properties" Target="/docProps/app.xml" Id="R9b65955499ca4593" /><Relationship Type="http://schemas.openxmlformats.org/officeDocument/2006/relationships/officeDocument" Target="/ppt/presentation.xml" Id="Rdb03bbf25cfc4dab" /></Relationships>
</file>

<file path=ppt/presentation.xml><?xml version="1.0" encoding="utf-8"?>
<p:presentation xmlns:p="http://schemas.openxmlformats.org/presentationml/2006/main">
  <p:sldMasterIdLst>
    <p:sldMasterId xmlns:r="http://schemas.openxmlformats.org/officeDocument/2006/relationships" id="2147483648" r:id="R897121736da6493e"/>
  </p:sldMasterIdLst>
  <p:notesMasterIdLst>
    <p:notesMasterId xmlns:r="http://schemas.openxmlformats.org/officeDocument/2006/relationships" r:id="R089fdc42dcd04f31"/>
  </p:notesMasterIdLst>
  <p:sldIdLst>
    <p:sldId xmlns:r="http://schemas.openxmlformats.org/officeDocument/2006/relationships" id="256" r:id="Rac2a4d4511cb47ec"/>
    <p:sldId xmlns:r="http://schemas.openxmlformats.org/officeDocument/2006/relationships" id="257" r:id="Rdf03286bc452450d"/>
    <p:sldId xmlns:r="http://schemas.openxmlformats.org/officeDocument/2006/relationships" id="258" r:id="R57e0ad89509c4ef4"/>
    <p:sldId xmlns:r="http://schemas.openxmlformats.org/officeDocument/2006/relationships" id="259" r:id="R86c8bcf4277c4c28"/>
    <p:sldId xmlns:r="http://schemas.openxmlformats.org/officeDocument/2006/relationships" id="260" r:id="R0090f4249fd143d8"/>
    <p:sldId xmlns:r="http://schemas.openxmlformats.org/officeDocument/2006/relationships" id="261" r:id="Rd60349266ada4aca"/>
    <p:sldId xmlns:r="http://schemas.openxmlformats.org/officeDocument/2006/relationships" id="262" r:id="R01b9f4962b0f4e29"/>
    <p:sldId xmlns:r="http://schemas.openxmlformats.org/officeDocument/2006/relationships" id="263" r:id="R04709a499b404976"/>
    <p:sldId xmlns:r="http://schemas.openxmlformats.org/officeDocument/2006/relationships" id="264" r:id="R5c293833da4e46f2"/>
    <p:sldId xmlns:r="http://schemas.openxmlformats.org/officeDocument/2006/relationships" id="265" r:id="Ra6e4cac3d3764e8b"/>
    <p:sldId xmlns:r="http://schemas.openxmlformats.org/officeDocument/2006/relationships" id="266" r:id="R59e8a1c02eef482b"/>
    <p:sldId xmlns:r="http://schemas.openxmlformats.org/officeDocument/2006/relationships" id="267" r:id="Ra01743cb3cb045e8"/>
    <p:sldId xmlns:r="http://schemas.openxmlformats.org/officeDocument/2006/relationships" id="268" r:id="R4f849806dddf4587"/>
    <p:sldId xmlns:r="http://schemas.openxmlformats.org/officeDocument/2006/relationships" id="269" r:id="R48db98e34d9d4bf6"/>
    <p:sldId xmlns:r="http://schemas.openxmlformats.org/officeDocument/2006/relationships" id="270" r:id="R5fc8f3f4be984473"/>
    <p:sldId xmlns:r="http://schemas.openxmlformats.org/officeDocument/2006/relationships" id="271" r:id="R1792c3102e0e45ba"/>
    <p:sldId xmlns:r="http://schemas.openxmlformats.org/officeDocument/2006/relationships" id="272" r:id="Rb0bc5ac68ef14847"/>
    <p:sldId xmlns:r="http://schemas.openxmlformats.org/officeDocument/2006/relationships" id="273" r:id="R24f577c131b64b81"/>
    <p:sldId xmlns:r="http://schemas.openxmlformats.org/officeDocument/2006/relationships" id="274" r:id="R4d7d0a5596034b52"/>
    <p:sldId xmlns:r="http://schemas.openxmlformats.org/officeDocument/2006/relationships" id="275" r:id="Rbecf65a4e96b4e32"/>
    <p:sldId xmlns:r="http://schemas.openxmlformats.org/officeDocument/2006/relationships" id="276" r:id="R87677cf9142945b1"/>
    <p:sldId xmlns:r="http://schemas.openxmlformats.org/officeDocument/2006/relationships" id="277" r:id="R5d18db23f4ad4e1c"/>
    <p:sldId xmlns:r="http://schemas.openxmlformats.org/officeDocument/2006/relationships" id="278" r:id="R736f3647e7f245db"/>
    <p:sldId xmlns:r="http://schemas.openxmlformats.org/officeDocument/2006/relationships" id="279" r:id="Rcc0b971f41b24cfe"/>
    <p:sldId xmlns:r="http://schemas.openxmlformats.org/officeDocument/2006/relationships" id="280" r:id="R8b242aada6cf43f3"/>
    <p:sldId xmlns:r="http://schemas.openxmlformats.org/officeDocument/2006/relationships" id="281" r:id="Rf7f597362c80452f"/>
    <p:sldId xmlns:r="http://schemas.openxmlformats.org/officeDocument/2006/relationships" id="282" r:id="R1f63a522c9384019"/>
    <p:sldId xmlns:r="http://schemas.openxmlformats.org/officeDocument/2006/relationships" id="283" r:id="R097f22c813ed4e5d"/>
    <p:sldId xmlns:r="http://schemas.openxmlformats.org/officeDocument/2006/relationships" id="284" r:id="Rf2ec8d13bc3e4c64"/>
    <p:sldId xmlns:r="http://schemas.openxmlformats.org/officeDocument/2006/relationships" id="285" r:id="Rd4fda183c8004af5"/>
    <p:sldId xmlns:r="http://schemas.openxmlformats.org/officeDocument/2006/relationships" id="286" r:id="Rc324434f77844c77"/>
    <p:sldId xmlns:r="http://schemas.openxmlformats.org/officeDocument/2006/relationships" id="287" r:id="Raebab92948044bb0"/>
    <p:sldId xmlns:r="http://schemas.openxmlformats.org/officeDocument/2006/relationships" id="288" r:id="Rc02863e654d54da0"/>
    <p:sldId xmlns:r="http://schemas.openxmlformats.org/officeDocument/2006/relationships" id="289" r:id="Ra97c11b87fb94141"/>
    <p:sldId xmlns:r="http://schemas.openxmlformats.org/officeDocument/2006/relationships" id="290" r:id="Rca6b38f015984a77"/>
    <p:sldId xmlns:r="http://schemas.openxmlformats.org/officeDocument/2006/relationships" id="291" r:id="Rac2bec1076824bfc"/>
    <p:sldId xmlns:r="http://schemas.openxmlformats.org/officeDocument/2006/relationships" id="292" r:id="Ra0ff8b2085fc435d"/>
    <p:sldId xmlns:r="http://schemas.openxmlformats.org/officeDocument/2006/relationships" id="293" r:id="R2017816bad794079"/>
    <p:sldId xmlns:r="http://schemas.openxmlformats.org/officeDocument/2006/relationships" id="294" r:id="Rb48ab5e4ba9e4a3f"/>
    <p:sldId xmlns:r="http://schemas.openxmlformats.org/officeDocument/2006/relationships" id="295" r:id="R18093e374df5493c"/>
    <p:sldId xmlns:r="http://schemas.openxmlformats.org/officeDocument/2006/relationships" id="296" r:id="R6f4f38dbc6874aa7"/>
    <p:sldId xmlns:r="http://schemas.openxmlformats.org/officeDocument/2006/relationships" id="297" r:id="Rd64c516c122546b0"/>
    <p:sldId xmlns:r="http://schemas.openxmlformats.org/officeDocument/2006/relationships" id="298" r:id="Re67e59d6eb74466d"/>
    <p:sldId xmlns:r="http://schemas.openxmlformats.org/officeDocument/2006/relationships" id="299" r:id="Racf6c36fe0e44d0b"/>
    <p:sldId xmlns:r="http://schemas.openxmlformats.org/officeDocument/2006/relationships" id="300" r:id="R57e1740e1d274bdf"/>
    <p:sldId xmlns:r="http://schemas.openxmlformats.org/officeDocument/2006/relationships" id="301" r:id="R4677f66f01434719"/>
    <p:sldId xmlns:r="http://schemas.openxmlformats.org/officeDocument/2006/relationships" id="302" r:id="Rb2814beefb2a45fb"/>
    <p:sldId xmlns:r="http://schemas.openxmlformats.org/officeDocument/2006/relationships" id="303" r:id="R3c8ec2cdc3c74ec1"/>
    <p:sldId xmlns:r="http://schemas.openxmlformats.org/officeDocument/2006/relationships" id="304" r:id="R4206745c3e464762"/>
    <p:sldId xmlns:r="http://schemas.openxmlformats.org/officeDocument/2006/relationships" id="305" r:id="R9b9937775d504ace"/>
    <p:sldId xmlns:r="http://schemas.openxmlformats.org/officeDocument/2006/relationships" id="306" r:id="Rb5aba8ea990d428e"/>
    <p:sldId xmlns:r="http://schemas.openxmlformats.org/officeDocument/2006/relationships" id="307" r:id="R1ecd682365bc4bd5"/>
    <p:sldId xmlns:r="http://schemas.openxmlformats.org/officeDocument/2006/relationships" id="308" r:id="Rc8f2d42effeb468a"/>
    <p:sldId xmlns:r="http://schemas.openxmlformats.org/officeDocument/2006/relationships" id="309" r:id="R72d77c907f824ce5"/>
    <p:sldId xmlns:r="http://schemas.openxmlformats.org/officeDocument/2006/relationships" id="310" r:id="Rebf0b2c0842c4a61"/>
    <p:sldId xmlns:r="http://schemas.openxmlformats.org/officeDocument/2006/relationships" id="311" r:id="R76214f7942254c3b"/>
    <p:sldId xmlns:r="http://schemas.openxmlformats.org/officeDocument/2006/relationships" id="312" r:id="Rb83cfe31637d4432"/>
    <p:sldId xmlns:r="http://schemas.openxmlformats.org/officeDocument/2006/relationships" id="313" r:id="R6e0fb521294b468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d4dce376c141e6" /><Relationship Type="http://schemas.openxmlformats.org/officeDocument/2006/relationships/slideMaster" Target="/ppt/slideMasters/slideMaster1.xml" Id="R897121736da6493e" /><Relationship Type="http://schemas.openxmlformats.org/officeDocument/2006/relationships/notesMaster" Target="/ppt/notesMasters/notesMaster1.xml" Id="R089fdc42dcd04f31" /><Relationship Type="http://schemas.openxmlformats.org/officeDocument/2006/relationships/presProps" Target="/ppt/presProps.xml" Id="R95177e11684b48e0" /><Relationship Type="http://schemas.openxmlformats.org/officeDocument/2006/relationships/tableStyles" Target="/ppt/tableStyles.xml" Id="R02d392c1458443b5" /><Relationship Type="http://schemas.openxmlformats.org/officeDocument/2006/relationships/slide" Target="/ppt/slides/slide1.xml" Id="Rac2a4d4511cb47ec" /><Relationship Type="http://schemas.openxmlformats.org/officeDocument/2006/relationships/slide" Target="/ppt/slides/slide2.xml" Id="Rdf03286bc452450d" /><Relationship Type="http://schemas.openxmlformats.org/officeDocument/2006/relationships/slide" Target="/ppt/slides/slide3.xml" Id="R57e0ad89509c4ef4" /><Relationship Type="http://schemas.openxmlformats.org/officeDocument/2006/relationships/slide" Target="/ppt/slides/slide4.xml" Id="R86c8bcf4277c4c28" /><Relationship Type="http://schemas.openxmlformats.org/officeDocument/2006/relationships/slide" Target="/ppt/slides/slide5.xml" Id="R0090f4249fd143d8" /><Relationship Type="http://schemas.openxmlformats.org/officeDocument/2006/relationships/slide" Target="/ppt/slides/slide6.xml" Id="Rd60349266ada4aca" /><Relationship Type="http://schemas.openxmlformats.org/officeDocument/2006/relationships/slide" Target="/ppt/slides/slide7.xml" Id="R01b9f4962b0f4e29" /><Relationship Type="http://schemas.openxmlformats.org/officeDocument/2006/relationships/slide" Target="/ppt/slides/slide8.xml" Id="R04709a499b404976" /><Relationship Type="http://schemas.openxmlformats.org/officeDocument/2006/relationships/slide" Target="/ppt/slides/slide9.xml" Id="R5c293833da4e46f2" /><Relationship Type="http://schemas.openxmlformats.org/officeDocument/2006/relationships/slide" Target="/ppt/slides/slide10.xml" Id="Ra6e4cac3d3764e8b" /><Relationship Type="http://schemas.openxmlformats.org/officeDocument/2006/relationships/slide" Target="/ppt/slides/slide11.xml" Id="R59e8a1c02eef482b" /><Relationship Type="http://schemas.openxmlformats.org/officeDocument/2006/relationships/slide" Target="/ppt/slides/slide12.xml" Id="Ra01743cb3cb045e8" /><Relationship Type="http://schemas.openxmlformats.org/officeDocument/2006/relationships/slide" Target="/ppt/slides/slide13.xml" Id="R4f849806dddf4587" /><Relationship Type="http://schemas.openxmlformats.org/officeDocument/2006/relationships/slide" Target="/ppt/slides/slide14.xml" Id="R48db98e34d9d4bf6" /><Relationship Type="http://schemas.openxmlformats.org/officeDocument/2006/relationships/slide" Target="/ppt/slides/slide15.xml" Id="R5fc8f3f4be984473" /><Relationship Type="http://schemas.openxmlformats.org/officeDocument/2006/relationships/slide" Target="/ppt/slides/slide16.xml" Id="R1792c3102e0e45ba" /><Relationship Type="http://schemas.openxmlformats.org/officeDocument/2006/relationships/slide" Target="/ppt/slides/slide17.xml" Id="Rb0bc5ac68ef14847" /><Relationship Type="http://schemas.openxmlformats.org/officeDocument/2006/relationships/slide" Target="/ppt/slides/slide18.xml" Id="R24f577c131b64b81" /><Relationship Type="http://schemas.openxmlformats.org/officeDocument/2006/relationships/slide" Target="/ppt/slides/slide19.xml" Id="R4d7d0a5596034b52" /><Relationship Type="http://schemas.openxmlformats.org/officeDocument/2006/relationships/slide" Target="/ppt/slides/slide20.xml" Id="Rbecf65a4e96b4e32" /><Relationship Type="http://schemas.openxmlformats.org/officeDocument/2006/relationships/slide" Target="/ppt/slides/slide21.xml" Id="R87677cf9142945b1" /><Relationship Type="http://schemas.openxmlformats.org/officeDocument/2006/relationships/slide" Target="/ppt/slides/slide22.xml" Id="R5d18db23f4ad4e1c" /><Relationship Type="http://schemas.openxmlformats.org/officeDocument/2006/relationships/slide" Target="/ppt/slides/slide23.xml" Id="R736f3647e7f245db" /><Relationship Type="http://schemas.openxmlformats.org/officeDocument/2006/relationships/slide" Target="/ppt/slides/slide24.xml" Id="Rcc0b971f41b24cfe" /><Relationship Type="http://schemas.openxmlformats.org/officeDocument/2006/relationships/slide" Target="/ppt/slides/slide25.xml" Id="R8b242aada6cf43f3" /><Relationship Type="http://schemas.openxmlformats.org/officeDocument/2006/relationships/slide" Target="/ppt/slides/slide26.xml" Id="Rf7f597362c80452f" /><Relationship Type="http://schemas.openxmlformats.org/officeDocument/2006/relationships/slide" Target="/ppt/slides/slide27.xml" Id="R1f63a522c9384019" /><Relationship Type="http://schemas.openxmlformats.org/officeDocument/2006/relationships/slide" Target="/ppt/slides/slide28.xml" Id="R097f22c813ed4e5d" /><Relationship Type="http://schemas.openxmlformats.org/officeDocument/2006/relationships/slide" Target="/ppt/slides/slide29.xml" Id="Rf2ec8d13bc3e4c64" /><Relationship Type="http://schemas.openxmlformats.org/officeDocument/2006/relationships/slide" Target="/ppt/slides/slide30.xml" Id="Rd4fda183c8004af5" /><Relationship Type="http://schemas.openxmlformats.org/officeDocument/2006/relationships/slide" Target="/ppt/slides/slide31.xml" Id="Rc324434f77844c77" /><Relationship Type="http://schemas.openxmlformats.org/officeDocument/2006/relationships/slide" Target="/ppt/slides/slide32.xml" Id="Raebab92948044bb0" /><Relationship Type="http://schemas.openxmlformats.org/officeDocument/2006/relationships/slide" Target="/ppt/slides/slide33.xml" Id="Rc02863e654d54da0" /><Relationship Type="http://schemas.openxmlformats.org/officeDocument/2006/relationships/slide" Target="/ppt/slides/slide34.xml" Id="Ra97c11b87fb94141" /><Relationship Type="http://schemas.openxmlformats.org/officeDocument/2006/relationships/slide" Target="/ppt/slides/slide35.xml" Id="Rca6b38f015984a77" /><Relationship Type="http://schemas.openxmlformats.org/officeDocument/2006/relationships/slide" Target="/ppt/slides/slide36.xml" Id="Rac2bec1076824bfc" /><Relationship Type="http://schemas.openxmlformats.org/officeDocument/2006/relationships/slide" Target="/ppt/slides/slide37.xml" Id="Ra0ff8b2085fc435d" /><Relationship Type="http://schemas.openxmlformats.org/officeDocument/2006/relationships/slide" Target="/ppt/slides/slide38.xml" Id="R2017816bad794079" /><Relationship Type="http://schemas.openxmlformats.org/officeDocument/2006/relationships/slide" Target="/ppt/slides/slide39.xml" Id="Rb48ab5e4ba9e4a3f" /><Relationship Type="http://schemas.openxmlformats.org/officeDocument/2006/relationships/slide" Target="/ppt/slides/slide40.xml" Id="R18093e374df5493c" /><Relationship Type="http://schemas.openxmlformats.org/officeDocument/2006/relationships/slide" Target="/ppt/slides/slide41.xml" Id="R6f4f38dbc6874aa7" /><Relationship Type="http://schemas.openxmlformats.org/officeDocument/2006/relationships/slide" Target="/ppt/slides/slide42.xml" Id="Rd64c516c122546b0" /><Relationship Type="http://schemas.openxmlformats.org/officeDocument/2006/relationships/slide" Target="/ppt/slides/slide43.xml" Id="Re67e59d6eb74466d" /><Relationship Type="http://schemas.openxmlformats.org/officeDocument/2006/relationships/slide" Target="/ppt/slides/slide44.xml" Id="Racf6c36fe0e44d0b" /><Relationship Type="http://schemas.openxmlformats.org/officeDocument/2006/relationships/slide" Target="/ppt/slides/slide45.xml" Id="R57e1740e1d274bdf" /><Relationship Type="http://schemas.openxmlformats.org/officeDocument/2006/relationships/slide" Target="/ppt/slides/slide46.xml" Id="R4677f66f01434719" /><Relationship Type="http://schemas.openxmlformats.org/officeDocument/2006/relationships/slide" Target="/ppt/slides/slide47.xml" Id="Rb2814beefb2a45fb" /><Relationship Type="http://schemas.openxmlformats.org/officeDocument/2006/relationships/slide" Target="/ppt/slides/slide48.xml" Id="R3c8ec2cdc3c74ec1" /><Relationship Type="http://schemas.openxmlformats.org/officeDocument/2006/relationships/slide" Target="/ppt/slides/slide49.xml" Id="R4206745c3e464762" /><Relationship Type="http://schemas.openxmlformats.org/officeDocument/2006/relationships/slide" Target="/ppt/slides/slide50.xml" Id="R9b9937775d504ace" /><Relationship Type="http://schemas.openxmlformats.org/officeDocument/2006/relationships/slide" Target="/ppt/slides/slide51.xml" Id="Rb5aba8ea990d428e" /><Relationship Type="http://schemas.openxmlformats.org/officeDocument/2006/relationships/slide" Target="/ppt/slides/slide52.xml" Id="R1ecd682365bc4bd5" /><Relationship Type="http://schemas.openxmlformats.org/officeDocument/2006/relationships/slide" Target="/ppt/slides/slide53.xml" Id="Rc8f2d42effeb468a" /><Relationship Type="http://schemas.openxmlformats.org/officeDocument/2006/relationships/slide" Target="/ppt/slides/slide54.xml" Id="R72d77c907f824ce5" /><Relationship Type="http://schemas.openxmlformats.org/officeDocument/2006/relationships/slide" Target="/ppt/slides/slide55.xml" Id="Rebf0b2c0842c4a61" /><Relationship Type="http://schemas.openxmlformats.org/officeDocument/2006/relationships/slide" Target="/ppt/slides/slide56.xml" Id="R76214f7942254c3b" /><Relationship Type="http://schemas.openxmlformats.org/officeDocument/2006/relationships/slide" Target="/ppt/slides/slide57.xml" Id="Rb83cfe31637d4432" /><Relationship Type="http://schemas.openxmlformats.org/officeDocument/2006/relationships/slide" Target="/ppt/slides/slide58.xml" Id="R6e0fb521294b46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d1cb4b7da246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777fa4300c4374" /><Relationship Type="http://schemas.openxmlformats.org/officeDocument/2006/relationships/notesMaster" Target="/ppt/notesMasters/notesMaster1.xml" Id="Recff516bca5843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5b268ac69b40cb" /><Relationship Type="http://schemas.openxmlformats.org/officeDocument/2006/relationships/notesMaster" Target="/ppt/notesMasters/notesMaster1.xml" Id="Re0f22f0caae14c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fd22126a5443cf" /><Relationship Type="http://schemas.openxmlformats.org/officeDocument/2006/relationships/notesMaster" Target="/ppt/notesMasters/notesMaster1.xml" Id="Rf0365110b5094f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0c84f09eb74f8d" /><Relationship Type="http://schemas.openxmlformats.org/officeDocument/2006/relationships/notesMaster" Target="/ppt/notesMasters/notesMaster1.xml" Id="Rf46bd95bcb294b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02fcbba47745ba" /><Relationship Type="http://schemas.openxmlformats.org/officeDocument/2006/relationships/notesMaster" Target="/ppt/notesMasters/notesMaster1.xml" Id="R48cc1a3058544e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07ff93f7db4479" /><Relationship Type="http://schemas.openxmlformats.org/officeDocument/2006/relationships/notesMaster" Target="/ppt/notesMasters/notesMaster1.xml" Id="R689d42eb9fa044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63fcf359c24b73" /><Relationship Type="http://schemas.openxmlformats.org/officeDocument/2006/relationships/notesMaster" Target="/ppt/notesMasters/notesMaster1.xml" Id="Rc47df4369a7942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49e425e6a644a2" /><Relationship Type="http://schemas.openxmlformats.org/officeDocument/2006/relationships/notesMaster" Target="/ppt/notesMasters/notesMaster1.xml" Id="Rc641ad1902ad4d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1e4fba7d794145" /><Relationship Type="http://schemas.openxmlformats.org/officeDocument/2006/relationships/notesMaster" Target="/ppt/notesMasters/notesMaster1.xml" Id="R6ed3f670371144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ff073034e24afd" /><Relationship Type="http://schemas.openxmlformats.org/officeDocument/2006/relationships/notesMaster" Target="/ppt/notesMasters/notesMaster1.xml" Id="Rfd32489c7ac146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4b74bdcd5e43e4" /><Relationship Type="http://schemas.openxmlformats.org/officeDocument/2006/relationships/notesMaster" Target="/ppt/notesMasters/notesMaster1.xml" Id="R1e2d06311c4d4f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ff0cb644fa4e4b" /><Relationship Type="http://schemas.openxmlformats.org/officeDocument/2006/relationships/notesMaster" Target="/ppt/notesMasters/notesMaster1.xml" Id="R0501f18f121f48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9114c0935541f5" /><Relationship Type="http://schemas.openxmlformats.org/officeDocument/2006/relationships/notesMaster" Target="/ppt/notesMasters/notesMaster1.xml" Id="R1c50c281dd384e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866144e5914fc1" /><Relationship Type="http://schemas.openxmlformats.org/officeDocument/2006/relationships/notesMaster" Target="/ppt/notesMasters/notesMaster1.xml" Id="R41287e16d7784e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ab543579cf4668" /><Relationship Type="http://schemas.openxmlformats.org/officeDocument/2006/relationships/notesMaster" Target="/ppt/notesMasters/notesMaster1.xml" Id="Rc7b896ff9fc74e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8abad7336c496d" /><Relationship Type="http://schemas.openxmlformats.org/officeDocument/2006/relationships/notesMaster" Target="/ppt/notesMasters/notesMaster1.xml" Id="Ref7d876535b14ff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0be336f6a24368" /><Relationship Type="http://schemas.openxmlformats.org/officeDocument/2006/relationships/notesMaster" Target="/ppt/notesMasters/notesMaster1.xml" Id="R0278c4586d0348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7d95d2218c427c" /><Relationship Type="http://schemas.openxmlformats.org/officeDocument/2006/relationships/notesMaster" Target="/ppt/notesMasters/notesMaster1.xml" Id="Rf2612a93431b4d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005961e0f04047" /><Relationship Type="http://schemas.openxmlformats.org/officeDocument/2006/relationships/notesMaster" Target="/ppt/notesMasters/notesMaster1.xml" Id="R622c886b3b564fe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f64f8522d94bf5" /><Relationship Type="http://schemas.openxmlformats.org/officeDocument/2006/relationships/notesMaster" Target="/ppt/notesMasters/notesMaster1.xml" Id="R615017d2f9f14e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e845c8dae9408c" /><Relationship Type="http://schemas.openxmlformats.org/officeDocument/2006/relationships/notesMaster" Target="/ppt/notesMasters/notesMaster1.xml" Id="Rd500f6c525ef49f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952e09dbec48da" /><Relationship Type="http://schemas.openxmlformats.org/officeDocument/2006/relationships/notesMaster" Target="/ppt/notesMasters/notesMaster1.xml" Id="R531b78ba2f7d46e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c044ceefb494525" /><Relationship Type="http://schemas.openxmlformats.org/officeDocument/2006/relationships/notesMaster" Target="/ppt/notesMasters/notesMaster1.xml" Id="R4c735dd7161a40b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81375c61b2b457f" /><Relationship Type="http://schemas.openxmlformats.org/officeDocument/2006/relationships/notesMaster" Target="/ppt/notesMasters/notesMaster1.xml" Id="Rd5a5d65ca50d47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59b719735d0413a" /><Relationship Type="http://schemas.openxmlformats.org/officeDocument/2006/relationships/notesMaster" Target="/ppt/notesMasters/notesMaster1.xml" Id="Rc02af7116f974b4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57f411844e74123" /><Relationship Type="http://schemas.openxmlformats.org/officeDocument/2006/relationships/notesMaster" Target="/ppt/notesMasters/notesMaster1.xml" Id="Reecdf70f014e447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09278d5700b4597" /><Relationship Type="http://schemas.openxmlformats.org/officeDocument/2006/relationships/notesMaster" Target="/ppt/notesMasters/notesMaster1.xml" Id="Rd5cb67d4027447e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624b70089fa44f2" /><Relationship Type="http://schemas.openxmlformats.org/officeDocument/2006/relationships/notesMaster" Target="/ppt/notesMasters/notesMaster1.xml" Id="Ra04a5bee49844a9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30cf6d1718d4758" /><Relationship Type="http://schemas.openxmlformats.org/officeDocument/2006/relationships/notesMaster" Target="/ppt/notesMasters/notesMaster1.xml" Id="R8ab049c6a22145a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b184dce4d2a4504" /><Relationship Type="http://schemas.openxmlformats.org/officeDocument/2006/relationships/notesMaster" Target="/ppt/notesMasters/notesMaster1.xml" Id="R9942675a77e6410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1d23ab7335c41ca" /><Relationship Type="http://schemas.openxmlformats.org/officeDocument/2006/relationships/notesMaster" Target="/ppt/notesMasters/notesMaster1.xml" Id="Rf2928e97ecdb4e8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7dcb95200c54c00" /><Relationship Type="http://schemas.openxmlformats.org/officeDocument/2006/relationships/notesMaster" Target="/ppt/notesMasters/notesMaster1.xml" Id="Rbcbb2f53771a464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2b2703bf0e94376" /><Relationship Type="http://schemas.openxmlformats.org/officeDocument/2006/relationships/notesMaster" Target="/ppt/notesMasters/notesMaster1.xml" Id="R6c1f5159025b44e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f10599278d342c8" /><Relationship Type="http://schemas.openxmlformats.org/officeDocument/2006/relationships/notesMaster" Target="/ppt/notesMasters/notesMaster1.xml" Id="R98e78ff8f6d94f7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68f1010508142c5" /><Relationship Type="http://schemas.openxmlformats.org/officeDocument/2006/relationships/notesMaster" Target="/ppt/notesMasters/notesMaster1.xml" Id="R82ee41c06ba14ed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c96498eb01649d7" /><Relationship Type="http://schemas.openxmlformats.org/officeDocument/2006/relationships/notesMaster" Target="/ppt/notesMasters/notesMaster1.xml" Id="R9efd90c1ab0d44c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6b7593b77254526" /><Relationship Type="http://schemas.openxmlformats.org/officeDocument/2006/relationships/notesMaster" Target="/ppt/notesMasters/notesMaster1.xml" Id="R839040804174410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5c0727d5feb49e4" /><Relationship Type="http://schemas.openxmlformats.org/officeDocument/2006/relationships/notesMaster" Target="/ppt/notesMasters/notesMaster1.xml" Id="Rc4cbb7e48380418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278f08ac2164f98" /><Relationship Type="http://schemas.openxmlformats.org/officeDocument/2006/relationships/notesMaster" Target="/ppt/notesMasters/notesMaster1.xml" Id="Rfab31de3f1be48f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95d50c290a74bae" /><Relationship Type="http://schemas.openxmlformats.org/officeDocument/2006/relationships/notesMaster" Target="/ppt/notesMasters/notesMaster1.xml" Id="Rc103cc47c0934ec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7120d5641b24734" /><Relationship Type="http://schemas.openxmlformats.org/officeDocument/2006/relationships/notesMaster" Target="/ppt/notesMasters/notesMaster1.xml" Id="R35ae383f6948477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08248743c704dd9" /><Relationship Type="http://schemas.openxmlformats.org/officeDocument/2006/relationships/notesMaster" Target="/ppt/notesMasters/notesMaster1.xml" Id="R9ebfe1028ba3471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113715d2aec46ed" /><Relationship Type="http://schemas.openxmlformats.org/officeDocument/2006/relationships/notesMaster" Target="/ppt/notesMasters/notesMaster1.xml" Id="Rfd164359c05b4eb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0781a29e3ff4cac" /><Relationship Type="http://schemas.openxmlformats.org/officeDocument/2006/relationships/notesMaster" Target="/ppt/notesMasters/notesMaster1.xml" Id="R8f327eaeb06240a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283e4ff236146e6" /><Relationship Type="http://schemas.openxmlformats.org/officeDocument/2006/relationships/notesMaster" Target="/ppt/notesMasters/notesMaster1.xml" Id="R9e6f2e55945543b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791719000b44ddf" /><Relationship Type="http://schemas.openxmlformats.org/officeDocument/2006/relationships/notesMaster" Target="/ppt/notesMasters/notesMaster1.xml" Id="R15a4adb4d4a3402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aa63c6476374528" /><Relationship Type="http://schemas.openxmlformats.org/officeDocument/2006/relationships/notesMaster" Target="/ppt/notesMasters/notesMaster1.xml" Id="R0cabb72758df476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640ba7fa76a487b" /><Relationship Type="http://schemas.openxmlformats.org/officeDocument/2006/relationships/notesMaster" Target="/ppt/notesMasters/notesMaster1.xml" Id="R7e55394b929a478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f9c6a892b164dfd" /><Relationship Type="http://schemas.openxmlformats.org/officeDocument/2006/relationships/notesMaster" Target="/ppt/notesMasters/notesMaster1.xml" Id="Rc137e04e3b0442a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9edcf9d62b5410e" /><Relationship Type="http://schemas.openxmlformats.org/officeDocument/2006/relationships/notesMaster" Target="/ppt/notesMasters/notesMaster1.xml" Id="R572f96a379c2465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b254960adae4863" /><Relationship Type="http://schemas.openxmlformats.org/officeDocument/2006/relationships/notesMaster" Target="/ppt/notesMasters/notesMaster1.xml" Id="R5c60c81d5ce94cb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e0b4ab36fe84932" /><Relationship Type="http://schemas.openxmlformats.org/officeDocument/2006/relationships/notesMaster" Target="/ppt/notesMasters/notesMaster1.xml" Id="Rd33361963fc5498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06a1e03897547de" /><Relationship Type="http://schemas.openxmlformats.org/officeDocument/2006/relationships/notesMaster" Target="/ppt/notesMasters/notesMaster1.xml" Id="R96d60624b5f6417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245759791484350" /><Relationship Type="http://schemas.openxmlformats.org/officeDocument/2006/relationships/notesMaster" Target="/ppt/notesMasters/notesMaster1.xml" Id="R9da5db00b167420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6dfa75d1ad84f1c" /><Relationship Type="http://schemas.openxmlformats.org/officeDocument/2006/relationships/notesMaster" Target="/ppt/notesMasters/notesMaster1.xml" Id="R3697e2720be6440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135ec42fa4e47ef" /><Relationship Type="http://schemas.openxmlformats.org/officeDocument/2006/relationships/notesMaster" Target="/ppt/notesMasters/notesMaster1.xml" Id="R6e03e274d8b8467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ee07535f6714bb8" /><Relationship Type="http://schemas.openxmlformats.org/officeDocument/2006/relationships/notesMaster" Target="/ppt/notesMasters/notesMaster1.xml" Id="Rdf9d3b8a9b364da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49237fda91645e3" /><Relationship Type="http://schemas.openxmlformats.org/officeDocument/2006/relationships/notesMaster" Target="/ppt/notesMasters/notesMaster1.xml" Id="R439f8a3150be46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four maths tools and a user-selected calculation. Then reuse the same request, execution and matching-result pattern for parcel tracking. Keep the Groq model and LangChain style from Module 3. Suggested maths warm-up: 35–45 minutes, with additional time for practice. All parcel and book records are fictional classroom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we will keep one example throughout. Students should leave able to adapt a tool for their own small project. Suggested pace: 15 minutes concepts, 20 minutes tool design, 25 minutes response handling, 15 minutes complete app and testing, 20 minutes assignment. Adjust to class progress.</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static prompts, templates, LCEL, and the Python heading function from the last notebook. The current lesson is about requesting application functions for needed information. A model cannot retrieve an unseen private tracking record just because we prompt it well. Cite LangChain tool definitions.</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importance concrete: tools connect natural language to data retrieval, calculations and controlled actions. They do not eliminate all errors. Our example uses saved classroom data; a real deployment could connect the same function to an authenticated courier API. Do not imply this lab is live tracking.</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 use is the broader idea. LLM APIs can return function calls. A custom local function executes in our application. Some provider-built-in tools execute on provider infrastructure; that is outside our local-tool lab. We stay entirely under LangChain.</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does the model itself execute this Python code on our laptop? No. It returns a request. The application handles it. Roman Urdu: Model request karta hai, hamara Python function chalata hai.</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this before imports. Ask students what happens after Step 2. Point out that a request alone is not the result. This simple local-tool path normally has two model calls and local execution between them. Multi-step agent loops are a later topic.</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Python only. Ask students to predict 5+3. Run M1. The ordinary add function will remain separate from the decorated add_numbers tool. No model or API key is involved.</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 packages at M2 first. Explain the @ symbol as applying a helper, rather than teaching custom decorators. Ellipses are a structure sketch; the next slide has runnable code. We use langchain_core to stay consistent with Module 3.</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line before running M3. The a and b keys passed to invoke must match these parameter names. Type hints let LangChain describe required numeric inputs; no Pydantic class is introduced.</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distinction between add(5,3) for the ordinary function and add_numbers.invoke with a dictionary after decorating the tool. Let students change inputs locally before using the model.</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M4. Predict the result before execution. Swap the values and show -11. The purpose must make argument order clear so the LLM can infer a and b correctly.</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M5. Ask what changed from addition: name, docstring and operator. Students now repeat a pattern rather than learn another library feature.</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if guard before running M6. Division returns text consistently for both a valid quotient and an invalid operation. The notebook contains a longer friendly zero-division message. Other tools return numbers; results will be converted to text before ToolMessage.</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M7 to inspect name, description and input schema. The model receives the definitions. It does not execute the body. All tools require two numeric inputs named a and b.</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private key cell before model setup. In Colab use Secrets; in VS Code use .env or hidden input. Never print the key. M8 includes the prompt and ToolMessage imports plus timeout and retry settings. This slide shows the core model settings.</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calculations run during binding. Automatic choice is deliberate: the model chooses among four tools. We do not force one tool or choose based on keywords in the user question.</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M9 and show the complete from_messages prompt. The sketch is not runnable. Keep dependent multi-step arithmetic outside this one-batch warm-up. General explanations can be answered without a tool.</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M10 interactively. The notebook uses a default if the user leaves input blank. Ask the class to predict the tool name and arguments before sending the model request.</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actual tool_calls from M10. IDs and wording vary. Empty content can accompany tool calls. Preserve the full AI message, without applying StrOutputParser before inspecting requests. For incomplete input, a clarification may be appropriate.</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execute_math_call in M11. This slide and the next are excerpts from its branches, not standalone functions. The app dispatches the requested allowed name; it does not parse the user sentence using keyword rules.</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try/except surrounding these branches in M11. Execute the saved synthetic multiplication example locally. It has a made-up ID and must not be inserted into the real model conversation. Never use eval or exec to run model-generated code.</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M12. Explain append as adding one item and for as visiting each request. The full cell rebuilds the conversation before appending, validates invalid_tool_calls and prints a trace. Every call must get a matching ToolMessage.</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M13. Wording may vary. Original llm has no tools bound, so the second call explains the returned result and completes this batch. If no tool was requested, display the original answer instead.</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M14. These core-flow excerpts omit guards that the full notebook includes. Students have already seen every operation. Explain that the outer function accepts a question and returns the final answer.</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helper implements only the registered names, including a division guard. The complete M14 code logs name, inputs and result and handles empty answers. It supports one request batch, not dependent multi-round calculations.</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M15 once for each question. It includes an example fallback for blank input and a friendly model-failure message. The model chooses the operation; the user does not select a tool from a manual menu.</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four standard operations first, then these unusual inputs. Expectations are checks, not guarantees of model behavior. Ask the class who chose the function and who calculated the result. The next slide transfers this pattern to parcel data.</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continue Part B, parcel Lab 1. The existing parcel lesson remains intact. Contrast the work done by Python: arithmetic in Part A, dictionary lookup in Part B. No new tool-calling architecture is required.</a:t>
            </a:r>
          </a:p>
          <a:p xmlns:a="http://schemas.openxmlformats.org/drawingml/2006/main">
            <a:r>
              <a:t/>
            </a:r>
          </a:p>
          <a:p xmlns:a="http://schemas.openxmlformats.org/drawingml/2006/main">
            <a:r>
              <a:t>References: https://docs.langchain.com/oss/python/langchain/tools ; https://docs.langchain.com/oss/python/langchain/models . Use matching M steps in the updated notebooks for full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deliberate first version has fixed output. Explain one function, its input, return and indentation. Ask students to predict what it returns for PK102. Do not teach a long Python refresher. Run Lab 1 live.</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the first function returned the same output for every input. This creates the motivation for an actual data lookup. Ask: what must change inside the function? Answer: use tracking_id to read a record.</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records are fictional. Read PARCELS["PK101"], then PARCELS["PK102"]. Explain .get(key, fallback) before the next function. Ask what happens for PK999. We return an honest not-found message instead of inventing data.</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notebook uses a slightly longer not-found sentence identifying classroom data. Run PK101, lower-case pk102 with spaces, and PK999. Explain the chained ready-made commands slowly. The ordinary function is named lookup_parcel so it remains callable after the later tool wrapper is created.</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langchain_core.tools to stay with the packages students already used in Module 3. The notebook installs langchain-core and langchain-groq before this cell. Importing a helper does not execute a tool or contact an LLM.</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type hint and docstring separately before adding @tool. The model uses the description to decide when to request the tool. In our complete code, the description also says use it for tracking questions. -&gt; str describes the returned text. No schema class is written.</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on this slide is a labelled sketch, not runnable code. Explain equivalent wrapping: define a function, then write get_parcel_status = tool(get_parcel_status). Do not execute this extra line after decoration. The decorator prepares a tool; it does not run the function. Roman Urdu: @tool function ko LangChain tool banata hai.</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structural pattern. The notebook docstring adds a when-to-use sentence. Students should be able to write their own one-input tool now. Ask them to identify the function name, input, return type and purpose.</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lookup_parcel("PK101") with get_parcel_status.invoke({"tracking_id":"PK101"}). A dictionary passes named inputs into the tool. Testing locally first separates function bugs from model behavior. Change PK101 to PK103 and predict the answer.</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schema describes these inputs. In the notebook print .name, .description and .args. The model receives the tool definition, not the full PARCELS dictionary or the Python function body. Use clear snake_case names. Avoid vague tool names such as do_work.</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two are familiar from Module 3. ToolMessage is new and will be demonstrated later. Model ID remains openai/gpt-oss-20b hosted on Groq. Keep the key in Colab Secrets or a private .env. Library objects are ready-made features; students need not define classes.</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list containing one tool. Default choice is automatic. Contrast with Module 3 RunnableLambda: our heading function ran at a fixed chain position, while here the model chooses whether to request a tool. Binding does not execute code.</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structure sketch. The complete runnable ChatPromptTemplate.from_messages definition is in Lab 11. Reuse the human question placeholder. Do not add StrOutputParser yet because it would remove the structured call fields. Read the system rules aloud.</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before running. Exact call IDs and wording vary. If no call appears, inspect .content and tool description. A forced known-ID demonstration is optional, but the final app uses automatic choice. Temperature 0 does not guarantee identical responses.</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already know .content from Module 3. Introduce .tool_calls explicitly. In our tool flow, inspect the full AIMessage before parsing to a string. A response can include both text and calls. Preserve the whole original message.</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synthetic example data. Real calls can contain a type field and other metadata. LangChain .tool_calls normalizes args into a Python dictionary. No extra json.loads is needed. Ask which field we send to the function and which field we need for the returned message.</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execute the saved example to teach the operation independently of API variability. Do not mix its call ID into the actual live history. The real response handler performs the same operation for the genuine call.</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ToolMessage is a supplied message helper. For our string-returning tool, content can use result directly. If a different tool returned a dictionary, serialize it appropriately. Do not teach JSON conversion here because this tool returns text.</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short handler sketch. The complete lab checks the allowed name and handles malformed inputs. One response may request multiple independent calls, such as PK101 and PK102. Every call gets a ToolMessage using its own ID. Never skip the original request.</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simple lesson uses the original unbound model for the explanation and finishes one request batch. The answer must not invent an ETA. If there was no tool request, the lab displays the original text rather than invoking again unnecessarily.</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Revisit the concept cycle with actual values. Ask students which two steps use model API calls. Ask what happens if a tool result says not found. Explain that using a tool reduces guessing about supplied records but does not guarantee perfect model behavior.</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full helper after completing the manual path. The main notebook helper is an ordinary function with five numbered sections. Students should point to the matching earlier lab for each section. This slide is an overview sketch, not executable code. This slide and the next show the core flow. The runnable notebook additionally validates the allowed tool name and handles malformed inputs. Explain if as a decision and for as visiting every item.</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supports multiple requested calls but does not run a repeated autonomous loop. It handles unknown tool names, malformed tool input, and invalid call formatting. No chat memory is implemented. Trace is an educational display of actual tool inputs and results.</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cell catches model request errors separately. Use a fixed question first, then uncomment input() to accept user questions. Model wording can differ. Invite a student to choose a valid parcel and predict its data-backed answer.</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one at a time to control quota. These are expected behaviors for evaluation, not guarantees. Compare the function output to the final text. Ask students to catch invented facts such as an unsupported delivery time.</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from langchain_core.tools import tool; no, it wraps; no, it attaches definitions; our Python application; tool_call_id matching the original call id. Have students answer before returning to code. This is a discussion checkpoint, not a multiple-choice quiz.</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reuses our complete pattern with a different data source. No external API, purchasing, borrowing action or second tool is required. Suggested time: 20 minutes, pairs allowed. Ask students to work from the scaffold before opening the collapsed solution.</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starter sketch. The notebook includes a runnable BOOKS dictionary and TODO checklist. Submit a printed tool trace and three test outcomes. Review criteria: clear name/description/types; correct lookup; correct request/result ID; honest missing or unknown information. The collapsed reference solution is complete and uses the same one-batch handler.</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inviting each student to name one future tool they could build. Examples: fee lookup, stock check or temperature conversion. Use the troubleshooting section for installation, keys, rate limits, empty content, and mismatched IDs. Making tools is a transferable pattern; mastery comes from adapting and testing. Prepared by Engr Usman Hasan.</a:t>
            </a:r>
          </a:p>
          <a:p xmlns:a="http://schemas.openxmlformats.org/drawingml/2006/main">
            <a:r>
              <a:t/>
            </a:r>
          </a:p>
          <a:p xmlns:a="http://schemas.openxmlformats.org/drawingml/2006/main">
            <a:r>
              <a:t>Source / instructor reference: https://docs.langchain.com/oss/python/langchain/tools ; https://docs.langchain.com/oss/python/langchain/models ; https://console.groq.com/docs/model/openai/gpt-oss-20b . All parcel and book records are fictional classroom examples. Use the matching notebook Lab step for runnable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02ca89da074a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e75d514d0d4aa9" /><Relationship Type="http://schemas.openxmlformats.org/officeDocument/2006/relationships/slideLayout" Target="/ppt/slideLayouts/slideLayout1.xml" Id="R754ff21988d24d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4ff21988d24d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ad7f96e92e42d9" /><Relationship Type="http://schemas.openxmlformats.org/officeDocument/2006/relationships/image" Target="/ppt/media/image.png" Id="Rdd257031ebce405e" /><Relationship Type="http://schemas.openxmlformats.org/officeDocument/2006/relationships/notesSlide" Target="/ppt/notesSlides/notesSlide1.xml" Id="R7a82b8c40a3946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a400002abc4bae" /><Relationship Type="http://schemas.openxmlformats.org/officeDocument/2006/relationships/notesSlide" Target="/ppt/notesSlides/notesSlide2.xml" Id="Rb1191ddf6a0f43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3e1e2cb911451a" /><Relationship Type="http://schemas.openxmlformats.org/officeDocument/2006/relationships/notesSlide" Target="/ppt/notesSlides/notesSlide3.xml" Id="Ra7efd4a50be74f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e96c59aee74dbe" /><Relationship Type="http://schemas.openxmlformats.org/officeDocument/2006/relationships/notesSlide" Target="/ppt/notesSlides/notesSlide4.xml" Id="R4bc19c226fba41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82f64fc5754958" /><Relationship Type="http://schemas.openxmlformats.org/officeDocument/2006/relationships/notesSlide" Target="/ppt/notesSlides/notesSlide5.xml" Id="R286c9beda94940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76257431684101" /><Relationship Type="http://schemas.openxmlformats.org/officeDocument/2006/relationships/notesSlide" Target="/ppt/notesSlides/notesSlide6.xml" Id="R87365b7d5c0549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ebbe3b3d5bd46e8" /><Relationship Type="http://schemas.openxmlformats.org/officeDocument/2006/relationships/notesSlide" Target="/ppt/notesSlides/notesSlide7.xml" Id="Rddac27cd051341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ce18fecd0a472d" /><Relationship Type="http://schemas.openxmlformats.org/officeDocument/2006/relationships/notesSlide" Target="/ppt/notesSlides/notesSlide8.xml" Id="R12129528267d40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0dae2b808e447ef" /><Relationship Type="http://schemas.openxmlformats.org/officeDocument/2006/relationships/notesSlide" Target="/ppt/notesSlides/notesSlide9.xml" Id="R3726f344d9e041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c3a21a24024aa0" /><Relationship Type="http://schemas.openxmlformats.org/officeDocument/2006/relationships/notesSlide" Target="/ppt/notesSlides/notesSlide10.xml" Id="R42c1694826a245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c27320f22b4596" /><Relationship Type="http://schemas.openxmlformats.org/officeDocument/2006/relationships/notesSlide" Target="/ppt/notesSlides/notesSlide11.xml" Id="Rd6221616b4e54f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6ffc37c6df485a" /><Relationship Type="http://schemas.openxmlformats.org/officeDocument/2006/relationships/notesSlide" Target="/ppt/notesSlides/notesSlide12.xml" Id="R8caaa04aaa484c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ec995b12624c48" /><Relationship Type="http://schemas.openxmlformats.org/officeDocument/2006/relationships/notesSlide" Target="/ppt/notesSlides/notesSlide13.xml" Id="Re3896007eff34d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087e84ef6545d9" /><Relationship Type="http://schemas.openxmlformats.org/officeDocument/2006/relationships/notesSlide" Target="/ppt/notesSlides/notesSlide14.xml" Id="R0bb0789a940e4c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e31a2e86b754e55" /><Relationship Type="http://schemas.openxmlformats.org/officeDocument/2006/relationships/notesSlide" Target="/ppt/notesSlides/notesSlide15.xml" Id="R19ae4eb2233841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2382ed9e1c347f3" /><Relationship Type="http://schemas.openxmlformats.org/officeDocument/2006/relationships/notesSlide" Target="/ppt/notesSlides/notesSlide16.xml" Id="R0f5d606dc9c644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ffcfb2748b84599" /><Relationship Type="http://schemas.openxmlformats.org/officeDocument/2006/relationships/notesSlide" Target="/ppt/notesSlides/notesSlide17.xml" Id="Rb55fbad56b5548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7811cb786834e1e" /><Relationship Type="http://schemas.openxmlformats.org/officeDocument/2006/relationships/notesSlide" Target="/ppt/notesSlides/notesSlide18.xml" Id="R605951951ab341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f349d7f312449f" /><Relationship Type="http://schemas.openxmlformats.org/officeDocument/2006/relationships/notesSlide" Target="/ppt/notesSlides/notesSlide19.xml" Id="Rdd6a742a120847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017c2ba8f7f4e73" /><Relationship Type="http://schemas.openxmlformats.org/officeDocument/2006/relationships/notesSlide" Target="/ppt/notesSlides/notesSlide20.xml" Id="Rb56ed0e0ec514e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ebe52547e444dd7" /><Relationship Type="http://schemas.openxmlformats.org/officeDocument/2006/relationships/notesSlide" Target="/ppt/notesSlides/notesSlide21.xml" Id="R85a017e99b834c5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6e9529db7254bcf" /><Relationship Type="http://schemas.openxmlformats.org/officeDocument/2006/relationships/notesSlide" Target="/ppt/notesSlides/notesSlide22.xml" Id="R5511f79d9ba64e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2f08d5b350e4a32" /><Relationship Type="http://schemas.openxmlformats.org/officeDocument/2006/relationships/notesSlide" Target="/ppt/notesSlides/notesSlide23.xml" Id="R27dc7b5ed349477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96b5a6187194661" /><Relationship Type="http://schemas.openxmlformats.org/officeDocument/2006/relationships/notesSlide" Target="/ppt/notesSlides/notesSlide24.xml" Id="Ra6cc616b50b5432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ecafb99aa474a49" /><Relationship Type="http://schemas.openxmlformats.org/officeDocument/2006/relationships/notesSlide" Target="/ppt/notesSlides/notesSlide25.xml" Id="R9e2aa08bf6bf4f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ac6cf2e29a849f5" /><Relationship Type="http://schemas.openxmlformats.org/officeDocument/2006/relationships/notesSlide" Target="/ppt/notesSlides/notesSlide26.xml" Id="Rcff2c8c06d6140e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bd15d0ad22241e3" /><Relationship Type="http://schemas.openxmlformats.org/officeDocument/2006/relationships/notesSlide" Target="/ppt/notesSlides/notesSlide27.xml" Id="Rc34111b62db245e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53e1250437c4cb7" /><Relationship Type="http://schemas.openxmlformats.org/officeDocument/2006/relationships/notesSlide" Target="/ppt/notesSlides/notesSlide28.xml" Id="R097236fe67fe421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5f7bc2348d14976" /><Relationship Type="http://schemas.openxmlformats.org/officeDocument/2006/relationships/notesSlide" Target="/ppt/notesSlides/notesSlide29.xml" Id="R48874f196788473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6be375441904512" /><Relationship Type="http://schemas.openxmlformats.org/officeDocument/2006/relationships/notesSlide" Target="/ppt/notesSlides/notesSlide30.xml" Id="Re875816db8ae4a9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050f41f350b4a4c" /><Relationship Type="http://schemas.openxmlformats.org/officeDocument/2006/relationships/notesSlide" Target="/ppt/notesSlides/notesSlide31.xml" Id="Re3bbd73a843d473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6676795a2fb4afc" /><Relationship Type="http://schemas.openxmlformats.org/officeDocument/2006/relationships/notesSlide" Target="/ppt/notesSlides/notesSlide32.xml" Id="R891cd10460d64b3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37e490222e14c66" /><Relationship Type="http://schemas.openxmlformats.org/officeDocument/2006/relationships/notesSlide" Target="/ppt/notesSlides/notesSlide33.xml" Id="Ra53ccc0a860f461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f7d90e971b947e6" /><Relationship Type="http://schemas.openxmlformats.org/officeDocument/2006/relationships/notesSlide" Target="/ppt/notesSlides/notesSlide34.xml" Id="R59a518e9a8a3468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3553dae04644045" /><Relationship Type="http://schemas.openxmlformats.org/officeDocument/2006/relationships/notesSlide" Target="/ppt/notesSlides/notesSlide35.xml" Id="Rde7e7fef0b354dc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8bdb2f751aa403e" /><Relationship Type="http://schemas.openxmlformats.org/officeDocument/2006/relationships/notesSlide" Target="/ppt/notesSlides/notesSlide36.xml" Id="R82e7e983f96e464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a359817cb404cd3" /><Relationship Type="http://schemas.openxmlformats.org/officeDocument/2006/relationships/notesSlide" Target="/ppt/notesSlides/notesSlide37.xml" Id="R40eb6e924b2647a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2cf964d9968408d" /><Relationship Type="http://schemas.openxmlformats.org/officeDocument/2006/relationships/notesSlide" Target="/ppt/notesSlides/notesSlide38.xml" Id="R9cfc7ff1a31347a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dfc63d5db7e458c" /><Relationship Type="http://schemas.openxmlformats.org/officeDocument/2006/relationships/notesSlide" Target="/ppt/notesSlides/notesSlide39.xml" Id="R01e859e0d9094ed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5814b5f85f24a4b" /><Relationship Type="http://schemas.openxmlformats.org/officeDocument/2006/relationships/notesSlide" Target="/ppt/notesSlides/notesSlide40.xml" Id="R3b1a03cbf83042a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0470195fee743ba" /><Relationship Type="http://schemas.openxmlformats.org/officeDocument/2006/relationships/notesSlide" Target="/ppt/notesSlides/notesSlide41.xml" Id="R6e797b0abd71489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729e4fce5754110" /><Relationship Type="http://schemas.openxmlformats.org/officeDocument/2006/relationships/notesSlide" Target="/ppt/notesSlides/notesSlide42.xml" Id="Rc1e4d2c1386c402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00597bbb8404839" /><Relationship Type="http://schemas.openxmlformats.org/officeDocument/2006/relationships/notesSlide" Target="/ppt/notesSlides/notesSlide43.xml" Id="R2042fa8742b4445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4c00635bc324200" /><Relationship Type="http://schemas.openxmlformats.org/officeDocument/2006/relationships/notesSlide" Target="/ppt/notesSlides/notesSlide44.xml" Id="R89139805b9b348b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67250a572eb4f57" /><Relationship Type="http://schemas.openxmlformats.org/officeDocument/2006/relationships/notesSlide" Target="/ppt/notesSlides/notesSlide45.xml" Id="R78367fc90bff4f7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be24ef1407a495c" /><Relationship Type="http://schemas.openxmlformats.org/officeDocument/2006/relationships/notesSlide" Target="/ppt/notesSlides/notesSlide46.xml" Id="R1d6b2bfca9fb4a6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831715747c841c5" /><Relationship Type="http://schemas.openxmlformats.org/officeDocument/2006/relationships/notesSlide" Target="/ppt/notesSlides/notesSlide47.xml" Id="Rba4c0bf81edb4b5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2ba6ad3787c4ba6" /><Relationship Type="http://schemas.openxmlformats.org/officeDocument/2006/relationships/notesSlide" Target="/ppt/notesSlides/notesSlide48.xml" Id="R444acb624cf54eb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2dec85f29204be7" /><Relationship Type="http://schemas.openxmlformats.org/officeDocument/2006/relationships/notesSlide" Target="/ppt/notesSlides/notesSlide49.xml" Id="Rdf742e6dbab0468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80fef3a05a2437a" /><Relationship Type="http://schemas.openxmlformats.org/officeDocument/2006/relationships/notesSlide" Target="/ppt/notesSlides/notesSlide50.xml" Id="Red569a4d69f0405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69ed20552d4a4d99" /><Relationship Type="http://schemas.openxmlformats.org/officeDocument/2006/relationships/notesSlide" Target="/ppt/notesSlides/notesSlide51.xml" Id="R2d447756e8e245b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eb741f4b52d4b17" /><Relationship Type="http://schemas.openxmlformats.org/officeDocument/2006/relationships/notesSlide" Target="/ppt/notesSlides/notesSlide52.xml" Id="Rf27e8bf471c040f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b140468e5dcd45f2" /><Relationship Type="http://schemas.openxmlformats.org/officeDocument/2006/relationships/notesSlide" Target="/ppt/notesSlides/notesSlide53.xml" Id="R6c87b9bff04b42c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3c7239a5f8db4b30" /><Relationship Type="http://schemas.openxmlformats.org/officeDocument/2006/relationships/notesSlide" Target="/ppt/notesSlides/notesSlide54.xml" Id="Rc514b5eb8351477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df1d0374e8541b4" /><Relationship Type="http://schemas.openxmlformats.org/officeDocument/2006/relationships/notesSlide" Target="/ppt/notesSlides/notesSlide55.xml" Id="R8933dfdb56854f1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7d9e91c86b24ad7" /><Relationship Type="http://schemas.openxmlformats.org/officeDocument/2006/relationships/notesSlide" Target="/ppt/notesSlides/notesSlide56.xml" Id="R09eade0bcd3f48e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ea00ecaeed54bff" /><Relationship Type="http://schemas.openxmlformats.org/officeDocument/2006/relationships/notesSlide" Target="/ppt/notesSlides/notesSlide57.xml" Id="R9a4b6f317d444e3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5e12b34342d4caf" /><Relationship Type="http://schemas.openxmlformats.org/officeDocument/2006/relationships/notesSlide" Target="/ppt/notesSlides/notesSlide58.xml" Id="R95294900cf234d5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d257031ebce405e"/>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E0DC6C9-47CC-4229-991A-272807B08F01}"/>
              </a:ext>
            </a:extLst>
          </p:cNvPr>
          <p:cNvSpPr>
            <a:spLocks xmlns:a="http://schemas.openxmlformats.org/drawingml/2006/main" noGrp="1"/>
          </p:cNvSpPr>
          <p:nvPr/>
        </p:nvSpPr>
        <p:spPr>
          <a:xfrm xmlns:a="http://schemas.openxmlformats.org/drawingml/2006/main">
            <a:off x="685800" y="904875"/>
            <a:ext cx="809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D77"/>
                </a:solidFill>
                <a:latin typeface="DejaVu Sans"/>
                <a:ea typeface="DejaVu Sans"/>
                <a:cs typeface="DejaVu Sans"/>
              </a:defRPr>
            </a:pPr>
            <a:r>
              <a:rPr sz="2175" b="1">
                <a:solidFill>
                  <a:srgbClr val="006D77"/>
                </a:solidFill>
                <a:latin typeface="DejaVu Sans"/>
                <a:ea typeface="DejaVu Sans"/>
                <a:cs typeface="DejaVu Sans"/>
              </a:rPr>
              <a:t>MODULE 04 · BANO QABIL</a:t>
            </a:r>
          </a:p>
        </p:txBody>
      </p:sp>
      <p:sp>
        <p:nvSpPr>
          <p:cNvPr id="3" name="">
            <a:extLst xmlns:a="http://schemas.openxmlformats.org/drawingml/2006/main">
              <a:ext uri="{FF2B5EF4-FFF2-40B4-BE49-F238E27FC236}">
                <a16:creationId xmlns:a16="http://schemas.microsoft.com/office/drawing/2014/main" id="{ED7E6E66-A9B2-47A9-823A-80674318E18C}"/>
              </a:ext>
            </a:extLst>
          </p:cNvPr>
          <p:cNvSpPr>
            <a:spLocks xmlns:a="http://schemas.openxmlformats.org/drawingml/2006/main" noGrp="1"/>
          </p:cNvSpPr>
          <p:nvPr/>
        </p:nvSpPr>
        <p:spPr>
          <a:xfrm xmlns:a="http://schemas.openxmlformats.org/drawingml/2006/main">
            <a:off x="685800" y="2047875"/>
            <a:ext cx="8096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18233D"/>
                </a:solidFill>
                <a:latin typeface="DejaVu Sans"/>
                <a:ea typeface="DejaVu Sans"/>
                <a:cs typeface="DejaVu Sans"/>
              </a:defRPr>
            </a:pPr>
            <a:r>
              <a:rPr sz="5700" b="1">
                <a:solidFill>
                  <a:srgbClr val="18233D"/>
                </a:solidFill>
                <a:latin typeface="DejaVu Sans"/>
                <a:ea typeface="DejaVu Sans"/>
                <a:cs typeface="DejaVu Sans"/>
              </a:rPr>
              <a:t>Function Calling</a:t>
            </a:r>
          </a:p>
          <a:p xmlns:a="http://schemas.openxmlformats.org/drawingml/2006/main">
            <a:pPr>
              <a:buNone/>
              <a:defRPr sz="5700" b="1">
                <a:solidFill>
                  <a:srgbClr val="18233D"/>
                </a:solidFill>
                <a:latin typeface="DejaVu Sans"/>
                <a:ea typeface="DejaVu Sans"/>
                <a:cs typeface="DejaVu Sans"/>
              </a:defRPr>
            </a:pPr>
            <a:r>
              <a:rPr sz="5700" b="1">
                <a:solidFill>
                  <a:srgbClr val="18233D"/>
                </a:solidFill>
                <a:latin typeface="DejaVu Sans"/>
                <a:ea typeface="DejaVu Sans"/>
                <a:cs typeface="DejaVu Sans"/>
              </a:rPr>
              <a:t>and Tool Use</a:t>
            </a:r>
          </a:p>
        </p:txBody>
      </p:sp>
      <p:sp>
        <p:nvSpPr>
          <p:cNvPr id="4" name="">
            <a:extLst xmlns:a="http://schemas.openxmlformats.org/drawingml/2006/main">
              <a:ext uri="{FF2B5EF4-FFF2-40B4-BE49-F238E27FC236}">
                <a16:creationId xmlns:a16="http://schemas.microsoft.com/office/drawing/2014/main" id="{2D9A1B12-3E7E-4585-A04D-7F99082CF210}"/>
              </a:ext>
            </a:extLst>
          </p:cNvPr>
          <p:cNvSpPr>
            <a:spLocks xmlns:a="http://schemas.openxmlformats.org/drawingml/2006/main" noGrp="1"/>
          </p:cNvSpPr>
          <p:nvPr/>
        </p:nvSpPr>
        <p:spPr>
          <a:xfrm xmlns:a="http://schemas.openxmlformats.org/drawingml/2006/main">
            <a:off x="685800" y="4714875"/>
            <a:ext cx="714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0">
                <a:solidFill>
                  <a:srgbClr val="006D77"/>
                </a:solidFill>
                <a:latin typeface="DejaVu Sans"/>
                <a:ea typeface="DejaVu Sans"/>
                <a:cs typeface="DejaVu Sans"/>
              </a:defRPr>
            </a:pPr>
            <a:r>
              <a:rPr sz="3225" b="0">
                <a:solidFill>
                  <a:srgbClr val="006D77"/>
                </a:solidFill>
                <a:latin typeface="DejaVu Sans"/>
                <a:ea typeface="DejaVu Sans"/>
                <a:cs typeface="DejaVu Sans"/>
              </a:rPr>
              <a:t>Maths tools, then parcel tracking</a:t>
            </a:r>
          </a:p>
        </p:txBody>
      </p:sp>
      <p:sp>
        <p:nvSpPr>
          <p:cNvPr id="5" name="">
            <a:extLst xmlns:a="http://schemas.openxmlformats.org/drawingml/2006/main">
              <a:ext uri="{FF2B5EF4-FFF2-40B4-BE49-F238E27FC236}">
                <a16:creationId xmlns:a16="http://schemas.microsoft.com/office/drawing/2014/main" id="{BFE17744-E67F-412A-8042-86B7202F2A33}"/>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6" name="">
            <a:extLst xmlns:a="http://schemas.openxmlformats.org/drawingml/2006/main">
              <a:ext uri="{FF2B5EF4-FFF2-40B4-BE49-F238E27FC236}">
                <a16:creationId xmlns:a16="http://schemas.microsoft.com/office/drawing/2014/main" id="{DADE443E-E625-41FA-B660-BADCA5C0B379}"/>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1</a:t>
            </a:r>
          </a:p>
        </p:txBody>
      </p:sp>
    </p:spTree>
    <p:extLst>
      <p:ext uri="{BB962C8B-B14F-4D97-AF65-F5344CB8AC3E}">
        <p14:creationId xmlns:p14="http://schemas.microsoft.com/office/powerpoint/2010/main" val="5739595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DA11ED-4676-455C-8396-EF546B8A4C73}"/>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UNDERSTAND</a:t>
            </a:r>
          </a:p>
        </p:txBody>
      </p:sp>
      <p:sp>
        <p:nvSpPr>
          <p:cNvPr id="2" name="">
            <a:extLst xmlns:a="http://schemas.openxmlformats.org/drawingml/2006/main">
              <a:ext uri="{FF2B5EF4-FFF2-40B4-BE49-F238E27FC236}">
                <a16:creationId xmlns:a16="http://schemas.microsoft.com/office/drawing/2014/main" id="{5B81A493-C80A-47FF-A753-AE70E45D110E}"/>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Today’s four learning goals</a:t>
            </a:r>
          </a:p>
        </p:txBody>
      </p:sp>
      <p:sp>
        <p:nvSpPr>
          <p:cNvPr id="3" name="">
            <a:extLst xmlns:a="http://schemas.openxmlformats.org/drawingml/2006/main">
              <a:ext uri="{FF2B5EF4-FFF2-40B4-BE49-F238E27FC236}">
                <a16:creationId xmlns:a16="http://schemas.microsoft.com/office/drawing/2014/main" id="{668EDA8A-731D-4DF8-BBDA-55B3DA5D8BD5}"/>
              </a:ext>
            </a:extLst>
          </p:cNvPr>
          <p:cNvSpPr>
            <a:spLocks xmlns:a="http://schemas.openxmlformats.org/drawingml/2006/main" noGrp="1"/>
          </p:cNvSpPr>
          <p:nvPr/>
        </p:nvSpPr>
        <p:spPr>
          <a:xfrm xmlns:a="http://schemas.openxmlformats.org/drawingml/2006/main">
            <a:off x="609600" y="24574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2714D535-391E-4017-9265-0F1613B5CAF0}"/>
              </a:ext>
            </a:extLst>
          </p:cNvPr>
          <p:cNvSpPr>
            <a:spLocks xmlns:a="http://schemas.openxmlformats.org/drawingml/2006/main" noGrp="1"/>
          </p:cNvSpPr>
          <p:nvPr/>
        </p:nvSpPr>
        <p:spPr>
          <a:xfrm xmlns:a="http://schemas.openxmlformats.org/drawingml/2006/main">
            <a:off x="2095500" y="2495550"/>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Understand why LLM apps need tools</a:t>
            </a:r>
          </a:p>
        </p:txBody>
      </p:sp>
      <p:sp>
        <p:nvSpPr>
          <p:cNvPr id="5" name="">
            <a:extLst xmlns:a="http://schemas.openxmlformats.org/drawingml/2006/main">
              <a:ext uri="{FF2B5EF4-FFF2-40B4-BE49-F238E27FC236}">
                <a16:creationId xmlns:a16="http://schemas.microsoft.com/office/drawing/2014/main" id="{F2A528EE-9B45-474C-A863-9E5F8C0D9CD1}"/>
              </a:ext>
            </a:extLst>
          </p:cNvPr>
          <p:cNvSpPr>
            <a:spLocks xmlns:a="http://schemas.openxmlformats.org/drawingml/2006/main" noGrp="1"/>
          </p:cNvSpPr>
          <p:nvPr/>
        </p:nvSpPr>
        <p:spPr>
          <a:xfrm xmlns:a="http://schemas.openxmlformats.org/drawingml/2006/main">
            <a:off x="609600" y="3629025"/>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A114135B-6E8E-45CA-A23C-9A407C52292F}"/>
              </a:ext>
            </a:extLst>
          </p:cNvPr>
          <p:cNvSpPr>
            <a:spLocks xmlns:a="http://schemas.openxmlformats.org/drawingml/2006/main" noGrp="1"/>
          </p:cNvSpPr>
          <p:nvPr/>
        </p:nvSpPr>
        <p:spPr>
          <a:xfrm xmlns:a="http://schemas.openxmlformats.org/drawingml/2006/main">
            <a:off x="2095500" y="3667125"/>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Design a clear Python tool</a:t>
            </a:r>
          </a:p>
        </p:txBody>
      </p:sp>
      <p:sp>
        <p:nvSpPr>
          <p:cNvPr id="7" name="">
            <a:extLst xmlns:a="http://schemas.openxmlformats.org/drawingml/2006/main">
              <a:ext uri="{FF2B5EF4-FFF2-40B4-BE49-F238E27FC236}">
                <a16:creationId xmlns:a16="http://schemas.microsoft.com/office/drawing/2014/main" id="{CBC11F6F-64B4-4260-9307-221FD167DC08}"/>
              </a:ext>
            </a:extLst>
          </p:cNvPr>
          <p:cNvSpPr>
            <a:spLocks xmlns:a="http://schemas.openxmlformats.org/drawingml/2006/main" noGrp="1"/>
          </p:cNvSpPr>
          <p:nvPr/>
        </p:nvSpPr>
        <p:spPr>
          <a:xfrm xmlns:a="http://schemas.openxmlformats.org/drawingml/2006/main">
            <a:off x="609600" y="480060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2C68FB01-8841-41E6-81B9-2EFA300B2DCD}"/>
              </a:ext>
            </a:extLst>
          </p:cNvPr>
          <p:cNvSpPr>
            <a:spLocks xmlns:a="http://schemas.openxmlformats.org/drawingml/2006/main" noGrp="1"/>
          </p:cNvSpPr>
          <p:nvPr/>
        </p:nvSpPr>
        <p:spPr>
          <a:xfrm xmlns:a="http://schemas.openxmlformats.org/drawingml/2006/main">
            <a:off x="2095500" y="4838700"/>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Handle a tool request and its result</a:t>
            </a:r>
          </a:p>
        </p:txBody>
      </p:sp>
      <p:sp>
        <p:nvSpPr>
          <p:cNvPr id="9" name="">
            <a:extLst xmlns:a="http://schemas.openxmlformats.org/drawingml/2006/main">
              <a:ext uri="{FF2B5EF4-FFF2-40B4-BE49-F238E27FC236}">
                <a16:creationId xmlns:a16="http://schemas.microsoft.com/office/drawing/2014/main" id="{6A47ABBD-E273-4E36-B140-CB665E09D908}"/>
              </a:ext>
            </a:extLst>
          </p:cNvPr>
          <p:cNvSpPr>
            <a:spLocks xmlns:a="http://schemas.openxmlformats.org/drawingml/2006/main" noGrp="1"/>
          </p:cNvSpPr>
          <p:nvPr/>
        </p:nvSpPr>
        <p:spPr>
          <a:xfrm xmlns:a="http://schemas.openxmlformats.org/drawingml/2006/main">
            <a:off x="609600" y="5972175"/>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CE93A7DE-BBD9-4E21-96CD-C6C67AFCCB20}"/>
              </a:ext>
            </a:extLst>
          </p:cNvPr>
          <p:cNvSpPr>
            <a:spLocks xmlns:a="http://schemas.openxmlformats.org/drawingml/2006/main" noGrp="1"/>
          </p:cNvSpPr>
          <p:nvPr/>
        </p:nvSpPr>
        <p:spPr>
          <a:xfrm xmlns:a="http://schemas.openxmlformats.org/drawingml/2006/main">
            <a:off x="2095500" y="6010275"/>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Build and test a complete assistant</a:t>
            </a:r>
          </a:p>
        </p:txBody>
      </p:sp>
      <p:sp>
        <p:nvSpPr>
          <p:cNvPr id="11" name="">
            <a:extLst xmlns:a="http://schemas.openxmlformats.org/drawingml/2006/main">
              <a:ext uri="{FF2B5EF4-FFF2-40B4-BE49-F238E27FC236}">
                <a16:creationId xmlns:a16="http://schemas.microsoft.com/office/drawing/2014/main" id="{8236CFF5-B030-4FE1-89A2-85D7E712D85C}"/>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12" name="">
            <a:extLst xmlns:a="http://schemas.openxmlformats.org/drawingml/2006/main">
              <a:ext uri="{FF2B5EF4-FFF2-40B4-BE49-F238E27FC236}">
                <a16:creationId xmlns:a16="http://schemas.microsoft.com/office/drawing/2014/main" id="{696C638C-BDA5-4C56-AF33-D863BD2C43D5}"/>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2</a:t>
            </a:r>
          </a:p>
        </p:txBody>
      </p:sp>
    </p:spTree>
    <p:extLst>
      <p:ext uri="{BB962C8B-B14F-4D97-AF65-F5344CB8AC3E}">
        <p14:creationId xmlns:p14="http://schemas.microsoft.com/office/powerpoint/2010/main" val="11422727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FB05DD-993D-47B4-8458-4ECDF16C5CD1}"/>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UNDERSTAND</a:t>
            </a:r>
          </a:p>
        </p:txBody>
      </p:sp>
      <p:sp>
        <p:nvSpPr>
          <p:cNvPr id="2" name="">
            <a:extLst xmlns:a="http://schemas.openxmlformats.org/drawingml/2006/main">
              <a:ext uri="{FF2B5EF4-FFF2-40B4-BE49-F238E27FC236}">
                <a16:creationId xmlns:a16="http://schemas.microsoft.com/office/drawing/2014/main" id="{15B703CE-7724-4721-857B-D43E0E9428A6}"/>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next step after Module 3</a:t>
            </a:r>
          </a:p>
        </p:txBody>
      </p:sp>
      <p:sp>
        <p:nvSpPr>
          <p:cNvPr id="3" name="">
            <a:extLst xmlns:a="http://schemas.openxmlformats.org/drawingml/2006/main">
              <a:ext uri="{FF2B5EF4-FFF2-40B4-BE49-F238E27FC236}">
                <a16:creationId xmlns:a16="http://schemas.microsoft.com/office/drawing/2014/main" id="{18FBA895-32AB-46C6-8ED3-64779A7EEA5F}"/>
              </a:ext>
            </a:extLst>
          </p:cNvPr>
          <p:cNvSpPr>
            <a:spLocks xmlns:a="http://schemas.openxmlformats.org/drawingml/2006/main" noGrp="1"/>
          </p:cNvSpPr>
          <p:nvPr/>
        </p:nvSpPr>
        <p:spPr>
          <a:xfrm xmlns:a="http://schemas.openxmlformats.org/drawingml/2006/main">
            <a:off x="609600" y="22860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WHAT YOU ALREADY BUILT</a:t>
            </a:r>
          </a:p>
        </p:txBody>
      </p:sp>
      <p:sp>
        <p:nvSpPr>
          <p:cNvPr id="4" name="">
            <a:extLst xmlns:a="http://schemas.openxmlformats.org/drawingml/2006/main">
              <a:ext uri="{FF2B5EF4-FFF2-40B4-BE49-F238E27FC236}">
                <a16:creationId xmlns:a16="http://schemas.microsoft.com/office/drawing/2014/main" id="{85DC34C4-2C58-4434-B60A-ABF6FDB5767B}"/>
              </a:ext>
            </a:extLst>
          </p:cNvPr>
          <p:cNvSpPr>
            <a:spLocks xmlns:a="http://schemas.openxmlformats.org/drawingml/2006/main" noGrp="1"/>
          </p:cNvSpPr>
          <p:nvPr/>
        </p:nvSpPr>
        <p:spPr>
          <a:xfrm xmlns:a="http://schemas.openxmlformats.org/drawingml/2006/main">
            <a:off x="8286750" y="2286000"/>
            <a:ext cx="6343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WHAT WE NEED NOW</a:t>
            </a:r>
          </a:p>
        </p:txBody>
      </p:sp>
      <p:sp>
        <p:nvSpPr>
          <p:cNvPr id="5" name="">
            <a:extLst xmlns:a="http://schemas.openxmlformats.org/drawingml/2006/main">
              <a:ext uri="{FF2B5EF4-FFF2-40B4-BE49-F238E27FC236}">
                <a16:creationId xmlns:a16="http://schemas.microsoft.com/office/drawing/2014/main" id="{2C4C9FFE-9360-41F3-A559-0CC21948B874}"/>
              </a:ext>
            </a:extLst>
          </p:cNvPr>
          <p:cNvSpPr>
            <a:spLocks xmlns:a="http://schemas.openxmlformats.org/drawingml/2006/main" noGrp="1"/>
          </p:cNvSpPr>
          <p:nvPr/>
        </p:nvSpPr>
        <p:spPr>
          <a:xfrm xmlns:a="http://schemas.openxmlformats.org/drawingml/2006/main">
            <a:off x="609600" y="3114675"/>
            <a:ext cx="666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prompt | llm | parser</a:t>
            </a:r>
          </a:p>
          <a:p xmlns:a="http://schemas.openxmlformats.org/drawingml/2006/main">
            <a:r>
              <a:t/>
            </a:r>
          </a:p>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We asked questions</a:t>
            </a:r>
          </a:p>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and generated text.</a:t>
            </a:r>
          </a:p>
        </p:txBody>
      </p:sp>
      <p:sp>
        <p:nvSpPr>
          <p:cNvPr id="6" name="">
            <a:extLst xmlns:a="http://schemas.openxmlformats.org/drawingml/2006/main">
              <a:ext uri="{FF2B5EF4-FFF2-40B4-BE49-F238E27FC236}">
                <a16:creationId xmlns:a16="http://schemas.microsoft.com/office/drawing/2014/main" id="{B9B258BF-C8D7-4F9B-9FD8-878EE90A8392}"/>
              </a:ext>
            </a:extLst>
          </p:cNvPr>
          <p:cNvSpPr>
            <a:spLocks xmlns:a="http://schemas.openxmlformats.org/drawingml/2006/main" noGrp="1"/>
          </p:cNvSpPr>
          <p:nvPr/>
        </p:nvSpPr>
        <p:spPr>
          <a:xfrm xmlns:a="http://schemas.openxmlformats.org/drawingml/2006/main">
            <a:off x="8286750" y="3114675"/>
            <a:ext cx="634365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“Where is my parcel PK101?”</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Our answer needs a record</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from our application.</a:t>
            </a:r>
          </a:p>
        </p:txBody>
      </p:sp>
      <p:sp>
        <p:nvSpPr>
          <p:cNvPr id="7" name="">
            <a:extLst xmlns:a="http://schemas.openxmlformats.org/drawingml/2006/main">
              <a:ext uri="{FF2B5EF4-FFF2-40B4-BE49-F238E27FC236}">
                <a16:creationId xmlns:a16="http://schemas.microsoft.com/office/drawing/2014/main" id="{8B4EED84-4A2E-4C61-8657-3B8CB902AB14}"/>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C6E2CABD-4B08-401F-A628-4EC5FEE1A2CB}"/>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3</a:t>
            </a:r>
          </a:p>
        </p:txBody>
      </p:sp>
    </p:spTree>
    <p:extLst>
      <p:ext uri="{BB962C8B-B14F-4D97-AF65-F5344CB8AC3E}">
        <p14:creationId xmlns:p14="http://schemas.microsoft.com/office/powerpoint/2010/main" val="21042819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F5E7C4-E4C9-4171-979D-F8F66CCB62C4}"/>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UNDERSTAND</a:t>
            </a:r>
          </a:p>
        </p:txBody>
      </p:sp>
      <p:sp>
        <p:nvSpPr>
          <p:cNvPr id="2" name="">
            <a:extLst xmlns:a="http://schemas.openxmlformats.org/drawingml/2006/main">
              <a:ext uri="{FF2B5EF4-FFF2-40B4-BE49-F238E27FC236}">
                <a16:creationId xmlns:a16="http://schemas.microsoft.com/office/drawing/2014/main" id="{22022E8F-9B04-421C-A8E5-0C0541682B87}"/>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Why tools matter</a:t>
            </a:r>
          </a:p>
        </p:txBody>
      </p:sp>
      <p:sp>
        <p:nvSpPr>
          <p:cNvPr id="3" name="">
            <a:extLst xmlns:a="http://schemas.openxmlformats.org/drawingml/2006/main">
              <a:ext uri="{FF2B5EF4-FFF2-40B4-BE49-F238E27FC236}">
                <a16:creationId xmlns:a16="http://schemas.microsoft.com/office/drawing/2014/main" id="{4498F548-1D42-4B3E-AB40-E970A5ED139B}"/>
              </a:ext>
            </a:extLst>
          </p:cNvPr>
          <p:cNvSpPr>
            <a:spLocks xmlns:a="http://schemas.openxmlformats.org/drawingml/2006/main" noGrp="1"/>
          </p:cNvSpPr>
          <p:nvPr/>
        </p:nvSpPr>
        <p:spPr>
          <a:xfrm xmlns:a="http://schemas.openxmlformats.org/drawingml/2006/main">
            <a:off x="609600" y="22860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LANGUAGE UNDERSTANDING</a:t>
            </a:r>
          </a:p>
        </p:txBody>
      </p:sp>
      <p:sp>
        <p:nvSpPr>
          <p:cNvPr id="4" name="">
            <a:extLst xmlns:a="http://schemas.openxmlformats.org/drawingml/2006/main">
              <a:ext uri="{FF2B5EF4-FFF2-40B4-BE49-F238E27FC236}">
                <a16:creationId xmlns:a16="http://schemas.microsoft.com/office/drawing/2014/main" id="{435AD992-79B3-4C81-B647-22A902A6A754}"/>
              </a:ext>
            </a:extLst>
          </p:cNvPr>
          <p:cNvSpPr>
            <a:spLocks xmlns:a="http://schemas.openxmlformats.org/drawingml/2006/main" noGrp="1"/>
          </p:cNvSpPr>
          <p:nvPr/>
        </p:nvSpPr>
        <p:spPr>
          <a:xfrm xmlns:a="http://schemas.openxmlformats.org/drawingml/2006/main">
            <a:off x="8286750" y="2286000"/>
            <a:ext cx="6343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APPLICATION DATA</a:t>
            </a:r>
          </a:p>
        </p:txBody>
      </p:sp>
      <p:sp>
        <p:nvSpPr>
          <p:cNvPr id="5" name="">
            <a:extLst xmlns:a="http://schemas.openxmlformats.org/drawingml/2006/main">
              <a:ext uri="{FF2B5EF4-FFF2-40B4-BE49-F238E27FC236}">
                <a16:creationId xmlns:a16="http://schemas.microsoft.com/office/drawing/2014/main" id="{0F836053-87DB-4724-85E9-C31AD748C2E3}"/>
              </a:ext>
            </a:extLst>
          </p:cNvPr>
          <p:cNvSpPr>
            <a:spLocks xmlns:a="http://schemas.openxmlformats.org/drawingml/2006/main" noGrp="1"/>
          </p:cNvSpPr>
          <p:nvPr/>
        </p:nvSpPr>
        <p:spPr>
          <a:xfrm xmlns:a="http://schemas.openxmlformats.org/drawingml/2006/main">
            <a:off x="609600" y="3114675"/>
            <a:ext cx="666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The model understands:</a:t>
            </a:r>
          </a:p>
          <a:p xmlns:a="http://schemas.openxmlformats.org/drawingml/2006/main">
            <a:r>
              <a:t/>
            </a:r>
          </a:p>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“Where is my parcel?”</a:t>
            </a:r>
          </a:p>
        </p:txBody>
      </p:sp>
      <p:sp>
        <p:nvSpPr>
          <p:cNvPr id="6" name="">
            <a:extLst xmlns:a="http://schemas.openxmlformats.org/drawingml/2006/main">
              <a:ext uri="{FF2B5EF4-FFF2-40B4-BE49-F238E27FC236}">
                <a16:creationId xmlns:a16="http://schemas.microsoft.com/office/drawing/2014/main" id="{EFB8254A-F591-4636-8F70-2175625F847C}"/>
              </a:ext>
            </a:extLst>
          </p:cNvPr>
          <p:cNvSpPr>
            <a:spLocks xmlns:a="http://schemas.openxmlformats.org/drawingml/2006/main" noGrp="1"/>
          </p:cNvSpPr>
          <p:nvPr/>
        </p:nvSpPr>
        <p:spPr>
          <a:xfrm xmlns:a="http://schemas.openxmlformats.org/drawingml/2006/main">
            <a:off x="8286750" y="3114675"/>
            <a:ext cx="634365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 function reads:</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saved tracking record.</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model can then explain</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returned status.</a:t>
            </a:r>
          </a:p>
        </p:txBody>
      </p:sp>
      <p:sp>
        <p:nvSpPr>
          <p:cNvPr id="7" name="">
            <a:extLst xmlns:a="http://schemas.openxmlformats.org/drawingml/2006/main">
              <a:ext uri="{FF2B5EF4-FFF2-40B4-BE49-F238E27FC236}">
                <a16:creationId xmlns:a16="http://schemas.microsoft.com/office/drawing/2014/main" id="{68900154-8DE3-44E3-A6C0-A45932C721F0}"/>
              </a:ext>
            </a:extLst>
          </p:cNvPr>
          <p:cNvSpPr>
            <a:spLocks xmlns:a="http://schemas.openxmlformats.org/drawingml/2006/main" noGrp="1"/>
          </p:cNvSpPr>
          <p:nvPr/>
        </p:nvSpPr>
        <p:spPr>
          <a:xfrm xmlns:a="http://schemas.openxmlformats.org/drawingml/2006/main">
            <a:off x="609600" y="7381875"/>
            <a:ext cx="1402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Our class uses fictional parcel records.</a:t>
            </a:r>
          </a:p>
        </p:txBody>
      </p:sp>
      <p:sp>
        <p:nvSpPr>
          <p:cNvPr id="8" name="">
            <a:extLst xmlns:a="http://schemas.openxmlformats.org/drawingml/2006/main">
              <a:ext uri="{FF2B5EF4-FFF2-40B4-BE49-F238E27FC236}">
                <a16:creationId xmlns:a16="http://schemas.microsoft.com/office/drawing/2014/main" id="{D9D3A935-BDBB-488F-816A-6F097A92C19D}"/>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9" name="">
            <a:extLst xmlns:a="http://schemas.openxmlformats.org/drawingml/2006/main">
              <a:ext uri="{FF2B5EF4-FFF2-40B4-BE49-F238E27FC236}">
                <a16:creationId xmlns:a16="http://schemas.microsoft.com/office/drawing/2014/main" id="{8ED5212E-997A-4490-BCEF-AA72D4E4ED44}"/>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4</a:t>
            </a:r>
          </a:p>
        </p:txBody>
      </p:sp>
    </p:spTree>
    <p:extLst>
      <p:ext uri="{BB962C8B-B14F-4D97-AF65-F5344CB8AC3E}">
        <p14:creationId xmlns:p14="http://schemas.microsoft.com/office/powerpoint/2010/main" val="7555965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7711B4-BCB4-4C15-B558-643A0B9D8B56}"/>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UNDERSTAND</a:t>
            </a:r>
          </a:p>
        </p:txBody>
      </p:sp>
      <p:sp>
        <p:nvSpPr>
          <p:cNvPr id="2" name="">
            <a:extLst xmlns:a="http://schemas.openxmlformats.org/drawingml/2006/main">
              <a:ext uri="{FF2B5EF4-FFF2-40B4-BE49-F238E27FC236}">
                <a16:creationId xmlns:a16="http://schemas.microsoft.com/office/drawing/2014/main" id="{2E332CB4-39EA-4122-BA85-C1C9E746ADFC}"/>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Function calling and tool use</a:t>
            </a:r>
          </a:p>
        </p:txBody>
      </p:sp>
      <p:graphicFrame>
        <p:nvGraphicFramePr>
          <p:cNvPr id="10" name=""/>
          <p:cNvGraphicFramePr/>
          <p:nvPr/>
        </p:nvGraphicFramePr>
        <p:xfrm>
          <a:off xmlns:a="http://schemas.openxmlformats.org/drawingml/2006/main" x="609600" y="2457450"/>
          <a:ext xmlns:a="http://schemas.openxmlformats.org/drawingml/2006/main" cx="14020800" cy="4572000"/>
        </p:xfrm>
        <a:graphic xmlns:a="http://schemas.openxmlformats.org/drawingml/2006/main">
          <a:graphicData uri="http://schemas.openxmlformats.org/drawingml/2006/table">
            <a:tbl>
              <a:tblPr/>
              <a:tblGrid>
                <a:gridCol w="4667250"/>
                <a:gridCol w="9353550"/>
              </a:tblGrid>
              <a:tr h="914400">
                <a:tc>
                  <a:txBody>
                    <a:bodyPr>
                      <a:noAutofit/>
                    </a:bodyPr>
                    <a:lstStyle/>
                    <a:p>
                      <a:r>
                        <a:rPr sz="2475" b="1">
                          <a:solidFill>
                            <a:srgbClr val="18233D"/>
                          </a:solidFill>
                          <a:latin typeface="DejaVu Sans"/>
                          <a:ea typeface="DejaVu Sans"/>
                          <a:cs typeface="DejaVu Sans"/>
                        </a:rPr>
                        <a:t>Term</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Meaning in this lesson</a:t>
                      </a:r>
                    </a:p>
                  </a:txBody>
                  <a:tcPr marL="91440" marR="91440" marT="45720" marB="45720">
                    <a:solidFill>
                      <a:srgbClr val="DDEDF0"/>
                    </a:solidFill>
                  </a:tcPr>
                </a:tc>
              </a:tr>
              <a:tr h="914400">
                <a:tc>
                  <a:txBody>
                    <a:bodyPr>
                      <a:noAutofit/>
                    </a:bodyPr>
                    <a:lstStyle/>
                    <a:p>
                      <a:r>
                        <a:rPr sz="2475" b="0">
                          <a:solidFill>
                            <a:srgbClr val="18233D"/>
                          </a:solidFill>
                          <a:latin typeface="DejaVu Sans"/>
                          <a:ea typeface="DejaVu Sans"/>
                          <a:cs typeface="DejaVu Sans"/>
                        </a:rPr>
                        <a:t>Python function</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Code that performs one task</a:t>
                      </a:r>
                    </a:p>
                  </a:txBody>
                  <a:tcPr marL="91440" marR="91440" marT="45720" marB="45720">
                    <a:solidFill>
                      <a:srgbClr val="FFFFFF"/>
                    </a:solidFill>
                  </a:tcPr>
                </a:tc>
              </a:tr>
              <a:tr h="914400">
                <a:tc>
                  <a:txBody>
                    <a:bodyPr>
                      <a:noAutofit/>
                    </a:bodyPr>
                    <a:lstStyle/>
                    <a:p>
                      <a:r>
                        <a:rPr sz="2475" b="0">
                          <a:solidFill>
                            <a:srgbClr val="18233D"/>
                          </a:solidFill>
                          <a:latin typeface="DejaVu Sans"/>
                          <a:ea typeface="DejaVu Sans"/>
                          <a:cs typeface="DejaVu Sans"/>
                        </a:rPr>
                        <a:t>Tool</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A function with a name, description and input requirements</a:t>
                      </a:r>
                    </a:p>
                  </a:txBody>
                  <a:tcPr marL="91440" marR="91440" marT="45720" marB="45720">
                    <a:solidFill>
                      <a:srgbClr val="F4F8FA"/>
                    </a:solidFill>
                  </a:tcPr>
                </a:tc>
              </a:tr>
              <a:tr h="914400">
                <a:tc>
                  <a:txBody>
                    <a:bodyPr>
                      <a:noAutofit/>
                    </a:bodyPr>
                    <a:lstStyle/>
                    <a:p>
                      <a:r>
                        <a:rPr sz="2475" b="0">
                          <a:solidFill>
                            <a:srgbClr val="18233D"/>
                          </a:solidFill>
                          <a:latin typeface="DejaVu Sans"/>
                          <a:ea typeface="DejaVu Sans"/>
                          <a:cs typeface="DejaVu Sans"/>
                        </a:rPr>
                        <a:t>Function calling</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The model requests that function with structured inputs</a:t>
                      </a:r>
                    </a:p>
                  </a:txBody>
                  <a:tcPr marL="91440" marR="91440" marT="45720" marB="45720">
                    <a:solidFill>
                      <a:srgbClr val="FFFFFF"/>
                    </a:solidFill>
                  </a:tcPr>
                </a:tc>
              </a:tr>
              <a:tr h="914400">
                <a:tc>
                  <a:txBody>
                    <a:bodyPr>
                      <a:noAutofit/>
                    </a:bodyPr>
                    <a:lstStyle/>
                    <a:p>
                      <a:r>
                        <a:rPr sz="2475" b="0">
                          <a:solidFill>
                            <a:srgbClr val="18233D"/>
                          </a:solidFill>
                          <a:latin typeface="DejaVu Sans"/>
                          <a:ea typeface="DejaVu Sans"/>
                          <a:cs typeface="DejaVu Sans"/>
                        </a:rPr>
                        <a:t>Tool use</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The complete request, execution and returned-result process</a:t>
                      </a:r>
                    </a:p>
                  </a:txBody>
                  <a:tcPr marL="91440" marR="91440" marT="45720" marB="45720">
                    <a:solidFill>
                      <a:srgbClr val="F4F8FA"/>
                    </a:solidFill>
                  </a:tcPr>
                </a:tc>
              </a:tr>
            </a:tbl>
          </a:graphicData>
        </a:graphic>
      </p:graphicFrame>
      <p:sp>
        <p:nvSpPr>
          <p:cNvPr id="4" name="">
            <a:extLst xmlns:a="http://schemas.openxmlformats.org/drawingml/2006/main">
              <a:ext uri="{FF2B5EF4-FFF2-40B4-BE49-F238E27FC236}">
                <a16:creationId xmlns:a16="http://schemas.microsoft.com/office/drawing/2014/main" id="{9F1F1AD0-CF81-41A9-B5A0-15F3FCC80559}"/>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5" name="">
            <a:extLst xmlns:a="http://schemas.openxmlformats.org/drawingml/2006/main">
              <a:ext uri="{FF2B5EF4-FFF2-40B4-BE49-F238E27FC236}">
                <a16:creationId xmlns:a16="http://schemas.microsoft.com/office/drawing/2014/main" id="{02811BDD-F616-45F2-A314-9C9ADAFC35D4}"/>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5</a:t>
            </a:r>
          </a:p>
        </p:txBody>
      </p:sp>
    </p:spTree>
    <p:extLst>
      <p:ext uri="{BB962C8B-B14F-4D97-AF65-F5344CB8AC3E}">
        <p14:creationId xmlns:p14="http://schemas.microsoft.com/office/powerpoint/2010/main" val="16607824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048162-BAAB-4E84-9272-107B9826F751}"/>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UNDERSTAND</a:t>
            </a:r>
          </a:p>
        </p:txBody>
      </p:sp>
      <p:sp>
        <p:nvSpPr>
          <p:cNvPr id="2" name="">
            <a:extLst xmlns:a="http://schemas.openxmlformats.org/drawingml/2006/main">
              <a:ext uri="{FF2B5EF4-FFF2-40B4-BE49-F238E27FC236}">
                <a16:creationId xmlns:a16="http://schemas.microsoft.com/office/drawing/2014/main" id="{AB762E2B-D923-425B-854F-B84F40894C38}"/>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Who runs the Python code?</a:t>
            </a:r>
          </a:p>
        </p:txBody>
      </p:sp>
      <p:graphicFrame>
        <p:nvGraphicFramePr>
          <p:cNvPr id="10" name=""/>
          <p:cNvGraphicFramePr/>
          <p:nvPr/>
        </p:nvGraphicFramePr>
        <p:xfrm>
          <a:off xmlns:a="http://schemas.openxmlformats.org/drawingml/2006/main" x="609600" y="2457450"/>
          <a:ext xmlns:a="http://schemas.openxmlformats.org/drawingml/2006/main" cx="14020800" cy="4572000"/>
        </p:xfrm>
        <a:graphic xmlns:a="http://schemas.openxmlformats.org/drawingml/2006/main">
          <a:graphicData uri="http://schemas.openxmlformats.org/drawingml/2006/table">
            <a:tbl>
              <a:tblPr/>
              <a:tblGrid>
                <a:gridCol w="4667250"/>
                <a:gridCol w="9353550"/>
              </a:tblGrid>
              <a:tr h="1143000">
                <a:tc>
                  <a:txBody>
                    <a:bodyPr>
                      <a:noAutofit/>
                    </a:bodyPr>
                    <a:lstStyle/>
                    <a:p>
                      <a:r>
                        <a:rPr sz="2475" b="1">
                          <a:solidFill>
                            <a:srgbClr val="18233D"/>
                          </a:solidFill>
                          <a:latin typeface="DejaVu Sans"/>
                          <a:ea typeface="DejaVu Sans"/>
                          <a:cs typeface="DejaVu Sans"/>
                        </a:rPr>
                        <a:t>LLM</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Python application</a:t>
                      </a:r>
                    </a:p>
                  </a:txBody>
                  <a:tcPr marL="91440" marR="91440" marT="45720" marB="45720">
                    <a:solidFill>
                      <a:srgbClr val="DDEDF0"/>
                    </a:solidFill>
                  </a:tcPr>
                </a:tc>
              </a:tr>
              <a:tr h="1143000">
                <a:tc>
                  <a:txBody>
                    <a:bodyPr>
                      <a:noAutofit/>
                    </a:bodyPr>
                    <a:lstStyle/>
                    <a:p>
                      <a:r>
                        <a:rPr sz="2475" b="0">
                          <a:solidFill>
                            <a:srgbClr val="18233D"/>
                          </a:solidFill>
                          <a:latin typeface="DejaVu Sans"/>
                          <a:ea typeface="DejaVu Sans"/>
                          <a:cs typeface="DejaVu Sans"/>
                        </a:rPr>
                        <a:t>Understands the question</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Checks the requested tool</a:t>
                      </a:r>
                    </a:p>
                  </a:txBody>
                  <a:tcPr marL="91440" marR="91440" marT="45720" marB="45720">
                    <a:solidFill>
                      <a:srgbClr val="FFFFFF"/>
                    </a:solidFill>
                  </a:tcPr>
                </a:tc>
              </a:tr>
              <a:tr h="1143000">
                <a:tc>
                  <a:txBody>
                    <a:bodyPr>
                      <a:noAutofit/>
                    </a:bodyPr>
                    <a:lstStyle/>
                    <a:p>
                      <a:r>
                        <a:rPr sz="2475" b="0">
                          <a:solidFill>
                            <a:srgbClr val="18233D"/>
                          </a:solidFill>
                          <a:latin typeface="DejaVu Sans"/>
                          <a:ea typeface="DejaVu Sans"/>
                          <a:cs typeface="DejaVu Sans"/>
                        </a:rPr>
                        <a:t>Chooses a tool and inputs</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Executes our function</a:t>
                      </a:r>
                    </a:p>
                  </a:txBody>
                  <a:tcPr marL="91440" marR="91440" marT="45720" marB="45720">
                    <a:solidFill>
                      <a:srgbClr val="F4F8FA"/>
                    </a:solidFill>
                  </a:tcPr>
                </a:tc>
              </a:tr>
              <a:tr h="1143000">
                <a:tc>
                  <a:txBody>
                    <a:bodyPr>
                      <a:noAutofit/>
                    </a:bodyPr>
                    <a:lstStyle/>
                    <a:p>
                      <a:r>
                        <a:rPr sz="2475" b="0">
                          <a:solidFill>
                            <a:srgbClr val="18233D"/>
                          </a:solidFill>
                          <a:latin typeface="DejaVu Sans"/>
                          <a:ea typeface="DejaVu Sans"/>
                          <a:cs typeface="DejaVu Sans"/>
                        </a:rPr>
                        <a:t>Explains the returned facts</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Returns the function result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D10655C-17EA-4E12-B07F-9913CAA15876}"/>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5" name="">
            <a:extLst xmlns:a="http://schemas.openxmlformats.org/drawingml/2006/main">
              <a:ext uri="{FF2B5EF4-FFF2-40B4-BE49-F238E27FC236}">
                <a16:creationId xmlns:a16="http://schemas.microsoft.com/office/drawing/2014/main" id="{6A01860E-2C3D-4CFE-A9D3-7306A03928CA}"/>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6</a:t>
            </a:r>
          </a:p>
        </p:txBody>
      </p:sp>
    </p:spTree>
    <p:extLst>
      <p:ext uri="{BB962C8B-B14F-4D97-AF65-F5344CB8AC3E}">
        <p14:creationId xmlns:p14="http://schemas.microsoft.com/office/powerpoint/2010/main" val="8042433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E0617B-9B6D-4AFB-AC2A-AB5FA0BA6F34}"/>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UNDERSTAND</a:t>
            </a:r>
          </a:p>
        </p:txBody>
      </p:sp>
      <p:sp>
        <p:nvSpPr>
          <p:cNvPr id="2" name="">
            <a:extLst xmlns:a="http://schemas.openxmlformats.org/drawingml/2006/main">
              <a:ext uri="{FF2B5EF4-FFF2-40B4-BE49-F238E27FC236}">
                <a16:creationId xmlns:a16="http://schemas.microsoft.com/office/drawing/2014/main" id="{B05D4D84-0462-4F5E-9D3B-A36B993FE9E0}"/>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tool-calling cycle</a:t>
            </a:r>
          </a:p>
        </p:txBody>
      </p:sp>
      <p:graphicFrame>
        <p:nvGraphicFramePr>
          <p:cNvPr id="10" name=""/>
          <p:cNvGraphicFramePr/>
          <p:nvPr/>
        </p:nvGraphicFramePr>
        <p:xfrm>
          <a:off xmlns:a="http://schemas.openxmlformats.org/drawingml/2006/main" x="609600" y="2457450"/>
          <a:ext xmlns:a="http://schemas.openxmlformats.org/drawingml/2006/main" cx="14020800" cy="4572000"/>
        </p:xfrm>
        <a:graphic xmlns:a="http://schemas.openxmlformats.org/drawingml/2006/main">
          <a:graphicData uri="http://schemas.openxmlformats.org/drawingml/2006/table">
            <a:tbl>
              <a:tblPr/>
              <a:tblGrid>
                <a:gridCol w="1428750"/>
                <a:gridCol w="2952750"/>
                <a:gridCol w="9639300"/>
              </a:tblGrid>
              <a:tr h="762000">
                <a:tc>
                  <a:txBody>
                    <a:bodyPr>
                      <a:noAutofit/>
                    </a:bodyPr>
                    <a:lstStyle/>
                    <a:p>
                      <a:r>
                        <a:rPr sz="2475" b="1">
                          <a:solidFill>
                            <a:srgbClr val="18233D"/>
                          </a:solidFill>
                          <a:latin typeface="DejaVu Sans"/>
                          <a:ea typeface="DejaVu Sans"/>
                          <a:cs typeface="DejaVu Sans"/>
                        </a:rPr>
                        <a:t>Step</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Who</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What happens</a:t>
                      </a:r>
                    </a:p>
                  </a:txBody>
                  <a:tcPr marL="91440" marR="91440" marT="45720" marB="45720">
                    <a:solidFill>
                      <a:srgbClr val="DDEDF0"/>
                    </a:solidFill>
                  </a:tcPr>
                </a:tc>
              </a:tr>
              <a:tr h="762000">
                <a:tc>
                  <a:txBody>
                    <a:bodyPr>
                      <a:noAutofit/>
                    </a:bodyPr>
                    <a:lstStyle/>
                    <a:p>
                      <a:r>
                        <a:rPr sz="2475" b="0">
                          <a:solidFill>
                            <a:srgbClr val="18233D"/>
                          </a:solidFill>
                          <a:latin typeface="DejaVu Sans"/>
                          <a:ea typeface="DejaVu Sans"/>
                          <a:cs typeface="DejaVu Sans"/>
                        </a:rPr>
                        <a:t>1</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User</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Asks about a parcel</a:t>
                      </a:r>
                    </a:p>
                  </a:txBody>
                  <a:tcPr marL="91440" marR="91440" marT="45720" marB="45720">
                    <a:solidFill>
                      <a:srgbClr val="FFFFFF"/>
                    </a:solidFill>
                  </a:tcPr>
                </a:tc>
              </a:tr>
              <a:tr h="762000">
                <a:tc>
                  <a:txBody>
                    <a:bodyPr>
                      <a:noAutofit/>
                    </a:bodyPr>
                    <a:lstStyle/>
                    <a:p>
                      <a:r>
                        <a:rPr sz="2475" b="0">
                          <a:solidFill>
                            <a:srgbClr val="18233D"/>
                          </a:solidFill>
                          <a:latin typeface="DejaVu Sans"/>
                          <a:ea typeface="DejaVu Sans"/>
                          <a:cs typeface="DejaVu Sans"/>
                        </a:rPr>
                        <a:t>2</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LLM</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Requests a function with an ID</a:t>
                      </a:r>
                    </a:p>
                  </a:txBody>
                  <a:tcPr marL="91440" marR="91440" marT="45720" marB="45720">
                    <a:solidFill>
                      <a:srgbClr val="F4F8FA"/>
                    </a:solidFill>
                  </a:tcPr>
                </a:tc>
              </a:tr>
              <a:tr h="762000">
                <a:tc>
                  <a:txBody>
                    <a:bodyPr>
                      <a:noAutofit/>
                    </a:bodyPr>
                    <a:lstStyle/>
                    <a:p>
                      <a:r>
                        <a:rPr sz="2475" b="0">
                          <a:solidFill>
                            <a:srgbClr val="18233D"/>
                          </a:solidFill>
                          <a:latin typeface="DejaVu Sans"/>
                          <a:ea typeface="DejaVu Sans"/>
                          <a:cs typeface="DejaVu Sans"/>
                        </a:rPr>
                        <a:t>3</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Python app</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Runs the allowed function</a:t>
                      </a:r>
                    </a:p>
                  </a:txBody>
                  <a:tcPr marL="91440" marR="91440" marT="45720" marB="45720">
                    <a:solidFill>
                      <a:srgbClr val="FFFFFF"/>
                    </a:solidFill>
                  </a:tcPr>
                </a:tc>
              </a:tr>
              <a:tr h="762000">
                <a:tc>
                  <a:txBody>
                    <a:bodyPr>
                      <a:noAutofit/>
                    </a:bodyPr>
                    <a:lstStyle/>
                    <a:p>
                      <a:r>
                        <a:rPr sz="2475" b="0">
                          <a:solidFill>
                            <a:srgbClr val="18233D"/>
                          </a:solidFill>
                          <a:latin typeface="DejaVu Sans"/>
                          <a:ea typeface="DejaVu Sans"/>
                          <a:cs typeface="DejaVu Sans"/>
                        </a:rPr>
                        <a:t>4</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Python app</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Sends back a matching result</a:t>
                      </a:r>
                    </a:p>
                  </a:txBody>
                  <a:tcPr marL="91440" marR="91440" marT="45720" marB="45720">
                    <a:solidFill>
                      <a:srgbClr val="F4F8FA"/>
                    </a:solidFill>
                  </a:tcPr>
                </a:tc>
              </a:tr>
              <a:tr h="762000">
                <a:tc>
                  <a:txBody>
                    <a:bodyPr>
                      <a:noAutofit/>
                    </a:bodyPr>
                    <a:lstStyle/>
                    <a:p>
                      <a:r>
                        <a:rPr sz="2475" b="0">
                          <a:solidFill>
                            <a:srgbClr val="18233D"/>
                          </a:solidFill>
                          <a:latin typeface="DejaVu Sans"/>
                          <a:ea typeface="DejaVu Sans"/>
                          <a:cs typeface="DejaVu Sans"/>
                        </a:rPr>
                        <a:t>5</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LLM</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Explains the returned status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DB2E3D0-3419-4ECE-A4B8-CD875B240646}"/>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5" name="">
            <a:extLst xmlns:a="http://schemas.openxmlformats.org/drawingml/2006/main">
              <a:ext uri="{FF2B5EF4-FFF2-40B4-BE49-F238E27FC236}">
                <a16:creationId xmlns:a16="http://schemas.microsoft.com/office/drawing/2014/main" id="{A9E0D6A1-4E7B-4182-A1DB-ADE50F7D93EA}"/>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7</a:t>
            </a:r>
          </a:p>
        </p:txBody>
      </p:sp>
    </p:spTree>
    <p:extLst>
      <p:ext uri="{BB962C8B-B14F-4D97-AF65-F5344CB8AC3E}">
        <p14:creationId xmlns:p14="http://schemas.microsoft.com/office/powerpoint/2010/main" val="13056870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48D055-3610-4FA1-A491-7F4FBE340B30}"/>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BBD3CA42-366C-40CC-BAAB-9C898F23B08C}"/>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An ordinary addition function</a:t>
            </a:r>
          </a:p>
        </p:txBody>
      </p:sp>
      <p:sp>
        <p:nvSpPr>
          <p:cNvPr id="3" name="">
            <a:extLst xmlns:a="http://schemas.openxmlformats.org/drawingml/2006/main">
              <a:ext uri="{FF2B5EF4-FFF2-40B4-BE49-F238E27FC236}">
                <a16:creationId xmlns:a16="http://schemas.microsoft.com/office/drawing/2014/main" id="{CA9576BF-A980-4067-8205-6B5D05EFC6D9}"/>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A7BEC198-FA87-4C37-AFE9-35E8B89D8681}"/>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8FD5E470-E271-4E59-8B8E-C0EC901A3395}"/>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add(a, b):</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a + b</a:t>
            </a:r>
          </a:p>
          <a:p xmlns:a="http://schemas.openxmlformats.org/drawingml/2006/main">
            <a:r>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print(add(5, 3))</a:t>
            </a:r>
          </a:p>
        </p:txBody>
      </p:sp>
      <p:sp>
        <p:nvSpPr>
          <p:cNvPr id="6" name="">
            <a:extLst xmlns:a="http://schemas.openxmlformats.org/drawingml/2006/main">
              <a:ext uri="{FF2B5EF4-FFF2-40B4-BE49-F238E27FC236}">
                <a16:creationId xmlns:a16="http://schemas.microsoft.com/office/drawing/2014/main" id="{89007FD5-B81B-4F12-B1CE-EA90ED6A5476}"/>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def names the function.</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 and b are its inputs.</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return sends back their sum.</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Predict the output.</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Then run it: 8.</a:t>
            </a:r>
          </a:p>
        </p:txBody>
      </p:sp>
      <p:sp>
        <p:nvSpPr>
          <p:cNvPr id="7" name="">
            <a:extLst xmlns:a="http://schemas.openxmlformats.org/drawingml/2006/main">
              <a:ext uri="{FF2B5EF4-FFF2-40B4-BE49-F238E27FC236}">
                <a16:creationId xmlns:a16="http://schemas.microsoft.com/office/drawing/2014/main" id="{D23152A5-D36A-41E0-A488-6B34D1EBFBAF}"/>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C60ADE3A-7929-442C-8B60-12C5C1AFFA63}"/>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  ·  8</a:t>
            </a:r>
          </a:p>
        </p:txBody>
      </p:sp>
    </p:spTree>
    <p:extLst>
      <p:ext uri="{BB962C8B-B14F-4D97-AF65-F5344CB8AC3E}">
        <p14:creationId xmlns:p14="http://schemas.microsoft.com/office/powerpoint/2010/main" val="9777906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D95E13-25D0-4C3A-B153-746A4C0EDFCA}"/>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913AC3F0-B536-4741-8895-9562B5BAE402}"/>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import and the @ symbol</a:t>
            </a:r>
          </a:p>
        </p:txBody>
      </p:sp>
      <p:sp>
        <p:nvSpPr>
          <p:cNvPr id="3" name="">
            <a:extLst xmlns:a="http://schemas.openxmlformats.org/drawingml/2006/main">
              <a:ext uri="{FF2B5EF4-FFF2-40B4-BE49-F238E27FC236}">
                <a16:creationId xmlns:a16="http://schemas.microsoft.com/office/drawing/2014/main" id="{9378DC61-525D-4752-BE85-9A40E38920EA}"/>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IMPORT AND STRUCTURE SKETCH</a:t>
            </a:r>
          </a:p>
        </p:txBody>
      </p:sp>
      <p:sp>
        <p:nvSpPr>
          <p:cNvPr id="4" name="">
            <a:extLst xmlns:a="http://schemas.openxmlformats.org/drawingml/2006/main">
              <a:ext uri="{FF2B5EF4-FFF2-40B4-BE49-F238E27FC236}">
                <a16:creationId xmlns:a16="http://schemas.microsoft.com/office/drawing/2014/main" id="{57E5FE6A-4284-4DE3-9AC3-F18E738AE266}"/>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7F36C5D3-C341-4B8F-80D1-0941B8CEE3DB}"/>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from langchain_core.tools import tool</a:t>
            </a:r>
          </a:p>
          <a:p xmlns:a="http://schemas.openxmlformats.org/drawingml/2006/main">
            <a:r>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add_numbers(...):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p:txBody>
      </p:sp>
      <p:sp>
        <p:nvSpPr>
          <p:cNvPr id="6" name="">
            <a:extLst xmlns:a="http://schemas.openxmlformats.org/drawingml/2006/main">
              <a:ext uri="{FF2B5EF4-FFF2-40B4-BE49-F238E27FC236}">
                <a16:creationId xmlns:a16="http://schemas.microsoft.com/office/drawing/2014/main" id="{B5D2D911-EF35-468B-8825-24DF0AD11F76}"/>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import brings in a helper.</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@tool applies it to the function below.</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This is a decorator.</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calculation runs when we call the tool.</a:t>
            </a:r>
          </a:p>
        </p:txBody>
      </p:sp>
      <p:sp>
        <p:nvSpPr>
          <p:cNvPr id="7" name="">
            <a:extLst xmlns:a="http://schemas.openxmlformats.org/drawingml/2006/main">
              <a:ext uri="{FF2B5EF4-FFF2-40B4-BE49-F238E27FC236}">
                <a16:creationId xmlns:a16="http://schemas.microsoft.com/office/drawing/2014/main" id="{BC9E4AB6-BBC3-46B8-8A95-510B78B15BD9}"/>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DEBEE221-9249-4AA6-8D36-3AFDD60096D9}"/>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M2–M3  ·  9</a:t>
            </a:r>
          </a:p>
        </p:txBody>
      </p:sp>
    </p:spTree>
    <p:extLst>
      <p:ext uri="{BB962C8B-B14F-4D97-AF65-F5344CB8AC3E}">
        <p14:creationId xmlns:p14="http://schemas.microsoft.com/office/powerpoint/2010/main" val="3700129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07F869-F7AC-44D0-8817-CA17A24A82FD}"/>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D16390DC-615A-4E53-89E9-C36AD9C8503F}"/>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Our addition tool</a:t>
            </a:r>
          </a:p>
        </p:txBody>
      </p:sp>
      <p:sp>
        <p:nvSpPr>
          <p:cNvPr id="3" name="">
            <a:extLst xmlns:a="http://schemas.openxmlformats.org/drawingml/2006/main">
              <a:ext uri="{FF2B5EF4-FFF2-40B4-BE49-F238E27FC236}">
                <a16:creationId xmlns:a16="http://schemas.microsoft.com/office/drawing/2014/main" id="{D65A6C55-1EDF-41F8-8A27-FE478BF4F922}"/>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38C33646-4718-4680-A819-598A1652E1D0}"/>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994032C7-1453-4528-A17E-CBA93B456E09}"/>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add_numbers(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 float, b: float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-&gt; float: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"""Add two numbers a and b."""</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a + b</a:t>
            </a:r>
          </a:p>
        </p:txBody>
      </p:sp>
      <p:sp>
        <p:nvSpPr>
          <p:cNvPr id="6" name="">
            <a:extLst xmlns:a="http://schemas.openxmlformats.org/drawingml/2006/main">
              <a:ext uri="{FF2B5EF4-FFF2-40B4-BE49-F238E27FC236}">
                <a16:creationId xmlns:a16="http://schemas.microsoft.com/office/drawing/2014/main" id="{1721F20C-13ED-4D09-9E17-C2F0874019E1}"/>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One clear task: addition.</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float permits decimal numbers.</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docstring explains the purpose.</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notebook adds when to use it.</a:t>
            </a:r>
          </a:p>
        </p:txBody>
      </p:sp>
      <p:sp>
        <p:nvSpPr>
          <p:cNvPr id="7" name="">
            <a:extLst xmlns:a="http://schemas.openxmlformats.org/drawingml/2006/main">
              <a:ext uri="{FF2B5EF4-FFF2-40B4-BE49-F238E27FC236}">
                <a16:creationId xmlns:a16="http://schemas.microsoft.com/office/drawing/2014/main" id="{D3D0090D-6171-4BED-822B-683263B82A0C}"/>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FA2B6081-4E19-4A7C-AFBC-D1E61C5DF9B1}"/>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M3  ·  10</a:t>
            </a:r>
          </a:p>
        </p:txBody>
      </p:sp>
    </p:spTree>
    <p:extLst>
      <p:ext uri="{BB962C8B-B14F-4D97-AF65-F5344CB8AC3E}">
        <p14:creationId xmlns:p14="http://schemas.microsoft.com/office/powerpoint/2010/main" val="14999889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846387-FBD9-4676-9BDD-664A0B15E054}"/>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90B4A6FD-480B-4B0F-9472-18AE7E5CB632}"/>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Calling the tool ourselves</a:t>
            </a:r>
          </a:p>
        </p:txBody>
      </p:sp>
      <p:sp>
        <p:nvSpPr>
          <p:cNvPr id="3" name="">
            <a:extLst xmlns:a="http://schemas.openxmlformats.org/drawingml/2006/main">
              <a:ext uri="{FF2B5EF4-FFF2-40B4-BE49-F238E27FC236}">
                <a16:creationId xmlns:a16="http://schemas.microsoft.com/office/drawing/2014/main" id="{2B2CC1C5-0377-44F4-BC8E-364619FC1B39}"/>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135C4053-B165-4A78-A6B4-DB1B1EB8F79C}"/>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INPUTS AND OUTPUT</a:t>
            </a:r>
          </a:p>
        </p:txBody>
      </p:sp>
      <p:sp>
        <p:nvSpPr>
          <p:cNvPr id="5" name="">
            <a:extLst xmlns:a="http://schemas.openxmlformats.org/drawingml/2006/main">
              <a:ext uri="{FF2B5EF4-FFF2-40B4-BE49-F238E27FC236}">
                <a16:creationId xmlns:a16="http://schemas.microsoft.com/office/drawing/2014/main" id="{3465D879-E5F8-4DE9-86C5-D83AB890CD96}"/>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add_numbers.invoke({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 5,</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"b": 3</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p:txBody>
      </p:sp>
      <p:sp>
        <p:nvSpPr>
          <p:cNvPr id="6" name="">
            <a:extLst xmlns:a="http://schemas.openxmlformats.org/drawingml/2006/main">
              <a:ext uri="{FF2B5EF4-FFF2-40B4-BE49-F238E27FC236}">
                <a16:creationId xmlns:a16="http://schemas.microsoft.com/office/drawing/2014/main" id="{03CFBFD5-F61A-48AF-B9F3-687B8B9B7DEE}"/>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invoke runs the tool.</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dictionary names both inputs.</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Python result: 8.0</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No LLM has chosen a tool yet.</a:t>
            </a:r>
          </a:p>
        </p:txBody>
      </p:sp>
      <p:sp>
        <p:nvSpPr>
          <p:cNvPr id="7" name="">
            <a:extLst xmlns:a="http://schemas.openxmlformats.org/drawingml/2006/main">
              <a:ext uri="{FF2B5EF4-FFF2-40B4-BE49-F238E27FC236}">
                <a16:creationId xmlns:a16="http://schemas.microsoft.com/office/drawing/2014/main" id="{EA04CEDB-6C80-40A1-972E-60B724D4E131}"/>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6D062B04-4500-4496-AF63-11BB0D0A2BE0}"/>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M3  ·  11</a:t>
            </a:r>
          </a:p>
        </p:txBody>
      </p:sp>
    </p:spTree>
    <p:extLst>
      <p:ext uri="{BB962C8B-B14F-4D97-AF65-F5344CB8AC3E}">
        <p14:creationId xmlns:p14="http://schemas.microsoft.com/office/powerpoint/2010/main" val="296457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EF1F34-600F-4C58-AF4C-3012BDD2D262}"/>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C6E6C493-3055-4420-BD4A-EB271A98E1D6}"/>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Subtraction needs the right order</a:t>
            </a:r>
          </a:p>
        </p:txBody>
      </p:sp>
      <p:sp>
        <p:nvSpPr>
          <p:cNvPr id="3" name="">
            <a:extLst xmlns:a="http://schemas.openxmlformats.org/drawingml/2006/main">
              <a:ext uri="{FF2B5EF4-FFF2-40B4-BE49-F238E27FC236}">
                <a16:creationId xmlns:a16="http://schemas.microsoft.com/office/drawing/2014/main" id="{92ADC74C-4187-4215-AECF-2A14A778DBF6}"/>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FDECCE77-1F1A-46CB-BC05-AB4FC9D03E29}"/>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27E9CA51-F97B-4D93-BCB1-8AFD8667ECAF}"/>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subtract_numbers(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 float, b: float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-&gt; float: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"""Subtract b from a."""</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a - b</a:t>
            </a:r>
          </a:p>
        </p:txBody>
      </p:sp>
      <p:sp>
        <p:nvSpPr>
          <p:cNvPr id="6" name="">
            <a:extLst xmlns:a="http://schemas.openxmlformats.org/drawingml/2006/main">
              <a:ext uri="{FF2B5EF4-FFF2-40B4-BE49-F238E27FC236}">
                <a16:creationId xmlns:a16="http://schemas.microsoft.com/office/drawing/2014/main" id="{44AE5330-8726-4CA6-AFF6-B9049A88F5A9}"/>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“Subtract 4 from 15.”</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 = 15</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b = 4</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15 - 4 = 11</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Swapping inputs changes the answer.</a:t>
            </a:r>
          </a:p>
        </p:txBody>
      </p:sp>
      <p:sp>
        <p:nvSpPr>
          <p:cNvPr id="7" name="">
            <a:extLst xmlns:a="http://schemas.openxmlformats.org/drawingml/2006/main">
              <a:ext uri="{FF2B5EF4-FFF2-40B4-BE49-F238E27FC236}">
                <a16:creationId xmlns:a16="http://schemas.microsoft.com/office/drawing/2014/main" id="{A5C1AB35-F02F-4DB9-913C-5B4664366A11}"/>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068EF0CE-50DB-4865-BBFE-DEC157842CA3}"/>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M4  ·  12</a:t>
            </a:r>
          </a:p>
        </p:txBody>
      </p:sp>
    </p:spTree>
    <p:extLst>
      <p:ext uri="{BB962C8B-B14F-4D97-AF65-F5344CB8AC3E}">
        <p14:creationId xmlns:p14="http://schemas.microsoft.com/office/powerpoint/2010/main" val="5082059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A766A0-283D-4B48-B395-C5F4296D13D1}"/>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C3D35CB8-21DA-424C-AD77-656949BF2BDC}"/>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multiplication tool</a:t>
            </a:r>
          </a:p>
        </p:txBody>
      </p:sp>
      <p:sp>
        <p:nvSpPr>
          <p:cNvPr id="3" name="">
            <a:extLst xmlns:a="http://schemas.openxmlformats.org/drawingml/2006/main">
              <a:ext uri="{FF2B5EF4-FFF2-40B4-BE49-F238E27FC236}">
                <a16:creationId xmlns:a16="http://schemas.microsoft.com/office/drawing/2014/main" id="{99FF5A4B-F596-471B-870C-B9314D201A11}"/>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ECE8C38D-41C7-422E-A2AC-74A780293093}"/>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205FB49A-B039-4713-B18B-8238BFF36300}"/>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multiply_numbers(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 float, b: float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-&gt; float: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"""Multiply two numbers a and b."""</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a * b</a:t>
            </a:r>
          </a:p>
        </p:txBody>
      </p:sp>
      <p:sp>
        <p:nvSpPr>
          <p:cNvPr id="6" name="">
            <a:extLst xmlns:a="http://schemas.openxmlformats.org/drawingml/2006/main">
              <a:ext uri="{FF2B5EF4-FFF2-40B4-BE49-F238E27FC236}">
                <a16:creationId xmlns:a16="http://schemas.microsoft.com/office/drawing/2014/main" id="{D4F0B328-7586-4D29-A5F8-241DA5599AE8}"/>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Python uses * for multiplication.</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Inputs: a = 6, b = 7</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Python result: 42.0</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Try a decimal input.</a:t>
            </a:r>
          </a:p>
        </p:txBody>
      </p:sp>
      <p:sp>
        <p:nvSpPr>
          <p:cNvPr id="7" name="">
            <a:extLst xmlns:a="http://schemas.openxmlformats.org/drawingml/2006/main">
              <a:ext uri="{FF2B5EF4-FFF2-40B4-BE49-F238E27FC236}">
                <a16:creationId xmlns:a16="http://schemas.microsoft.com/office/drawing/2014/main" id="{DB9D166B-E915-4B2D-A41F-06F0845B319D}"/>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B24655AA-CABF-4B26-8D32-575454EE6F47}"/>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M5  ·  13</a:t>
            </a:r>
          </a:p>
        </p:txBody>
      </p:sp>
    </p:spTree>
    <p:extLst>
      <p:ext uri="{BB962C8B-B14F-4D97-AF65-F5344CB8AC3E}">
        <p14:creationId xmlns:p14="http://schemas.microsoft.com/office/powerpoint/2010/main" val="16600872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82C439-6E06-4FC6-8C84-B1DACB74602E}"/>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9A192359-CAE9-441A-A1ED-6C3338E33418}"/>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Division handles zero honestly</a:t>
            </a:r>
          </a:p>
        </p:txBody>
      </p:sp>
      <p:sp>
        <p:nvSpPr>
          <p:cNvPr id="3" name="">
            <a:extLst xmlns:a="http://schemas.openxmlformats.org/drawingml/2006/main">
              <a:ext uri="{FF2B5EF4-FFF2-40B4-BE49-F238E27FC236}">
                <a16:creationId xmlns:a16="http://schemas.microsoft.com/office/drawing/2014/main" id="{00F17472-87A8-4578-810F-FD5518D646F0}"/>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CD20BEF5-8CE3-4144-9D87-A82E3CC40B1B}"/>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06D7CFDE-4751-4148-9C33-A4BD341C401D}"/>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divide_numbers(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 float, b: float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-&gt; str:</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"""Divide a by b."""</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if b == 0:</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"Cannot divide by zero."</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str(a / b)</a:t>
            </a:r>
          </a:p>
        </p:txBody>
      </p:sp>
      <p:sp>
        <p:nvSpPr>
          <p:cNvPr id="6" name="">
            <a:extLst xmlns:a="http://schemas.openxmlformats.org/drawingml/2006/main">
              <a:ext uri="{FF2B5EF4-FFF2-40B4-BE49-F238E27FC236}">
                <a16:creationId xmlns:a16="http://schemas.microsoft.com/office/drawing/2014/main" id="{CE22B158-9EB5-4D58-81AB-7AD95A133EAB}"/>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 performs division.</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 compares two values.</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20 / 4 returns "5.0".</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20 / 0 returns an error message.</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str converts the answer to text.</a:t>
            </a:r>
          </a:p>
        </p:txBody>
      </p:sp>
      <p:sp>
        <p:nvSpPr>
          <p:cNvPr id="7" name="">
            <a:extLst xmlns:a="http://schemas.openxmlformats.org/drawingml/2006/main">
              <a:ext uri="{FF2B5EF4-FFF2-40B4-BE49-F238E27FC236}">
                <a16:creationId xmlns:a16="http://schemas.microsoft.com/office/drawing/2014/main" id="{C84CB289-9BB5-4856-9A64-1C5DC8345349}"/>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71A8850A-48EF-4A63-956F-F28C662E6F65}"/>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M6  ·  14</a:t>
            </a:r>
          </a:p>
        </p:txBody>
      </p:sp>
    </p:spTree>
    <p:extLst>
      <p:ext uri="{BB962C8B-B14F-4D97-AF65-F5344CB8AC3E}">
        <p14:creationId xmlns:p14="http://schemas.microsoft.com/office/powerpoint/2010/main" val="18124196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049408-3585-40AF-8217-11B767A0D1FE}"/>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B3CBE065-B70F-47AD-9397-A1D6D4995C4B}"/>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Four tools make a clear menu</a:t>
            </a:r>
          </a:p>
        </p:txBody>
      </p:sp>
      <p:graphicFrame>
        <p:nvGraphicFramePr>
          <p:cNvPr id="8" name=""/>
          <p:cNvGraphicFramePr/>
          <p:nvPr/>
        </p:nvGraphicFramePr>
        <p:xfrm>
          <a:off xmlns:a="http://schemas.openxmlformats.org/drawingml/2006/main" x="609600" y="2457450"/>
          <a:ext xmlns:a="http://schemas.openxmlformats.org/drawingml/2006/main" cx="14020800" cy="4572000"/>
        </p:xfrm>
        <a:graphic xmlns:a="http://schemas.openxmlformats.org/drawingml/2006/main">
          <a:graphicData uri="http://schemas.openxmlformats.org/drawingml/2006/table">
            <a:tbl>
              <a:tblPr/>
              <a:tblGrid>
                <a:gridCol w="6286500"/>
                <a:gridCol w="7734300"/>
              </a:tblGrid>
              <a:tr h="914400">
                <a:tc>
                  <a:txBody>
                    <a:bodyPr>
                      <a:noAutofit/>
                    </a:bodyPr>
                    <a:lstStyle/>
                    <a:p>
                      <a:r>
                        <a:rPr sz="2475" b="1">
                          <a:solidFill>
                            <a:srgbClr val="18233D"/>
                          </a:solidFill>
                          <a:latin typeface="DejaVu Sans"/>
                          <a:ea typeface="DejaVu Sans"/>
                          <a:cs typeface="DejaVu Sans"/>
                        </a:rPr>
                        <a:t>Tool name</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Python operation</a:t>
                      </a:r>
                    </a:p>
                  </a:txBody>
                  <a:tcPr marL="91440" marR="91440" marT="45720" marB="45720">
                    <a:solidFill>
                      <a:srgbClr val="DDEDF0"/>
                    </a:solidFill>
                  </a:tcPr>
                </a:tc>
              </a:tr>
              <a:tr h="914400">
                <a:tc>
                  <a:txBody>
                    <a:bodyPr>
                      <a:noAutofit/>
                    </a:bodyPr>
                    <a:lstStyle/>
                    <a:p>
                      <a:r>
                        <a:rPr sz="2475" b="0">
                          <a:solidFill>
                            <a:srgbClr val="18233D"/>
                          </a:solidFill>
                          <a:latin typeface="DejaVu Sans"/>
                          <a:ea typeface="DejaVu Sans"/>
                          <a:cs typeface="DejaVu Sans"/>
                        </a:rPr>
                        <a:t>add_numbers</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a + b</a:t>
                      </a:r>
                    </a:p>
                  </a:txBody>
                  <a:tcPr marL="91440" marR="91440" marT="45720" marB="45720">
                    <a:solidFill>
                      <a:srgbClr val="FFFFFF"/>
                    </a:solidFill>
                  </a:tcPr>
                </a:tc>
              </a:tr>
              <a:tr h="914400">
                <a:tc>
                  <a:txBody>
                    <a:bodyPr>
                      <a:noAutofit/>
                    </a:bodyPr>
                    <a:lstStyle/>
                    <a:p>
                      <a:r>
                        <a:rPr sz="2475" b="0">
                          <a:solidFill>
                            <a:srgbClr val="18233D"/>
                          </a:solidFill>
                          <a:latin typeface="DejaVu Sans"/>
                          <a:ea typeface="DejaVu Sans"/>
                          <a:cs typeface="DejaVu Sans"/>
                        </a:rPr>
                        <a:t>subtract_numbers</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a - b</a:t>
                      </a:r>
                    </a:p>
                  </a:txBody>
                  <a:tcPr marL="91440" marR="91440" marT="45720" marB="45720">
                    <a:solidFill>
                      <a:srgbClr val="F4F8FA"/>
                    </a:solidFill>
                  </a:tcPr>
                </a:tc>
              </a:tr>
              <a:tr h="914400">
                <a:tc>
                  <a:txBody>
                    <a:bodyPr>
                      <a:noAutofit/>
                    </a:bodyPr>
                    <a:lstStyle/>
                    <a:p>
                      <a:r>
                        <a:rPr sz="2475" b="0">
                          <a:solidFill>
                            <a:srgbClr val="18233D"/>
                          </a:solidFill>
                          <a:latin typeface="DejaVu Sans"/>
                          <a:ea typeface="DejaVu Sans"/>
                          <a:cs typeface="DejaVu Sans"/>
                        </a:rPr>
                        <a:t>multiply_numbers</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a * b</a:t>
                      </a:r>
                    </a:p>
                  </a:txBody>
                  <a:tcPr marL="91440" marR="91440" marT="45720" marB="45720">
                    <a:solidFill>
                      <a:srgbClr val="FFFFFF"/>
                    </a:solidFill>
                  </a:tcPr>
                </a:tc>
              </a:tr>
              <a:tr h="914400">
                <a:tc>
                  <a:txBody>
                    <a:bodyPr>
                      <a:noAutofit/>
                    </a:bodyPr>
                    <a:lstStyle/>
                    <a:p>
                      <a:r>
                        <a:rPr sz="2475" b="0">
                          <a:solidFill>
                            <a:srgbClr val="18233D"/>
                          </a:solidFill>
                          <a:latin typeface="DejaVu Sans"/>
                          <a:ea typeface="DejaVu Sans"/>
                          <a:cs typeface="DejaVu Sans"/>
                        </a:rPr>
                        <a:t>divide_numbers</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a / b with a zero check</a:t>
                      </a:r>
                    </a:p>
                  </a:txBody>
                  <a:tcPr marL="91440" marR="91440" marT="45720" marB="45720">
                    <a:solidFill>
                      <a:srgbClr val="F4F8FA"/>
                    </a:solidFill>
                  </a:tcPr>
                </a:tc>
              </a:tr>
            </a:tbl>
          </a:graphicData>
        </a:graphic>
      </p:graphicFrame>
      <p:sp>
        <p:nvSpPr>
          <p:cNvPr id="4" name="">
            <a:extLst xmlns:a="http://schemas.openxmlformats.org/drawingml/2006/main">
              <a:ext uri="{FF2B5EF4-FFF2-40B4-BE49-F238E27FC236}">
                <a16:creationId xmlns:a16="http://schemas.microsoft.com/office/drawing/2014/main" id="{FD4F1E4C-6614-4623-9F9E-47FE0F4EE613}"/>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5" name="">
            <a:extLst xmlns:a="http://schemas.openxmlformats.org/drawingml/2006/main">
              <a:ext uri="{FF2B5EF4-FFF2-40B4-BE49-F238E27FC236}">
                <a16:creationId xmlns:a16="http://schemas.microsoft.com/office/drawing/2014/main" id="{9B57CA98-E6F4-433A-9101-AB7741DC3CD2}"/>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M7  ·  15</a:t>
            </a:r>
          </a:p>
        </p:txBody>
      </p:sp>
    </p:spTree>
    <p:extLst>
      <p:ext uri="{BB962C8B-B14F-4D97-AF65-F5344CB8AC3E}">
        <p14:creationId xmlns:p14="http://schemas.microsoft.com/office/powerpoint/2010/main" val="11844164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F9F39C-7AC6-4792-AE03-F17FEC2C822F}"/>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8884F27D-CC80-4106-9614-068B9F72A79C}"/>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same Groq model as Module 3</a:t>
            </a:r>
          </a:p>
        </p:txBody>
      </p:sp>
      <p:sp>
        <p:nvSpPr>
          <p:cNvPr id="3" name="">
            <a:extLst xmlns:a="http://schemas.openxmlformats.org/drawingml/2006/main">
              <a:ext uri="{FF2B5EF4-FFF2-40B4-BE49-F238E27FC236}">
                <a16:creationId xmlns:a16="http://schemas.microsoft.com/office/drawing/2014/main" id="{120C1257-11F3-444A-B16B-17A0B6F25905}"/>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CE29D6EB-F390-4B8C-8A6F-63809589190F}"/>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72787CBF-FB26-45C5-8F2E-0402630BE615}"/>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from langchain_groq import ChatGroq</a:t>
            </a:r>
          </a:p>
          <a:p xmlns:a="http://schemas.openxmlformats.org/drawingml/2006/main">
            <a:r>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llm = ChatGroq(</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model="openai/gpt-oss-20b",</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temperature=0</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p:txBody>
      </p:sp>
      <p:sp>
        <p:nvSpPr>
          <p:cNvPr id="6" name="">
            <a:extLst xmlns:a="http://schemas.openxmlformats.org/drawingml/2006/main">
              <a:ext uri="{FF2B5EF4-FFF2-40B4-BE49-F238E27FC236}">
                <a16:creationId xmlns:a16="http://schemas.microsoft.com/office/drawing/2014/main" id="{25783ECF-7DDE-4BE0-BC3C-D3EE4912F3E0}"/>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Use a private Groq key.</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ChatGroq connects to the model.</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Creating llm sets up the connection.</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 question sends the first request.</a:t>
            </a:r>
          </a:p>
        </p:txBody>
      </p:sp>
      <p:sp>
        <p:nvSpPr>
          <p:cNvPr id="7" name="">
            <a:extLst xmlns:a="http://schemas.openxmlformats.org/drawingml/2006/main">
              <a:ext uri="{FF2B5EF4-FFF2-40B4-BE49-F238E27FC236}">
                <a16:creationId xmlns:a16="http://schemas.microsoft.com/office/drawing/2014/main" id="{9954360D-CBA8-4CD5-A050-3E8031710746}"/>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5916925A-0D04-4EA9-9505-D75BD146727E}"/>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M8  ·  16</a:t>
            </a:r>
          </a:p>
        </p:txBody>
      </p:sp>
    </p:spTree>
    <p:extLst>
      <p:ext uri="{BB962C8B-B14F-4D97-AF65-F5344CB8AC3E}">
        <p14:creationId xmlns:p14="http://schemas.microsoft.com/office/powerpoint/2010/main" val="2723513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59796D-9296-4775-9048-69342F2609C1}"/>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CC822A28-46B5-4AEA-A633-D73AED73B5E8}"/>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LLM can choose from four tools</a:t>
            </a:r>
          </a:p>
        </p:txBody>
      </p:sp>
      <p:sp>
        <p:nvSpPr>
          <p:cNvPr id="3" name="">
            <a:extLst xmlns:a="http://schemas.openxmlformats.org/drawingml/2006/main">
              <a:ext uri="{FF2B5EF4-FFF2-40B4-BE49-F238E27FC236}">
                <a16:creationId xmlns:a16="http://schemas.microsoft.com/office/drawing/2014/main" id="{62558362-2F68-4753-A392-8447F2C9C87A}"/>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3B7FB161-91D3-42DE-8C87-8ECF714D0D17}"/>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7D7037F1-88A3-40EE-BF39-FA2BF3955DA7}"/>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math_tools =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add_numbers,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subtract_numbers,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multiply_numbers,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divide_numbers,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a:p xmlns:a="http://schemas.openxmlformats.org/drawingml/2006/main">
            <a:r>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math_llm = llm.bind_tools(math_tools)</a:t>
            </a:r>
          </a:p>
        </p:txBody>
      </p:sp>
      <p:sp>
        <p:nvSpPr>
          <p:cNvPr id="6" name="">
            <a:extLst xmlns:a="http://schemas.openxmlformats.org/drawingml/2006/main">
              <a:ext uri="{FF2B5EF4-FFF2-40B4-BE49-F238E27FC236}">
                <a16:creationId xmlns:a16="http://schemas.microsoft.com/office/drawing/2014/main" id="{3649D136-1393-4005-86BA-9CBBBFBFB85C}"/>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list holds our four tools.</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bind_tools supplies their definitions.</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model chooses a name and inputs for the question.</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Python executes that request later.</a:t>
            </a:r>
          </a:p>
        </p:txBody>
      </p:sp>
      <p:sp>
        <p:nvSpPr>
          <p:cNvPr id="7" name="">
            <a:extLst xmlns:a="http://schemas.openxmlformats.org/drawingml/2006/main">
              <a:ext uri="{FF2B5EF4-FFF2-40B4-BE49-F238E27FC236}">
                <a16:creationId xmlns:a16="http://schemas.microsoft.com/office/drawing/2014/main" id="{498937A9-A8D7-4FFD-B03A-14192BD6E8DF}"/>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56AA997B-A886-4913-9647-1F8EA2FE4717}"/>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M7–M9  ·  17</a:t>
            </a:r>
          </a:p>
        </p:txBody>
      </p:sp>
    </p:spTree>
    <p:extLst>
      <p:ext uri="{BB962C8B-B14F-4D97-AF65-F5344CB8AC3E}">
        <p14:creationId xmlns:p14="http://schemas.microsoft.com/office/powerpoint/2010/main" val="13587998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513420-9E1C-4E6F-BDE5-87AFBA71214E}"/>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14A6D15F-4947-4A80-A163-A28920C36AFB}"/>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A prompt guides the tool choice</a:t>
            </a:r>
          </a:p>
        </p:txBody>
      </p:sp>
      <p:sp>
        <p:nvSpPr>
          <p:cNvPr id="3" name="">
            <a:extLst xmlns:a="http://schemas.openxmlformats.org/drawingml/2006/main">
              <a:ext uri="{FF2B5EF4-FFF2-40B4-BE49-F238E27FC236}">
                <a16:creationId xmlns:a16="http://schemas.microsoft.com/office/drawing/2014/main" id="{BFD454AB-71C0-49DA-90F1-D35CDE577D2D}"/>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PROMPT STRUCTURE SKETCH</a:t>
            </a:r>
          </a:p>
        </p:txBody>
      </p:sp>
      <p:sp>
        <p:nvSpPr>
          <p:cNvPr id="4" name="">
            <a:extLst xmlns:a="http://schemas.openxmlformats.org/drawingml/2006/main">
              <a:ext uri="{FF2B5EF4-FFF2-40B4-BE49-F238E27FC236}">
                <a16:creationId xmlns:a16="http://schemas.microsoft.com/office/drawing/2014/main" id="{EA0F97EC-F50C-4EDA-96D4-3ED1BEFE6FA5}"/>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14BD704F-39EA-4F6A-9CAB-C9DB532DBE05}"/>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math_prompt = ChatPromptTemplate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System instructions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Human message: {question}</a:t>
            </a:r>
          </a:p>
        </p:txBody>
      </p:sp>
      <p:sp>
        <p:nvSpPr>
          <p:cNvPr id="6" name="">
            <a:extLst xmlns:a="http://schemas.openxmlformats.org/drawingml/2006/main">
              <a:ext uri="{FF2B5EF4-FFF2-40B4-BE49-F238E27FC236}">
                <a16:creationId xmlns:a16="http://schemas.microsoft.com/office/drawing/2014/main" id="{A83D71AC-DE57-4072-A89B-41CBAB7F26D4}"/>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Use tools for calculations.</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Ask for missing numbers.</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Preserve subtraction order.</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Report division by zero.</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Begin with one operation and two numbers.</a:t>
            </a:r>
          </a:p>
        </p:txBody>
      </p:sp>
      <p:sp>
        <p:nvSpPr>
          <p:cNvPr id="7" name="">
            <a:extLst xmlns:a="http://schemas.openxmlformats.org/drawingml/2006/main">
              <a:ext uri="{FF2B5EF4-FFF2-40B4-BE49-F238E27FC236}">
                <a16:creationId xmlns:a16="http://schemas.microsoft.com/office/drawing/2014/main" id="{72C4512B-11A9-44CB-9280-97FE4F425838}"/>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B5729342-0943-4980-BE17-E553CE87EAD3}"/>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M9  ·  18</a:t>
            </a:r>
          </a:p>
        </p:txBody>
      </p:sp>
    </p:spTree>
    <p:extLst>
      <p:ext uri="{BB962C8B-B14F-4D97-AF65-F5344CB8AC3E}">
        <p14:creationId xmlns:p14="http://schemas.microsoft.com/office/powerpoint/2010/main" val="12326576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B2EA5E-35D1-4D3E-BED6-0CA848C7B1C5}"/>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36ECA413-32D0-45FF-AB08-0C3B97CEE693}"/>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user enters a maths question</a:t>
            </a:r>
          </a:p>
        </p:txBody>
      </p:sp>
      <p:sp>
        <p:nvSpPr>
          <p:cNvPr id="3" name="">
            <a:extLst xmlns:a="http://schemas.openxmlformats.org/drawingml/2006/main">
              <a:ext uri="{FF2B5EF4-FFF2-40B4-BE49-F238E27FC236}">
                <a16:creationId xmlns:a16="http://schemas.microsoft.com/office/drawing/2014/main" id="{0150E98B-5BA1-4DAE-8370-F4C2B8D74B2C}"/>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301D1749-9538-41F8-9930-A783DB634D91}"/>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CE49EE85-994D-4C53-B846-D123AD339C6C}"/>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math_question = input(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"Ask a maths question: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).strip()</a:t>
            </a:r>
          </a:p>
          <a:p xmlns:a="http://schemas.openxmlformats.org/drawingml/2006/main">
            <a:r>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math_messages = math_prompt.invoke(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{"question": math_question}</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).to_messages()</a:t>
            </a:r>
          </a:p>
        </p:txBody>
      </p:sp>
      <p:sp>
        <p:nvSpPr>
          <p:cNvPr id="6" name="">
            <a:extLst xmlns:a="http://schemas.openxmlformats.org/drawingml/2006/main">
              <a:ext uri="{FF2B5EF4-FFF2-40B4-BE49-F238E27FC236}">
                <a16:creationId xmlns:a16="http://schemas.microsoft.com/office/drawing/2014/main" id="{A1E54AF2-7996-4248-80C3-95C4CDDB5E9D}"/>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“Multiply 6 by 7.”</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input reads the user’s text.</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strip removes extra spaces.</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prompt turns it into messages.</a:t>
            </a:r>
          </a:p>
        </p:txBody>
      </p:sp>
      <p:sp>
        <p:nvSpPr>
          <p:cNvPr id="7" name="">
            <a:extLst xmlns:a="http://schemas.openxmlformats.org/drawingml/2006/main">
              <a:ext uri="{FF2B5EF4-FFF2-40B4-BE49-F238E27FC236}">
                <a16:creationId xmlns:a16="http://schemas.microsoft.com/office/drawing/2014/main" id="{D63A719B-837B-4C97-8E83-06F3E8862EF4}"/>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BB4CBFF0-D8E1-4C1A-85C0-697CE27E6070}"/>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M10  ·  19</a:t>
            </a:r>
          </a:p>
        </p:txBody>
      </p:sp>
    </p:spTree>
    <p:extLst>
      <p:ext uri="{BB962C8B-B14F-4D97-AF65-F5344CB8AC3E}">
        <p14:creationId xmlns:p14="http://schemas.microsoft.com/office/powerpoint/2010/main" val="4561082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6044A0-D8D1-4C6B-BCE5-406FDBF9674D}"/>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F8881C44-7E42-4FB6-B847-FC2BF8A2C906}"/>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first LLM call requests a tool</a:t>
            </a:r>
          </a:p>
        </p:txBody>
      </p:sp>
      <p:sp>
        <p:nvSpPr>
          <p:cNvPr id="3" name="">
            <a:extLst xmlns:a="http://schemas.openxmlformats.org/drawingml/2006/main">
              <a:ext uri="{FF2B5EF4-FFF2-40B4-BE49-F238E27FC236}">
                <a16:creationId xmlns:a16="http://schemas.microsoft.com/office/drawing/2014/main" id="{C2D46FC4-5608-48E8-B46C-7BB59B5EF285}"/>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F1748C37-DAC6-4529-9D39-46EAD49A72CF}"/>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E5F75634-2BDD-4B0C-8660-8B88ECDDD9C5}"/>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math_request = math_llm.invoke(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math_messages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a:p xmlns:a="http://schemas.openxmlformats.org/drawingml/2006/main">
            <a:r>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print(math_request.tool_calls)</a:t>
            </a:r>
          </a:p>
        </p:txBody>
      </p:sp>
      <p:sp>
        <p:nvSpPr>
          <p:cNvPr id="6" name="">
            <a:extLst xmlns:a="http://schemas.openxmlformats.org/drawingml/2006/main">
              <a:ext uri="{FF2B5EF4-FFF2-40B4-BE49-F238E27FC236}">
                <a16:creationId xmlns:a16="http://schemas.microsoft.com/office/drawing/2014/main" id="{D022FD82-E0F8-4123-9507-C5FD3FAB23AE}"/>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Expected request:</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name: multiply_numbers</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args: a = 6, b = 7</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id: a unique request label</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calculation still awaits Python.</a:t>
            </a:r>
          </a:p>
        </p:txBody>
      </p:sp>
      <p:sp>
        <p:nvSpPr>
          <p:cNvPr id="7" name="">
            <a:extLst xmlns:a="http://schemas.openxmlformats.org/drawingml/2006/main">
              <a:ext uri="{FF2B5EF4-FFF2-40B4-BE49-F238E27FC236}">
                <a16:creationId xmlns:a16="http://schemas.microsoft.com/office/drawing/2014/main" id="{8E03542C-DE94-4343-82A6-997FA458BBD6}"/>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4664E4E0-9E2E-4980-B0F6-3C8CEF82756E}"/>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M10  ·  20</a:t>
            </a:r>
          </a:p>
        </p:txBody>
      </p:sp>
    </p:spTree>
    <p:extLst>
      <p:ext uri="{BB962C8B-B14F-4D97-AF65-F5344CB8AC3E}">
        <p14:creationId xmlns:p14="http://schemas.microsoft.com/office/powerpoint/2010/main" val="157555996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D751C8-A890-4292-9B9D-A90CE8B59B06}"/>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861246DB-1B1D-4CDC-8388-07BE61F1D166}"/>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Python selects the requested name</a:t>
            </a:r>
          </a:p>
        </p:txBody>
      </p:sp>
      <p:sp>
        <p:nvSpPr>
          <p:cNvPr id="3" name="">
            <a:extLst xmlns:a="http://schemas.openxmlformats.org/drawingml/2006/main">
              <a:ext uri="{FF2B5EF4-FFF2-40B4-BE49-F238E27FC236}">
                <a16:creationId xmlns:a16="http://schemas.microsoft.com/office/drawing/2014/main" id="{4D248BEA-4519-4B6B-A471-9B8F1E2A72AE}"/>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EXECUTION HELPER, PART 1</a:t>
            </a:r>
          </a:p>
        </p:txBody>
      </p:sp>
      <p:sp>
        <p:nvSpPr>
          <p:cNvPr id="4" name="">
            <a:extLst xmlns:a="http://schemas.openxmlformats.org/drawingml/2006/main">
              <a:ext uri="{FF2B5EF4-FFF2-40B4-BE49-F238E27FC236}">
                <a16:creationId xmlns:a16="http://schemas.microsoft.com/office/drawing/2014/main" id="{08367E4F-2463-4F7C-A549-D68C2AB012FE}"/>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8F8E4B2A-572F-473F-A3F9-AA4266E7C922}"/>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tool_name = call["name"]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inputs = call["args"]</a:t>
            </a:r>
          </a:p>
          <a:p xmlns:a="http://schemas.openxmlformats.org/drawingml/2006/main">
            <a:r>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if tool_name == "add_numbers":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result = add_numbers.invoke(inputs)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elif tool_name == "subtract_numbers":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result = subtract_numbers.invoke(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inputs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p:txBody>
      </p:sp>
      <p:sp>
        <p:nvSpPr>
          <p:cNvPr id="6" name="">
            <a:extLst xmlns:a="http://schemas.openxmlformats.org/drawingml/2006/main">
              <a:ext uri="{FF2B5EF4-FFF2-40B4-BE49-F238E27FC236}">
                <a16:creationId xmlns:a16="http://schemas.microsoft.com/office/drawing/2014/main" id="{87CE7C4D-6EC1-4412-8376-BDB016BEABB8}"/>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name identifies the chosen tool.</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args holds its inputs.</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if / elif selects a matching branch.</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LLM already chose the operation.</a:t>
            </a:r>
          </a:p>
        </p:txBody>
      </p:sp>
      <p:sp>
        <p:nvSpPr>
          <p:cNvPr id="7" name="">
            <a:extLst xmlns:a="http://schemas.openxmlformats.org/drawingml/2006/main">
              <a:ext uri="{FF2B5EF4-FFF2-40B4-BE49-F238E27FC236}">
                <a16:creationId xmlns:a16="http://schemas.microsoft.com/office/drawing/2014/main" id="{741A24AB-E591-4945-812E-8D774C8ED760}"/>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994904C1-DEB4-4BD4-A02B-9B45B852B2C0}"/>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M11  ·  21</a:t>
            </a:r>
          </a:p>
        </p:txBody>
      </p:sp>
    </p:spTree>
    <p:extLst>
      <p:ext uri="{BB962C8B-B14F-4D97-AF65-F5344CB8AC3E}">
        <p14:creationId xmlns:p14="http://schemas.microsoft.com/office/powerpoint/2010/main" val="201155081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652CF3-0F40-48EB-9B8F-1290A9EAC62B}"/>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D44E63EF-3918-4C21-A94D-0FD207B94068}"/>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app accepts its own tools</a:t>
            </a:r>
          </a:p>
        </p:txBody>
      </p:sp>
      <p:sp>
        <p:nvSpPr>
          <p:cNvPr id="3" name="">
            <a:extLst xmlns:a="http://schemas.openxmlformats.org/drawingml/2006/main">
              <a:ext uri="{FF2B5EF4-FFF2-40B4-BE49-F238E27FC236}">
                <a16:creationId xmlns:a16="http://schemas.microsoft.com/office/drawing/2014/main" id="{06FE3DDB-7286-4E40-9946-D984252E0173}"/>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EXECUTION HELPER, PART 2</a:t>
            </a:r>
          </a:p>
        </p:txBody>
      </p:sp>
      <p:sp>
        <p:nvSpPr>
          <p:cNvPr id="4" name="">
            <a:extLst xmlns:a="http://schemas.openxmlformats.org/drawingml/2006/main">
              <a:ext uri="{FF2B5EF4-FFF2-40B4-BE49-F238E27FC236}">
                <a16:creationId xmlns:a16="http://schemas.microsoft.com/office/drawing/2014/main" id="{04D0DDEF-8808-4E00-AF92-F5220343FEF7}"/>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EF93E716-9E89-4225-A470-131998CAA13A}"/>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elif tool_name == "multiply_numbers":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result = multiply_numbers.invoke(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inputs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elif tool_name == "divide_numbers":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result = divide_numbers.invoke(inputs)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else: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result = "Tool unavailable."</a:t>
            </a:r>
          </a:p>
        </p:txBody>
      </p:sp>
      <p:sp>
        <p:nvSpPr>
          <p:cNvPr id="6" name="">
            <a:extLst xmlns:a="http://schemas.openxmlformats.org/drawingml/2006/main">
              <a:ext uri="{FF2B5EF4-FFF2-40B4-BE49-F238E27FC236}">
                <a16:creationId xmlns:a16="http://schemas.microsoft.com/office/drawing/2014/main" id="{8F29AA96-6ED4-4BFC-B54A-3AF5ED4751E0}"/>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Only our four names can run.</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full helper catches invalid inputs.</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str(result) prepares text for the response message.</a:t>
            </a:r>
          </a:p>
        </p:txBody>
      </p:sp>
      <p:sp>
        <p:nvSpPr>
          <p:cNvPr id="7" name="">
            <a:extLst xmlns:a="http://schemas.openxmlformats.org/drawingml/2006/main">
              <a:ext uri="{FF2B5EF4-FFF2-40B4-BE49-F238E27FC236}">
                <a16:creationId xmlns:a16="http://schemas.microsoft.com/office/drawing/2014/main" id="{1638D3CC-D958-4791-B495-A05A2FFBB83F}"/>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F9D2DE82-6807-4C03-87AF-C0062B87C4C0}"/>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M11  ·  22</a:t>
            </a:r>
          </a:p>
        </p:txBody>
      </p:sp>
    </p:spTree>
    <p:extLst>
      <p:ext uri="{BB962C8B-B14F-4D97-AF65-F5344CB8AC3E}">
        <p14:creationId xmlns:p14="http://schemas.microsoft.com/office/powerpoint/2010/main" val="48663818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25329A-173C-4BE3-8B16-189B9787AA7C}"/>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0A2A17B2-8705-4F3F-8AD5-7DECC1C7105A}"/>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A matching result goes back to the LLM</a:t>
            </a:r>
          </a:p>
        </p:txBody>
      </p:sp>
      <p:sp>
        <p:nvSpPr>
          <p:cNvPr id="3" name="">
            <a:extLst xmlns:a="http://schemas.openxmlformats.org/drawingml/2006/main">
              <a:ext uri="{FF2B5EF4-FFF2-40B4-BE49-F238E27FC236}">
                <a16:creationId xmlns:a16="http://schemas.microsoft.com/office/drawing/2014/main" id="{D670B0B9-591F-4037-BEDC-41B46D1CED3D}"/>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DDBC8D5E-F483-4048-A2E0-84069C6A183C}"/>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5C336393-9FDA-4E17-B3DD-D6B1AD8D3E09}"/>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math_messages.append(math_request)</a:t>
            </a:r>
          </a:p>
          <a:p xmlns:a="http://schemas.openxmlformats.org/drawingml/2006/main">
            <a:r>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for call in math_request.tool_calls: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result = execute_math_call(call)</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math_messages.append(ToolMessage(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content=result,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tool_call_id=call["id"]</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p:txBody>
      </p:sp>
      <p:sp>
        <p:nvSpPr>
          <p:cNvPr id="6" name="">
            <a:extLst xmlns:a="http://schemas.openxmlformats.org/drawingml/2006/main">
              <a:ext uri="{FF2B5EF4-FFF2-40B4-BE49-F238E27FC236}">
                <a16:creationId xmlns:a16="http://schemas.microsoft.com/office/drawing/2014/main" id="{6BC65A4D-8B14-41D9-B954-760D25637EAF}"/>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Keep the original request.</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Run every requested call.</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result ID must match its request ID.</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Watch the printed Python result.</a:t>
            </a:r>
          </a:p>
        </p:txBody>
      </p:sp>
      <p:sp>
        <p:nvSpPr>
          <p:cNvPr id="7" name="">
            <a:extLst xmlns:a="http://schemas.openxmlformats.org/drawingml/2006/main">
              <a:ext uri="{FF2B5EF4-FFF2-40B4-BE49-F238E27FC236}">
                <a16:creationId xmlns:a16="http://schemas.microsoft.com/office/drawing/2014/main" id="{4DF5BDF0-8861-4989-913A-D0BAB694F488}"/>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63C196CF-862E-4AF5-A7C4-C35FB8540944}"/>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M12  ·  23</a:t>
            </a:r>
          </a:p>
        </p:txBody>
      </p:sp>
    </p:spTree>
    <p:extLst>
      <p:ext uri="{BB962C8B-B14F-4D97-AF65-F5344CB8AC3E}">
        <p14:creationId xmlns:p14="http://schemas.microsoft.com/office/powerpoint/2010/main" val="75564626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7695B8-D0B2-46DA-881B-BB15690D493F}"/>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33AAB4F3-957D-4B5E-B937-91F89E7E8723}"/>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model explains Python’s answer</a:t>
            </a:r>
          </a:p>
        </p:txBody>
      </p:sp>
      <p:sp>
        <p:nvSpPr>
          <p:cNvPr id="3" name="">
            <a:extLst xmlns:a="http://schemas.openxmlformats.org/drawingml/2006/main">
              <a:ext uri="{FF2B5EF4-FFF2-40B4-BE49-F238E27FC236}">
                <a16:creationId xmlns:a16="http://schemas.microsoft.com/office/drawing/2014/main" id="{13698D35-0E4C-41A8-A74D-81B7C7DBBFE1}"/>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F4FFE126-89BF-4A46-8BD6-24AC70E85439}"/>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21127A86-DB42-46E3-8E06-5CA0793FB2BA}"/>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if math_request.tool_calls: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math_answer = llm.invoke(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math_messages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print(math_answer.content)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else: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print(math_request.content)</a:t>
            </a:r>
          </a:p>
        </p:txBody>
      </p:sp>
      <p:sp>
        <p:nvSpPr>
          <p:cNvPr id="6" name="">
            <a:extLst xmlns:a="http://schemas.openxmlformats.org/drawingml/2006/main">
              <a:ext uri="{FF2B5EF4-FFF2-40B4-BE49-F238E27FC236}">
                <a16:creationId xmlns:a16="http://schemas.microsoft.com/office/drawing/2014/main" id="{845639C0-675E-4BE0-AA8D-C196F94413D2}"/>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Python result: 42.0</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Example final answer:</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“6 multiplied by 7 is 42.”</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original llm completes the explanation.</a:t>
            </a:r>
          </a:p>
        </p:txBody>
      </p:sp>
      <p:sp>
        <p:nvSpPr>
          <p:cNvPr id="7" name="">
            <a:extLst xmlns:a="http://schemas.openxmlformats.org/drawingml/2006/main">
              <a:ext uri="{FF2B5EF4-FFF2-40B4-BE49-F238E27FC236}">
                <a16:creationId xmlns:a16="http://schemas.microsoft.com/office/drawing/2014/main" id="{19205B70-CC1B-4D6A-89D8-7CC122EE5A9C}"/>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256CCE98-DD31-40D2-924C-4E9AF465C2D0}"/>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M13  ·  24</a:t>
            </a:r>
          </a:p>
        </p:txBody>
      </p:sp>
    </p:spTree>
    <p:extLst>
      <p:ext uri="{BB962C8B-B14F-4D97-AF65-F5344CB8AC3E}">
        <p14:creationId xmlns:p14="http://schemas.microsoft.com/office/powerpoint/2010/main" val="99530762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96BFB8-AF48-4105-A5D8-3670EA889CA1}"/>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06E46079-FEC8-4BB8-ABD0-449209F089B9}"/>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complete maths app prepares a request</a:t>
            </a:r>
          </a:p>
        </p:txBody>
      </p:sp>
      <p:sp>
        <p:nvSpPr>
          <p:cNvPr id="3" name="">
            <a:extLst xmlns:a="http://schemas.openxmlformats.org/drawingml/2006/main">
              <a:ext uri="{FF2B5EF4-FFF2-40B4-BE49-F238E27FC236}">
                <a16:creationId xmlns:a16="http://schemas.microsoft.com/office/drawing/2014/main" id="{35F74E90-6B52-4988-A27F-37B3034D4803}"/>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CORE FLOW, PART 1</a:t>
            </a:r>
          </a:p>
        </p:txBody>
      </p:sp>
      <p:sp>
        <p:nvSpPr>
          <p:cNvPr id="4" name="">
            <a:extLst xmlns:a="http://schemas.openxmlformats.org/drawingml/2006/main">
              <a:ext uri="{FF2B5EF4-FFF2-40B4-BE49-F238E27FC236}">
                <a16:creationId xmlns:a16="http://schemas.microsoft.com/office/drawing/2014/main" id="{754924B8-C2F0-4C63-8092-82BF1CB8983D}"/>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10F5FAE1-84CE-471F-88AD-2B0C85B1ED08}"/>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ask_math_assistant(question):</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messages = math_prompt.invoke(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{"question": question}</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).to_messages()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request = math_llm.invoke(messages)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if not request.tool_calls: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request.content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messages.append(request)</a:t>
            </a:r>
          </a:p>
        </p:txBody>
      </p:sp>
      <p:sp>
        <p:nvSpPr>
          <p:cNvPr id="6" name="">
            <a:extLst xmlns:a="http://schemas.openxmlformats.org/drawingml/2006/main">
              <a:ext uri="{FF2B5EF4-FFF2-40B4-BE49-F238E27FC236}">
                <a16:creationId xmlns:a16="http://schemas.microsoft.com/office/drawing/2014/main" id="{E103391B-3654-49EF-94FC-965491B0DA9D}"/>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These are the same steps we just ran.</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 direct explanation or a missing input may need no tool.</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notebook also checks invalid requests.</a:t>
            </a:r>
          </a:p>
        </p:txBody>
      </p:sp>
      <p:sp>
        <p:nvSpPr>
          <p:cNvPr id="7" name="">
            <a:extLst xmlns:a="http://schemas.openxmlformats.org/drawingml/2006/main">
              <a:ext uri="{FF2B5EF4-FFF2-40B4-BE49-F238E27FC236}">
                <a16:creationId xmlns:a16="http://schemas.microsoft.com/office/drawing/2014/main" id="{821562BA-646F-4729-B0DA-7AF010BB3219}"/>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3AC75F52-C6C9-40F8-9CDC-383D81CA6257}"/>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M14  ·  25</a:t>
            </a:r>
          </a:p>
        </p:txBody>
      </p:sp>
    </p:spTree>
    <p:extLst>
      <p:ext uri="{BB962C8B-B14F-4D97-AF65-F5344CB8AC3E}">
        <p14:creationId xmlns:p14="http://schemas.microsoft.com/office/powerpoint/2010/main" val="16197723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419066-9882-4D96-A96C-D4A753F06FC2}"/>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58F297C7-3E85-4165-A383-FE0ED8872F86}"/>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complete maths app returns an answer</a:t>
            </a:r>
          </a:p>
        </p:txBody>
      </p:sp>
      <p:sp>
        <p:nvSpPr>
          <p:cNvPr id="3" name="">
            <a:extLst xmlns:a="http://schemas.openxmlformats.org/drawingml/2006/main">
              <a:ext uri="{FF2B5EF4-FFF2-40B4-BE49-F238E27FC236}">
                <a16:creationId xmlns:a16="http://schemas.microsoft.com/office/drawing/2014/main" id="{6880123D-1F83-43EB-9225-A65168175FC8}"/>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CORE FLOW, PART 2</a:t>
            </a:r>
          </a:p>
        </p:txBody>
      </p:sp>
      <p:sp>
        <p:nvSpPr>
          <p:cNvPr id="4" name="">
            <a:extLst xmlns:a="http://schemas.openxmlformats.org/drawingml/2006/main">
              <a:ext uri="{FF2B5EF4-FFF2-40B4-BE49-F238E27FC236}">
                <a16:creationId xmlns:a16="http://schemas.microsoft.com/office/drawing/2014/main" id="{0002445D-021A-4F23-932E-6438FA05DAA0}"/>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F6D4E917-6A84-45EA-94A3-687394431F65}"/>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for call in request.tool_calls: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result = execute_math_call(call)</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messages.append(ToolMessage(</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content=result,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tool_call_id=call["id"]</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answer = llm.invoke(messages)</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answer.content</a:t>
            </a:r>
          </a:p>
        </p:txBody>
      </p:sp>
      <p:sp>
        <p:nvSpPr>
          <p:cNvPr id="6" name="">
            <a:extLst xmlns:a="http://schemas.openxmlformats.org/drawingml/2006/main">
              <a:ext uri="{FF2B5EF4-FFF2-40B4-BE49-F238E27FC236}">
                <a16:creationId xmlns:a16="http://schemas.microsoft.com/office/drawing/2014/main" id="{E8A18BDD-B062-4094-8C8D-43D3F42F2907}"/>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Reuse our execution helper.</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Return a result for every call.</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Ask for the final explanation.</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Each question starts fresh.</a:t>
            </a:r>
          </a:p>
        </p:txBody>
      </p:sp>
      <p:sp>
        <p:nvSpPr>
          <p:cNvPr id="7" name="">
            <a:extLst xmlns:a="http://schemas.openxmlformats.org/drawingml/2006/main">
              <a:ext uri="{FF2B5EF4-FFF2-40B4-BE49-F238E27FC236}">
                <a16:creationId xmlns:a16="http://schemas.microsoft.com/office/drawing/2014/main" id="{EBF2FCE5-C38A-401E-9399-4E164DE680D5}"/>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16E037A8-A766-4EEC-9D07-6FB944C17C82}"/>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M14  ·  26</a:t>
            </a:r>
          </a:p>
        </p:txBody>
      </p:sp>
    </p:spTree>
    <p:extLst>
      <p:ext uri="{BB962C8B-B14F-4D97-AF65-F5344CB8AC3E}">
        <p14:creationId xmlns:p14="http://schemas.microsoft.com/office/powerpoint/2010/main" val="19167094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4AE8B5-9F3A-45D6-AA10-4BDFEF23ADA5}"/>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3FEF7E03-226B-47BE-AD8F-4CC61E6FDD0D}"/>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A user can choose the calculation</a:t>
            </a:r>
          </a:p>
        </p:txBody>
      </p:sp>
      <p:sp>
        <p:nvSpPr>
          <p:cNvPr id="3" name="">
            <a:extLst xmlns:a="http://schemas.openxmlformats.org/drawingml/2006/main">
              <a:ext uri="{FF2B5EF4-FFF2-40B4-BE49-F238E27FC236}">
                <a16:creationId xmlns:a16="http://schemas.microsoft.com/office/drawing/2014/main" id="{9081DA75-0F0E-4F20-BB06-E28AEB18F1C8}"/>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E930C34C-61E3-495A-834D-D8BDFB3C6E61}"/>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EXPLANATION</a:t>
            </a:r>
          </a:p>
        </p:txBody>
      </p:sp>
      <p:sp>
        <p:nvSpPr>
          <p:cNvPr id="5" name="">
            <a:extLst xmlns:a="http://schemas.openxmlformats.org/drawingml/2006/main">
              <a:ext uri="{FF2B5EF4-FFF2-40B4-BE49-F238E27FC236}">
                <a16:creationId xmlns:a16="http://schemas.microsoft.com/office/drawing/2014/main" id="{D631D57A-EED8-4079-9BB2-468B0F817F3D}"/>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question = input(</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"Ask your maths assistant: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).strip()</a:t>
            </a:r>
          </a:p>
          <a:p xmlns:a="http://schemas.openxmlformats.org/drawingml/2006/main">
            <a:r>
              <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answer = ask_math_assistant(question)</a:t>
            </a:r>
          </a:p>
          <a:p xmlns:a="http://schemas.openxmlformats.org/drawingml/2006/main">
            <a:pPr>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print("Assistant:", answer)</a:t>
            </a:r>
          </a:p>
        </p:txBody>
      </p:sp>
      <p:sp>
        <p:nvSpPr>
          <p:cNvPr id="6" name="">
            <a:extLst xmlns:a="http://schemas.openxmlformats.org/drawingml/2006/main">
              <a:ext uri="{FF2B5EF4-FFF2-40B4-BE49-F238E27FC236}">
                <a16:creationId xmlns:a16="http://schemas.microsoft.com/office/drawing/2014/main" id="{5163C340-F173-42B5-8E6D-F66B4C44CB35}"/>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Try each operation:</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“Add 12 and 8.”</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“Subtract 4 from 15.”</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“Multiply 6 by 7.”</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“Divide 20 by 4.”</a:t>
            </a:r>
          </a:p>
          <a:p xmlns:a="http://schemas.openxmlformats.org/drawingml/2006/main">
            <a:r>
              <a:t/>
            </a:r>
          </a:p>
          <a:p xmlns:a="http://schemas.openxmlformats.org/drawingml/2006/main">
            <a:pPr>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Watch which tool the LLM chooses.</a:t>
            </a:r>
          </a:p>
        </p:txBody>
      </p:sp>
      <p:sp>
        <p:nvSpPr>
          <p:cNvPr id="7" name="">
            <a:extLst xmlns:a="http://schemas.openxmlformats.org/drawingml/2006/main">
              <a:ext uri="{FF2B5EF4-FFF2-40B4-BE49-F238E27FC236}">
                <a16:creationId xmlns:a16="http://schemas.microsoft.com/office/drawing/2014/main" id="{B754E615-136E-4D73-91BF-2F58E477E340}"/>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3422CE17-155F-4071-8BC0-1B0A90596F34}"/>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M15  ·  27</a:t>
            </a:r>
          </a:p>
        </p:txBody>
      </p:sp>
    </p:spTree>
    <p:extLst>
      <p:ext uri="{BB962C8B-B14F-4D97-AF65-F5344CB8AC3E}">
        <p14:creationId xmlns:p14="http://schemas.microsoft.com/office/powerpoint/2010/main" val="22904570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C2E80D-98A1-4F5A-B09E-6E08A28D894A}"/>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1404040E-AEFC-4F55-B6ED-B397A3222FBF}"/>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Calculator checks before parcel tracking</a:t>
            </a:r>
          </a:p>
        </p:txBody>
      </p:sp>
      <p:graphicFrame>
        <p:nvGraphicFramePr>
          <p:cNvPr id="8" name=""/>
          <p:cNvGraphicFramePr/>
          <p:nvPr/>
        </p:nvGraphicFramePr>
        <p:xfrm>
          <a:off xmlns:a="http://schemas.openxmlformats.org/drawingml/2006/main" x="609600" y="2457450"/>
          <a:ext xmlns:a="http://schemas.openxmlformats.org/drawingml/2006/main" cx="14020800" cy="4572000"/>
        </p:xfrm>
        <a:graphic xmlns:a="http://schemas.openxmlformats.org/drawingml/2006/main">
          <a:graphicData uri="http://schemas.openxmlformats.org/drawingml/2006/table">
            <a:tbl>
              <a:tblPr/>
              <a:tblGrid>
                <a:gridCol w="6286500"/>
                <a:gridCol w="7734300"/>
              </a:tblGrid>
              <a:tr h="762000">
                <a:tc>
                  <a:txBody>
                    <a:bodyPr>
                      <a:noAutofit/>
                    </a:bodyPr>
                    <a:lstStyle/>
                    <a:p>
                      <a:r>
                        <a:rPr sz="2475" b="1">
                          <a:solidFill>
                            <a:srgbClr val="18233D"/>
                          </a:solidFill>
                          <a:latin typeface="DejaVu Sans"/>
                          <a:ea typeface="DejaVu Sans"/>
                          <a:cs typeface="DejaVu Sans"/>
                        </a:rPr>
                        <a:t>Question</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Behavior to check</a:t>
                      </a:r>
                    </a:p>
                  </a:txBody>
                  <a:tcPr marL="91440" marR="91440" marT="45720" marB="45720">
                    <a:solidFill>
                      <a:srgbClr val="DDEDF0"/>
                    </a:solidFill>
                  </a:tcPr>
                </a:tc>
              </a:tr>
              <a:tr h="762000">
                <a:tc>
                  <a:txBody>
                    <a:bodyPr>
                      <a:noAutofit/>
                    </a:bodyPr>
                    <a:lstStyle/>
                    <a:p>
                      <a:r>
                        <a:rPr sz="2475" b="0">
                          <a:solidFill>
                            <a:srgbClr val="18233D"/>
                          </a:solidFill>
                          <a:latin typeface="DejaVu Sans"/>
                          <a:ea typeface="DejaVu Sans"/>
                          <a:cs typeface="DejaVu Sans"/>
                        </a:rPr>
                        <a:t>Add 2.5 and 1.5</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Python returns 4.0</a:t>
                      </a:r>
                    </a:p>
                  </a:txBody>
                  <a:tcPr marL="91440" marR="91440" marT="45720" marB="45720">
                    <a:solidFill>
                      <a:srgbClr val="FFFFFF"/>
                    </a:solidFill>
                  </a:tcPr>
                </a:tc>
              </a:tr>
              <a:tr h="762000">
                <a:tc>
                  <a:txBody>
                    <a:bodyPr>
                      <a:noAutofit/>
                    </a:bodyPr>
                    <a:lstStyle/>
                    <a:p>
                      <a:r>
                        <a:rPr sz="2475" b="0">
                          <a:solidFill>
                            <a:srgbClr val="18233D"/>
                          </a:solidFill>
                          <a:latin typeface="DejaVu Sans"/>
                          <a:ea typeface="DejaVu Sans"/>
                          <a:cs typeface="DejaVu Sans"/>
                        </a:rPr>
                        <a:t>Subtract 4 from 15</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a = 15, b = 4; result 11</a:t>
                      </a:r>
                    </a:p>
                  </a:txBody>
                  <a:tcPr marL="91440" marR="91440" marT="45720" marB="45720">
                    <a:solidFill>
                      <a:srgbClr val="F4F8FA"/>
                    </a:solidFill>
                  </a:tcPr>
                </a:tc>
              </a:tr>
              <a:tr h="762000">
                <a:tc>
                  <a:txBody>
                    <a:bodyPr>
                      <a:noAutofit/>
                    </a:bodyPr>
                    <a:lstStyle/>
                    <a:p>
                      <a:r>
                        <a:rPr sz="2475" b="0">
                          <a:solidFill>
                            <a:srgbClr val="18233D"/>
                          </a:solidFill>
                          <a:latin typeface="DejaVu Sans"/>
                          <a:ea typeface="DejaVu Sans"/>
                          <a:cs typeface="DejaVu Sans"/>
                        </a:rPr>
                        <a:t>Divide 20 by 0</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Return the division-by-zero message</a:t>
                      </a:r>
                    </a:p>
                  </a:txBody>
                  <a:tcPr marL="91440" marR="91440" marT="45720" marB="45720">
                    <a:solidFill>
                      <a:srgbClr val="FFFFFF"/>
                    </a:solidFill>
                  </a:tcPr>
                </a:tc>
              </a:tr>
              <a:tr h="762000">
                <a:tc>
                  <a:txBody>
                    <a:bodyPr>
                      <a:noAutofit/>
                    </a:bodyPr>
                    <a:lstStyle/>
                    <a:p>
                      <a:r>
                        <a:rPr sz="2475" b="0">
                          <a:solidFill>
                            <a:srgbClr val="18233D"/>
                          </a:solidFill>
                          <a:latin typeface="DejaVu Sans"/>
                          <a:ea typeface="DejaVu Sans"/>
                          <a:cs typeface="DejaVu Sans"/>
                        </a:rPr>
                        <a:t>Add 5</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Ask for the missing second number</a:t>
                      </a:r>
                    </a:p>
                  </a:txBody>
                  <a:tcPr marL="91440" marR="91440" marT="45720" marB="45720">
                    <a:solidFill>
                      <a:srgbClr val="F4F8FA"/>
                    </a:solidFill>
                  </a:tcPr>
                </a:tc>
              </a:tr>
              <a:tr h="762000">
                <a:tc>
                  <a:txBody>
                    <a:bodyPr>
                      <a:noAutofit/>
                    </a:bodyPr>
                    <a:lstStyle/>
                    <a:p>
                      <a:r>
                        <a:rPr sz="2475" b="0">
                          <a:solidFill>
                            <a:srgbClr val="18233D"/>
                          </a:solidFill>
                          <a:latin typeface="DejaVu Sans"/>
                          <a:ea typeface="DejaVu Sans"/>
                          <a:cs typeface="DejaVu Sans"/>
                        </a:rPr>
                        <a:t>What is multiplication?</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Explain without an unnecessary calculation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5FBBE18-8EA8-4241-B241-0602A755D748}"/>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5" name="">
            <a:extLst xmlns:a="http://schemas.openxmlformats.org/drawingml/2006/main">
              <a:ext uri="{FF2B5EF4-FFF2-40B4-BE49-F238E27FC236}">
                <a16:creationId xmlns:a16="http://schemas.microsoft.com/office/drawing/2014/main" id="{FAA28224-282D-4592-8897-E197B5612470}"/>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M16  ·  28</a:t>
            </a:r>
          </a:p>
        </p:txBody>
      </p:sp>
    </p:spTree>
    <p:extLst>
      <p:ext uri="{BB962C8B-B14F-4D97-AF65-F5344CB8AC3E}">
        <p14:creationId xmlns:p14="http://schemas.microsoft.com/office/powerpoint/2010/main" val="201349478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51D20C-0E59-4A6F-AAA6-437099EA984F}"/>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MATHS TOOLS</a:t>
            </a:r>
          </a:p>
        </p:txBody>
      </p:sp>
      <p:sp>
        <p:nvSpPr>
          <p:cNvPr id="2" name="">
            <a:extLst xmlns:a="http://schemas.openxmlformats.org/drawingml/2006/main">
              <a:ext uri="{FF2B5EF4-FFF2-40B4-BE49-F238E27FC236}">
                <a16:creationId xmlns:a16="http://schemas.microsoft.com/office/drawing/2014/main" id="{1C0886CA-4A2D-4CED-A90D-84FE71F0BD38}"/>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same flow can look up a parcel</a:t>
            </a:r>
          </a:p>
        </p:txBody>
      </p:sp>
      <p:graphicFrame>
        <p:nvGraphicFramePr>
          <p:cNvPr id="8" name=""/>
          <p:cNvGraphicFramePr/>
          <p:nvPr/>
        </p:nvGraphicFramePr>
        <p:xfrm>
          <a:off xmlns:a="http://schemas.openxmlformats.org/drawingml/2006/main" x="609600" y="2457450"/>
          <a:ext xmlns:a="http://schemas.openxmlformats.org/drawingml/2006/main" cx="14020800" cy="4572000"/>
        </p:xfrm>
        <a:graphic xmlns:a="http://schemas.openxmlformats.org/drawingml/2006/main">
          <a:graphicData uri="http://schemas.openxmlformats.org/drawingml/2006/table">
            <a:tbl>
              <a:tblPr/>
              <a:tblGrid>
                <a:gridCol w="6286500"/>
                <a:gridCol w="7734300"/>
              </a:tblGrid>
              <a:tr h="762000">
                <a:tc>
                  <a:txBody>
                    <a:bodyPr>
                      <a:noAutofit/>
                    </a:bodyPr>
                    <a:lstStyle/>
                    <a:p>
                      <a:r>
                        <a:rPr sz="2475" b="1">
                          <a:solidFill>
                            <a:srgbClr val="18233D"/>
                          </a:solidFill>
                          <a:latin typeface="DejaVu Sans"/>
                          <a:ea typeface="DejaVu Sans"/>
                          <a:cs typeface="DejaVu Sans"/>
                        </a:rPr>
                        <a:t>Maths assistant</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Parcel assistant</a:t>
                      </a:r>
                    </a:p>
                  </a:txBody>
                  <a:tcPr marL="91440" marR="91440" marT="45720" marB="45720">
                    <a:solidFill>
                      <a:srgbClr val="DDEDF0"/>
                    </a:solidFill>
                  </a:tcPr>
                </a:tc>
              </a:tr>
              <a:tr h="762000">
                <a:tc>
                  <a:txBody>
                    <a:bodyPr>
                      <a:noAutofit/>
                    </a:bodyPr>
                    <a:lstStyle/>
                    <a:p>
                      <a:r>
                        <a:rPr sz="2475" b="0">
                          <a:solidFill>
                            <a:srgbClr val="18233D"/>
                          </a:solidFill>
                          <a:latin typeface="DejaVu Sans"/>
                          <a:ea typeface="DejaVu Sans"/>
                          <a:cs typeface="DejaVu Sans"/>
                        </a:rPr>
                        <a:t>a and b are numbers</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tracking_id is text</a:t>
                      </a:r>
                    </a:p>
                  </a:txBody>
                  <a:tcPr marL="91440" marR="91440" marT="45720" marB="45720">
                    <a:solidFill>
                      <a:srgbClr val="FFFFFF"/>
                    </a:solidFill>
                  </a:tcPr>
                </a:tc>
              </a:tr>
              <a:tr h="762000">
                <a:tc>
                  <a:txBody>
                    <a:bodyPr>
                      <a:noAutofit/>
                    </a:bodyPr>
                    <a:lstStyle/>
                    <a:p>
                      <a:r>
                        <a:rPr sz="2475" b="0">
                          <a:solidFill>
                            <a:srgbClr val="18233D"/>
                          </a:solidFill>
                          <a:latin typeface="DejaVu Sans"/>
                          <a:ea typeface="DejaVu Sans"/>
                          <a:cs typeface="DejaVu Sans"/>
                        </a:rPr>
                        <a:t>Four calculation tools</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One parcel lookup tool</a:t>
                      </a:r>
                    </a:p>
                  </a:txBody>
                  <a:tcPr marL="91440" marR="91440" marT="45720" marB="45720">
                    <a:solidFill>
                      <a:srgbClr val="F4F8FA"/>
                    </a:solidFill>
                  </a:tcPr>
                </a:tc>
              </a:tr>
              <a:tr h="762000">
                <a:tc>
                  <a:txBody>
                    <a:bodyPr>
                      <a:noAutofit/>
                    </a:bodyPr>
                    <a:lstStyle/>
                    <a:p>
                      <a:r>
                        <a:rPr sz="2475" b="0">
                          <a:solidFill>
                            <a:srgbClr val="18233D"/>
                          </a:solidFill>
                          <a:latin typeface="DejaVu Sans"/>
                          <a:ea typeface="DejaVu Sans"/>
                          <a:cs typeface="DejaVu Sans"/>
                        </a:rPr>
                        <a:t>Python calculates a result</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Python reads a saved status</a:t>
                      </a:r>
                    </a:p>
                  </a:txBody>
                  <a:tcPr marL="91440" marR="91440" marT="45720" marB="45720">
                    <a:solidFill>
                      <a:srgbClr val="FFFFFF"/>
                    </a:solidFill>
                  </a:tcPr>
                </a:tc>
              </a:tr>
              <a:tr h="762000">
                <a:tc>
                  <a:txBody>
                    <a:bodyPr>
                      <a:noAutofit/>
                    </a:bodyPr>
                    <a:lstStyle/>
                    <a:p>
                      <a:r>
                        <a:rPr sz="2475" b="0">
                          <a:solidFill>
                            <a:srgbClr val="18233D"/>
                          </a:solidFill>
                          <a:latin typeface="DejaVu Sans"/>
                          <a:ea typeface="DejaVu Sans"/>
                          <a:cs typeface="DejaVu Sans"/>
                        </a:rPr>
                        <a:t>Match result to request ID</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The same matching rule</a:t>
                      </a:r>
                    </a:p>
                  </a:txBody>
                  <a:tcPr marL="91440" marR="91440" marT="45720" marB="45720">
                    <a:solidFill>
                      <a:srgbClr val="F4F8FA"/>
                    </a:solidFill>
                  </a:tcPr>
                </a:tc>
              </a:tr>
              <a:tr h="762000">
                <a:tc>
                  <a:txBody>
                    <a:bodyPr>
                      <a:noAutofit/>
                    </a:bodyPr>
                    <a:lstStyle/>
                    <a:p>
                      <a:r>
                        <a:rPr sz="2475" b="0">
                          <a:solidFill>
                            <a:srgbClr val="18233D"/>
                          </a:solidFill>
                          <a:latin typeface="DejaVu Sans"/>
                          <a:ea typeface="DejaVu Sans"/>
                          <a:cs typeface="DejaVu Sans"/>
                        </a:rPr>
                        <a:t>LLM explains the result</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The same final explanation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9EE9125-7DB5-4345-A1FE-A73A919A9E92}"/>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5" name="">
            <a:extLst xmlns:a="http://schemas.openxmlformats.org/drawingml/2006/main">
              <a:ext uri="{FF2B5EF4-FFF2-40B4-BE49-F238E27FC236}">
                <a16:creationId xmlns:a16="http://schemas.microsoft.com/office/drawing/2014/main" id="{B251EA5D-FDD9-4BD4-80E5-123018C03BC5}"/>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M16  ·  29</a:t>
            </a:r>
          </a:p>
        </p:txBody>
      </p:sp>
    </p:spTree>
    <p:extLst>
      <p:ext uri="{BB962C8B-B14F-4D97-AF65-F5344CB8AC3E}">
        <p14:creationId xmlns:p14="http://schemas.microsoft.com/office/powerpoint/2010/main" val="77255749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B9D0D2-5BF8-413D-9C81-5AA20DCD6C4F}"/>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D3E846E3-82AB-414D-BF0B-323435A40106}"/>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Our first function</a:t>
            </a:r>
          </a:p>
        </p:txBody>
      </p:sp>
      <p:sp>
        <p:nvSpPr>
          <p:cNvPr id="3" name="">
            <a:extLst xmlns:a="http://schemas.openxmlformats.org/drawingml/2006/main">
              <a:ext uri="{FF2B5EF4-FFF2-40B4-BE49-F238E27FC236}">
                <a16:creationId xmlns:a16="http://schemas.microsoft.com/office/drawing/2014/main" id="{657707F6-F5B0-4E11-B71C-BC3B01A2D8F9}"/>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3D305C89-1B31-4C1E-8810-3786973B97D9}"/>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READ EACH LINE</a:t>
            </a:r>
          </a:p>
        </p:txBody>
      </p:sp>
      <p:sp>
        <p:nvSpPr>
          <p:cNvPr id="5" name="">
            <a:extLst xmlns:a="http://schemas.openxmlformats.org/drawingml/2006/main">
              <a:ext uri="{FF2B5EF4-FFF2-40B4-BE49-F238E27FC236}">
                <a16:creationId xmlns:a16="http://schemas.microsoft.com/office/drawing/2014/main" id="{77F32903-69E8-423D-82FC-157724FCF242}"/>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first_parcel_function(tracking_id):</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"Out for delivery in Multan."</a:t>
            </a:r>
          </a:p>
          <a:p xmlns:a="http://schemas.openxmlformats.org/drawingml/2006/main">
            <a:r>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print(first_parcel_function("PK101"))</a:t>
            </a:r>
          </a:p>
        </p:txBody>
      </p:sp>
      <p:sp>
        <p:nvSpPr>
          <p:cNvPr id="6" name="">
            <a:extLst xmlns:a="http://schemas.openxmlformats.org/drawingml/2006/main">
              <a:ext uri="{FF2B5EF4-FFF2-40B4-BE49-F238E27FC236}">
                <a16:creationId xmlns:a16="http://schemas.microsoft.com/office/drawing/2014/main" id="{3B0C9C0B-F19F-4922-B87B-D8D9E522871E}"/>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def names the task.</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tracking_id is its input.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return sends text back.</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Output: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Out for delivery in Multan.</a:t>
            </a:r>
          </a:p>
        </p:txBody>
      </p:sp>
      <p:sp>
        <p:nvSpPr>
          <p:cNvPr id="7" name="">
            <a:extLst xmlns:a="http://schemas.openxmlformats.org/drawingml/2006/main">
              <a:ext uri="{FF2B5EF4-FFF2-40B4-BE49-F238E27FC236}">
                <a16:creationId xmlns:a16="http://schemas.microsoft.com/office/drawing/2014/main" id="{7B70A99A-836F-49E4-94FA-7419E4D1E86D}"/>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DC134574-BAEC-4970-B477-68DA8D088AAC}"/>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  ·  30</a:t>
            </a:r>
          </a:p>
        </p:txBody>
      </p:sp>
    </p:spTree>
    <p:extLst>
      <p:ext uri="{BB962C8B-B14F-4D97-AF65-F5344CB8AC3E}">
        <p14:creationId xmlns:p14="http://schemas.microsoft.com/office/powerpoint/2010/main" val="196181994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DDDA53-DBA2-46C8-90D1-DF889A9B62D7}"/>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A57FEC6D-3D6D-4B3A-A64B-7780007C2019}"/>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A fixed answer has a limit</a:t>
            </a:r>
          </a:p>
        </p:txBody>
      </p:sp>
      <p:sp>
        <p:nvSpPr>
          <p:cNvPr id="3" name="">
            <a:extLst xmlns:a="http://schemas.openxmlformats.org/drawingml/2006/main">
              <a:ext uri="{FF2B5EF4-FFF2-40B4-BE49-F238E27FC236}">
                <a16:creationId xmlns:a16="http://schemas.microsoft.com/office/drawing/2014/main" id="{B7C3F52E-221B-4354-8008-71A9BE470C66}"/>
              </a:ext>
            </a:extLst>
          </p:cNvPr>
          <p:cNvSpPr>
            <a:spLocks xmlns:a="http://schemas.openxmlformats.org/drawingml/2006/main" noGrp="1"/>
          </p:cNvSpPr>
          <p:nvPr/>
        </p:nvSpPr>
        <p:spPr>
          <a:xfrm xmlns:a="http://schemas.openxmlformats.org/drawingml/2006/main">
            <a:off x="609600" y="22860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CURRENT OUTPUTS</a:t>
            </a:r>
          </a:p>
        </p:txBody>
      </p:sp>
      <p:sp>
        <p:nvSpPr>
          <p:cNvPr id="4" name="">
            <a:extLst xmlns:a="http://schemas.openxmlformats.org/drawingml/2006/main">
              <a:ext uri="{FF2B5EF4-FFF2-40B4-BE49-F238E27FC236}">
                <a16:creationId xmlns:a16="http://schemas.microsoft.com/office/drawing/2014/main" id="{B4AA4464-70B0-41A1-87A0-F1C9E2D5C8E6}"/>
              </a:ext>
            </a:extLst>
          </p:cNvPr>
          <p:cNvSpPr>
            <a:spLocks xmlns:a="http://schemas.openxmlformats.org/drawingml/2006/main" noGrp="1"/>
          </p:cNvSpPr>
          <p:nvPr/>
        </p:nvSpPr>
        <p:spPr>
          <a:xfrm xmlns:a="http://schemas.openxmlformats.org/drawingml/2006/main">
            <a:off x="8286750" y="2286000"/>
            <a:ext cx="6343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NEXT IMPROVEMENT</a:t>
            </a:r>
          </a:p>
        </p:txBody>
      </p:sp>
      <p:sp>
        <p:nvSpPr>
          <p:cNvPr id="5" name="">
            <a:extLst xmlns:a="http://schemas.openxmlformats.org/drawingml/2006/main">
              <a:ext uri="{FF2B5EF4-FFF2-40B4-BE49-F238E27FC236}">
                <a16:creationId xmlns:a16="http://schemas.microsoft.com/office/drawing/2014/main" id="{985B9F77-D126-4A93-A944-26C31B020C00}"/>
              </a:ext>
            </a:extLst>
          </p:cNvPr>
          <p:cNvSpPr>
            <a:spLocks xmlns:a="http://schemas.openxmlformats.org/drawingml/2006/main" noGrp="1"/>
          </p:cNvSpPr>
          <p:nvPr/>
        </p:nvSpPr>
        <p:spPr>
          <a:xfrm xmlns:a="http://schemas.openxmlformats.org/drawingml/2006/main">
            <a:off x="609600" y="3114675"/>
            <a:ext cx="666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PK101</a:t>
            </a:r>
          </a:p>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Out for delivery in Multan.</a:t>
            </a:r>
          </a:p>
          <a:p xmlns:a="http://schemas.openxmlformats.org/drawingml/2006/main">
            <a:r>
              <a:t/>
            </a:r>
          </a:p>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PK102</a:t>
            </a:r>
          </a:p>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Out for delivery in Multan.</a:t>
            </a:r>
          </a:p>
        </p:txBody>
      </p:sp>
      <p:sp>
        <p:nvSpPr>
          <p:cNvPr id="6" name="">
            <a:extLst xmlns:a="http://schemas.openxmlformats.org/drawingml/2006/main">
              <a:ext uri="{FF2B5EF4-FFF2-40B4-BE49-F238E27FC236}">
                <a16:creationId xmlns:a16="http://schemas.microsoft.com/office/drawing/2014/main" id="{AE272802-FBBB-44F9-9F77-555CB4620F28}"/>
              </a:ext>
            </a:extLst>
          </p:cNvPr>
          <p:cNvSpPr>
            <a:spLocks xmlns:a="http://schemas.openxmlformats.org/drawingml/2006/main" noGrp="1"/>
          </p:cNvSpPr>
          <p:nvPr/>
        </p:nvSpPr>
        <p:spPr>
          <a:xfrm xmlns:a="http://schemas.openxmlformats.org/drawingml/2006/main">
            <a:off x="8286750" y="3114675"/>
            <a:ext cx="634365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PK102 needs its own record.</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Our next function will</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use the supplied ID</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to find its saved status.</a:t>
            </a:r>
          </a:p>
        </p:txBody>
      </p:sp>
      <p:sp>
        <p:nvSpPr>
          <p:cNvPr id="7" name="">
            <a:extLst xmlns:a="http://schemas.openxmlformats.org/drawingml/2006/main">
              <a:ext uri="{FF2B5EF4-FFF2-40B4-BE49-F238E27FC236}">
                <a16:creationId xmlns:a16="http://schemas.microsoft.com/office/drawing/2014/main" id="{62B88FFF-5CF8-4EF7-AEBE-1B5A4288260A}"/>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166F90BB-1BE4-41AC-B403-F803F27512A2}"/>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  ·  31</a:t>
            </a:r>
          </a:p>
        </p:txBody>
      </p:sp>
    </p:spTree>
    <p:extLst>
      <p:ext uri="{BB962C8B-B14F-4D97-AF65-F5344CB8AC3E}">
        <p14:creationId xmlns:p14="http://schemas.microsoft.com/office/powerpoint/2010/main" val="2403032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221439-7E94-4A64-963F-A790DDF07BAF}"/>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59C68703-3CEC-4BFB-AE03-51BD41B60F16}"/>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Our tiny parcel database</a:t>
            </a:r>
          </a:p>
        </p:txBody>
      </p:sp>
      <p:sp>
        <p:nvSpPr>
          <p:cNvPr id="3" name="">
            <a:extLst xmlns:a="http://schemas.openxmlformats.org/drawingml/2006/main">
              <a:ext uri="{FF2B5EF4-FFF2-40B4-BE49-F238E27FC236}">
                <a16:creationId xmlns:a16="http://schemas.microsoft.com/office/drawing/2014/main" id="{E869B034-1D17-4361-AE9C-53D8D14F3253}"/>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SAMPLE PYTHON DATA</a:t>
            </a:r>
          </a:p>
        </p:txBody>
      </p:sp>
      <p:sp>
        <p:nvSpPr>
          <p:cNvPr id="4" name="">
            <a:extLst xmlns:a="http://schemas.openxmlformats.org/drawingml/2006/main">
              <a:ext uri="{FF2B5EF4-FFF2-40B4-BE49-F238E27FC236}">
                <a16:creationId xmlns:a16="http://schemas.microsoft.com/office/drawing/2014/main" id="{347AD60F-4946-4B9F-80CC-B98D05DA8467}"/>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KEY AND VALUE</a:t>
            </a:r>
          </a:p>
        </p:txBody>
      </p:sp>
      <p:sp>
        <p:nvSpPr>
          <p:cNvPr id="5" name="">
            <a:extLst xmlns:a="http://schemas.openxmlformats.org/drawingml/2006/main">
              <a:ext uri="{FF2B5EF4-FFF2-40B4-BE49-F238E27FC236}">
                <a16:creationId xmlns:a16="http://schemas.microsoft.com/office/drawing/2014/main" id="{991BF3F8-A6FD-4A39-A993-FEC1A837F35B}"/>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PARCELS =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"PK101": "Out for delivery in Multan.",</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"PK102": "In transit to Karachi.",</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"PK103": "Delivered in Lahore.",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p:txBody>
      </p:sp>
      <p:sp>
        <p:nvSpPr>
          <p:cNvPr id="6" name="">
            <a:extLst xmlns:a="http://schemas.openxmlformats.org/drawingml/2006/main">
              <a:ext uri="{FF2B5EF4-FFF2-40B4-BE49-F238E27FC236}">
                <a16:creationId xmlns:a16="http://schemas.microsoft.com/office/drawing/2014/main" id="{E3966FD4-7A52-4CCC-B5D6-F0A38A06D143}"/>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 dictionary stores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 value under a name.</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Tracking number = key</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Status = value</a:t>
            </a:r>
          </a:p>
        </p:txBody>
      </p:sp>
      <p:sp>
        <p:nvSpPr>
          <p:cNvPr id="7" name="">
            <a:extLst xmlns:a="http://schemas.openxmlformats.org/drawingml/2006/main">
              <a:ext uri="{FF2B5EF4-FFF2-40B4-BE49-F238E27FC236}">
                <a16:creationId xmlns:a16="http://schemas.microsoft.com/office/drawing/2014/main" id="{7AFC3D04-65AB-401A-B1B8-BD0CCB2A3A45}"/>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CE63310A-DDC8-46BA-9304-E1F2B09EA346}"/>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Labs 2–3  ·  32</a:t>
            </a:r>
          </a:p>
        </p:txBody>
      </p:sp>
    </p:spTree>
    <p:extLst>
      <p:ext uri="{BB962C8B-B14F-4D97-AF65-F5344CB8AC3E}">
        <p14:creationId xmlns:p14="http://schemas.microsoft.com/office/powerpoint/2010/main" val="13198534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E5E01C-1F5C-4A1D-BDE9-19EE12A3609E}"/>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6EC7904F-7E3E-4A19-A794-84600BD55D16}"/>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A function that reads the record</a:t>
            </a:r>
          </a:p>
        </p:txBody>
      </p:sp>
      <p:sp>
        <p:nvSpPr>
          <p:cNvPr id="3" name="">
            <a:extLst xmlns:a="http://schemas.openxmlformats.org/drawingml/2006/main">
              <a:ext uri="{FF2B5EF4-FFF2-40B4-BE49-F238E27FC236}">
                <a16:creationId xmlns:a16="http://schemas.microsoft.com/office/drawing/2014/main" id="{955E3811-1BD4-41E2-B4AA-774059E5633D}"/>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D85C1FC7-CC91-44EC-9E62-DF9A8BECAEE6}"/>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HOW THE LOOKUP WORKS</a:t>
            </a:r>
          </a:p>
        </p:txBody>
      </p:sp>
      <p:sp>
        <p:nvSpPr>
          <p:cNvPr id="5" name="">
            <a:extLst xmlns:a="http://schemas.openxmlformats.org/drawingml/2006/main">
              <a:ext uri="{FF2B5EF4-FFF2-40B4-BE49-F238E27FC236}">
                <a16:creationId xmlns:a16="http://schemas.microsoft.com/office/drawing/2014/main" id="{C1BA0CA0-967A-460D-A7A8-71326DA615EF}"/>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lookup_parcel(tracking_id):</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clean_id = tracking_id.strip().upper()</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PARCELS.get(</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clean_id, "Tracking number not found."</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p:txBody>
      </p:sp>
      <p:sp>
        <p:nvSpPr>
          <p:cNvPr id="6" name="">
            <a:extLst xmlns:a="http://schemas.openxmlformats.org/drawingml/2006/main">
              <a:ext uri="{FF2B5EF4-FFF2-40B4-BE49-F238E27FC236}">
                <a16:creationId xmlns:a16="http://schemas.microsoft.com/office/drawing/2014/main" id="{0A44684C-B658-4F84-A955-2FCB0AB79204}"/>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strip removes extra spaces.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upper makes capitals.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get reads the saved status.</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Unknown ID?</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Return “not found.”</a:t>
            </a:r>
          </a:p>
        </p:txBody>
      </p:sp>
      <p:sp>
        <p:nvSpPr>
          <p:cNvPr id="7" name="">
            <a:extLst xmlns:a="http://schemas.openxmlformats.org/drawingml/2006/main">
              <a:ext uri="{FF2B5EF4-FFF2-40B4-BE49-F238E27FC236}">
                <a16:creationId xmlns:a16="http://schemas.microsoft.com/office/drawing/2014/main" id="{D2DE71CF-0363-4DD0-865F-C22052949351}"/>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70E0C514-0ED3-4377-8835-C3B4B27CEF72}"/>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4  ·  33</a:t>
            </a:r>
          </a:p>
        </p:txBody>
      </p:sp>
    </p:spTree>
    <p:extLst>
      <p:ext uri="{BB962C8B-B14F-4D97-AF65-F5344CB8AC3E}">
        <p14:creationId xmlns:p14="http://schemas.microsoft.com/office/powerpoint/2010/main" val="25870732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4BBECC-4F6F-49F3-B23C-E2946411EAB4}"/>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886DD1A0-4F70-478B-9D8D-E61C742A4CB5}"/>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import that creates tools</a:t>
            </a:r>
          </a:p>
        </p:txBody>
      </p:sp>
      <p:sp>
        <p:nvSpPr>
          <p:cNvPr id="3" name="">
            <a:extLst xmlns:a="http://schemas.openxmlformats.org/drawingml/2006/main">
              <a:ext uri="{FF2B5EF4-FFF2-40B4-BE49-F238E27FC236}">
                <a16:creationId xmlns:a16="http://schemas.microsoft.com/office/drawing/2014/main" id="{428A7FB0-A447-4958-9889-466FB7D5DFCA}"/>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NEW IMPORT</a:t>
            </a:r>
          </a:p>
        </p:txBody>
      </p:sp>
      <p:sp>
        <p:nvSpPr>
          <p:cNvPr id="4" name="">
            <a:extLst xmlns:a="http://schemas.openxmlformats.org/drawingml/2006/main">
              <a:ext uri="{FF2B5EF4-FFF2-40B4-BE49-F238E27FC236}">
                <a16:creationId xmlns:a16="http://schemas.microsoft.com/office/drawing/2014/main" id="{6C6C1900-8E85-4579-B93D-2D7F2CE38BA7}"/>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WHAT THE WORDS MEAN</a:t>
            </a:r>
          </a:p>
        </p:txBody>
      </p:sp>
      <p:sp>
        <p:nvSpPr>
          <p:cNvPr id="5" name="">
            <a:extLst xmlns:a="http://schemas.openxmlformats.org/drawingml/2006/main">
              <a:ext uri="{FF2B5EF4-FFF2-40B4-BE49-F238E27FC236}">
                <a16:creationId xmlns:a16="http://schemas.microsoft.com/office/drawing/2014/main" id="{B3799383-4D27-46DD-9F02-0B6695621AE9}"/>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from langchain_core.tools import tool</a:t>
            </a:r>
          </a:p>
        </p:txBody>
      </p:sp>
      <p:sp>
        <p:nvSpPr>
          <p:cNvPr id="6" name="">
            <a:extLst xmlns:a="http://schemas.openxmlformats.org/drawingml/2006/main">
              <a:ext uri="{FF2B5EF4-FFF2-40B4-BE49-F238E27FC236}">
                <a16:creationId xmlns:a16="http://schemas.microsoft.com/office/drawing/2014/main" id="{F9E72DF0-6D0A-40E6-B2D4-C538D40C92F9}"/>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from selects the library.</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import brings in its helper.</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tool will wrap our function.</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No class needs to be written.</a:t>
            </a:r>
          </a:p>
        </p:txBody>
      </p:sp>
      <p:sp>
        <p:nvSpPr>
          <p:cNvPr id="7" name="">
            <a:extLst xmlns:a="http://schemas.openxmlformats.org/drawingml/2006/main">
              <a:ext uri="{FF2B5EF4-FFF2-40B4-BE49-F238E27FC236}">
                <a16:creationId xmlns:a16="http://schemas.microsoft.com/office/drawing/2014/main" id="{3E2899CF-AA3A-4629-97FC-B9FEBEF85C97}"/>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6281FDAF-0185-4C93-8586-143BFFDE99D0}"/>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5  ·  34</a:t>
            </a:r>
          </a:p>
        </p:txBody>
      </p:sp>
    </p:spTree>
    <p:extLst>
      <p:ext uri="{BB962C8B-B14F-4D97-AF65-F5344CB8AC3E}">
        <p14:creationId xmlns:p14="http://schemas.microsoft.com/office/powerpoint/2010/main" val="174987144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6B4F20-FC07-4B25-AD6C-E914E97BD95F}"/>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EEC1DA2C-295A-46C8-ABDA-9E99AFDB6C5F}"/>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Two details help the model choose</a:t>
            </a:r>
          </a:p>
        </p:txBody>
      </p:sp>
      <p:sp>
        <p:nvSpPr>
          <p:cNvPr id="3" name="">
            <a:extLst xmlns:a="http://schemas.openxmlformats.org/drawingml/2006/main">
              <a:ext uri="{FF2B5EF4-FFF2-40B4-BE49-F238E27FC236}">
                <a16:creationId xmlns:a16="http://schemas.microsoft.com/office/drawing/2014/main" id="{8BB10496-DFA9-47CE-BA85-C0AD2480D607}"/>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TYPE HINT AND DOCSTRING</a:t>
            </a:r>
          </a:p>
        </p:txBody>
      </p:sp>
      <p:sp>
        <p:nvSpPr>
          <p:cNvPr id="4" name="">
            <a:extLst xmlns:a="http://schemas.openxmlformats.org/drawingml/2006/main">
              <a:ext uri="{FF2B5EF4-FFF2-40B4-BE49-F238E27FC236}">
                <a16:creationId xmlns:a16="http://schemas.microsoft.com/office/drawing/2014/main" id="{C3F062E8-B614-4C4B-8B19-A516F09C8163}"/>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INPUT AND PURPOSE</a:t>
            </a:r>
          </a:p>
        </p:txBody>
      </p:sp>
      <p:sp>
        <p:nvSpPr>
          <p:cNvPr id="5" name="">
            <a:extLst xmlns:a="http://schemas.openxmlformats.org/drawingml/2006/main">
              <a:ext uri="{FF2B5EF4-FFF2-40B4-BE49-F238E27FC236}">
                <a16:creationId xmlns:a16="http://schemas.microsoft.com/office/drawing/2014/main" id="{0407C6FE-FA9E-4C2E-8776-F1417B6F7FF2}"/>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tracking_id: str</a:t>
            </a:r>
          </a:p>
          <a:p xmlns:a="http://schemas.openxmlformats.org/drawingml/2006/main">
            <a:r>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"""Look up a parcel status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using its tracking ID."""</a:t>
            </a:r>
          </a:p>
        </p:txBody>
      </p:sp>
      <p:sp>
        <p:nvSpPr>
          <p:cNvPr id="6" name="">
            <a:extLst xmlns:a="http://schemas.openxmlformats.org/drawingml/2006/main">
              <a:ext uri="{FF2B5EF4-FFF2-40B4-BE49-F238E27FC236}">
                <a16:creationId xmlns:a16="http://schemas.microsoft.com/office/drawing/2014/main" id="{7CB5402C-636B-4B17-B3C0-6F37C7C33B3E}"/>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str means text.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model needs a text ID.</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docstring describes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what the tool does.</a:t>
            </a:r>
          </a:p>
        </p:txBody>
      </p:sp>
      <p:sp>
        <p:nvSpPr>
          <p:cNvPr id="7" name="">
            <a:extLst xmlns:a="http://schemas.openxmlformats.org/drawingml/2006/main">
              <a:ext uri="{FF2B5EF4-FFF2-40B4-BE49-F238E27FC236}">
                <a16:creationId xmlns:a16="http://schemas.microsoft.com/office/drawing/2014/main" id="{43982098-4346-4C97-954A-8C96D54134B2}"/>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DF7C6460-D587-472C-8F84-820CD74974DA}"/>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6  ·  35</a:t>
            </a:r>
          </a:p>
        </p:txBody>
      </p:sp>
    </p:spTree>
    <p:extLst>
      <p:ext uri="{BB962C8B-B14F-4D97-AF65-F5344CB8AC3E}">
        <p14:creationId xmlns:p14="http://schemas.microsoft.com/office/powerpoint/2010/main" val="41553023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879B3B-930C-402C-BA93-2146CFB2B795}"/>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C03AA43D-A2F0-44BB-9A50-37435423B4FD}"/>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What does @tool mean?</a:t>
            </a:r>
          </a:p>
        </p:txBody>
      </p:sp>
      <p:sp>
        <p:nvSpPr>
          <p:cNvPr id="3" name="">
            <a:extLst xmlns:a="http://schemas.openxmlformats.org/drawingml/2006/main">
              <a:ext uri="{FF2B5EF4-FFF2-40B4-BE49-F238E27FC236}">
                <a16:creationId xmlns:a16="http://schemas.microsoft.com/office/drawing/2014/main" id="{5A8BDE5D-23EB-4117-BEAD-318B6F82D13C}"/>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STRUCTURE SKETCH</a:t>
            </a:r>
          </a:p>
        </p:txBody>
      </p:sp>
      <p:sp>
        <p:nvSpPr>
          <p:cNvPr id="4" name="">
            <a:extLst xmlns:a="http://schemas.openxmlformats.org/drawingml/2006/main">
              <a:ext uri="{FF2B5EF4-FFF2-40B4-BE49-F238E27FC236}">
                <a16:creationId xmlns:a16="http://schemas.microsoft.com/office/drawing/2014/main" id="{446E24A9-B473-4BA5-AA57-AF4224DF6800}"/>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PLAIN-LANGUAGE MEANING</a:t>
            </a:r>
          </a:p>
        </p:txBody>
      </p:sp>
      <p:sp>
        <p:nvSpPr>
          <p:cNvPr id="5" name="">
            <a:extLst xmlns:a="http://schemas.openxmlformats.org/drawingml/2006/main">
              <a:ext uri="{FF2B5EF4-FFF2-40B4-BE49-F238E27FC236}">
                <a16:creationId xmlns:a16="http://schemas.microsoft.com/office/drawing/2014/main" id="{E80AE12A-57AB-4C12-B227-A6EB91496F82}"/>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get_parcel_status(...):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p:txBody>
      </p:sp>
      <p:sp>
        <p:nvSpPr>
          <p:cNvPr id="6" name="">
            <a:extLst xmlns:a="http://schemas.openxmlformats.org/drawingml/2006/main">
              <a:ext uri="{FF2B5EF4-FFF2-40B4-BE49-F238E27FC236}">
                <a16:creationId xmlns:a16="http://schemas.microsoft.com/office/drawing/2014/main" id="{F9F9319F-C6C4-441A-AE55-665608CC9D2D}"/>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@tool applies a helper</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to the function below it.</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This use of @ is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 Python decorator.</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It wraps our function as a tool.</a:t>
            </a:r>
          </a:p>
        </p:txBody>
      </p:sp>
      <p:sp>
        <p:nvSpPr>
          <p:cNvPr id="7" name="">
            <a:extLst xmlns:a="http://schemas.openxmlformats.org/drawingml/2006/main">
              <a:ext uri="{FF2B5EF4-FFF2-40B4-BE49-F238E27FC236}">
                <a16:creationId xmlns:a16="http://schemas.microsoft.com/office/drawing/2014/main" id="{D065D38B-CEDE-464E-B48A-12D1C5A55B42}"/>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42E9479B-8B5D-4B50-A0E8-864F696699F8}"/>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6  ·  36</a:t>
            </a:r>
          </a:p>
        </p:txBody>
      </p:sp>
    </p:spTree>
    <p:extLst>
      <p:ext uri="{BB962C8B-B14F-4D97-AF65-F5344CB8AC3E}">
        <p14:creationId xmlns:p14="http://schemas.microsoft.com/office/powerpoint/2010/main" val="186204396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569E8C-0419-4DEE-8EDA-75127CD9A743}"/>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ED279681-3F8D-4CA3-B5EF-41DC94B38A02}"/>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Our complete tool definition</a:t>
            </a:r>
          </a:p>
        </p:txBody>
      </p:sp>
      <p:sp>
        <p:nvSpPr>
          <p:cNvPr id="3" name="">
            <a:extLst xmlns:a="http://schemas.openxmlformats.org/drawingml/2006/main">
              <a:ext uri="{FF2B5EF4-FFF2-40B4-BE49-F238E27FC236}">
                <a16:creationId xmlns:a16="http://schemas.microsoft.com/office/drawing/2014/main" id="{EE09F3D9-BC93-47CE-A318-6CFA045B1C5D}"/>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D0D4F4D3-6076-4A0A-BA3D-0FC465243A3E}"/>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FOUR PARTS, FOUR JOBS</a:t>
            </a:r>
          </a:p>
        </p:txBody>
      </p:sp>
      <p:sp>
        <p:nvSpPr>
          <p:cNvPr id="5" name="">
            <a:extLst xmlns:a="http://schemas.openxmlformats.org/drawingml/2006/main">
              <a:ext uri="{FF2B5EF4-FFF2-40B4-BE49-F238E27FC236}">
                <a16:creationId xmlns:a16="http://schemas.microsoft.com/office/drawing/2014/main" id="{6ECB6A02-D066-4C7D-A844-FF9AD7293843}"/>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get_parcel_status(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tracking_id: str</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-&gt; str:</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"""Look up a parcel status by ID."""</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lookup_parcel(tracking_id)</a:t>
            </a:r>
          </a:p>
        </p:txBody>
      </p:sp>
      <p:sp>
        <p:nvSpPr>
          <p:cNvPr id="6" name="">
            <a:extLst xmlns:a="http://schemas.openxmlformats.org/drawingml/2006/main">
              <a:ext uri="{FF2B5EF4-FFF2-40B4-BE49-F238E27FC236}">
                <a16:creationId xmlns:a16="http://schemas.microsoft.com/office/drawing/2014/main" id="{43B40CB3-631C-44F0-9820-8604B6513FCA}"/>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1   Apply the tool helper.</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2   Describe the text input.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3   State the tool’s purpose.</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4   Reuse our tested function.</a:t>
            </a:r>
          </a:p>
        </p:txBody>
      </p:sp>
      <p:sp>
        <p:nvSpPr>
          <p:cNvPr id="7" name="">
            <a:extLst xmlns:a="http://schemas.openxmlformats.org/drawingml/2006/main">
              <a:ext uri="{FF2B5EF4-FFF2-40B4-BE49-F238E27FC236}">
                <a16:creationId xmlns:a16="http://schemas.microsoft.com/office/drawing/2014/main" id="{868109A5-7E98-470B-84CA-70252238E446}"/>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ACB0D0C3-2FFC-4643-82B3-6BCA1EA1B7F8}"/>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6  ·  37</a:t>
            </a:r>
          </a:p>
        </p:txBody>
      </p:sp>
    </p:spTree>
    <p:extLst>
      <p:ext uri="{BB962C8B-B14F-4D97-AF65-F5344CB8AC3E}">
        <p14:creationId xmlns:p14="http://schemas.microsoft.com/office/powerpoint/2010/main" val="57798749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E348E9-F80D-4A98-B741-E25DE3F8B488}"/>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234EB07D-386F-4B0F-A45C-2D3AF6F2180C}"/>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A tool can run without an LLM</a:t>
            </a:r>
          </a:p>
        </p:txBody>
      </p:sp>
      <p:sp>
        <p:nvSpPr>
          <p:cNvPr id="3" name="">
            <a:extLst xmlns:a="http://schemas.openxmlformats.org/drawingml/2006/main">
              <a:ext uri="{FF2B5EF4-FFF2-40B4-BE49-F238E27FC236}">
                <a16:creationId xmlns:a16="http://schemas.microsoft.com/office/drawing/2014/main" id="{E3B5A655-A4EB-4B8A-8206-C6F22540E4C8}"/>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49C7A7E8-EC70-4DC2-8962-2D3402B3BE07}"/>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OUTPUT</a:t>
            </a:r>
          </a:p>
        </p:txBody>
      </p:sp>
      <p:sp>
        <p:nvSpPr>
          <p:cNvPr id="5" name="">
            <a:extLst xmlns:a="http://schemas.openxmlformats.org/drawingml/2006/main">
              <a:ext uri="{FF2B5EF4-FFF2-40B4-BE49-F238E27FC236}">
                <a16:creationId xmlns:a16="http://schemas.microsoft.com/office/drawing/2014/main" id="{23BC1EAF-BD8C-4096-BC8B-7A41C68E6A92}"/>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result = get_parcel_status.invoke({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"tracking_id": "PK101"</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print(result)</a:t>
            </a:r>
          </a:p>
        </p:txBody>
      </p:sp>
      <p:sp>
        <p:nvSpPr>
          <p:cNvPr id="6" name="">
            <a:extLst xmlns:a="http://schemas.openxmlformats.org/drawingml/2006/main">
              <a:ext uri="{FF2B5EF4-FFF2-40B4-BE49-F238E27FC236}">
                <a16:creationId xmlns:a16="http://schemas.microsoft.com/office/drawing/2014/main" id="{FC34B4EF-B16D-4A41-BCF8-FB41AAA11E17}"/>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Out for delivery in Multan.</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invoke runs the tool</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with named inputs.</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This is local Python execution.</a:t>
            </a:r>
          </a:p>
        </p:txBody>
      </p:sp>
      <p:sp>
        <p:nvSpPr>
          <p:cNvPr id="7" name="">
            <a:extLst xmlns:a="http://schemas.openxmlformats.org/drawingml/2006/main">
              <a:ext uri="{FF2B5EF4-FFF2-40B4-BE49-F238E27FC236}">
                <a16:creationId xmlns:a16="http://schemas.microsoft.com/office/drawing/2014/main" id="{3134854B-CB19-4D7F-9EF3-876C15E78F38}"/>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DB5E75EC-2AC4-44DF-A15B-4AA8E305290B}"/>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7  ·  38</a:t>
            </a:r>
          </a:p>
        </p:txBody>
      </p:sp>
    </p:spTree>
    <p:extLst>
      <p:ext uri="{BB962C8B-B14F-4D97-AF65-F5344CB8AC3E}">
        <p14:creationId xmlns:p14="http://schemas.microsoft.com/office/powerpoint/2010/main" val="205123342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791124-A98E-48DB-98B8-A9456BD5A728}"/>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DESIGN</a:t>
            </a:r>
          </a:p>
        </p:txBody>
      </p:sp>
      <p:sp>
        <p:nvSpPr>
          <p:cNvPr id="2" name="">
            <a:extLst xmlns:a="http://schemas.openxmlformats.org/drawingml/2006/main">
              <a:ext uri="{FF2B5EF4-FFF2-40B4-BE49-F238E27FC236}">
                <a16:creationId xmlns:a16="http://schemas.microsoft.com/office/drawing/2014/main" id="{EA72E23F-E553-4714-9EE6-58099C353830}"/>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A well-designed tool is easy to choose</a:t>
            </a:r>
          </a:p>
        </p:txBody>
      </p:sp>
      <p:graphicFrame>
        <p:nvGraphicFramePr>
          <p:cNvPr id="10" name=""/>
          <p:cNvGraphicFramePr/>
          <p:nvPr/>
        </p:nvGraphicFramePr>
        <p:xfrm>
          <a:off xmlns:a="http://schemas.openxmlformats.org/drawingml/2006/main" x="609600" y="2457450"/>
          <a:ext xmlns:a="http://schemas.openxmlformats.org/drawingml/2006/main" cx="14020800" cy="4572000"/>
        </p:xfrm>
        <a:graphic xmlns:a="http://schemas.openxmlformats.org/drawingml/2006/main">
          <a:graphicData uri="http://schemas.openxmlformats.org/drawingml/2006/table">
            <a:tbl>
              <a:tblPr/>
              <a:tblGrid>
                <a:gridCol w="4667250"/>
                <a:gridCol w="9353550"/>
              </a:tblGrid>
              <a:tr h="914400">
                <a:tc>
                  <a:txBody>
                    <a:bodyPr>
                      <a:noAutofit/>
                    </a:bodyPr>
                    <a:lstStyle/>
                    <a:p>
                      <a:r>
                        <a:rPr sz="2475" b="1">
                          <a:solidFill>
                            <a:srgbClr val="18233D"/>
                          </a:solidFill>
                          <a:latin typeface="DejaVu Sans"/>
                          <a:ea typeface="DejaVu Sans"/>
                          <a:cs typeface="DejaVu Sans"/>
                        </a:rPr>
                        <a:t>Part</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Our tool</a:t>
                      </a:r>
                    </a:p>
                  </a:txBody>
                  <a:tcPr marL="91440" marR="91440" marT="45720" marB="45720">
                    <a:solidFill>
                      <a:srgbClr val="DDEDF0"/>
                    </a:solidFill>
                  </a:tcPr>
                </a:tc>
              </a:tr>
              <a:tr h="914400">
                <a:tc>
                  <a:txBody>
                    <a:bodyPr>
                      <a:noAutofit/>
                    </a:bodyPr>
                    <a:lstStyle/>
                    <a:p>
                      <a:r>
                        <a:rPr sz="2475" b="0">
                          <a:solidFill>
                            <a:srgbClr val="18233D"/>
                          </a:solidFill>
                          <a:latin typeface="DejaVu Sans"/>
                          <a:ea typeface="DejaVu Sans"/>
                          <a:cs typeface="DejaVu Sans"/>
                        </a:rPr>
                        <a:t>Name</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get_parcel_status</a:t>
                      </a:r>
                    </a:p>
                  </a:txBody>
                  <a:tcPr marL="91440" marR="91440" marT="45720" marB="45720">
                    <a:solidFill>
                      <a:srgbClr val="FFFFFF"/>
                    </a:solidFill>
                  </a:tcPr>
                </a:tc>
              </a:tr>
              <a:tr h="914400">
                <a:tc>
                  <a:txBody>
                    <a:bodyPr>
                      <a:noAutofit/>
                    </a:bodyPr>
                    <a:lstStyle/>
                    <a:p>
                      <a:r>
                        <a:rPr sz="2475" b="0">
                          <a:solidFill>
                            <a:srgbClr val="18233D"/>
                          </a:solidFill>
                          <a:latin typeface="DejaVu Sans"/>
                          <a:ea typeface="DejaVu Sans"/>
                          <a:cs typeface="DejaVu Sans"/>
                        </a:rPr>
                        <a:t>Purpose</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Look up a saved parcel status</a:t>
                      </a:r>
                    </a:p>
                  </a:txBody>
                  <a:tcPr marL="91440" marR="91440" marT="45720" marB="45720">
                    <a:solidFill>
                      <a:srgbClr val="F4F8FA"/>
                    </a:solidFill>
                  </a:tcPr>
                </a:tc>
              </a:tr>
              <a:tr h="914400">
                <a:tc>
                  <a:txBody>
                    <a:bodyPr>
                      <a:noAutofit/>
                    </a:bodyPr>
                    <a:lstStyle/>
                    <a:p>
                      <a:r>
                        <a:rPr sz="2475" b="0">
                          <a:solidFill>
                            <a:srgbClr val="18233D"/>
                          </a:solidFill>
                          <a:latin typeface="DejaVu Sans"/>
                          <a:ea typeface="DejaVu Sans"/>
                          <a:cs typeface="DejaVu Sans"/>
                        </a:rPr>
                        <a:t>Input</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tracking_id: text</a:t>
                      </a:r>
                    </a:p>
                  </a:txBody>
                  <a:tcPr marL="91440" marR="91440" marT="45720" marB="45720">
                    <a:solidFill>
                      <a:srgbClr val="FFFFFF"/>
                    </a:solidFill>
                  </a:tcPr>
                </a:tc>
              </a:tr>
              <a:tr h="914400">
                <a:tc>
                  <a:txBody>
                    <a:bodyPr>
                      <a:noAutofit/>
                    </a:bodyPr>
                    <a:lstStyle/>
                    <a:p>
                      <a:r>
                        <a:rPr sz="2475" b="0">
                          <a:solidFill>
                            <a:srgbClr val="18233D"/>
                          </a:solidFill>
                          <a:latin typeface="DejaVu Sans"/>
                          <a:ea typeface="DejaVu Sans"/>
                          <a:cs typeface="DejaVu Sans"/>
                        </a:rPr>
                        <a:t>Output</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Status text or an honest not-found result</a:t>
                      </a:r>
                    </a:p>
                  </a:txBody>
                  <a:tcPr marL="91440" marR="91440" marT="45720" marB="45720">
                    <a:solidFill>
                      <a:srgbClr val="F4F8FA"/>
                    </a:solidFill>
                  </a:tcPr>
                </a:tc>
              </a:tr>
            </a:tbl>
          </a:graphicData>
        </a:graphic>
      </p:graphicFrame>
      <p:sp>
        <p:nvSpPr>
          <p:cNvPr id="4" name="">
            <a:extLst xmlns:a="http://schemas.openxmlformats.org/drawingml/2006/main">
              <a:ext uri="{FF2B5EF4-FFF2-40B4-BE49-F238E27FC236}">
                <a16:creationId xmlns:a16="http://schemas.microsoft.com/office/drawing/2014/main" id="{DFD3E603-4642-427D-A091-E5C892F88B4E}"/>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5" name="">
            <a:extLst xmlns:a="http://schemas.openxmlformats.org/drawingml/2006/main">
              <a:ext uri="{FF2B5EF4-FFF2-40B4-BE49-F238E27FC236}">
                <a16:creationId xmlns:a16="http://schemas.microsoft.com/office/drawing/2014/main" id="{6D5155FD-AEBC-4E3D-B437-1ACF9D517E25}"/>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8  ·  39</a:t>
            </a:r>
          </a:p>
        </p:txBody>
      </p:sp>
    </p:spTree>
    <p:extLst>
      <p:ext uri="{BB962C8B-B14F-4D97-AF65-F5344CB8AC3E}">
        <p14:creationId xmlns:p14="http://schemas.microsoft.com/office/powerpoint/2010/main" val="64161470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CD97F6-61C5-4E28-ACF0-378E6B1F3612}"/>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EA57C17F-5652-43BA-A838-CD20753360EB}"/>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model and message imports</a:t>
            </a:r>
          </a:p>
        </p:txBody>
      </p:sp>
      <p:sp>
        <p:nvSpPr>
          <p:cNvPr id="3" name="">
            <a:extLst xmlns:a="http://schemas.openxmlformats.org/drawingml/2006/main">
              <a:ext uri="{FF2B5EF4-FFF2-40B4-BE49-F238E27FC236}">
                <a16:creationId xmlns:a16="http://schemas.microsoft.com/office/drawing/2014/main" id="{D7241466-FDEC-4E38-80D9-BD5D31A623F0}"/>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IMPORTS</a:t>
            </a:r>
          </a:p>
        </p:txBody>
      </p:sp>
      <p:sp>
        <p:nvSpPr>
          <p:cNvPr id="4" name="">
            <a:extLst xmlns:a="http://schemas.openxmlformats.org/drawingml/2006/main">
              <a:ext uri="{FF2B5EF4-FFF2-40B4-BE49-F238E27FC236}">
                <a16:creationId xmlns:a16="http://schemas.microsoft.com/office/drawing/2014/main" id="{67709578-C549-43D9-9085-58D42474B223}"/>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EACH HELPER’S JOB</a:t>
            </a:r>
          </a:p>
        </p:txBody>
      </p:sp>
      <p:sp>
        <p:nvSpPr>
          <p:cNvPr id="5" name="">
            <a:extLst xmlns:a="http://schemas.openxmlformats.org/drawingml/2006/main">
              <a:ext uri="{FF2B5EF4-FFF2-40B4-BE49-F238E27FC236}">
                <a16:creationId xmlns:a16="http://schemas.microsoft.com/office/drawing/2014/main" id="{D610CAC3-5DAB-4EEA-BA62-F741AA503FA7}"/>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from langchain_groq import ChatGroq</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from langchain_core.prompts import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ChatPromptTemplate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from langchain_core.messages import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ToolMessage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p:txBody>
      </p:sp>
      <p:sp>
        <p:nvSpPr>
          <p:cNvPr id="6" name="">
            <a:extLst xmlns:a="http://schemas.openxmlformats.org/drawingml/2006/main">
              <a:ext uri="{FF2B5EF4-FFF2-40B4-BE49-F238E27FC236}">
                <a16:creationId xmlns:a16="http://schemas.microsoft.com/office/drawing/2014/main" id="{D9E33DFE-4FB8-4B7C-9BBA-A1A3A445288A}"/>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ChatGroq calls Groq.</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ChatPromptTemplate</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prepares our messages.</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ToolMessage carries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 tool result back.</a:t>
            </a:r>
          </a:p>
        </p:txBody>
      </p:sp>
      <p:sp>
        <p:nvSpPr>
          <p:cNvPr id="7" name="">
            <a:extLst xmlns:a="http://schemas.openxmlformats.org/drawingml/2006/main">
              <a:ext uri="{FF2B5EF4-FFF2-40B4-BE49-F238E27FC236}">
                <a16:creationId xmlns:a16="http://schemas.microsoft.com/office/drawing/2014/main" id="{F300D8C9-4EE2-4B3F-A2E0-806689DA1056}"/>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EEF37B66-9014-490C-B0E4-0F4EFD1E325A}"/>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9  ·  40</a:t>
            </a:r>
          </a:p>
        </p:txBody>
      </p:sp>
    </p:spTree>
    <p:extLst>
      <p:ext uri="{BB962C8B-B14F-4D97-AF65-F5344CB8AC3E}">
        <p14:creationId xmlns:p14="http://schemas.microsoft.com/office/powerpoint/2010/main" val="112314886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AE6CB0-2DA2-45F4-A364-5C9641E602A9}"/>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6AAA46F8-5429-4C85-8CB3-5B7131FFCF97}"/>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model sees an available tool</a:t>
            </a:r>
          </a:p>
        </p:txBody>
      </p:sp>
      <p:sp>
        <p:nvSpPr>
          <p:cNvPr id="3" name="">
            <a:extLst xmlns:a="http://schemas.openxmlformats.org/drawingml/2006/main">
              <a:ext uri="{FF2B5EF4-FFF2-40B4-BE49-F238E27FC236}">
                <a16:creationId xmlns:a16="http://schemas.microsoft.com/office/drawing/2014/main" id="{9F931D62-D5CB-4E23-9416-80DA0E821729}"/>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LANGCHAIN CODE</a:t>
            </a:r>
          </a:p>
        </p:txBody>
      </p:sp>
      <p:sp>
        <p:nvSpPr>
          <p:cNvPr id="4" name="">
            <a:extLst xmlns:a="http://schemas.openxmlformats.org/drawingml/2006/main">
              <a:ext uri="{FF2B5EF4-FFF2-40B4-BE49-F238E27FC236}">
                <a16:creationId xmlns:a16="http://schemas.microsoft.com/office/drawing/2014/main" id="{4E75AA6D-404D-47D3-9E3D-DD192B7CC383}"/>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WHAT bind_tools DOES</a:t>
            </a:r>
          </a:p>
        </p:txBody>
      </p:sp>
      <p:sp>
        <p:nvSpPr>
          <p:cNvPr id="5" name="">
            <a:extLst xmlns:a="http://schemas.openxmlformats.org/drawingml/2006/main">
              <a:ext uri="{FF2B5EF4-FFF2-40B4-BE49-F238E27FC236}">
                <a16:creationId xmlns:a16="http://schemas.microsoft.com/office/drawing/2014/main" id="{8EBBEB3B-4865-4CDB-8763-7FE012050179}"/>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llm_with_tools = llm.bind_tools(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[get_parcel_status]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p:txBody>
      </p:sp>
      <p:sp>
        <p:nvSpPr>
          <p:cNvPr id="6" name="">
            <a:extLst xmlns:a="http://schemas.openxmlformats.org/drawingml/2006/main">
              <a:ext uri="{FF2B5EF4-FFF2-40B4-BE49-F238E27FC236}">
                <a16:creationId xmlns:a16="http://schemas.microsoft.com/office/drawing/2014/main" id="{19B605A1-76E7-4A2C-94E1-D503C530499D}"/>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bind_tools supplies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tool definition.</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model can request it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when it needs a saved status.</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function has not run yet.</a:t>
            </a:r>
          </a:p>
        </p:txBody>
      </p:sp>
      <p:sp>
        <p:nvSpPr>
          <p:cNvPr id="7" name="">
            <a:extLst xmlns:a="http://schemas.openxmlformats.org/drawingml/2006/main">
              <a:ext uri="{FF2B5EF4-FFF2-40B4-BE49-F238E27FC236}">
                <a16:creationId xmlns:a16="http://schemas.microsoft.com/office/drawing/2014/main" id="{118098FF-22FC-4FAF-95A8-65110749CFEB}"/>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ED62BD95-7154-4400-90FD-166932289139}"/>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10  ·  41</a:t>
            </a:r>
          </a:p>
        </p:txBody>
      </p:sp>
    </p:spTree>
    <p:extLst>
      <p:ext uri="{BB962C8B-B14F-4D97-AF65-F5344CB8AC3E}">
        <p14:creationId xmlns:p14="http://schemas.microsoft.com/office/powerpoint/2010/main" val="98462790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E7BF86-3694-4564-B5B3-2B8B048E710E}"/>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8CFBEF5A-CDC3-42E3-8284-3B13BF4A2C95}"/>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prompt and chain stay familiar</a:t>
            </a:r>
          </a:p>
        </p:txBody>
      </p:sp>
      <p:sp>
        <p:nvSpPr>
          <p:cNvPr id="3" name="">
            <a:extLst xmlns:a="http://schemas.openxmlformats.org/drawingml/2006/main">
              <a:ext uri="{FF2B5EF4-FFF2-40B4-BE49-F238E27FC236}">
                <a16:creationId xmlns:a16="http://schemas.microsoft.com/office/drawing/2014/main" id="{82968F0A-96E2-488F-9B00-6DAE4DF8029F}"/>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STRUCTURE SKETCH</a:t>
            </a:r>
          </a:p>
        </p:txBody>
      </p:sp>
      <p:sp>
        <p:nvSpPr>
          <p:cNvPr id="4" name="">
            <a:extLst xmlns:a="http://schemas.openxmlformats.org/drawingml/2006/main">
              <a:ext uri="{FF2B5EF4-FFF2-40B4-BE49-F238E27FC236}">
                <a16:creationId xmlns:a16="http://schemas.microsoft.com/office/drawing/2014/main" id="{6BAEF72B-0FC9-4E57-9A23-364821C0357E}"/>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NEW RULES</a:t>
            </a:r>
          </a:p>
        </p:txBody>
      </p:sp>
      <p:sp>
        <p:nvSpPr>
          <p:cNvPr id="5" name="">
            <a:extLst xmlns:a="http://schemas.openxmlformats.org/drawingml/2006/main">
              <a:ext uri="{FF2B5EF4-FFF2-40B4-BE49-F238E27FC236}">
                <a16:creationId xmlns:a16="http://schemas.microsoft.com/office/drawing/2014/main" id="{753BC6D8-2409-41DC-A94C-CCC8B570D6B5}"/>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parcel_prompt = ChatPromptTemplate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System rules + {question}</a:t>
            </a:r>
          </a:p>
          <a:p xmlns:a="http://schemas.openxmlformats.org/drawingml/2006/main">
            <a:r>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request_chain =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parcel_prompt | llm_with_tools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p:txBody>
      </p:sp>
      <p:sp>
        <p:nvSpPr>
          <p:cNvPr id="6" name="">
            <a:extLst xmlns:a="http://schemas.openxmlformats.org/drawingml/2006/main">
              <a:ext uri="{FF2B5EF4-FFF2-40B4-BE49-F238E27FC236}">
                <a16:creationId xmlns:a16="http://schemas.microsoft.com/office/drawing/2014/main" id="{E98B2993-2A81-401C-B079-F9E23428B311}"/>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Rules: use the tool for status.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Ask for a missing ID.</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Never invent a delivery time.</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Keep the full AI message</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so we can inspect tool calls.</a:t>
            </a:r>
          </a:p>
        </p:txBody>
      </p:sp>
      <p:sp>
        <p:nvSpPr>
          <p:cNvPr id="7" name="">
            <a:extLst xmlns:a="http://schemas.openxmlformats.org/drawingml/2006/main">
              <a:ext uri="{FF2B5EF4-FFF2-40B4-BE49-F238E27FC236}">
                <a16:creationId xmlns:a16="http://schemas.microsoft.com/office/drawing/2014/main" id="{12FDB1AA-6337-4636-837E-DDBE645D2893}"/>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E51FB41A-F6B5-4148-A8A4-AA96FA50C94A}"/>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Labs 11–12  ·  42</a:t>
            </a:r>
          </a:p>
        </p:txBody>
      </p:sp>
    </p:spTree>
    <p:extLst>
      <p:ext uri="{BB962C8B-B14F-4D97-AF65-F5344CB8AC3E}">
        <p14:creationId xmlns:p14="http://schemas.microsoft.com/office/powerpoint/2010/main" val="117131634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FD9705-C684-48BB-830D-2183C33C7222}"/>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DDC24902-E19F-4685-AD9F-9EF7420A6D11}"/>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first live model call</a:t>
            </a:r>
          </a:p>
        </p:txBody>
      </p:sp>
      <p:sp>
        <p:nvSpPr>
          <p:cNvPr id="3" name="">
            <a:extLst xmlns:a="http://schemas.openxmlformats.org/drawingml/2006/main">
              <a:ext uri="{FF2B5EF4-FFF2-40B4-BE49-F238E27FC236}">
                <a16:creationId xmlns:a16="http://schemas.microsoft.com/office/drawing/2014/main" id="{8D548D9C-17B0-41E7-B0FF-16D5630FC6D2}"/>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LANGCHAIN CODE</a:t>
            </a:r>
          </a:p>
        </p:txBody>
      </p:sp>
      <p:sp>
        <p:nvSpPr>
          <p:cNvPr id="4" name="">
            <a:extLst xmlns:a="http://schemas.openxmlformats.org/drawingml/2006/main">
              <a:ext uri="{FF2B5EF4-FFF2-40B4-BE49-F238E27FC236}">
                <a16:creationId xmlns:a16="http://schemas.microsoft.com/office/drawing/2014/main" id="{024D95BD-B3CE-4028-BA44-2CFB771D1AE7}"/>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EXPECTED REQUEST</a:t>
            </a:r>
          </a:p>
        </p:txBody>
      </p:sp>
      <p:sp>
        <p:nvSpPr>
          <p:cNvPr id="5" name="">
            <a:extLst xmlns:a="http://schemas.openxmlformats.org/drawingml/2006/main">
              <a:ext uri="{FF2B5EF4-FFF2-40B4-BE49-F238E27FC236}">
                <a16:creationId xmlns:a16="http://schemas.microsoft.com/office/drawing/2014/main" id="{B273E1B0-1B1D-480A-9F57-79EE57B11A6E}"/>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ai_request = request_chain.invoke({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"question": "Where is my parcel PK101?"</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a:p xmlns:a="http://schemas.openxmlformats.org/drawingml/2006/main">
            <a:r>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print(ai_request.tool_calls)</a:t>
            </a:r>
          </a:p>
        </p:txBody>
      </p:sp>
      <p:sp>
        <p:nvSpPr>
          <p:cNvPr id="6" name="">
            <a:extLst xmlns:a="http://schemas.openxmlformats.org/drawingml/2006/main">
              <a:ext uri="{FF2B5EF4-FFF2-40B4-BE49-F238E27FC236}">
                <a16:creationId xmlns:a16="http://schemas.microsoft.com/office/drawing/2014/main" id="{11ABB483-0982-4B7A-9109-F73F69879465}"/>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model reads the question.</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It should request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get_parcel_status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with tracking_id = PK101.</a:t>
            </a:r>
          </a:p>
        </p:txBody>
      </p:sp>
      <p:sp>
        <p:nvSpPr>
          <p:cNvPr id="7" name="">
            <a:extLst xmlns:a="http://schemas.openxmlformats.org/drawingml/2006/main">
              <a:ext uri="{FF2B5EF4-FFF2-40B4-BE49-F238E27FC236}">
                <a16:creationId xmlns:a16="http://schemas.microsoft.com/office/drawing/2014/main" id="{41666932-E126-4090-983D-4FFF80B0E0AA}"/>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620614F0-8CCE-4D47-868E-01316C8C8C36}"/>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12  ·  43</a:t>
            </a:r>
          </a:p>
        </p:txBody>
      </p:sp>
    </p:spTree>
    <p:extLst>
      <p:ext uri="{BB962C8B-B14F-4D97-AF65-F5344CB8AC3E}">
        <p14:creationId xmlns:p14="http://schemas.microsoft.com/office/powerpoint/2010/main" val="152223188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D52C29-1392-4C13-9029-8E2ED828BAED}"/>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622A4F09-DF4A-480F-8A2C-CC5C11F43D29}"/>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A response contains more than text</a:t>
            </a:r>
          </a:p>
        </p:txBody>
      </p:sp>
      <p:sp>
        <p:nvSpPr>
          <p:cNvPr id="3" name="">
            <a:extLst xmlns:a="http://schemas.openxmlformats.org/drawingml/2006/main">
              <a:ext uri="{FF2B5EF4-FFF2-40B4-BE49-F238E27FC236}">
                <a16:creationId xmlns:a16="http://schemas.microsoft.com/office/drawing/2014/main" id="{7D32DF70-859B-4F3B-AF6F-5CA2624401A3}"/>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TWO FIELDS</a:t>
            </a:r>
          </a:p>
        </p:txBody>
      </p:sp>
      <p:sp>
        <p:nvSpPr>
          <p:cNvPr id="4" name="">
            <a:extLst xmlns:a="http://schemas.openxmlformats.org/drawingml/2006/main">
              <a:ext uri="{FF2B5EF4-FFF2-40B4-BE49-F238E27FC236}">
                <a16:creationId xmlns:a16="http://schemas.microsoft.com/office/drawing/2014/main" id="{2800978B-A752-459D-9919-605E8D8B3FB0}"/>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WHY WE KEEP THE MESSAGE</a:t>
            </a:r>
          </a:p>
        </p:txBody>
      </p:sp>
      <p:sp>
        <p:nvSpPr>
          <p:cNvPr id="5" name="">
            <a:extLst xmlns:a="http://schemas.openxmlformats.org/drawingml/2006/main">
              <a:ext uri="{FF2B5EF4-FFF2-40B4-BE49-F238E27FC236}">
                <a16:creationId xmlns:a16="http://schemas.microsoft.com/office/drawing/2014/main" id="{910B3B1D-D2F9-4B44-8316-AA010F64F0F2}"/>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ai_request.content</a:t>
            </a:r>
          </a:p>
          <a:p xmlns:a="http://schemas.openxmlformats.org/drawingml/2006/main">
            <a:r>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ai_request.tool_calls</a:t>
            </a:r>
          </a:p>
        </p:txBody>
      </p:sp>
      <p:sp>
        <p:nvSpPr>
          <p:cNvPr id="6" name="">
            <a:extLst xmlns:a="http://schemas.openxmlformats.org/drawingml/2006/main">
              <a:ext uri="{FF2B5EF4-FFF2-40B4-BE49-F238E27FC236}">
                <a16:creationId xmlns:a16="http://schemas.microsoft.com/office/drawing/2014/main" id="{0939FA3B-AF52-4829-81E6-6AF27B1E4B69}"/>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content: generated text</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tool_calls: requested functions</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An empty text field can be</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normal during a tool request.</a:t>
            </a:r>
          </a:p>
        </p:txBody>
      </p:sp>
      <p:sp>
        <p:nvSpPr>
          <p:cNvPr id="7" name="">
            <a:extLst xmlns:a="http://schemas.openxmlformats.org/drawingml/2006/main">
              <a:ext uri="{FF2B5EF4-FFF2-40B4-BE49-F238E27FC236}">
                <a16:creationId xmlns:a16="http://schemas.microsoft.com/office/drawing/2014/main" id="{0BE29289-2980-44D2-A1AF-E6EAC8DD5ADE}"/>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6729AE7D-5652-4112-9D6C-8B7CB2CAF19F}"/>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12  ·  44</a:t>
            </a:r>
          </a:p>
        </p:txBody>
      </p:sp>
    </p:spTree>
    <p:extLst>
      <p:ext uri="{BB962C8B-B14F-4D97-AF65-F5344CB8AC3E}">
        <p14:creationId xmlns:p14="http://schemas.microsoft.com/office/powerpoint/2010/main" val="191416725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E627A0-A3BD-4E96-AC22-86918330857F}"/>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C9990FA8-0589-4517-B90F-B6D197AC5937}"/>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Inside the tool request</a:t>
            </a:r>
          </a:p>
        </p:txBody>
      </p:sp>
      <p:sp>
        <p:nvSpPr>
          <p:cNvPr id="3" name="">
            <a:extLst xmlns:a="http://schemas.openxmlformats.org/drawingml/2006/main">
              <a:ext uri="{FF2B5EF4-FFF2-40B4-BE49-F238E27FC236}">
                <a16:creationId xmlns:a16="http://schemas.microsoft.com/office/drawing/2014/main" id="{8650AF7C-1C89-4367-A529-DA302CBD3C1A}"/>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SYNTHETIC TEACHING EXAMPLE</a:t>
            </a:r>
          </a:p>
        </p:txBody>
      </p:sp>
      <p:sp>
        <p:nvSpPr>
          <p:cNvPr id="4" name="">
            <a:extLst xmlns:a="http://schemas.openxmlformats.org/drawingml/2006/main">
              <a:ext uri="{FF2B5EF4-FFF2-40B4-BE49-F238E27FC236}">
                <a16:creationId xmlns:a16="http://schemas.microsoft.com/office/drawing/2014/main" id="{16347853-0945-4041-9EC3-AB1CF3A2C8F0}"/>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THREE FIELDS</a:t>
            </a:r>
          </a:p>
        </p:txBody>
      </p:sp>
      <p:sp>
        <p:nvSpPr>
          <p:cNvPr id="5" name="">
            <a:extLst xmlns:a="http://schemas.openxmlformats.org/drawingml/2006/main">
              <a:ext uri="{FF2B5EF4-FFF2-40B4-BE49-F238E27FC236}">
                <a16:creationId xmlns:a16="http://schemas.microsoft.com/office/drawing/2014/main" id="{C1418351-1475-48C4-93C2-9A8249E312B0}"/>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"name": "get_parcel_status",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"args": {"tracking_id": "PK101"},</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"id": "example_call_1"</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p:txBody>
      </p:sp>
      <p:sp>
        <p:nvSpPr>
          <p:cNvPr id="6" name="">
            <a:extLst xmlns:a="http://schemas.openxmlformats.org/drawingml/2006/main">
              <a:ext uri="{FF2B5EF4-FFF2-40B4-BE49-F238E27FC236}">
                <a16:creationId xmlns:a16="http://schemas.microsoft.com/office/drawing/2014/main" id="{954A2D33-B5D9-4A9A-90CC-E0B0E8FAB1A0}"/>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name selects the function.</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args supplies its inputs.</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id labels this request.</a:t>
            </a:r>
          </a:p>
        </p:txBody>
      </p:sp>
      <p:sp>
        <p:nvSpPr>
          <p:cNvPr id="7" name="">
            <a:extLst xmlns:a="http://schemas.openxmlformats.org/drawingml/2006/main">
              <a:ext uri="{FF2B5EF4-FFF2-40B4-BE49-F238E27FC236}">
                <a16:creationId xmlns:a16="http://schemas.microsoft.com/office/drawing/2014/main" id="{1E8540A1-190F-4CBF-909F-3FE03A0FA878}"/>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A5924578-B261-4BD3-B62A-2E81263FEA6C}"/>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13  ·  45</a:t>
            </a:r>
          </a:p>
        </p:txBody>
      </p:sp>
    </p:spTree>
    <p:extLst>
      <p:ext uri="{BB962C8B-B14F-4D97-AF65-F5344CB8AC3E}">
        <p14:creationId xmlns:p14="http://schemas.microsoft.com/office/powerpoint/2010/main" val="204151030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ADA04A-5A96-42BF-AA6C-9F6A8BA11D3E}"/>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B849AF15-4C21-4DB3-8B9C-82ADDFADA89D}"/>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Python executes the request</a:t>
            </a:r>
          </a:p>
        </p:txBody>
      </p:sp>
      <p:sp>
        <p:nvSpPr>
          <p:cNvPr id="3" name="">
            <a:extLst xmlns:a="http://schemas.openxmlformats.org/drawingml/2006/main">
              <a:ext uri="{FF2B5EF4-FFF2-40B4-BE49-F238E27FC236}">
                <a16:creationId xmlns:a16="http://schemas.microsoft.com/office/drawing/2014/main" id="{8BAFBB01-D2BF-407B-B202-8A2368A753F7}"/>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16478039-5306-480C-B292-D15088A8909D}"/>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THE FIRST REAL RESULT</a:t>
            </a:r>
          </a:p>
        </p:txBody>
      </p:sp>
      <p:sp>
        <p:nvSpPr>
          <p:cNvPr id="5" name="">
            <a:extLst xmlns:a="http://schemas.openxmlformats.org/drawingml/2006/main">
              <a:ext uri="{FF2B5EF4-FFF2-40B4-BE49-F238E27FC236}">
                <a16:creationId xmlns:a16="http://schemas.microsoft.com/office/drawing/2014/main" id="{77E3EBCD-95FB-4534-BF1E-D7F7BE49631C}"/>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result = get_parcel_status.invoke(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example_call["args"]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print(result)</a:t>
            </a:r>
          </a:p>
        </p:txBody>
      </p:sp>
      <p:sp>
        <p:nvSpPr>
          <p:cNvPr id="6" name="">
            <a:extLst xmlns:a="http://schemas.openxmlformats.org/drawingml/2006/main">
              <a:ext uri="{FF2B5EF4-FFF2-40B4-BE49-F238E27FC236}">
                <a16:creationId xmlns:a16="http://schemas.microsoft.com/office/drawing/2014/main" id="{2C6F0115-129C-4755-95A5-21BD584E0574}"/>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Out for delivery in Multan.</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model requested a lookup.</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Our Python app ran it.</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result came from our record.</a:t>
            </a:r>
          </a:p>
        </p:txBody>
      </p:sp>
      <p:sp>
        <p:nvSpPr>
          <p:cNvPr id="7" name="">
            <a:extLst xmlns:a="http://schemas.openxmlformats.org/drawingml/2006/main">
              <a:ext uri="{FF2B5EF4-FFF2-40B4-BE49-F238E27FC236}">
                <a16:creationId xmlns:a16="http://schemas.microsoft.com/office/drawing/2014/main" id="{3C5CDF0D-E528-467A-84DE-7BA96E57BCBA}"/>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DBB50AB6-CF23-46B1-8A65-072209AE6AC2}"/>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14  ·  46</a:t>
            </a:r>
          </a:p>
        </p:txBody>
      </p:sp>
    </p:spTree>
    <p:extLst>
      <p:ext uri="{BB962C8B-B14F-4D97-AF65-F5344CB8AC3E}">
        <p14:creationId xmlns:p14="http://schemas.microsoft.com/office/powerpoint/2010/main" val="33721094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D1CC2D-7382-4EA9-B313-4BCE838552AB}"/>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55539574-6AEA-4FD2-95EE-04BEF4ADF6C7}"/>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result carries a matching ID</a:t>
            </a:r>
          </a:p>
        </p:txBody>
      </p:sp>
      <p:sp>
        <p:nvSpPr>
          <p:cNvPr id="3" name="">
            <a:extLst xmlns:a="http://schemas.openxmlformats.org/drawingml/2006/main">
              <a:ext uri="{FF2B5EF4-FFF2-40B4-BE49-F238E27FC236}">
                <a16:creationId xmlns:a16="http://schemas.microsoft.com/office/drawing/2014/main" id="{5BDC8FE7-78A5-4D00-8A14-769DEEE61C61}"/>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LANGCHAIN CODE</a:t>
            </a:r>
          </a:p>
        </p:txBody>
      </p:sp>
      <p:sp>
        <p:nvSpPr>
          <p:cNvPr id="4" name="">
            <a:extLst xmlns:a="http://schemas.openxmlformats.org/drawingml/2006/main">
              <a:ext uri="{FF2B5EF4-FFF2-40B4-BE49-F238E27FC236}">
                <a16:creationId xmlns:a16="http://schemas.microsoft.com/office/drawing/2014/main" id="{AFAD0DFE-638B-4556-8800-9C65E5D57A37}"/>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REQUEST AND RESULT PAIR</a:t>
            </a:r>
          </a:p>
        </p:txBody>
      </p:sp>
      <p:sp>
        <p:nvSpPr>
          <p:cNvPr id="5" name="">
            <a:extLst xmlns:a="http://schemas.openxmlformats.org/drawingml/2006/main">
              <a:ext uri="{FF2B5EF4-FFF2-40B4-BE49-F238E27FC236}">
                <a16:creationId xmlns:a16="http://schemas.microsoft.com/office/drawing/2014/main" id="{C89E54BC-65AD-4FDD-808F-30C7F190E0EF}"/>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ToolMessage(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content=result,</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tool_call_id=example_call["id"]</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t>
            </a:r>
          </a:p>
        </p:txBody>
      </p:sp>
      <p:sp>
        <p:nvSpPr>
          <p:cNvPr id="6" name="">
            <a:extLst xmlns:a="http://schemas.openxmlformats.org/drawingml/2006/main">
              <a:ext uri="{FF2B5EF4-FFF2-40B4-BE49-F238E27FC236}">
                <a16:creationId xmlns:a16="http://schemas.microsoft.com/office/drawing/2014/main" id="{6F5CDDC0-5AD6-4E9E-A4BD-6D9B5CBE60EF}"/>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content holds the status.</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tool_call_id answers: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“Which request is this for?”</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Request example_call_1</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gets result example_call_1.</a:t>
            </a:r>
          </a:p>
        </p:txBody>
      </p:sp>
      <p:sp>
        <p:nvSpPr>
          <p:cNvPr id="7" name="">
            <a:extLst xmlns:a="http://schemas.openxmlformats.org/drawingml/2006/main">
              <a:ext uri="{FF2B5EF4-FFF2-40B4-BE49-F238E27FC236}">
                <a16:creationId xmlns:a16="http://schemas.microsoft.com/office/drawing/2014/main" id="{185E1D21-9A19-4465-9D1C-175E69C14AF0}"/>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1198BFF5-8021-4DF3-B63D-5AD91C6EBB29}"/>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14  ·  47</a:t>
            </a:r>
          </a:p>
        </p:txBody>
      </p:sp>
    </p:spTree>
    <p:extLst>
      <p:ext uri="{BB962C8B-B14F-4D97-AF65-F5344CB8AC3E}">
        <p14:creationId xmlns:p14="http://schemas.microsoft.com/office/powerpoint/2010/main" val="59956674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D8CAC9-D7E0-43E2-988C-63251BC14B83}"/>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DA1B6302-CAD8-428A-B133-7401EE262DEF}"/>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app handles every requested call</a:t>
            </a:r>
          </a:p>
        </p:txBody>
      </p:sp>
      <p:sp>
        <p:nvSpPr>
          <p:cNvPr id="3" name="">
            <a:extLst xmlns:a="http://schemas.openxmlformats.org/drawingml/2006/main">
              <a:ext uri="{FF2B5EF4-FFF2-40B4-BE49-F238E27FC236}">
                <a16:creationId xmlns:a16="http://schemas.microsoft.com/office/drawing/2014/main" id="{BAA9D009-2ABF-4659-A2C9-B8A5376C861C}"/>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HANDLER STRUCTURE</a:t>
            </a:r>
          </a:p>
        </p:txBody>
      </p:sp>
      <p:sp>
        <p:nvSpPr>
          <p:cNvPr id="4" name="">
            <a:extLst xmlns:a="http://schemas.openxmlformats.org/drawingml/2006/main">
              <a:ext uri="{FF2B5EF4-FFF2-40B4-BE49-F238E27FC236}">
                <a16:creationId xmlns:a16="http://schemas.microsoft.com/office/drawing/2014/main" id="{2BFDDC0F-887D-4E6B-94C2-B199C60430F1}"/>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MESSAGE ORDER</a:t>
            </a:r>
          </a:p>
        </p:txBody>
      </p:sp>
      <p:sp>
        <p:nvSpPr>
          <p:cNvPr id="5" name="">
            <a:extLst xmlns:a="http://schemas.openxmlformats.org/drawingml/2006/main">
              <a:ext uri="{FF2B5EF4-FFF2-40B4-BE49-F238E27FC236}">
                <a16:creationId xmlns:a16="http://schemas.microsoft.com/office/drawing/2014/main" id="{081DA95A-5EF9-435D-8AC2-AF57FBBF17A4}"/>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messages.append(ai_request)</a:t>
            </a:r>
          </a:p>
          <a:p xmlns:a="http://schemas.openxmlformats.org/drawingml/2006/main">
            <a:r>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for call in ai_request.tool_calls: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 check the allowed tool name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 execute using call["args"]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 append its ToolMessage</a:t>
            </a:r>
          </a:p>
        </p:txBody>
      </p:sp>
      <p:sp>
        <p:nvSpPr>
          <p:cNvPr id="6" name="">
            <a:extLst xmlns:a="http://schemas.openxmlformats.org/drawingml/2006/main">
              <a:ext uri="{FF2B5EF4-FFF2-40B4-BE49-F238E27FC236}">
                <a16:creationId xmlns:a16="http://schemas.microsoft.com/office/drawing/2014/main" id="{BE7ED99F-EFB4-46C2-A0FF-889464FFA876}"/>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append adds a message.</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for visits every request.</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Keep the original AI request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before its matching results.</a:t>
            </a:r>
          </a:p>
        </p:txBody>
      </p:sp>
      <p:sp>
        <p:nvSpPr>
          <p:cNvPr id="7" name="">
            <a:extLst xmlns:a="http://schemas.openxmlformats.org/drawingml/2006/main">
              <a:ext uri="{FF2B5EF4-FFF2-40B4-BE49-F238E27FC236}">
                <a16:creationId xmlns:a16="http://schemas.microsoft.com/office/drawing/2014/main" id="{4CAD04E9-E2B4-4D97-A3CA-938DA3A1F0FA}"/>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17B634FB-0C60-4735-8ACA-B22752F3FB84}"/>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15  ·  48</a:t>
            </a:r>
          </a:p>
        </p:txBody>
      </p:sp>
    </p:spTree>
    <p:extLst>
      <p:ext uri="{BB962C8B-B14F-4D97-AF65-F5344CB8AC3E}">
        <p14:creationId xmlns:p14="http://schemas.microsoft.com/office/powerpoint/2010/main" val="35847021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C00DAF-E03E-4128-BD22-A30C93C89A5F}"/>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9311DBD8-A2A4-4463-B9FF-D819D15B12F4}"/>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second live model call</a:t>
            </a:r>
          </a:p>
        </p:txBody>
      </p:sp>
      <p:sp>
        <p:nvSpPr>
          <p:cNvPr id="3" name="">
            <a:extLst xmlns:a="http://schemas.openxmlformats.org/drawingml/2006/main">
              <a:ext uri="{FF2B5EF4-FFF2-40B4-BE49-F238E27FC236}">
                <a16:creationId xmlns:a16="http://schemas.microsoft.com/office/drawing/2014/main" id="{F865A8B8-13CB-498A-911D-782FFF18CF9A}"/>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LANGCHAIN CODE</a:t>
            </a:r>
          </a:p>
        </p:txBody>
      </p:sp>
      <p:sp>
        <p:nvSpPr>
          <p:cNvPr id="4" name="">
            <a:extLst xmlns:a="http://schemas.openxmlformats.org/drawingml/2006/main">
              <a:ext uri="{FF2B5EF4-FFF2-40B4-BE49-F238E27FC236}">
                <a16:creationId xmlns:a16="http://schemas.microsoft.com/office/drawing/2014/main" id="{BAEB03A1-F507-48E4-954A-5896EA60AC7A}"/>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EXAMPLE ANSWER</a:t>
            </a:r>
          </a:p>
        </p:txBody>
      </p:sp>
      <p:sp>
        <p:nvSpPr>
          <p:cNvPr id="5" name="">
            <a:extLst xmlns:a="http://schemas.openxmlformats.org/drawingml/2006/main">
              <a:ext uri="{FF2B5EF4-FFF2-40B4-BE49-F238E27FC236}">
                <a16:creationId xmlns:a16="http://schemas.microsoft.com/office/drawing/2014/main" id="{18E32563-FC79-4AC5-AE56-5A8DC56C355A}"/>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final_answer = llm.invoke(messages)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print(final_answer.content)</a:t>
            </a:r>
          </a:p>
        </p:txBody>
      </p:sp>
      <p:sp>
        <p:nvSpPr>
          <p:cNvPr id="6" name="">
            <a:extLst xmlns:a="http://schemas.openxmlformats.org/drawingml/2006/main">
              <a:ext uri="{FF2B5EF4-FFF2-40B4-BE49-F238E27FC236}">
                <a16:creationId xmlns:a16="http://schemas.microsoft.com/office/drawing/2014/main" id="{3437305E-AD56-495A-A5CC-8D0C876F3B1B}"/>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“Parcel PK101 is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out for delivery in Multan.”</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model explains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 returned record.</a:t>
            </a:r>
          </a:p>
        </p:txBody>
      </p:sp>
      <p:sp>
        <p:nvSpPr>
          <p:cNvPr id="7" name="">
            <a:extLst xmlns:a="http://schemas.openxmlformats.org/drawingml/2006/main">
              <a:ext uri="{FF2B5EF4-FFF2-40B4-BE49-F238E27FC236}">
                <a16:creationId xmlns:a16="http://schemas.microsoft.com/office/drawing/2014/main" id="{3EFC38E0-3711-48F5-A1AF-C8D33A20E08A}"/>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DB51AB4F-4C1A-4825-875A-D91DE842DCBD}"/>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16  ·  49</a:t>
            </a:r>
          </a:p>
        </p:txBody>
      </p:sp>
    </p:spTree>
    <p:extLst>
      <p:ext uri="{BB962C8B-B14F-4D97-AF65-F5344CB8AC3E}">
        <p14:creationId xmlns:p14="http://schemas.microsoft.com/office/powerpoint/2010/main" val="889894663"/>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7E4FD9-2B74-45BD-9CEC-018B2A28A051}"/>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B91CA4E6-BCA0-41F6-B382-460E586E7F31}"/>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One question, five visible steps</a:t>
            </a:r>
          </a:p>
        </p:txBody>
      </p:sp>
      <p:graphicFrame>
        <p:nvGraphicFramePr>
          <p:cNvPr id="10" name=""/>
          <p:cNvGraphicFramePr/>
          <p:nvPr/>
        </p:nvGraphicFramePr>
        <p:xfrm>
          <a:off xmlns:a="http://schemas.openxmlformats.org/drawingml/2006/main" x="609600" y="2457450"/>
          <a:ext xmlns:a="http://schemas.openxmlformats.org/drawingml/2006/main" cx="14020800" cy="4572000"/>
        </p:xfrm>
        <a:graphic xmlns:a="http://schemas.openxmlformats.org/drawingml/2006/main">
          <a:graphicData uri="http://schemas.openxmlformats.org/drawingml/2006/table">
            <a:tbl>
              <a:tblPr/>
              <a:tblGrid>
                <a:gridCol w="4667250"/>
                <a:gridCol w="9353550"/>
              </a:tblGrid>
              <a:tr h="762000">
                <a:tc>
                  <a:txBody>
                    <a:bodyPr>
                      <a:noAutofit/>
                    </a:bodyPr>
                    <a:lstStyle/>
                    <a:p>
                      <a:r>
                        <a:rPr sz="2475" b="1">
                          <a:solidFill>
                            <a:srgbClr val="18233D"/>
                          </a:solidFill>
                          <a:latin typeface="DejaVu Sans"/>
                          <a:ea typeface="DejaVu Sans"/>
                          <a:cs typeface="DejaVu Sans"/>
                        </a:rPr>
                        <a:t>Step</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Concrete example</a:t>
                      </a:r>
                    </a:p>
                  </a:txBody>
                  <a:tcPr marL="91440" marR="91440" marT="45720" marB="45720">
                    <a:solidFill>
                      <a:srgbClr val="DDEDF0"/>
                    </a:solidFill>
                  </a:tcPr>
                </a:tc>
              </a:tr>
              <a:tr h="762000">
                <a:tc>
                  <a:txBody>
                    <a:bodyPr>
                      <a:noAutofit/>
                    </a:bodyPr>
                    <a:lstStyle/>
                    <a:p>
                      <a:r>
                        <a:rPr sz="2475" b="0">
                          <a:solidFill>
                            <a:srgbClr val="18233D"/>
                          </a:solidFill>
                          <a:latin typeface="DejaVu Sans"/>
                          <a:ea typeface="DejaVu Sans"/>
                          <a:cs typeface="DejaVu Sans"/>
                        </a:rPr>
                        <a:t>Question</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Where is my parcel PK101?</a:t>
                      </a:r>
                    </a:p>
                  </a:txBody>
                  <a:tcPr marL="91440" marR="91440" marT="45720" marB="45720">
                    <a:solidFill>
                      <a:srgbClr val="FFFFFF"/>
                    </a:solidFill>
                  </a:tcPr>
                </a:tc>
              </a:tr>
              <a:tr h="762000">
                <a:tc>
                  <a:txBody>
                    <a:bodyPr>
                      <a:noAutofit/>
                    </a:bodyPr>
                    <a:lstStyle/>
                    <a:p>
                      <a:r>
                        <a:rPr sz="2475" b="0">
                          <a:solidFill>
                            <a:srgbClr val="18233D"/>
                          </a:solidFill>
                          <a:latin typeface="DejaVu Sans"/>
                          <a:ea typeface="DejaVu Sans"/>
                          <a:cs typeface="DejaVu Sans"/>
                        </a:rPr>
                        <a:t>Tool request</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get_parcel_status(tracking_id="PK101")</a:t>
                      </a:r>
                    </a:p>
                  </a:txBody>
                  <a:tcPr marL="91440" marR="91440" marT="45720" marB="45720">
                    <a:solidFill>
                      <a:srgbClr val="F4F8FA"/>
                    </a:solidFill>
                  </a:tcPr>
                </a:tc>
              </a:tr>
              <a:tr h="762000">
                <a:tc>
                  <a:txBody>
                    <a:bodyPr>
                      <a:noAutofit/>
                    </a:bodyPr>
                    <a:lstStyle/>
                    <a:p>
                      <a:r>
                        <a:rPr sz="2475" b="0">
                          <a:solidFill>
                            <a:srgbClr val="18233D"/>
                          </a:solidFill>
                          <a:latin typeface="DejaVu Sans"/>
                          <a:ea typeface="DejaVu Sans"/>
                          <a:cs typeface="DejaVu Sans"/>
                        </a:rPr>
                        <a:t>Python execution</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Read the saved PK101 record</a:t>
                      </a:r>
                    </a:p>
                  </a:txBody>
                  <a:tcPr marL="91440" marR="91440" marT="45720" marB="45720">
                    <a:solidFill>
                      <a:srgbClr val="FFFFFF"/>
                    </a:solidFill>
                  </a:tcPr>
                </a:tc>
              </a:tr>
              <a:tr h="762000">
                <a:tc>
                  <a:txBody>
                    <a:bodyPr>
                      <a:noAutofit/>
                    </a:bodyPr>
                    <a:lstStyle/>
                    <a:p>
                      <a:r>
                        <a:rPr sz="2475" b="0">
                          <a:solidFill>
                            <a:srgbClr val="18233D"/>
                          </a:solidFill>
                          <a:latin typeface="DejaVu Sans"/>
                          <a:ea typeface="DejaVu Sans"/>
                          <a:cs typeface="DejaVu Sans"/>
                        </a:rPr>
                        <a:t>Tool result</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Out for delivery in Multan.</a:t>
                      </a:r>
                    </a:p>
                  </a:txBody>
                  <a:tcPr marL="91440" marR="91440" marT="45720" marB="45720">
                    <a:solidFill>
                      <a:srgbClr val="F4F8FA"/>
                    </a:solidFill>
                  </a:tcPr>
                </a:tc>
              </a:tr>
              <a:tr h="762000">
                <a:tc>
                  <a:txBody>
                    <a:bodyPr>
                      <a:noAutofit/>
                    </a:bodyPr>
                    <a:lstStyle/>
                    <a:p>
                      <a:r>
                        <a:rPr sz="2475" b="0">
                          <a:solidFill>
                            <a:srgbClr val="18233D"/>
                          </a:solidFill>
                          <a:latin typeface="DejaVu Sans"/>
                          <a:ea typeface="DejaVu Sans"/>
                          <a:cs typeface="DejaVu Sans"/>
                        </a:rPr>
                        <a:t>Final explanation</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Explain that returned status to the user</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954B275-3E1F-474E-8A26-C8619105A049}"/>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5" name="">
            <a:extLst xmlns:a="http://schemas.openxmlformats.org/drawingml/2006/main">
              <a:ext uri="{FF2B5EF4-FFF2-40B4-BE49-F238E27FC236}">
                <a16:creationId xmlns:a16="http://schemas.microsoft.com/office/drawing/2014/main" id="{8D11F08F-9E9C-4CCC-AF3B-A561F1998B6D}"/>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Labs 12–16  ·  50</a:t>
            </a:r>
          </a:p>
        </p:txBody>
      </p:sp>
    </p:spTree>
    <p:extLst>
      <p:ext uri="{BB962C8B-B14F-4D97-AF65-F5344CB8AC3E}">
        <p14:creationId xmlns:p14="http://schemas.microsoft.com/office/powerpoint/2010/main" val="83943504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36559F-2B42-4FD9-8D92-0CCB9AD871BB}"/>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D4EE7B7F-F2A2-4C8B-862F-4FE095D25A39}"/>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complete app: request and execute</a:t>
            </a:r>
          </a:p>
        </p:txBody>
      </p:sp>
      <p:sp>
        <p:nvSpPr>
          <p:cNvPr id="3" name="">
            <a:extLst xmlns:a="http://schemas.openxmlformats.org/drawingml/2006/main">
              <a:ext uri="{FF2B5EF4-FFF2-40B4-BE49-F238E27FC236}">
                <a16:creationId xmlns:a16="http://schemas.microsoft.com/office/drawing/2014/main" id="{3F8BCAAA-6196-4C6B-AF0B-6841712F74CF}"/>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CORE FLOW, PART 1</a:t>
            </a:r>
          </a:p>
        </p:txBody>
      </p:sp>
      <p:sp>
        <p:nvSpPr>
          <p:cNvPr id="4" name="">
            <a:extLst xmlns:a="http://schemas.openxmlformats.org/drawingml/2006/main">
              <a:ext uri="{FF2B5EF4-FFF2-40B4-BE49-F238E27FC236}">
                <a16:creationId xmlns:a16="http://schemas.microsoft.com/office/drawing/2014/main" id="{618A008D-CFD9-4A05-9A88-98BB51027DCF}"/>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NO NEW CLASS</a:t>
            </a:r>
          </a:p>
        </p:txBody>
      </p:sp>
      <p:sp>
        <p:nvSpPr>
          <p:cNvPr id="5" name="">
            <a:extLst xmlns:a="http://schemas.openxmlformats.org/drawingml/2006/main">
              <a:ext uri="{FF2B5EF4-FFF2-40B4-BE49-F238E27FC236}">
                <a16:creationId xmlns:a16="http://schemas.microsoft.com/office/drawing/2014/main" id="{5D7A7E1C-0BD8-474D-B5EB-C96036FDC51A}"/>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ask_parcel_assistant(question):</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messages = parcel_prompt.invoke(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{"question": question}</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).to_messages()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request = llm_with_tools.invoke(messages)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if not request.tool_calls: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request.content</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messages.append(request)</a:t>
            </a:r>
          </a:p>
        </p:txBody>
      </p:sp>
      <p:sp>
        <p:nvSpPr>
          <p:cNvPr id="6" name="">
            <a:extLst xmlns:a="http://schemas.openxmlformats.org/drawingml/2006/main">
              <a:ext uri="{FF2B5EF4-FFF2-40B4-BE49-F238E27FC236}">
                <a16:creationId xmlns:a16="http://schemas.microsoft.com/office/drawing/2014/main" id="{7DCC38E3-33F8-4119-AFD2-6EEA6B0120E4}"/>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Prepare the conversation.</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Ask the model.</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No tool request?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Return its text.</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Otherwise, keep the request before adding results.</a:t>
            </a:r>
          </a:p>
        </p:txBody>
      </p:sp>
      <p:sp>
        <p:nvSpPr>
          <p:cNvPr id="7" name="">
            <a:extLst xmlns:a="http://schemas.openxmlformats.org/drawingml/2006/main">
              <a:ext uri="{FF2B5EF4-FFF2-40B4-BE49-F238E27FC236}">
                <a16:creationId xmlns:a16="http://schemas.microsoft.com/office/drawing/2014/main" id="{E719400A-8CD6-4ACE-810E-3134F6C07AEE}"/>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99C436B9-2101-4C19-A45E-E384768689CD}"/>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17  ·  51</a:t>
            </a:r>
          </a:p>
        </p:txBody>
      </p:sp>
    </p:spTree>
    <p:extLst>
      <p:ext uri="{BB962C8B-B14F-4D97-AF65-F5344CB8AC3E}">
        <p14:creationId xmlns:p14="http://schemas.microsoft.com/office/powerpoint/2010/main" val="130643701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572439-B3F3-4402-A61D-5D4E94233A49}"/>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HANDLE</a:t>
            </a:r>
          </a:p>
        </p:txBody>
      </p:sp>
      <p:sp>
        <p:nvSpPr>
          <p:cNvPr id="2" name="">
            <a:extLst xmlns:a="http://schemas.openxmlformats.org/drawingml/2006/main">
              <a:ext uri="{FF2B5EF4-FFF2-40B4-BE49-F238E27FC236}">
                <a16:creationId xmlns:a16="http://schemas.microsoft.com/office/drawing/2014/main" id="{F6CAAC86-98ED-4D77-AB3F-B1F80F82F23F}"/>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complete app: result and answer</a:t>
            </a:r>
          </a:p>
        </p:txBody>
      </p:sp>
      <p:sp>
        <p:nvSpPr>
          <p:cNvPr id="3" name="">
            <a:extLst xmlns:a="http://schemas.openxmlformats.org/drawingml/2006/main">
              <a:ext uri="{FF2B5EF4-FFF2-40B4-BE49-F238E27FC236}">
                <a16:creationId xmlns:a16="http://schemas.microsoft.com/office/drawing/2014/main" id="{19481232-2BD9-42DF-8E2F-34427875B024}"/>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CORE FLOW, PART 2</a:t>
            </a:r>
          </a:p>
        </p:txBody>
      </p:sp>
      <p:sp>
        <p:nvSpPr>
          <p:cNvPr id="4" name="">
            <a:extLst xmlns:a="http://schemas.openxmlformats.org/drawingml/2006/main">
              <a:ext uri="{FF2B5EF4-FFF2-40B4-BE49-F238E27FC236}">
                <a16:creationId xmlns:a16="http://schemas.microsoft.com/office/drawing/2014/main" id="{02FB4D02-A01B-4236-B35E-4C70DEF35E0E}"/>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SIMPLE APPLICATION SCOPE</a:t>
            </a:r>
          </a:p>
        </p:txBody>
      </p:sp>
      <p:sp>
        <p:nvSpPr>
          <p:cNvPr id="5" name="">
            <a:extLst xmlns:a="http://schemas.openxmlformats.org/drawingml/2006/main">
              <a:ext uri="{FF2B5EF4-FFF2-40B4-BE49-F238E27FC236}">
                <a16:creationId xmlns:a16="http://schemas.microsoft.com/office/drawing/2014/main" id="{2ADBC99A-CF09-46B6-99F0-48ACB1400226}"/>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for call in request.tool_calls: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result = get_parcel_status.invoke(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call["args"]</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messages.append(ToolMessage(</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content=result,</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tool_call_id=call["id"]</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return llm.invoke(messages).content</a:t>
            </a:r>
          </a:p>
        </p:txBody>
      </p:sp>
      <p:sp>
        <p:nvSpPr>
          <p:cNvPr id="6" name="">
            <a:extLst xmlns:a="http://schemas.openxmlformats.org/drawingml/2006/main">
              <a:ext uri="{FF2B5EF4-FFF2-40B4-BE49-F238E27FC236}">
                <a16:creationId xmlns:a16="http://schemas.microsoft.com/office/drawing/2014/main" id="{74138C15-41E9-468A-B919-E75F94A80F75}"/>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Run each requested lookup.</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Add its matching result.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Ask for the final explanation.</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Notebook Lab 17 adds allowed-name checks and error handling.</a:t>
            </a:r>
          </a:p>
        </p:txBody>
      </p:sp>
      <p:sp>
        <p:nvSpPr>
          <p:cNvPr id="7" name="">
            <a:extLst xmlns:a="http://schemas.openxmlformats.org/drawingml/2006/main">
              <a:ext uri="{FF2B5EF4-FFF2-40B4-BE49-F238E27FC236}">
                <a16:creationId xmlns:a16="http://schemas.microsoft.com/office/drawing/2014/main" id="{11AA789C-4CFA-4AB0-9CC1-5DF0E3683D14}"/>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1DD9CE76-3D9D-4F97-BDC9-5131C9DAE8F2}"/>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17  ·  52</a:t>
            </a:r>
          </a:p>
        </p:txBody>
      </p:sp>
    </p:spTree>
    <p:extLst>
      <p:ext uri="{BB962C8B-B14F-4D97-AF65-F5344CB8AC3E}">
        <p14:creationId xmlns:p14="http://schemas.microsoft.com/office/powerpoint/2010/main" val="33762402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8E2D1C-256E-433E-A82A-43F1B07FAB3B}"/>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BUILD &amp; PRACTISE</a:t>
            </a:r>
          </a:p>
        </p:txBody>
      </p:sp>
      <p:sp>
        <p:nvSpPr>
          <p:cNvPr id="2" name="">
            <a:extLst xmlns:a="http://schemas.openxmlformats.org/drawingml/2006/main">
              <a:ext uri="{FF2B5EF4-FFF2-40B4-BE49-F238E27FC236}">
                <a16:creationId xmlns:a16="http://schemas.microsoft.com/office/drawing/2014/main" id="{56FB6753-151A-483B-B578-C1B81CE2EB31}"/>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Our assistant is ready to use</a:t>
            </a:r>
          </a:p>
        </p:txBody>
      </p:sp>
      <p:sp>
        <p:nvSpPr>
          <p:cNvPr id="3" name="">
            <a:extLst xmlns:a="http://schemas.openxmlformats.org/drawingml/2006/main">
              <a:ext uri="{FF2B5EF4-FFF2-40B4-BE49-F238E27FC236}">
                <a16:creationId xmlns:a16="http://schemas.microsoft.com/office/drawing/2014/main" id="{0A6ECC95-964F-44DD-8507-E062C0E253B6}"/>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PYTHON CODE</a:t>
            </a:r>
          </a:p>
        </p:txBody>
      </p:sp>
      <p:sp>
        <p:nvSpPr>
          <p:cNvPr id="4" name="">
            <a:extLst xmlns:a="http://schemas.openxmlformats.org/drawingml/2006/main">
              <a:ext uri="{FF2B5EF4-FFF2-40B4-BE49-F238E27FC236}">
                <a16:creationId xmlns:a16="http://schemas.microsoft.com/office/drawing/2014/main" id="{F2B105D7-6966-43AB-BC75-656106F5760C}"/>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LIVE CLASSROOM CHECK</a:t>
            </a:r>
          </a:p>
        </p:txBody>
      </p:sp>
      <p:sp>
        <p:nvSpPr>
          <p:cNvPr id="5" name="">
            <a:extLst xmlns:a="http://schemas.openxmlformats.org/drawingml/2006/main">
              <a:ext uri="{FF2B5EF4-FFF2-40B4-BE49-F238E27FC236}">
                <a16:creationId xmlns:a16="http://schemas.microsoft.com/office/drawing/2014/main" id="{34543B1D-4257-4530-B1D3-4F9F73D3F799}"/>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question = "Please track PK102."</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answer = ask_parcel_assistant(question)</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print(answer)</a:t>
            </a:r>
          </a:p>
        </p:txBody>
      </p:sp>
      <p:sp>
        <p:nvSpPr>
          <p:cNvPr id="6" name="">
            <a:extLst xmlns:a="http://schemas.openxmlformats.org/drawingml/2006/main">
              <a:ext uri="{FF2B5EF4-FFF2-40B4-BE49-F238E27FC236}">
                <a16:creationId xmlns:a16="http://schemas.microsoft.com/office/drawing/2014/main" id="{A003CC8F-DB75-40E2-8351-F15E77AFA008}"/>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Expected tool result:</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In transit to Karachi.</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Watch the trace:</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tool name, inputs, result.</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Then try another parcel.</a:t>
            </a:r>
          </a:p>
        </p:txBody>
      </p:sp>
      <p:sp>
        <p:nvSpPr>
          <p:cNvPr id="7" name="">
            <a:extLst xmlns:a="http://schemas.openxmlformats.org/drawingml/2006/main">
              <a:ext uri="{FF2B5EF4-FFF2-40B4-BE49-F238E27FC236}">
                <a16:creationId xmlns:a16="http://schemas.microsoft.com/office/drawing/2014/main" id="{DA76DEA4-3CD6-4897-985E-847AAA585DBC}"/>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360C08AF-303C-46BE-AA1A-759660B28F72}"/>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18  ·  53</a:t>
            </a:r>
          </a:p>
        </p:txBody>
      </p:sp>
    </p:spTree>
    <p:extLst>
      <p:ext uri="{BB962C8B-B14F-4D97-AF65-F5344CB8AC3E}">
        <p14:creationId xmlns:p14="http://schemas.microsoft.com/office/powerpoint/2010/main" val="321567893"/>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B25388-CF7E-41EF-A82E-1D660A1E40E9}"/>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BUILD &amp; PRACTISE</a:t>
            </a:r>
          </a:p>
        </p:txBody>
      </p:sp>
      <p:sp>
        <p:nvSpPr>
          <p:cNvPr id="2" name="">
            <a:extLst xmlns:a="http://schemas.openxmlformats.org/drawingml/2006/main">
              <a:ext uri="{FF2B5EF4-FFF2-40B4-BE49-F238E27FC236}">
                <a16:creationId xmlns:a16="http://schemas.microsoft.com/office/drawing/2014/main" id="{BB03CD10-8B10-4F2F-A270-07756260656D}"/>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The unusual questions matter too</a:t>
            </a:r>
          </a:p>
        </p:txBody>
      </p:sp>
      <p:graphicFrame>
        <p:nvGraphicFramePr>
          <p:cNvPr id="10" name=""/>
          <p:cNvGraphicFramePr/>
          <p:nvPr/>
        </p:nvGraphicFramePr>
        <p:xfrm>
          <a:off xmlns:a="http://schemas.openxmlformats.org/drawingml/2006/main" x="609600" y="2457450"/>
          <a:ext xmlns:a="http://schemas.openxmlformats.org/drawingml/2006/main" cx="14020800" cy="4572000"/>
        </p:xfrm>
        <a:graphic xmlns:a="http://schemas.openxmlformats.org/drawingml/2006/main">
          <a:graphicData uri="http://schemas.openxmlformats.org/drawingml/2006/table">
            <a:tbl>
              <a:tblPr/>
              <a:tblGrid>
                <a:gridCol w="4667250"/>
                <a:gridCol w="9353550"/>
              </a:tblGrid>
              <a:tr h="914400">
                <a:tc>
                  <a:txBody>
                    <a:bodyPr>
                      <a:noAutofit/>
                    </a:bodyPr>
                    <a:lstStyle/>
                    <a:p>
                      <a:r>
                        <a:rPr sz="2475" b="1">
                          <a:solidFill>
                            <a:srgbClr val="18233D"/>
                          </a:solidFill>
                          <a:latin typeface="DejaVu Sans"/>
                          <a:ea typeface="DejaVu Sans"/>
                          <a:cs typeface="DejaVu Sans"/>
                        </a:rPr>
                        <a:t>Question</a:t>
                      </a:r>
                    </a:p>
                  </a:txBody>
                  <a:tcPr marL="91440" marR="91440" marT="45720" marB="45720">
                    <a:solidFill>
                      <a:srgbClr val="DDEDF0"/>
                    </a:solidFill>
                  </a:tcPr>
                </a:tc>
                <a:tc>
                  <a:txBody>
                    <a:bodyPr>
                      <a:noAutofit/>
                    </a:bodyPr>
                    <a:lstStyle/>
                    <a:p>
                      <a:r>
                        <a:rPr sz="2475" b="1">
                          <a:solidFill>
                            <a:srgbClr val="18233D"/>
                          </a:solidFill>
                          <a:latin typeface="DejaVu Sans"/>
                          <a:ea typeface="DejaVu Sans"/>
                          <a:cs typeface="DejaVu Sans"/>
                        </a:rPr>
                        <a:t>Expected behavior to check</a:t>
                      </a:r>
                    </a:p>
                  </a:txBody>
                  <a:tcPr marL="91440" marR="91440" marT="45720" marB="45720">
                    <a:solidFill>
                      <a:srgbClr val="DDEDF0"/>
                    </a:solidFill>
                  </a:tcPr>
                </a:tc>
              </a:tr>
              <a:tr h="914400">
                <a:tc>
                  <a:txBody>
                    <a:bodyPr>
                      <a:noAutofit/>
                    </a:bodyPr>
                    <a:lstStyle/>
                    <a:p>
                      <a:r>
                        <a:rPr sz="2475" b="0">
                          <a:solidFill>
                            <a:srgbClr val="18233D"/>
                          </a:solidFill>
                          <a:latin typeface="DejaVu Sans"/>
                          <a:ea typeface="DejaVu Sans"/>
                          <a:cs typeface="DejaVu Sans"/>
                        </a:rPr>
                        <a:t>Track PK999</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Explain that no saved record exists</a:t>
                      </a:r>
                    </a:p>
                  </a:txBody>
                  <a:tcPr marL="91440" marR="91440" marT="45720" marB="45720">
                    <a:solidFill>
                      <a:srgbClr val="FFFFFF"/>
                    </a:solidFill>
                  </a:tcPr>
                </a:tc>
              </a:tr>
              <a:tr h="914400">
                <a:tc>
                  <a:txBody>
                    <a:bodyPr>
                      <a:noAutofit/>
                    </a:bodyPr>
                    <a:lstStyle/>
                    <a:p>
                      <a:r>
                        <a:rPr sz="2475" b="0">
                          <a:solidFill>
                            <a:srgbClr val="18233D"/>
                          </a:solidFill>
                          <a:latin typeface="DejaVu Sans"/>
                          <a:ea typeface="DejaVu Sans"/>
                          <a:cs typeface="DejaVu Sans"/>
                        </a:rPr>
                        <a:t>Where is my parcel?</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Ask for a tracking ID</a:t>
                      </a:r>
                    </a:p>
                  </a:txBody>
                  <a:tcPr marL="91440" marR="91440" marT="45720" marB="45720">
                    <a:solidFill>
                      <a:srgbClr val="F4F8FA"/>
                    </a:solidFill>
                  </a:tcPr>
                </a:tc>
              </a:tr>
              <a:tr h="914400">
                <a:tc>
                  <a:txBody>
                    <a:bodyPr>
                      <a:noAutofit/>
                    </a:bodyPr>
                    <a:lstStyle/>
                    <a:p>
                      <a:r>
                        <a:rPr sz="2475" b="0">
                          <a:solidFill>
                            <a:srgbClr val="18233D"/>
                          </a:solidFill>
                          <a:latin typeface="DejaVu Sans"/>
                          <a:ea typeface="DejaVu Sans"/>
                          <a:cs typeface="DejaVu Sans"/>
                        </a:rPr>
                        <a:t>What is a tracking number?</a:t>
                      </a:r>
                    </a:p>
                  </a:txBody>
                  <a:tcPr marL="91440" marR="91440" marT="45720" marB="45720">
                    <a:solidFill>
                      <a:srgbClr val="FFFFFF"/>
                    </a:solidFill>
                  </a:tcPr>
                </a:tc>
                <a:tc>
                  <a:txBody>
                    <a:bodyPr>
                      <a:noAutofit/>
                    </a:bodyPr>
                    <a:lstStyle/>
                    <a:p>
                      <a:r>
                        <a:rPr sz="2475" b="0">
                          <a:solidFill>
                            <a:srgbClr val="18233D"/>
                          </a:solidFill>
                          <a:latin typeface="DejaVu Sans"/>
                          <a:ea typeface="DejaVu Sans"/>
                          <a:cs typeface="DejaVu Sans"/>
                        </a:rPr>
                        <a:t>Explain directly</a:t>
                      </a:r>
                    </a:p>
                  </a:txBody>
                  <a:tcPr marL="91440" marR="91440" marT="45720" marB="45720">
                    <a:solidFill>
                      <a:srgbClr val="FFFFFF"/>
                    </a:solidFill>
                  </a:tcPr>
                </a:tc>
              </a:tr>
              <a:tr h="914400">
                <a:tc>
                  <a:txBody>
                    <a:bodyPr>
                      <a:noAutofit/>
                    </a:bodyPr>
                    <a:lstStyle/>
                    <a:p>
                      <a:r>
                        <a:rPr sz="2475" b="0">
                          <a:solidFill>
                            <a:srgbClr val="18233D"/>
                          </a:solidFill>
                          <a:latin typeface="DejaVu Sans"/>
                          <a:ea typeface="DejaVu Sans"/>
                          <a:cs typeface="DejaVu Sans"/>
                        </a:rPr>
                        <a:t>Track PK101 and PK102</a:t>
                      </a:r>
                    </a:p>
                  </a:txBody>
                  <a:tcPr marL="91440" marR="91440" marT="45720" marB="45720">
                    <a:solidFill>
                      <a:srgbClr val="F4F8FA"/>
                    </a:solidFill>
                  </a:tcPr>
                </a:tc>
                <a:tc>
                  <a:txBody>
                    <a:bodyPr>
                      <a:noAutofit/>
                    </a:bodyPr>
                    <a:lstStyle/>
                    <a:p>
                      <a:r>
                        <a:rPr sz="2475" b="0">
                          <a:solidFill>
                            <a:srgbClr val="18233D"/>
                          </a:solidFill>
                          <a:latin typeface="DejaVu Sans"/>
                          <a:ea typeface="DejaVu Sans"/>
                          <a:cs typeface="DejaVu Sans"/>
                        </a:rPr>
                        <a:t>Return a result for each requested call</a:t>
                      </a:r>
                    </a:p>
                  </a:txBody>
                  <a:tcPr marL="91440" marR="91440" marT="45720" marB="45720">
                    <a:solidFill>
                      <a:srgbClr val="F4F8FA"/>
                    </a:solidFill>
                  </a:tcPr>
                </a:tc>
              </a:tr>
            </a:tbl>
          </a:graphicData>
        </a:graphic>
      </p:graphicFrame>
      <p:sp>
        <p:nvSpPr>
          <p:cNvPr id="4" name="">
            <a:extLst xmlns:a="http://schemas.openxmlformats.org/drawingml/2006/main">
              <a:ext uri="{FF2B5EF4-FFF2-40B4-BE49-F238E27FC236}">
                <a16:creationId xmlns:a16="http://schemas.microsoft.com/office/drawing/2014/main" id="{D45A72BE-27E1-4381-832F-60FA9B997076}"/>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5" name="">
            <a:extLst xmlns:a="http://schemas.openxmlformats.org/drawingml/2006/main">
              <a:ext uri="{FF2B5EF4-FFF2-40B4-BE49-F238E27FC236}">
                <a16:creationId xmlns:a16="http://schemas.microsoft.com/office/drawing/2014/main" id="{5E9BE9B6-A277-4470-BE60-AB8F9A69D174}"/>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19  ·  54</a:t>
            </a:r>
          </a:p>
        </p:txBody>
      </p:sp>
    </p:spTree>
    <p:extLst>
      <p:ext uri="{BB962C8B-B14F-4D97-AF65-F5344CB8AC3E}">
        <p14:creationId xmlns:p14="http://schemas.microsoft.com/office/powerpoint/2010/main" val="200877897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9218B4-761C-4200-83F7-1536DA7557B7}"/>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BUILD &amp; PRACTISE</a:t>
            </a:r>
          </a:p>
        </p:txBody>
      </p:sp>
      <p:sp>
        <p:nvSpPr>
          <p:cNvPr id="2" name="">
            <a:extLst xmlns:a="http://schemas.openxmlformats.org/drawingml/2006/main">
              <a:ext uri="{FF2B5EF4-FFF2-40B4-BE49-F238E27FC236}">
                <a16:creationId xmlns:a16="http://schemas.microsoft.com/office/drawing/2014/main" id="{69AC6417-0E8B-4003-840D-2D3D782B84B1}"/>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Can you explain the flow?</a:t>
            </a:r>
          </a:p>
        </p:txBody>
      </p:sp>
      <p:sp>
        <p:nvSpPr>
          <p:cNvPr id="3" name="">
            <a:extLst xmlns:a="http://schemas.openxmlformats.org/drawingml/2006/main">
              <a:ext uri="{FF2B5EF4-FFF2-40B4-BE49-F238E27FC236}">
                <a16:creationId xmlns:a16="http://schemas.microsoft.com/office/drawing/2014/main" id="{8BCF132D-0E11-47FA-8CCE-2A5D3FDCC63D}"/>
              </a:ext>
            </a:extLst>
          </p:cNvPr>
          <p:cNvSpPr>
            <a:spLocks xmlns:a="http://schemas.openxmlformats.org/drawingml/2006/main" noGrp="1"/>
          </p:cNvSpPr>
          <p:nvPr/>
        </p:nvSpPr>
        <p:spPr>
          <a:xfrm xmlns:a="http://schemas.openxmlformats.org/drawingml/2006/main">
            <a:off x="609600" y="24574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1</a:t>
            </a:r>
          </a:p>
        </p:txBody>
      </p:sp>
      <p:sp>
        <p:nvSpPr>
          <p:cNvPr id="4" name="">
            <a:extLst xmlns:a="http://schemas.openxmlformats.org/drawingml/2006/main">
              <a:ext uri="{FF2B5EF4-FFF2-40B4-BE49-F238E27FC236}">
                <a16:creationId xmlns:a16="http://schemas.microsoft.com/office/drawing/2014/main" id="{37322E40-B860-4136-8A0C-62AE9AC0F1C3}"/>
              </a:ext>
            </a:extLst>
          </p:cNvPr>
          <p:cNvSpPr>
            <a:spLocks xmlns:a="http://schemas.openxmlformats.org/drawingml/2006/main" noGrp="1"/>
          </p:cNvSpPr>
          <p:nvPr/>
        </p:nvSpPr>
        <p:spPr>
          <a:xfrm xmlns:a="http://schemas.openxmlformats.org/drawingml/2006/main">
            <a:off x="2095500" y="2495550"/>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8233D"/>
                </a:solidFill>
                <a:latin typeface="DejaVu Sans"/>
                <a:ea typeface="DejaVu Sans"/>
                <a:cs typeface="DejaVu Sans"/>
              </a:defRPr>
            </a:pPr>
            <a:r>
              <a:rPr sz="2850" b="0">
                <a:solidFill>
                  <a:srgbClr val="18233D"/>
                </a:solidFill>
                <a:latin typeface="DejaVu Sans"/>
                <a:ea typeface="DejaVu Sans"/>
                <a:cs typeface="DejaVu Sans"/>
              </a:rPr>
              <a:t>Which import gives us tool?</a:t>
            </a:r>
          </a:p>
        </p:txBody>
      </p:sp>
      <p:sp>
        <p:nvSpPr>
          <p:cNvPr id="5" name="">
            <a:extLst xmlns:a="http://schemas.openxmlformats.org/drawingml/2006/main">
              <a:ext uri="{FF2B5EF4-FFF2-40B4-BE49-F238E27FC236}">
                <a16:creationId xmlns:a16="http://schemas.microsoft.com/office/drawing/2014/main" id="{034AE454-8A86-4275-A1F4-95E27DB8762E}"/>
              </a:ext>
            </a:extLst>
          </p:cNvPr>
          <p:cNvSpPr>
            <a:spLocks xmlns:a="http://schemas.openxmlformats.org/drawingml/2006/main" noGrp="1"/>
          </p:cNvSpPr>
          <p:nvPr/>
        </p:nvSpPr>
        <p:spPr>
          <a:xfrm xmlns:a="http://schemas.openxmlformats.org/drawingml/2006/main">
            <a:off x="609600" y="34099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C3E6A874-5D1B-489A-BA86-8AE86C30524A}"/>
              </a:ext>
            </a:extLst>
          </p:cNvPr>
          <p:cNvSpPr>
            <a:spLocks xmlns:a="http://schemas.openxmlformats.org/drawingml/2006/main" noGrp="1"/>
          </p:cNvSpPr>
          <p:nvPr/>
        </p:nvSpPr>
        <p:spPr>
          <a:xfrm xmlns:a="http://schemas.openxmlformats.org/drawingml/2006/main">
            <a:off x="2095500" y="3448050"/>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8233D"/>
                </a:solidFill>
                <a:latin typeface="DejaVu Sans"/>
                <a:ea typeface="DejaVu Sans"/>
                <a:cs typeface="DejaVu Sans"/>
              </a:defRPr>
            </a:pPr>
            <a:r>
              <a:rPr sz="2850" b="0">
                <a:solidFill>
                  <a:srgbClr val="18233D"/>
                </a:solidFill>
                <a:latin typeface="DejaVu Sans"/>
                <a:ea typeface="DejaVu Sans"/>
                <a:cs typeface="DejaVu Sans"/>
              </a:rPr>
              <a:t>Does @tool execute the function?</a:t>
            </a:r>
          </a:p>
        </p:txBody>
      </p:sp>
      <p:sp>
        <p:nvSpPr>
          <p:cNvPr id="7" name="">
            <a:extLst xmlns:a="http://schemas.openxmlformats.org/drawingml/2006/main">
              <a:ext uri="{FF2B5EF4-FFF2-40B4-BE49-F238E27FC236}">
                <a16:creationId xmlns:a16="http://schemas.microsoft.com/office/drawing/2014/main" id="{701CBA8B-6215-472B-A572-2CA5CDDC5E79}"/>
              </a:ext>
            </a:extLst>
          </p:cNvPr>
          <p:cNvSpPr>
            <a:spLocks xmlns:a="http://schemas.openxmlformats.org/drawingml/2006/main" noGrp="1"/>
          </p:cNvSpPr>
          <p:nvPr/>
        </p:nvSpPr>
        <p:spPr>
          <a:xfrm xmlns:a="http://schemas.openxmlformats.org/drawingml/2006/main">
            <a:off x="609600" y="43624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3</a:t>
            </a:r>
          </a:p>
        </p:txBody>
      </p:sp>
      <p:sp>
        <p:nvSpPr>
          <p:cNvPr id="8" name="">
            <a:extLst xmlns:a="http://schemas.openxmlformats.org/drawingml/2006/main">
              <a:ext uri="{FF2B5EF4-FFF2-40B4-BE49-F238E27FC236}">
                <a16:creationId xmlns:a16="http://schemas.microsoft.com/office/drawing/2014/main" id="{DD016F8B-C7B9-47E3-8B0C-3AB0E8703C25}"/>
              </a:ext>
            </a:extLst>
          </p:cNvPr>
          <p:cNvSpPr>
            <a:spLocks xmlns:a="http://schemas.openxmlformats.org/drawingml/2006/main" noGrp="1"/>
          </p:cNvSpPr>
          <p:nvPr/>
        </p:nvSpPr>
        <p:spPr>
          <a:xfrm xmlns:a="http://schemas.openxmlformats.org/drawingml/2006/main">
            <a:off x="2095500" y="4400550"/>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8233D"/>
                </a:solidFill>
                <a:latin typeface="DejaVu Sans"/>
                <a:ea typeface="DejaVu Sans"/>
                <a:cs typeface="DejaVu Sans"/>
              </a:defRPr>
            </a:pPr>
            <a:r>
              <a:rPr sz="2850" b="0">
                <a:solidFill>
                  <a:srgbClr val="18233D"/>
                </a:solidFill>
                <a:latin typeface="DejaVu Sans"/>
                <a:ea typeface="DejaVu Sans"/>
                <a:cs typeface="DejaVu Sans"/>
              </a:rPr>
              <a:t>Does bind_tools execute the function?</a:t>
            </a:r>
          </a:p>
        </p:txBody>
      </p:sp>
      <p:sp>
        <p:nvSpPr>
          <p:cNvPr id="9" name="">
            <a:extLst xmlns:a="http://schemas.openxmlformats.org/drawingml/2006/main">
              <a:ext uri="{FF2B5EF4-FFF2-40B4-BE49-F238E27FC236}">
                <a16:creationId xmlns:a16="http://schemas.microsoft.com/office/drawing/2014/main" id="{706ABE91-B292-472D-B9BD-8F234ADD9A74}"/>
              </a:ext>
            </a:extLst>
          </p:cNvPr>
          <p:cNvSpPr>
            <a:spLocks xmlns:a="http://schemas.openxmlformats.org/drawingml/2006/main" noGrp="1"/>
          </p:cNvSpPr>
          <p:nvPr/>
        </p:nvSpPr>
        <p:spPr>
          <a:xfrm xmlns:a="http://schemas.openxmlformats.org/drawingml/2006/main">
            <a:off x="609600" y="53149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4</a:t>
            </a:r>
          </a:p>
        </p:txBody>
      </p:sp>
      <p:sp>
        <p:nvSpPr>
          <p:cNvPr id="10" name="">
            <a:extLst xmlns:a="http://schemas.openxmlformats.org/drawingml/2006/main">
              <a:ext uri="{FF2B5EF4-FFF2-40B4-BE49-F238E27FC236}">
                <a16:creationId xmlns:a16="http://schemas.microsoft.com/office/drawing/2014/main" id="{CE5CE87C-BEB1-4EA1-ACC9-4693B45DE565}"/>
              </a:ext>
            </a:extLst>
          </p:cNvPr>
          <p:cNvSpPr>
            <a:spLocks xmlns:a="http://schemas.openxmlformats.org/drawingml/2006/main" noGrp="1"/>
          </p:cNvSpPr>
          <p:nvPr/>
        </p:nvSpPr>
        <p:spPr>
          <a:xfrm xmlns:a="http://schemas.openxmlformats.org/drawingml/2006/main">
            <a:off x="2095500" y="5353050"/>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8233D"/>
                </a:solidFill>
                <a:latin typeface="DejaVu Sans"/>
                <a:ea typeface="DejaVu Sans"/>
                <a:cs typeface="DejaVu Sans"/>
              </a:defRPr>
            </a:pPr>
            <a:r>
              <a:rPr sz="2850" b="0">
                <a:solidFill>
                  <a:srgbClr val="18233D"/>
                </a:solidFill>
                <a:latin typeface="DejaVu Sans"/>
                <a:ea typeface="DejaVu Sans"/>
                <a:cs typeface="DejaVu Sans"/>
              </a:rPr>
              <a:t>Who runs the function?</a:t>
            </a:r>
          </a:p>
        </p:txBody>
      </p:sp>
      <p:sp>
        <p:nvSpPr>
          <p:cNvPr id="11" name="">
            <a:extLst xmlns:a="http://schemas.openxmlformats.org/drawingml/2006/main">
              <a:ext uri="{FF2B5EF4-FFF2-40B4-BE49-F238E27FC236}">
                <a16:creationId xmlns:a16="http://schemas.microsoft.com/office/drawing/2014/main" id="{E1D6B3F6-BFCB-4232-BD2E-CF5CE5E06B25}"/>
              </a:ext>
            </a:extLst>
          </p:cNvPr>
          <p:cNvSpPr>
            <a:spLocks xmlns:a="http://schemas.openxmlformats.org/drawingml/2006/main" noGrp="1"/>
          </p:cNvSpPr>
          <p:nvPr/>
        </p:nvSpPr>
        <p:spPr>
          <a:xfrm xmlns:a="http://schemas.openxmlformats.org/drawingml/2006/main">
            <a:off x="609600" y="62674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5</a:t>
            </a:r>
          </a:p>
        </p:txBody>
      </p:sp>
      <p:sp>
        <p:nvSpPr>
          <p:cNvPr id="12" name="">
            <a:extLst xmlns:a="http://schemas.openxmlformats.org/drawingml/2006/main">
              <a:ext uri="{FF2B5EF4-FFF2-40B4-BE49-F238E27FC236}">
                <a16:creationId xmlns:a16="http://schemas.microsoft.com/office/drawing/2014/main" id="{4F1C845D-B79C-45D4-9950-E8667FD039DD}"/>
              </a:ext>
            </a:extLst>
          </p:cNvPr>
          <p:cNvSpPr>
            <a:spLocks xmlns:a="http://schemas.openxmlformats.org/drawingml/2006/main" noGrp="1"/>
          </p:cNvSpPr>
          <p:nvPr/>
        </p:nvSpPr>
        <p:spPr>
          <a:xfrm xmlns:a="http://schemas.openxmlformats.org/drawingml/2006/main">
            <a:off x="2095500" y="6305550"/>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8233D"/>
                </a:solidFill>
                <a:latin typeface="DejaVu Sans"/>
                <a:ea typeface="DejaVu Sans"/>
                <a:cs typeface="DejaVu Sans"/>
              </a:defRPr>
            </a:pPr>
            <a:r>
              <a:rPr sz="2850" b="0">
                <a:solidFill>
                  <a:srgbClr val="18233D"/>
                </a:solidFill>
                <a:latin typeface="DejaVu Sans"/>
                <a:ea typeface="DejaVu Sans"/>
                <a:cs typeface="DejaVu Sans"/>
              </a:rPr>
              <a:t>Which ID connects request and result?</a:t>
            </a:r>
          </a:p>
        </p:txBody>
      </p:sp>
      <p:sp>
        <p:nvSpPr>
          <p:cNvPr id="13" name="">
            <a:extLst xmlns:a="http://schemas.openxmlformats.org/drawingml/2006/main">
              <a:ext uri="{FF2B5EF4-FFF2-40B4-BE49-F238E27FC236}">
                <a16:creationId xmlns:a16="http://schemas.microsoft.com/office/drawing/2014/main" id="{C4936AE2-9B8D-4834-9CF0-67F18D40C036}"/>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14" name="">
            <a:extLst xmlns:a="http://schemas.openxmlformats.org/drawingml/2006/main">
              <a:ext uri="{FF2B5EF4-FFF2-40B4-BE49-F238E27FC236}">
                <a16:creationId xmlns:a16="http://schemas.microsoft.com/office/drawing/2014/main" id="{31813244-ED4B-4366-A05C-E4C05B3F0268}"/>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19  ·  55</a:t>
            </a:r>
          </a:p>
        </p:txBody>
      </p:sp>
    </p:spTree>
    <p:extLst>
      <p:ext uri="{BB962C8B-B14F-4D97-AF65-F5344CB8AC3E}">
        <p14:creationId xmlns:p14="http://schemas.microsoft.com/office/powerpoint/2010/main" val="122608777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1553D0-CDC9-4F62-869C-2D107E2924E2}"/>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BUILD &amp; PRACTISE</a:t>
            </a:r>
          </a:p>
        </p:txBody>
      </p:sp>
      <p:sp>
        <p:nvSpPr>
          <p:cNvPr id="2" name="">
            <a:extLst xmlns:a="http://schemas.openxmlformats.org/drawingml/2006/main">
              <a:ext uri="{FF2B5EF4-FFF2-40B4-BE49-F238E27FC236}">
                <a16:creationId xmlns:a16="http://schemas.microsoft.com/office/drawing/2014/main" id="{ED4EB65F-9ED1-4089-96DE-8D88E1DA26F0}"/>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Class assignment: library assistant</a:t>
            </a:r>
          </a:p>
        </p:txBody>
      </p:sp>
      <p:sp>
        <p:nvSpPr>
          <p:cNvPr id="3" name="">
            <a:extLst xmlns:a="http://schemas.openxmlformats.org/drawingml/2006/main">
              <a:ext uri="{FF2B5EF4-FFF2-40B4-BE49-F238E27FC236}">
                <a16:creationId xmlns:a16="http://schemas.microsoft.com/office/drawing/2014/main" id="{4D530CB3-EFE1-442B-A1F4-1CB609C3CA4B}"/>
              </a:ext>
            </a:extLst>
          </p:cNvPr>
          <p:cNvSpPr>
            <a:spLocks xmlns:a="http://schemas.openxmlformats.org/drawingml/2006/main" noGrp="1"/>
          </p:cNvSpPr>
          <p:nvPr/>
        </p:nvSpPr>
        <p:spPr>
          <a:xfrm xmlns:a="http://schemas.openxmlformats.org/drawingml/2006/main">
            <a:off x="609600" y="22860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PRACTICAL PROJECT</a:t>
            </a:r>
          </a:p>
        </p:txBody>
      </p:sp>
      <p:sp>
        <p:nvSpPr>
          <p:cNvPr id="4" name="">
            <a:extLst xmlns:a="http://schemas.openxmlformats.org/drawingml/2006/main">
              <a:ext uri="{FF2B5EF4-FFF2-40B4-BE49-F238E27FC236}">
                <a16:creationId xmlns:a16="http://schemas.microsoft.com/office/drawing/2014/main" id="{2960AFAE-6D2A-47C6-BCAB-708C5DF881AC}"/>
              </a:ext>
            </a:extLst>
          </p:cNvPr>
          <p:cNvSpPr>
            <a:spLocks xmlns:a="http://schemas.openxmlformats.org/drawingml/2006/main" noGrp="1"/>
          </p:cNvSpPr>
          <p:nvPr/>
        </p:nvSpPr>
        <p:spPr>
          <a:xfrm xmlns:a="http://schemas.openxmlformats.org/drawingml/2006/main">
            <a:off x="8286750" y="2286000"/>
            <a:ext cx="6343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CLASSROOM DATA</a:t>
            </a:r>
          </a:p>
        </p:txBody>
      </p:sp>
      <p:sp>
        <p:nvSpPr>
          <p:cNvPr id="5" name="">
            <a:extLst xmlns:a="http://schemas.openxmlformats.org/drawingml/2006/main">
              <a:ext uri="{FF2B5EF4-FFF2-40B4-BE49-F238E27FC236}">
                <a16:creationId xmlns:a16="http://schemas.microsoft.com/office/drawing/2014/main" id="{3C6C71C1-2C2F-4B23-9BAF-69F7E9133AF8}"/>
              </a:ext>
            </a:extLst>
          </p:cNvPr>
          <p:cNvSpPr>
            <a:spLocks xmlns:a="http://schemas.openxmlformats.org/drawingml/2006/main" noGrp="1"/>
          </p:cNvSpPr>
          <p:nvPr/>
        </p:nvSpPr>
        <p:spPr>
          <a:xfrm xmlns:a="http://schemas.openxmlformats.org/drawingml/2006/main">
            <a:off x="609600" y="3114675"/>
            <a:ext cx="6667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Student asks:</a:t>
            </a:r>
          </a:p>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“Is Python Basics available?”</a:t>
            </a:r>
          </a:p>
          <a:p xmlns:a="http://schemas.openxmlformats.org/drawingml/2006/main">
            <a:r>
              <a:t/>
            </a:r>
          </a:p>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Your tool checks</a:t>
            </a:r>
          </a:p>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a small book dictionary.</a:t>
            </a:r>
          </a:p>
        </p:txBody>
      </p:sp>
      <p:sp>
        <p:nvSpPr>
          <p:cNvPr id="6" name="">
            <a:extLst xmlns:a="http://schemas.openxmlformats.org/drawingml/2006/main">
              <a:ext uri="{FF2B5EF4-FFF2-40B4-BE49-F238E27FC236}">
                <a16:creationId xmlns:a16="http://schemas.microsoft.com/office/drawing/2014/main" id="{C8E7A1FF-62C3-4F04-9559-DCC85C31037F}"/>
              </a:ext>
            </a:extLst>
          </p:cNvPr>
          <p:cNvSpPr>
            <a:spLocks xmlns:a="http://schemas.openxmlformats.org/drawingml/2006/main" noGrp="1"/>
          </p:cNvSpPr>
          <p:nvPr/>
        </p:nvSpPr>
        <p:spPr>
          <a:xfrm xmlns:a="http://schemas.openxmlformats.org/drawingml/2006/main">
            <a:off x="8286750" y="3114675"/>
            <a:ext cx="634365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Python Basics: Available</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AI for Beginners: Borrowed</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Electronics Starter: Available</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One tool. One text input.</a:t>
            </a:r>
          </a:p>
        </p:txBody>
      </p:sp>
      <p:sp>
        <p:nvSpPr>
          <p:cNvPr id="7" name="">
            <a:extLst xmlns:a="http://schemas.openxmlformats.org/drawingml/2006/main">
              <a:ext uri="{FF2B5EF4-FFF2-40B4-BE49-F238E27FC236}">
                <a16:creationId xmlns:a16="http://schemas.microsoft.com/office/drawing/2014/main" id="{0E8A6146-2BC4-4F30-AB3D-E1DBD2928EF2}"/>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F313E019-1BF1-4A06-B48D-BA32947693B0}"/>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20  ·  56</a:t>
            </a:r>
          </a:p>
        </p:txBody>
      </p:sp>
    </p:spTree>
    <p:extLst>
      <p:ext uri="{BB962C8B-B14F-4D97-AF65-F5344CB8AC3E}">
        <p14:creationId xmlns:p14="http://schemas.microsoft.com/office/powerpoint/2010/main" val="130683338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8719A8-0DCF-4E96-B490-F39140F8B2E4}"/>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BUILD &amp; PRACTISE</a:t>
            </a:r>
          </a:p>
        </p:txBody>
      </p:sp>
      <p:sp>
        <p:nvSpPr>
          <p:cNvPr id="2" name="">
            <a:extLst xmlns:a="http://schemas.openxmlformats.org/drawingml/2006/main">
              <a:ext uri="{FF2B5EF4-FFF2-40B4-BE49-F238E27FC236}">
                <a16:creationId xmlns:a16="http://schemas.microsoft.com/office/drawing/2014/main" id="{CE93F1C9-6DBC-4FFF-89AA-DAD475411B1F}"/>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Your project’s tool and checks</a:t>
            </a:r>
          </a:p>
        </p:txBody>
      </p:sp>
      <p:sp>
        <p:nvSpPr>
          <p:cNvPr id="3" name="">
            <a:extLst xmlns:a="http://schemas.openxmlformats.org/drawingml/2006/main">
              <a:ext uri="{FF2B5EF4-FFF2-40B4-BE49-F238E27FC236}">
                <a16:creationId xmlns:a16="http://schemas.microsoft.com/office/drawing/2014/main" id="{4694828D-DF34-40D1-817A-C78576AEBDE7}"/>
              </a:ext>
            </a:extLst>
          </p:cNvPr>
          <p:cNvSpPr>
            <a:spLocks xmlns:a="http://schemas.openxmlformats.org/drawingml/2006/main" noGrp="1"/>
          </p:cNvSpPr>
          <p:nvPr/>
        </p:nvSpPr>
        <p:spPr>
          <a:xfrm xmlns:a="http://schemas.openxmlformats.org/drawingml/2006/main">
            <a:off x="609600" y="2286000"/>
            <a:ext cx="814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STARTER STRUCTURE</a:t>
            </a:r>
          </a:p>
        </p:txBody>
      </p:sp>
      <p:sp>
        <p:nvSpPr>
          <p:cNvPr id="4" name="">
            <a:extLst xmlns:a="http://schemas.openxmlformats.org/drawingml/2006/main">
              <a:ext uri="{FF2B5EF4-FFF2-40B4-BE49-F238E27FC236}">
                <a16:creationId xmlns:a16="http://schemas.microsoft.com/office/drawing/2014/main" id="{973D6DED-F79F-433C-982F-8923B26B8D51}"/>
              </a:ext>
            </a:extLst>
          </p:cNvPr>
          <p:cNvSpPr>
            <a:spLocks xmlns:a="http://schemas.openxmlformats.org/drawingml/2006/main" noGrp="1"/>
          </p:cNvSpPr>
          <p:nvPr/>
        </p:nvSpPr>
        <p:spPr>
          <a:xfrm xmlns:a="http://schemas.openxmlformats.org/drawingml/2006/main">
            <a:off x="9286875" y="2286000"/>
            <a:ext cx="5343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92400E"/>
                </a:solidFill>
                <a:latin typeface="DejaVu Sans"/>
                <a:ea typeface="DejaVu Sans"/>
                <a:cs typeface="DejaVu Sans"/>
              </a:defRPr>
            </a:pPr>
            <a:r>
              <a:rPr sz="1950" b="1">
                <a:solidFill>
                  <a:srgbClr val="92400E"/>
                </a:solidFill>
                <a:latin typeface="DejaVu Sans"/>
                <a:ea typeface="DejaVu Sans"/>
                <a:cs typeface="DejaVu Sans"/>
              </a:rPr>
              <a:t>SUBMISSION EVIDENCE</a:t>
            </a:r>
          </a:p>
        </p:txBody>
      </p:sp>
      <p:sp>
        <p:nvSpPr>
          <p:cNvPr id="5" name="">
            <a:extLst xmlns:a="http://schemas.openxmlformats.org/drawingml/2006/main">
              <a:ext uri="{FF2B5EF4-FFF2-40B4-BE49-F238E27FC236}">
                <a16:creationId xmlns:a16="http://schemas.microsoft.com/office/drawing/2014/main" id="{7126CBAC-DCCD-4C8F-AEEC-100EF97512D8}"/>
              </a:ext>
            </a:extLst>
          </p:cNvPr>
          <p:cNvSpPr>
            <a:spLocks xmlns:a="http://schemas.openxmlformats.org/drawingml/2006/main" noGrp="1"/>
          </p:cNvSpPr>
          <p:nvPr/>
        </p:nvSpPr>
        <p:spPr>
          <a:xfrm xmlns:a="http://schemas.openxmlformats.org/drawingml/2006/main">
            <a:off x="609600" y="3114675"/>
            <a:ext cx="81438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@tool</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def check_book_availability(</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book_title: str</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-&gt; str:</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"""Check a saved book’s availability."""</a:t>
            </a:r>
          </a:p>
          <a:p xmlns:a="http://schemas.openxmlformats.org/drawingml/2006/main">
            <a:pPr>
              <a:buNone/>
              <a:defRPr sz="2250" b="0">
                <a:solidFill>
                  <a:srgbClr val="18233D"/>
                </a:solidFill>
                <a:latin typeface="DejaVu Sans Mono"/>
                <a:ea typeface="DejaVu Sans Mono"/>
                <a:cs typeface="DejaVu Sans Mono"/>
              </a:defRPr>
            </a:pPr>
            <a:r>
              <a:rPr sz="2250" b="0">
                <a:solidFill>
                  <a:srgbClr val="18233D"/>
                </a:solidFill>
                <a:latin typeface="DejaVu Sans Mono"/>
                <a:ea typeface="DejaVu Sans Mono"/>
                <a:cs typeface="DejaVu Sans Mono"/>
              </a:rPr>
              <a:t>    # return the lookup result</a:t>
            </a:r>
          </a:p>
        </p:txBody>
      </p:sp>
      <p:sp>
        <p:nvSpPr>
          <p:cNvPr id="6" name="">
            <a:extLst xmlns:a="http://schemas.openxmlformats.org/drawingml/2006/main">
              <a:ext uri="{FF2B5EF4-FFF2-40B4-BE49-F238E27FC236}">
                <a16:creationId xmlns:a16="http://schemas.microsoft.com/office/drawing/2014/main" id="{F9C1B810-9927-4FBF-9E42-F3F27A8582FF}"/>
              </a:ext>
            </a:extLst>
          </p:cNvPr>
          <p:cNvSpPr>
            <a:spLocks xmlns:a="http://schemas.openxmlformats.org/drawingml/2006/main" noGrp="1"/>
          </p:cNvSpPr>
          <p:nvPr/>
        </p:nvSpPr>
        <p:spPr>
          <a:xfrm xmlns:a="http://schemas.openxmlformats.org/drawingml/2006/main">
            <a:off x="9286875" y="3114675"/>
            <a:ext cx="53435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First: test it locally.</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Then: bind and handle calls.</a:t>
            </a:r>
          </a:p>
          <a:p xmlns:a="http://schemas.openxmlformats.org/drawingml/2006/main">
            <a:r>
              <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Show three tests:</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known title, unknown title,</a:t>
            </a:r>
          </a:p>
          <a:p xmlns:a="http://schemas.openxmlformats.org/drawingml/2006/main">
            <a:pPr>
              <a:buNone/>
              <a:defRPr sz="2775" b="0">
                <a:solidFill>
                  <a:srgbClr val="18233D"/>
                </a:solidFill>
                <a:latin typeface="DejaVu Sans"/>
                <a:ea typeface="DejaVu Sans"/>
                <a:cs typeface="DejaVu Sans"/>
              </a:defRPr>
            </a:pPr>
            <a:r>
              <a:rPr sz="2775" b="0">
                <a:solidFill>
                  <a:srgbClr val="18233D"/>
                </a:solidFill>
                <a:latin typeface="DejaVu Sans"/>
                <a:ea typeface="DejaVu Sans"/>
                <a:cs typeface="DejaVu Sans"/>
              </a:rPr>
              <a:t>missing title.</a:t>
            </a:r>
          </a:p>
        </p:txBody>
      </p:sp>
      <p:sp>
        <p:nvSpPr>
          <p:cNvPr id="7" name="">
            <a:extLst xmlns:a="http://schemas.openxmlformats.org/drawingml/2006/main">
              <a:ext uri="{FF2B5EF4-FFF2-40B4-BE49-F238E27FC236}">
                <a16:creationId xmlns:a16="http://schemas.microsoft.com/office/drawing/2014/main" id="{6A5FC611-5258-4D47-A5CB-86AEA43D9540}"/>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8" name="">
            <a:extLst xmlns:a="http://schemas.openxmlformats.org/drawingml/2006/main">
              <a:ext uri="{FF2B5EF4-FFF2-40B4-BE49-F238E27FC236}">
                <a16:creationId xmlns:a16="http://schemas.microsoft.com/office/drawing/2014/main" id="{FAB921CE-4993-437B-BF10-841D860362DC}"/>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Lab 20  ·  57</a:t>
            </a:r>
          </a:p>
        </p:txBody>
      </p:sp>
    </p:spTree>
    <p:extLst>
      <p:ext uri="{BB962C8B-B14F-4D97-AF65-F5344CB8AC3E}">
        <p14:creationId xmlns:p14="http://schemas.microsoft.com/office/powerpoint/2010/main" val="50897234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D5B9181-CD4B-4520-9831-7AC2091913D8}"/>
              </a:ext>
            </a:extLst>
          </p:cNvPr>
          <p:cNvSpPr>
            <a:spLocks xmlns:a="http://schemas.openxmlformats.org/drawingml/2006/main" noGrp="1"/>
          </p:cNvSpPr>
          <p:nvPr/>
        </p:nvSpPr>
        <p:spPr>
          <a:xfrm xmlns:a="http://schemas.openxmlformats.org/drawingml/2006/main">
            <a:off x="609600" y="333375"/>
            <a:ext cx="1238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6D77"/>
                </a:solidFill>
                <a:latin typeface="DejaVu Sans"/>
                <a:ea typeface="DejaVu Sans"/>
                <a:cs typeface="DejaVu Sans"/>
              </a:defRPr>
            </a:pPr>
            <a:r>
              <a:rPr sz="1800" b="1">
                <a:solidFill>
                  <a:srgbClr val="006D77"/>
                </a:solidFill>
                <a:latin typeface="DejaVu Sans"/>
                <a:ea typeface="DejaVu Sans"/>
                <a:cs typeface="DejaVu Sans"/>
              </a:rPr>
              <a:t>MODULE 04  /  BUILD &amp; PRACTISE</a:t>
            </a:r>
          </a:p>
        </p:txBody>
      </p:sp>
      <p:sp>
        <p:nvSpPr>
          <p:cNvPr id="2" name="">
            <a:extLst xmlns:a="http://schemas.openxmlformats.org/drawingml/2006/main">
              <a:ext uri="{FF2B5EF4-FFF2-40B4-BE49-F238E27FC236}">
                <a16:creationId xmlns:a16="http://schemas.microsoft.com/office/drawing/2014/main" id="{D4FBD859-600D-4754-8C4D-39ED73852AAE}"/>
              </a:ext>
            </a:extLst>
          </p:cNvPr>
          <p:cNvSpPr>
            <a:spLocks xmlns:a="http://schemas.openxmlformats.org/drawingml/2006/main" noGrp="1"/>
          </p:cNvSpPr>
          <p:nvPr/>
        </p:nvSpPr>
        <p:spPr>
          <a:xfrm xmlns:a="http://schemas.openxmlformats.org/drawingml/2006/main">
            <a:off x="609600" y="971550"/>
            <a:ext cx="1402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233D"/>
                </a:solidFill>
                <a:latin typeface="DejaVu Sans"/>
                <a:ea typeface="DejaVu Sans"/>
                <a:cs typeface="DejaVu Sans"/>
              </a:defRPr>
            </a:pPr>
            <a:r>
              <a:rPr sz="4050" b="1">
                <a:solidFill>
                  <a:srgbClr val="18233D"/>
                </a:solidFill>
                <a:latin typeface="DejaVu Sans"/>
                <a:ea typeface="DejaVu Sans"/>
                <a:cs typeface="DejaVu Sans"/>
              </a:rPr>
              <a:t>Your reusable tool recipe</a:t>
            </a:r>
          </a:p>
        </p:txBody>
      </p:sp>
      <p:sp>
        <p:nvSpPr>
          <p:cNvPr id="3" name="">
            <a:extLst xmlns:a="http://schemas.openxmlformats.org/drawingml/2006/main">
              <a:ext uri="{FF2B5EF4-FFF2-40B4-BE49-F238E27FC236}">
                <a16:creationId xmlns:a16="http://schemas.microsoft.com/office/drawing/2014/main" id="{F363F48E-2859-416B-9E51-E9CC770AA9D9}"/>
              </a:ext>
            </a:extLst>
          </p:cNvPr>
          <p:cNvSpPr>
            <a:spLocks xmlns:a="http://schemas.openxmlformats.org/drawingml/2006/main" noGrp="1"/>
          </p:cNvSpPr>
          <p:nvPr/>
        </p:nvSpPr>
        <p:spPr>
          <a:xfrm xmlns:a="http://schemas.openxmlformats.org/drawingml/2006/main">
            <a:off x="609600" y="24574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1</a:t>
            </a:r>
          </a:p>
        </p:txBody>
      </p:sp>
      <p:sp>
        <p:nvSpPr>
          <p:cNvPr id="4" name="">
            <a:extLst xmlns:a="http://schemas.openxmlformats.org/drawingml/2006/main">
              <a:ext uri="{FF2B5EF4-FFF2-40B4-BE49-F238E27FC236}">
                <a16:creationId xmlns:a16="http://schemas.microsoft.com/office/drawing/2014/main" id="{6A75F3C3-3979-41D6-9DA7-F1407418711A}"/>
              </a:ext>
            </a:extLst>
          </p:cNvPr>
          <p:cNvSpPr>
            <a:spLocks xmlns:a="http://schemas.openxmlformats.org/drawingml/2006/main" noGrp="1"/>
          </p:cNvSpPr>
          <p:nvPr/>
        </p:nvSpPr>
        <p:spPr>
          <a:xfrm xmlns:a="http://schemas.openxmlformats.org/drawingml/2006/main">
            <a:off x="2095500" y="2495550"/>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Write and test an ordinary Python function</a:t>
            </a:r>
          </a:p>
        </p:txBody>
      </p:sp>
      <p:sp>
        <p:nvSpPr>
          <p:cNvPr id="5" name="">
            <a:extLst xmlns:a="http://schemas.openxmlformats.org/drawingml/2006/main">
              <a:ext uri="{FF2B5EF4-FFF2-40B4-BE49-F238E27FC236}">
                <a16:creationId xmlns:a16="http://schemas.microsoft.com/office/drawing/2014/main" id="{7CC47B5F-61F9-4919-AA65-46A6D52B6CC0}"/>
              </a:ext>
            </a:extLst>
          </p:cNvPr>
          <p:cNvSpPr>
            <a:spLocks xmlns:a="http://schemas.openxmlformats.org/drawingml/2006/main" noGrp="1"/>
          </p:cNvSpPr>
          <p:nvPr/>
        </p:nvSpPr>
        <p:spPr>
          <a:xfrm xmlns:a="http://schemas.openxmlformats.org/drawingml/2006/main">
            <a:off x="609600" y="3629025"/>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FFDEF244-3C97-45F4-9115-924687A34C14}"/>
              </a:ext>
            </a:extLst>
          </p:cNvPr>
          <p:cNvSpPr>
            <a:spLocks xmlns:a="http://schemas.openxmlformats.org/drawingml/2006/main" noGrp="1"/>
          </p:cNvSpPr>
          <p:nvPr/>
        </p:nvSpPr>
        <p:spPr>
          <a:xfrm xmlns:a="http://schemas.openxmlformats.org/drawingml/2006/main">
            <a:off x="2095500" y="3667125"/>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Describe it, add @tool, and bind it</a:t>
            </a:r>
          </a:p>
        </p:txBody>
      </p:sp>
      <p:sp>
        <p:nvSpPr>
          <p:cNvPr id="7" name="">
            <a:extLst xmlns:a="http://schemas.openxmlformats.org/drawingml/2006/main">
              <a:ext uri="{FF2B5EF4-FFF2-40B4-BE49-F238E27FC236}">
                <a16:creationId xmlns:a16="http://schemas.microsoft.com/office/drawing/2014/main" id="{A5F73451-61BB-4140-ABDE-105BDDECC0FA}"/>
              </a:ext>
            </a:extLst>
          </p:cNvPr>
          <p:cNvSpPr>
            <a:spLocks xmlns:a="http://schemas.openxmlformats.org/drawingml/2006/main" noGrp="1"/>
          </p:cNvSpPr>
          <p:nvPr/>
        </p:nvSpPr>
        <p:spPr>
          <a:xfrm xmlns:a="http://schemas.openxmlformats.org/drawingml/2006/main">
            <a:off x="609600" y="480060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3</a:t>
            </a:r>
          </a:p>
        </p:txBody>
      </p:sp>
      <p:sp>
        <p:nvSpPr>
          <p:cNvPr id="8" name="">
            <a:extLst xmlns:a="http://schemas.openxmlformats.org/drawingml/2006/main">
              <a:ext uri="{FF2B5EF4-FFF2-40B4-BE49-F238E27FC236}">
                <a16:creationId xmlns:a16="http://schemas.microsoft.com/office/drawing/2014/main" id="{86AF6977-06FC-481D-AEA5-9E905B8EBECB}"/>
              </a:ext>
            </a:extLst>
          </p:cNvPr>
          <p:cNvSpPr>
            <a:spLocks xmlns:a="http://schemas.openxmlformats.org/drawingml/2006/main" noGrp="1"/>
          </p:cNvSpPr>
          <p:nvPr/>
        </p:nvSpPr>
        <p:spPr>
          <a:xfrm xmlns:a="http://schemas.openxmlformats.org/drawingml/2006/main">
            <a:off x="2095500" y="4838700"/>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Inspect requests and execute allowed calls</a:t>
            </a:r>
          </a:p>
        </p:txBody>
      </p:sp>
      <p:sp>
        <p:nvSpPr>
          <p:cNvPr id="9" name="">
            <a:extLst xmlns:a="http://schemas.openxmlformats.org/drawingml/2006/main">
              <a:ext uri="{FF2B5EF4-FFF2-40B4-BE49-F238E27FC236}">
                <a16:creationId xmlns:a16="http://schemas.microsoft.com/office/drawing/2014/main" id="{422C430B-E193-4862-A4B2-275A996E0F17}"/>
              </a:ext>
            </a:extLst>
          </p:cNvPr>
          <p:cNvSpPr>
            <a:spLocks xmlns:a="http://schemas.openxmlformats.org/drawingml/2006/main" noGrp="1"/>
          </p:cNvSpPr>
          <p:nvPr/>
        </p:nvSpPr>
        <p:spPr>
          <a:xfrm xmlns:a="http://schemas.openxmlformats.org/drawingml/2006/main">
            <a:off x="609600" y="5972175"/>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D77"/>
                </a:solidFill>
                <a:latin typeface="DejaVu Sans"/>
                <a:ea typeface="DejaVu Sans"/>
                <a:cs typeface="DejaVu Sans"/>
              </a:defRPr>
            </a:pPr>
            <a:r>
              <a:rPr sz="3600" b="1">
                <a:solidFill>
                  <a:srgbClr val="006D77"/>
                </a:solidFill>
                <a:latin typeface="DejaVu Sans"/>
                <a:ea typeface="DejaVu Sans"/>
                <a:cs typeface="DejaVu Sans"/>
              </a:rPr>
              <a:t>4</a:t>
            </a:r>
          </a:p>
        </p:txBody>
      </p:sp>
      <p:sp>
        <p:nvSpPr>
          <p:cNvPr id="10" name="">
            <a:extLst xmlns:a="http://schemas.openxmlformats.org/drawingml/2006/main">
              <a:ext uri="{FF2B5EF4-FFF2-40B4-BE49-F238E27FC236}">
                <a16:creationId xmlns:a16="http://schemas.microsoft.com/office/drawing/2014/main" id="{84BAF6B0-F6F7-458F-935C-05A301E0B063}"/>
              </a:ext>
            </a:extLst>
          </p:cNvPr>
          <p:cNvSpPr>
            <a:spLocks xmlns:a="http://schemas.openxmlformats.org/drawingml/2006/main" noGrp="1"/>
          </p:cNvSpPr>
          <p:nvPr/>
        </p:nvSpPr>
        <p:spPr>
          <a:xfrm xmlns:a="http://schemas.openxmlformats.org/drawingml/2006/main">
            <a:off x="2095500" y="6010275"/>
            <a:ext cx="1238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8233D"/>
                </a:solidFill>
                <a:latin typeface="DejaVu Sans"/>
                <a:ea typeface="DejaVu Sans"/>
                <a:cs typeface="DejaVu Sans"/>
              </a:defRPr>
            </a:pPr>
            <a:r>
              <a:rPr sz="3150" b="0">
                <a:solidFill>
                  <a:srgbClr val="18233D"/>
                </a:solidFill>
                <a:latin typeface="DejaVu Sans"/>
                <a:ea typeface="DejaVu Sans"/>
                <a:cs typeface="DejaVu Sans"/>
              </a:rPr>
              <a:t>Send matching results and explain them</a:t>
            </a:r>
          </a:p>
        </p:txBody>
      </p:sp>
      <p:sp>
        <p:nvSpPr>
          <p:cNvPr id="11" name="">
            <a:extLst xmlns:a="http://schemas.openxmlformats.org/drawingml/2006/main">
              <a:ext uri="{FF2B5EF4-FFF2-40B4-BE49-F238E27FC236}">
                <a16:creationId xmlns:a16="http://schemas.microsoft.com/office/drawing/2014/main" id="{76F086CF-CA7D-4918-8814-9BFDC7F5B1F8}"/>
              </a:ext>
            </a:extLst>
          </p:cNvPr>
          <p:cNvSpPr>
            <a:spLocks xmlns:a="http://schemas.openxmlformats.org/drawingml/2006/main" noGrp="1"/>
          </p:cNvSpPr>
          <p:nvPr/>
        </p:nvSpPr>
        <p:spPr>
          <a:xfrm xmlns:a="http://schemas.openxmlformats.org/drawingml/2006/main">
            <a:off x="609600" y="7381875"/>
            <a:ext cx="1402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Same pattern. A different useful function.</a:t>
            </a:r>
          </a:p>
        </p:txBody>
      </p:sp>
      <p:sp>
        <p:nvSpPr>
          <p:cNvPr id="12" name="">
            <a:extLst xmlns:a="http://schemas.openxmlformats.org/drawingml/2006/main">
              <a:ext uri="{FF2B5EF4-FFF2-40B4-BE49-F238E27FC236}">
                <a16:creationId xmlns:a16="http://schemas.microsoft.com/office/drawing/2014/main" id="{76FC189E-7BB8-4290-835D-A0C0E6588BA9}"/>
              </a:ext>
            </a:extLst>
          </p:cNvPr>
          <p:cNvSpPr>
            <a:spLocks xmlns:a="http://schemas.openxmlformats.org/drawingml/2006/main" noGrp="1"/>
          </p:cNvSpPr>
          <p:nvPr/>
        </p:nvSpPr>
        <p:spPr>
          <a:xfrm xmlns:a="http://schemas.openxmlformats.org/drawingml/2006/main">
            <a:off x="609600" y="80105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Prepared by Engr Usman Hasan</a:t>
            </a:r>
          </a:p>
        </p:txBody>
      </p:sp>
      <p:sp>
        <p:nvSpPr>
          <p:cNvPr id="13" name="">
            <a:extLst xmlns:a="http://schemas.openxmlformats.org/drawingml/2006/main">
              <a:ext uri="{FF2B5EF4-FFF2-40B4-BE49-F238E27FC236}">
                <a16:creationId xmlns:a16="http://schemas.microsoft.com/office/drawing/2014/main" id="{F09EBEB4-014E-4959-B3D1-4C136FF2BEC3}"/>
              </a:ext>
            </a:extLst>
          </p:cNvPr>
          <p:cNvSpPr>
            <a:spLocks xmlns:a="http://schemas.openxmlformats.org/drawingml/2006/main" noGrp="1"/>
          </p:cNvSpPr>
          <p:nvPr/>
        </p:nvSpPr>
        <p:spPr>
          <a:xfrm xmlns:a="http://schemas.openxmlformats.org/drawingml/2006/main">
            <a:off x="11811000" y="8010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42536A"/>
                </a:solidFill>
                <a:latin typeface="DejaVu Sans"/>
                <a:ea typeface="DejaVu Sans"/>
                <a:cs typeface="DejaVu Sans"/>
              </a:defRPr>
            </a:pPr>
            <a:r>
              <a:rPr sz="1800" b="0">
                <a:solidFill>
                  <a:srgbClr val="42536A"/>
                </a:solidFill>
                <a:latin typeface="DejaVu Sans"/>
                <a:ea typeface="DejaVu Sans"/>
                <a:cs typeface="DejaVu Sans"/>
              </a:rPr>
              <a:t>58</a:t>
            </a:r>
          </a:p>
        </p:txBody>
      </p:sp>
    </p:spTree>
    <p:extLst>
      <p:ext uri="{BB962C8B-B14F-4D97-AF65-F5344CB8AC3E}">
        <p14:creationId xmlns:p14="http://schemas.microsoft.com/office/powerpoint/2010/main" val="16042657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2026-10-02T18:49:30.4160000Z</dcterms:created>
  <dcterms:modified xsi:type="dcterms:W3CDTF">2026-10-02T18:49:30.4160000Z</dcterms:modified>
</coreProperties>
</file>